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01_레슨_시작화면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레슨 시작 단계 · DAILY ROUTINE ONSET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짧은 의도를 전달하고 과제 시작 동의를 유도하는 안내 화면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일일 루틴의 시작점에서 오늘의 인지 루틴 흐름을 한 번에 보여주어 진입 부담을 줄입니다.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78992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과제 소개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636008" y="2779776"/>
            <a:ext cx="1298448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45736" y="2834640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단일 클릭 진입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6080760" y="2779776"/>
            <a:ext cx="1014984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2834640"/>
            <a:ext cx="795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인지 워밍업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세션 시작 시 안내를 최소 3문장 이하로 축소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시작 동작이 하나라 사용자가 다음 액션을 쉽게 예측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개인 부담을 낮추기 위해 결과 압박 문구를 배제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다음 장면으로의 이동만으로 학습 단계 전환을 단순화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방향: 첫 화면은 “무엇을 할지”보다 “지금 할 수 있다”에 초점을 둔 안전한 진입 구조로 설계.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고령자 초기 진입 부담을 낮추기 위해 승인 동작 중심으로 과제를 시작하는 방식은 SAGE(Scharre et al., 2010/2021)의 자기관리형 다영역 루틴 운영에서 영감을 받았습니다.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02_메인_홈화면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메인 허브 · LEARNING HUB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메뉴 진입, 오늘 미션, 보상 현황을 통합한 시작면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매일 짧게 반복할 수 있도록 홈 화면에서 핵심 동선을 하나의 시각 경로로 정리합니다.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188720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다중 진입점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745736" y="2779776"/>
            <a:ext cx="114300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5464" y="2834640"/>
            <a:ext cx="923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진행률 확인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6035040" y="2779776"/>
            <a:ext cx="1207008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4768" y="28346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접근성 우선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학습 시작 버튼과 보조 메뉴를 분리해 오동작 방지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오늘 세션 진입 상태를 한 번에 파악할 수 있게 구성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큰 타이포와 고대비 버튼으로 노인 사용자 가독성 보완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다음 액션의 우선순위를 시각적으로 계층화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방향: 홈은 기능 과부하를 피하고, 매일 루틴 실행률을 높이는 “일상 진입점”으로 동작.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홈의 동선 분리와 큰 우선순위 표시, 접근성 중심 구성은 W3C WAI Older Adults 접근성 가이드 원칙을 반영했습니다.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03_지연회상_단어_암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지연 회상 인코딩 · DELAYED VERBAL ENCODING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5개 단어를 주제 단서 기반으로 암기·저장하는 단계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단어 집합을 카테고리 단서와 함께 제시해 즉시 암기 압박을 낮추고 지연 회상을 유도합니다.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97280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지연 기억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654296" y="2779776"/>
            <a:ext cx="1042416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64024" y="283464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범주 단서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843016" y="2779776"/>
            <a:ext cx="1078992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52744" y="283464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MMSE 대체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공식 검사 문항 복제 없이 자체 루틴으로 동작 구성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카테고리 단서를 통해 학습자 부담을 제어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오답보다 반응 패턴을 중심으로 데이터 축적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후속 회상에서 성과를 연결해 장기 추적이 가능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장기 기억보다는 지연 회상 메타데이터(암기-회상 간 경과) 중심의 지원 신호를 생성.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범주 단서 기반 지연회상은 Dubois et al. (2002) 5-Word Test의 인코딩-지연-재인 구조를 Haru화한 형태입니다(진단 점수화는 별도 수행 안함).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04_의미_선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의미 매핑 선택 · SEMANTIC ASSOCIATION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의미 단서를 연결해 회상 부하를 낮추는 분기 선택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유사 단어를 일괄 비교하기보다 의미 기반 선택을 제공해 언어 반응의 안정성을 높입니다.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987552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의미 인지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544568" y="2779776"/>
            <a:ext cx="1207008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54296" y="28346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선택형 반응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897880" y="2779776"/>
            <a:ext cx="105156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07608" y="2834640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오입력 완화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복잡한 입력보다 카드 선택으로 실행 동선을 단축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의미 단서가 있어 회상 부하를 단계적으로 완화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잘못된 반응도 “학습 신호”로 저장해 대화 안내에 활용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실제 성능보다 수행 과정의 일관성을 우선 반영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의미적 연상은 언어 기반 자극 처리 안정성에 기여한다는 근거를 일상 과제 수준으로 적용.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의미적 선택은 semantic fluency 계열의 범주 단서 전략에서 착안해 언어 반응의 전환 비용을 완화하도록 구성했습니다.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05_상황_매칭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상황 매칭 · CONTEXTUAL RECOGNITION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일상적 상황과 기억 조각을 연결해 인지적 스위칭을 지원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단일 정답형에서 벗어나 “상황 이해 → 판단 → 선택”의 흐름으로 구성했습니다.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78992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맥락 판단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636008" y="2779776"/>
            <a:ext cx="1024128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45736" y="28346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분류 훈련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806440" y="2779776"/>
            <a:ext cx="100584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16168" y="28346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낮은 난도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환경 단서를 제공해 선택 과정을 예측 가능하게 설계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상황별 반응을 모아 보호자 대화 주제 후보로 전환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혼동되는 항목은 중복 설명 없이 한 번에 정리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과도한 점수 개념 없이 일상 실행 적합성 중심으로 누적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방향: 기억 회상보다 “상황 이해도”의 연속된 흔적을 쌓아 상담 맥락을 보강.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상황 이해형 판단은 GPCOG(Brodaty et al., 2002) 정보제공자 맥락의 접근을 루틴형으로 경량 적용했습니다.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06_주의집중_숫자_패턴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주의·집중 연속성 · ATTENTION PATTERN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단순 숫자 연산 패턴으로 집중 유지 능력을 점진적으로 점검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짧고 명확한 규칙(감산/증가) 기반으로 집중 흔적을 수집해 피로를 낮춥니다.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78992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주의 전환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636008" y="2779776"/>
            <a:ext cx="1060704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45736" y="283464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순차 처리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843016" y="2779776"/>
            <a:ext cx="100584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52744" y="28346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반응 속도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매우 단순한 수열 규칙으로 고령 사용자 적합성 유지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정답 수보다 반응 시간과 선택 안정성을 추적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오답 패턴은 경보가 아니라 지원 제안으로 변환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의사결정 지표는 세션 단위가 아닌 누적 추세로 활용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지속적인 주의 집중 연습은 인지 리허설과 일상 주의 회복 훈련으로 분류.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저부하 수열-패턴 과제는 Digit Span/주의조절의 기본 원리를 참고해 반응 패턴을 장기 지표로 누적합니다.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07_일상일정_인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시간 지남력 점검 · DAILY ORIENTATION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오늘의 날짜·요일을 선택형으로 점검하는 입문 단계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시간 감각 과제는 공식 진단이 아니라 매일 루틴의 시간 지남력 점검 용도로 구성됩니다.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143000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923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오리엔테이션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700016" y="2779776"/>
            <a:ext cx="109728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9744" y="283464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선택형 UI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943600" y="2779776"/>
            <a:ext cx="1042416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83464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오탐 감소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정답 공개보다 먼저 현재 확인 항목을 명확히 제시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모든 후보를 카드로 제시해 탐색 부담 완화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버튼 비활성 조건으로 오입력 유입을 차단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루틴 참여율 분석의 안정적인 시작 지표로 사용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시간-지남력 과제는 단일 지표가 아닌 경향 분석용 신호로만 활용.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날짜·요일 선택은 GPCOG/Brodaty(2002), MMSE/MoCA의 시간 지남력 항목 발췌를 루틴 점검용으로 축소 적용한 구성입니다.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08_작업기억_숫자기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작업기억 점검 · WORKING MEMORY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숫자 기억을 통한 순차 보존력 연습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짧은 길이의 수열을 순방향/역순으로 처리해 작업기억의 기본 동선을 관찰합니다.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05840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작업기억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562856" y="2779776"/>
            <a:ext cx="109728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72584" y="283464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전/역방향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806440" y="2779776"/>
            <a:ext cx="118872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16168" y="283464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안정형 난이도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짧은 스팬부터 시작해 실패 불안을 줄임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입력 방식은 말하기/타이핑을 동등하게 처리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반응 횟수와 힌트 사용량을 함께 수집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의학적 판정이 아닌 일상적 루틴 신호로 유지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작업기억 피드백은 MMSE/표준 점수로 치환하지 않고, 개인 패턴 로그로 저장.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작업기억 순/역방향 숫자 처리 과제는 작업기억(작업공간 + 조작) 동선을 관찰하는 안전한 경량 과제 흐름입니다.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09_단어_연상_연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언어 유창성 연습 · VERBAL FLUENCY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범주 기반으로 빠른 연상 반응을 도와주는 과제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짧은 시간 제약 내에서 말하거나 입력해 어휘 접근 동선을 관찰합니다.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896112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범주 생성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453128" y="2779776"/>
            <a:ext cx="109728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62856" y="283464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30초 타이머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696712" y="2779776"/>
            <a:ext cx="932688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283464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언어 회상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범주 힌트를 먼저 제시해 불필요한 불안을 줄임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시간 제한은 과제 몰입을 위한 장치로만 사용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중복 응답/무반응 등은 실패가 아니라 관측 변수로 처리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결과는 음성 연습, 대화 유도 항목에 반영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언어 유창성 과제는 진단 도구가 아니라 대화 자극성 유지 및 정서표현 보조용으로 운용.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범주형 말하기/입력 과제는 Henry &amp; Crawford(2004) semantic fluency의 인출 동선을 브레인스토밍 형태로 경량화한 흐름입니다.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10_주의전환_선_잇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주의 전환 연습 · SET-SHIFTING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연결고리 그리기를 통해 규칙 전환 적응성을 연습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선 연결형 과제는 규칙에 충실한 선택과 전환 반응을 요구해 주의 조절을 점검합니다.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42416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주의 전환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599432" y="2779776"/>
            <a:ext cx="1042416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283464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규칙 추적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788152" y="2779776"/>
            <a:ext cx="91440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2834640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오류 허용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복잡한 도형 대신 단순한 경로 규칙으로 진입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경로 실패는 즉시 중단 대신 가이드 재제시로 완화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연결 횟수·재시도 횟수로 진행 패턴 기록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집중 저하 징후는 다음 과제 추천 강도로 반영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집행 기능은 TMT-lite 난이도로 완화해 공식 TMT와 구분해 설명.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규칙 전환 기반 선택 과제는 TMT 계열의 집행기능 요구를 TMT-lite 난이도로 가벼운 형태로 재구성했습니다.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11_단어쌍_매칭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연결 기억 연습 · ASSOCIATIVE LINKING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단어쌍 매칭으로 연상-연결 기억 동선을 점검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쌍 관계를 빠르게 학습하고 회상하는 방식은 단기 연상 연습 목적의 보조 과제입니다.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78992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연결 기억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636008" y="2779776"/>
            <a:ext cx="109728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45736" y="283464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매칭 과제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879592" y="2779776"/>
            <a:ext cx="768096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8346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저부담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명료한 짝짓기 규칙으로 학습자 혼란 최소화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시각적 단서와 언어 단서를 병행해 접근성 확보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완성/미완성 모두 관찰 가능한 결과로 저장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개인 회상 과제와 직접 연결되는 대화 힌트로 변환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연상과 짝맞추기 패턴은 기억 연결 강도 추정의 기초 신호로 사용.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연상·연결 과제는 연계 기억 자극을 반복 노출하고 일상 전환 추적을 위한 간접 신호를 모으는 방식으로 설계했습니다.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12_순서_기억_정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순서 기억 정렬 · SEQUENTIAL ORDER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항목의 순서를 정렬해 계획·정렬 인지의 연습 효과 확보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일상 동작 정렬을 모사한 과제로, 계획성 있게 배열하는 과정을 연습합니다.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24128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순차 처리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581144" y="2779776"/>
            <a:ext cx="1078992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90872" y="283464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규칙 준수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806440" y="2779776"/>
            <a:ext cx="96012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16168" y="2834640"/>
            <a:ext cx="740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완료 신호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단계의 시작/중간/끝을 명시해 정렬 혼선을 줄임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오답일 때 즉시 정답 제시 대신 다음 단계 가이드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반복 횟수와 마지막 완료 시간을 누적 기록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일상 계획지원 메시지로 쉽게 연결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순차기억은 일상 수행의 예측 가능성 확보에 기여하는 루틴형 지표로 활용.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순서 정렬은 일상 수행을 지원하는 계획성·시퀀싱 연습으로, 정답보다 처리를 연속 추적합니다.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13_듣기_선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청각 인식 과제 · AUDITORY ATTENTION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소리로 제시된 항목을 선택해 청각-인지 전환을 점검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입력 부담을 줄이고 청각 기반 반응을 확보하는 보조 과제 단계입니다.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78992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청각 주의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636008" y="2779776"/>
            <a:ext cx="114300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45736" y="2834640"/>
            <a:ext cx="923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선택형 반응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925312" y="2779776"/>
            <a:ext cx="91440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834640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멀티모달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시각 입력이 어려운 상황에서 대체 경로 제공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오디오 재생 상태를 기준으로 응답 흐름 동기화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오답은 반복 노출보다 리듬 조절로 보정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기기별 오디오 환경은 장애물 대신 로그로만 반영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말단 진단 대신 청각 반응 시간과 정확도를 루틴 지속성 판단에 사용.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청각 선택 과제는 멀티모달 전환을 통해 문해 의존도를 낮추고 반응 지속 패턴을 기록하는 보조 과제입니다.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14_그림_선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시각 판단 과제 · VISUAL SELECTION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그림을 보고 정답을 고르는 비언어 선택형 활동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시각 자극을 이용한 반응 연습으로 비언어적 인지 경로를 보완합니다.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78992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비언어 반응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636008" y="2779776"/>
            <a:ext cx="1024128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45736" y="28346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패턴 매칭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806440" y="2779776"/>
            <a:ext cx="768096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16168" y="28346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저입력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이미지 비교를 통해 반응 선택을 단순화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텍스트 의존도를 낮추어 학습 부담 완화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클릭 오류는 즉시 보정 가능한 선택 구조 사용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가벼운 시각 판단 기록이 대화 추천 후보로 유입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비언어 과제는 문해 장벽이 큰 사용자군의 접근성을 높이는 보완 기능.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비언어 그림 선택은 시각 판단 경로로 진입장벽을 낮추고 접근성을 높이기 위한 보조 과제 설계입니다.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15_도형_그리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도형 그리기 · VISUOSPATIAL PRACTICE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간단한 모양을 따라 그리고 스탬프 흔적을 기록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드로잉 과제는 정밀도보다 규칙 유지와 경향성 파악이 핵심입니다.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768096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시지각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325112" y="2779776"/>
            <a:ext cx="96012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34840" y="2834640"/>
            <a:ext cx="740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그림 추적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431536" y="2779776"/>
            <a:ext cx="969264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41264" y="283464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메트릭 수집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획 수/정지 시간/리트라이 같은 메타를 구조화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정답 강요 없이 수행 과정을 기록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평균 성능 비교보다 개인 패턴 추적을 우선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전문가 상담 시 변화 추세를 해석 참고 신호로 전달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정교한 임상 채점이 아닌, dCDT류 원리에 기반한 자기 관측형 기록입니다.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도형 따라 그리기 과제는 dCDT류의 추적형 관측 원리를 반영해 점수화 대신 획수·정지 시간·경로를 정성 신호로 누적합니다.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16_음성_반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음성 반복 · SPEECH-ORAL ROUTINE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짧은 음성 반복으로 발음·발화 흐름을 유지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문장 반복 연습을 통해 구두 반응의 이완성과 표현 의지를 지원합니다.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05840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언어 생산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562856" y="2779776"/>
            <a:ext cx="100584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72584" y="28346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음성 입력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715000" y="2779776"/>
            <a:ext cx="868680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24728" y="2834640"/>
            <a:ext cx="649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fallback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브라우저 API 상태에 따라 텍스트 fallback 병행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발화 실패 시 보상 메시지 없이 가볍게 재시도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음성 인식 성공률만으로 해석하지 않음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안정적인 대화 준비 데이터를 장기 누적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음성 모듈은 보조 루틴으로 두고, 의료적 발성 판정은 수행하지 않습니다.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음성 반복은 발화 연습 중심의 완화형 루틴으로, 음성 인식 실패 시 텍스트 fallback를 함께 운용해 접근성을 보장합니다.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17_지연회상_단어_회상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지연 회상 검증 · DELAYED RECALL CHECK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직전 암기 단서를 기준으로 회상 정확도와 맥락 반응을 확인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암기와 시간이 지난 뒤 다시 묻는 단계에서 회상 양상을 추적해 다음 과제를 조정합니다.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97280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회상 검증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654296" y="2779776"/>
            <a:ext cx="86868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64024" y="2834640"/>
            <a:ext cx="649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선택형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669280" y="2779776"/>
            <a:ext cx="91440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79008" y="2834640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시간 경과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단답형 채점이 아닌 회상 경향(보류/회상/혼동) 기록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단서 기반 재회상은 과부하 없이 수행 가능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회상 실패를 위험 신호로만 고정하지 않음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일관되게 낮을 경우 보호자 공유 메시지 권장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표준 기억력 검사와 달리 결과는 Haru 내부 지원 신호로만 사용.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지연회상 검증은 encode-delay-recognition 흐름을 통해 회상 흔적을 추적하고 임상 점수 대신 패턴을 누적 분석합니다.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18_개인기억_이야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개인 기억 수집 · PERSONAL MEMORY CAPTURE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구체적 사건을 기록해 장기 대화 재료를 축적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기능의 핵심은 추상 질문이 아니라 사용자가 실제로 기억한 사건의 단서를 구조화하는 것입니다.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868680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649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자기기록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425696" y="2779776"/>
            <a:ext cx="969264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35424" y="283464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감정 태그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541264" y="2779776"/>
            <a:ext cx="987552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50992" y="28346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공유 제어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실제 사건·장소·사람을 입력해 의미 있는 기록 생성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요약 텍스트는 회상 과제 재활용 기반 자료로 분류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개인정보와 공유 플래그를 분리하여 저장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보호자 화면은 동의 기반 데이터만 노출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보호자 지원을 위한 맥락형 기억 재사용 데이터를 확보하는 핵심 단계.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개인 기억 수집은 회상 소재를 보호자 대화로 연결하기 위한 일상 맥락형 기록이며, 공유 동의 분리 저장 원칙을 따릅니다.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19_개인기억_감정_선택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감정 라벨링 · AFFECT TAGGING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기억과 감정을 함께 기록해 후속 대화를 부드럽게 연결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기억 내용에 감정 라벨을 붙여 상담 대화 품질과 복기 지속성을 높입니다.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24128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정서 매핑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581144" y="2779776"/>
            <a:ext cx="100584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90872" y="28346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관찰 지원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733288" y="2779776"/>
            <a:ext cx="1024128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43016" y="28346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안전한 저장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감정을 단일 레이블로 정리해 인지 과제와 결합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개별 감정 선택은 다음 루틴의 동기 부여로 연계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감정 메타는 상담용 주제 제안 생성에 사용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개인 민감 정보는 비공개 기본값으로 관리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정서 라벨은 진단 목적이 아닌 상호작용 연속성 확보를 위한 메타 데이터.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감정 라벨은 정서 맥락을 확보해 대화 연계를 돕는 메타 데이터로만 사용되며, 의학적 판정 근거로 쓰지 않습니다.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20_세션_결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세션 요약 · DAILY SESSION SUMMARY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하루 세션 수행 결과를 간결하게 정리해 정서적 동기 부여 제공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실패/정답 수보다 수행 흐름, 완료율, 다음 추천 순서에 초점을 둡니다.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960120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740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성과 요약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517136" y="2779776"/>
            <a:ext cx="969264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26864" y="283464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다음 추천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632704" y="2779776"/>
            <a:ext cx="91440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42432" y="2834640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성장 신호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단일 세션 지표를 일간 축적으로 누적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완료 경험 자체를 강화해 재방문 동기 부여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결과 문구는 알림성보다 진정성 우선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위험 신호는 대안 제안으로만 표현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진단 라벨 없이도 루틴 지속률과 대화 준비성을 추적 가능.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세션 요약은 정답률보다 완료 경험과 참여 연속성을 중심으로 동기 지속 신호를 제공합니다.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21_기억_정원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기억 정원 보상 · MEMORY GARDEN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실행 이력을 시각적으로 기록하는 정원형 보상 인터페이스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결과를 게임 점수로 환원하지 않고 “회복된 일상 루틴’의 흔적”로 시각화합니다.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24128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습관 강화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581144" y="2779776"/>
            <a:ext cx="1078992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90872" y="283464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성취 시각화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806440" y="2779776"/>
            <a:ext cx="91440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16168" y="2834640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경쟁 배제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매일의 참여 행위를 식물 성장으로 직관 변환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실패 패널티보다 참여 지속성에 보상 신호 집중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과도한 비교 문구 없이 개인 기준으로만 진행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보상은 다음 루틴 유도 장치로만 활용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정서 안정·동기부여를 목표로 한 행동 설계 요소로, 의료 성적 지표와 분리.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정원형 보상은 매일 참여를 시각적으로 지속화하는 동기부여 요소로, 의료 성적 지표와 분리해 운영됩니다.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22_상담사_보고서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상담사 보고서 · COUNSELOR REPORT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세션 메타를 기반으로 상담 대화 준비안을 제공하는 화면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 진단이 아닌 지속 관찰 정보로, 상담사가 다음 대면 대화를 설계하도록 돕습니다.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51560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참여 패턴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608576" y="2779776"/>
            <a:ext cx="1024128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18304" y="28346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지원 신호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779008" y="2779776"/>
            <a:ext cx="1060704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88736" y="283464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보호자 연동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개인 동의된 정보만 보호 기준에 맞춰 노출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완료율·회의/회상 데이터로 대화 주제 우선순위 제안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경고 표현은 예방·수치화보다 조기 상의 항목 중심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전문가 조언 연계 버튼으로 액션 연결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상담 보조 보고서는 임상 진단 레이블 없이, 루틴 트렌드 중심으로 작성.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상담사 보고는 수행 이력·공유 기억·보호자 관찰 데이터를 합쳐 대화 설계를 지원하는 트렌드 신호를 제공합니다.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23_보호자_보고서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보호자 보고서 · CAREGIVER DASHBOARD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보호자가 일상에서 확인할 수 있도록 요약한 공유형 화면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개인정보 보호를 유지하면서 가족 대화에 즉시 쓸 수 있는 핵심만 제공합니다.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1005840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공유 요약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562856" y="2779776"/>
            <a:ext cx="987552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72584" y="28346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일상 지표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696712" y="2779776"/>
            <a:ext cx="950976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28346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안전 규칙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완료 과제, 미완료 항목, 남은 과제를 한 화면에 정렬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공개 범위가 설정된 기억만 보호자 보기에 노출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과도한 경고 대신 대화권장 문구로 전환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장기 추세를 가족 회의 안건으로 변환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보호자 화면은 의학 점수 대신 돌봄 우선순위를 돕는 운영 신호 중심.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보호자 보고는 AD8 (Galvin et al., 2005)와 GPCOG의 정보공유 철학을 참고해 일상 변화 요약만 공유 범위 내로 제시합니다.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\saerok-memory\피우다프로젝트\application_assets\mobile_scene_capture_all_language\ko\24_설정_삭제_영역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50" y="438912"/>
            <a:ext cx="241458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0712" y="512064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데이터 관리 · DATA SAFETY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10712" y="960120"/>
            <a:ext cx="8549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데이터 삭제 및 환경설정에서 개인 제어권을 보장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429000" y="2075688"/>
            <a:ext cx="8531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로컬 저장 데이터의 삭제, 초기화, 언어 전환 등을 한 화면에서 관리합니다.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10712" y="2779776"/>
            <a:ext cx="978408" cy="347472"/>
          </a:xfrm>
          <a:prstGeom prst="roundRect">
            <a:avLst>
              <a:gd name="adj" fmla="val 47368"/>
            </a:avLst>
          </a:prstGeom>
          <a:solidFill>
            <a:srgbClr val="FFF1F3"/>
          </a:solidFill>
          <a:ln w="12700">
            <a:solidFill>
              <a:srgbClr val="FFD1DA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20440" y="2834640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385C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동의 기반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4535424" y="2779776"/>
            <a:ext cx="960120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45152" y="2834640"/>
            <a:ext cx="740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삭제 안내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5641848" y="2779776"/>
            <a:ext cx="941832" cy="347472"/>
          </a:xfrm>
          <a:prstGeom prst="roundRect">
            <a:avLst>
              <a:gd name="adj" fmla="val 47368"/>
            </a:avLst>
          </a:prstGeom>
          <a:solidFill>
            <a:srgbClr val="F7F7F7"/>
          </a:solidFill>
          <a:ln w="12700">
            <a:solidFill>
              <a:srgbClr val="DDDDDD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51576" y="2834640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언어 전환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3410712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화면 역할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0712" y="363016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11880" y="349300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공유 플래그와 데이터 범위를 명시적으로 분리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10712" y="399592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385876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일회성 삭제 동작을 명확한 안내 문구로 보완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410712" y="436168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422452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언어 변경이 루틴 진행성에 영향 주지 않도록 설계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3410712" y="4727448"/>
            <a:ext cx="91440" cy="9144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4590288"/>
            <a:ext cx="8348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민감 데이터 처리 원칙을 사용자 동작으로 표현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410712" y="4983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디자인 포인트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10712" y="5184648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F3F3F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 방향: 프라이버시는 Haru 신뢰의 핵심이며, 데이터 관리 기능은 증거적 지원의 전제 조건.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3410712" y="555955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의학·인지과학 근거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10712" y="574243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근거축: 데이터 삭제 및 공유 제어는 W3C WAI 접근성/개인정보보호 원칙 기반으로 사용자의 동의와 제어권을 우선 보장합니다.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109960" y="6336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Jalnan 2 TTF" pitchFamily="34" charset="0"/>
                <a:ea typeface="Jalnan 2 TTF" pitchFamily="34" charset="-122"/>
                <a:cs typeface="Jalnan 2 TTF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Jalnan 2 TT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alnan 2 TTF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Screen Design Slides</dc:title>
  <dc:subject>App screen explanation slides</dc:subject>
  <dc:creator>OpenAI</dc:creator>
  <cp:lastModifiedBy>OpenAI</cp:lastModifiedBy>
  <cp:revision>1</cp:revision>
  <dcterms:created xsi:type="dcterms:W3CDTF">2026-06-10T01:40:11Z</dcterms:created>
  <dcterms:modified xsi:type="dcterms:W3CDTF">2026-06-10T01:40:11Z</dcterms:modified>
</cp:coreProperties>
</file>