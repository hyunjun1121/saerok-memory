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4" ContentType="video/mp4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60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3774" autoAdjust="0"/>
    <p:restoredTop sz="94421" autoAdjust="0"/>
  </p:normalViewPr>
  <p:slideViewPr>
    <p:cSldViewPr snapToGrid="0" snapToObjects="1">
      <p:cViewPr varScale="1">
        <p:scale>
          <a:sx n="100" d="100"/>
          <a:sy n="100" d="100"/>
        </p:scale>
        <p:origin x="3072" y="120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slide" Target="slides/slide19.xml"  /><Relationship Id="rId22" Type="http://schemas.openxmlformats.org/officeDocument/2006/relationships/slide" Target="slides/slide20.xml"  /><Relationship Id="rId23" Type="http://schemas.openxmlformats.org/officeDocument/2006/relationships/slide" Target="slides/slide21.xml"  /><Relationship Id="rId24" Type="http://schemas.openxmlformats.org/officeDocument/2006/relationships/slide" Target="slides/slide22.xml"  /><Relationship Id="rId25" Type="http://schemas.openxmlformats.org/officeDocument/2006/relationships/slide" Target="slides/slide23.xml"  /><Relationship Id="rId26" Type="http://schemas.openxmlformats.org/officeDocument/2006/relationships/slide" Target="slides/slide24.xml"  /><Relationship Id="rId27" Type="http://schemas.openxmlformats.org/officeDocument/2006/relationships/slide" Target="slides/slide25.xml"  /><Relationship Id="rId28" Type="http://schemas.openxmlformats.org/officeDocument/2006/relationships/slide" Target="slides/slide26.xml"  /><Relationship Id="rId29" Type="http://schemas.openxmlformats.org/officeDocument/2006/relationships/slide" Target="slides/slide27.xml"  /><Relationship Id="rId3" Type="http://schemas.openxmlformats.org/officeDocument/2006/relationships/slide" Target="slides/slide1.xml"  /><Relationship Id="rId30" Type="http://schemas.openxmlformats.org/officeDocument/2006/relationships/slide" Target="slides/slide28.xml"  /><Relationship Id="rId31" Type="http://schemas.openxmlformats.org/officeDocument/2006/relationships/slide" Target="slides/slide29.xml"  /><Relationship Id="rId32" Type="http://schemas.openxmlformats.org/officeDocument/2006/relationships/presProps" Target="presProps.xml"  /><Relationship Id="rId33" Type="http://schemas.openxmlformats.org/officeDocument/2006/relationships/viewProps" Target="viewProps.xml"  /><Relationship Id="rId34" Type="http://schemas.openxmlformats.org/officeDocument/2006/relationships/theme" Target="theme/theme1.xml"  /><Relationship Id="rId35" Type="http://schemas.openxmlformats.org/officeDocument/2006/relationships/tableStyles" Target="tableStyles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3.xml"  /><Relationship Id="rId2" Type="http://schemas.openxmlformats.org/officeDocument/2006/relationships/notesMaster" Target="../notesMasters/notesMaster1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slide" Target="../slides/slide4.xml"  /><Relationship Id="rId2" Type="http://schemas.openxmlformats.org/officeDocument/2006/relationships/notesMaster" Target="../notesMasters/notesMaster1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slide" Target="../slides/slide7.xml"  /><Relationship Id="rId2" Type="http://schemas.openxmlformats.org/officeDocument/2006/relationships/notesMaster" Target="../notesMasters/notesMaster1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slide" Target="../slides/slide8.xml"  /><Relationship Id="rId2" Type="http://schemas.openxmlformats.org/officeDocument/2006/relationships/notesMaster" Target="../notesMasters/notesMaster1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slide" Target="../slides/slide9.xml"  /><Relationship Id="rId2" Type="http://schemas.openxmlformats.org/officeDocument/2006/relationships/notesMaster" Target="../notesMasters/notesMaster1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slide" Target="../slides/slide10.xml"  /><Relationship Id="rId2" Type="http://schemas.openxmlformats.org/officeDocument/2006/relationships/notesMaster" Target="../notesMasters/notesMaster1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slide" Target="../slides/slide13.xml"  /><Relationship Id="rId2" Type="http://schemas.openxmlformats.org/officeDocument/2006/relationships/notesMaster" Target="../notesMasters/notesMaster1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slide" Target="../slides/slide14.xml"  /><Relationship Id="rId2" Type="http://schemas.openxmlformats.org/officeDocument/2006/relationships/notesMaster" Target="../notesMasters/notesMaster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slide" Target="../slides/slide15.xml"  /><Relationship Id="rId2" Type="http://schemas.openxmlformats.org/officeDocument/2006/relationships/notesMaster" Target="../notesMasters/notesMaster1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slide" Target="../slides/slide16.xml"  /><Relationship Id="rId2" Type="http://schemas.openxmlformats.org/officeDocument/2006/relationships/notesMaster" Target="../notesMasters/notesMaster1.xml"  /></Relationships>
</file>

<file path=ppt/notesSlides/_rels/notesSlide14.xml.rels><?xml version="1.0" encoding="UTF-8" standalone="yes" ?><Relationships xmlns="http://schemas.openxmlformats.org/package/2006/relationships"><Relationship Id="rId1" Type="http://schemas.openxmlformats.org/officeDocument/2006/relationships/slide" Target="../slides/slide18.xml"  /><Relationship Id="rId2" Type="http://schemas.openxmlformats.org/officeDocument/2006/relationships/notesMaster" Target="../notesMasters/notesMaster1.xml"  /></Relationships>
</file>

<file path=ppt/notesSlides/_rels/notesSlide15.xml.rels><?xml version="1.0" encoding="UTF-8" standalone="yes" ?><Relationships xmlns="http://schemas.openxmlformats.org/package/2006/relationships"><Relationship Id="rId1" Type="http://schemas.openxmlformats.org/officeDocument/2006/relationships/slide" Target="../slides/slide22.xml"  /><Relationship Id="rId2" Type="http://schemas.openxmlformats.org/officeDocument/2006/relationships/notesMaster" Target="../notesMasters/notesMaster1.xml"  /></Relationships>
</file>

<file path=ppt/notesSlides/_rels/notesSlide16.xml.rels><?xml version="1.0" encoding="UTF-8" standalone="yes" ?><Relationships xmlns="http://schemas.openxmlformats.org/package/2006/relationships"><Relationship Id="rId1" Type="http://schemas.openxmlformats.org/officeDocument/2006/relationships/slide" Target="../slides/slide23.xml"  /><Relationship Id="rId2" Type="http://schemas.openxmlformats.org/officeDocument/2006/relationships/notesMaster" Target="../notesMasters/notesMaster1.xml"  /></Relationships>
</file>

<file path=ppt/notesSlides/_rels/notesSlide17.xml.rels><?xml version="1.0" encoding="UTF-8" standalone="yes" ?><Relationships xmlns="http://schemas.openxmlformats.org/package/2006/relationships"><Relationship Id="rId1" Type="http://schemas.openxmlformats.org/officeDocument/2006/relationships/slide" Target="../slides/slide24.xml"  /><Relationship Id="rId2" Type="http://schemas.openxmlformats.org/officeDocument/2006/relationships/notesMaster" Target="../notesMasters/notesMaster1.xml"  /></Relationships>
</file>

<file path=ppt/notesSlides/_rels/notesSlide18.xml.rels><?xml version="1.0" encoding="UTF-8" standalone="yes" ?><Relationships xmlns="http://schemas.openxmlformats.org/package/2006/relationships"><Relationship Id="rId1" Type="http://schemas.openxmlformats.org/officeDocument/2006/relationships/slide" Target="../slides/slide25.xml"  /><Relationship Id="rId2" Type="http://schemas.openxmlformats.org/officeDocument/2006/relationships/notesMaster" Target="../notesMasters/notesMaster1.xml"  /></Relationships>
</file>

<file path=ppt/notesSlides/_rels/notesSlide19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6.xml"  /></Relationships>
</file>

<file path=ppt/notesSlides/_rels/notesSlide20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7.xml"  /></Relationships>
</file>

<file path=ppt/notesSlides/_rels/notesSlide2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8.xml"  /></Relationships>
</file>

<file path=ppt/notesSlides/_rels/notesSlide2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9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9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0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 idx="0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3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4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5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6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7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8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5F1A9-8534-A18D-BB44-58D6FDAFC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45FD82E5-E69B-4D2D-C1B2-0FEFE85EC2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078749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B15E5-C655-4C78-FAD6-86EF82880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>
            <a:extLst>
              <a:ext uri="{FF2B5EF4-FFF2-40B4-BE49-F238E27FC236}">
                <a16:creationId xmlns:a16="http://schemas.microsoft.com/office/drawing/2014/main" id="{380D6F4F-7338-1BCF-15CA-78D1A44951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5686779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7224F01A-983D-C5B4-B56B-7871E0ED58D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5E9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5F7D3595-911E-2CB8-B1C3-DA814AF0CA4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5E9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.xml"  /><Relationship Id="rId3" Type="http://schemas.openxmlformats.org/officeDocument/2006/relationships/image" Target="../media/image1.png"  /><Relationship Id="rId4" Type="http://schemas.openxmlformats.org/officeDocument/2006/relationships/image" Target="../media/image2.png"  /><Relationship Id="rId5" Type="http://schemas.openxmlformats.org/officeDocument/2006/relationships/image" Target="../media/image3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3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2.xml"  /><Relationship Id="rId3" Type="http://schemas.openxmlformats.org/officeDocument/2006/relationships/image" Target="../media/image3.png"  /><Relationship Id="rId4" Type="http://schemas.openxmlformats.org/officeDocument/2006/relationships/image" Target="../media/image4.png"  /><Relationship Id="rId5" Type="http://schemas.openxmlformats.org/officeDocument/2006/relationships/image" Target="../media/image5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3.xml"  /><Relationship Id="rId3" Type="http://schemas.openxmlformats.org/officeDocument/2006/relationships/image" Target="../media/image3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4.xml"  /><Relationship Id="rId3" Type="http://schemas.openxmlformats.org/officeDocument/2006/relationships/image" Target="../media/image3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5.xml"  /><Relationship Id="rId3" Type="http://schemas.openxmlformats.org/officeDocument/2006/relationships/image" Target="../media/image6.png"  /><Relationship Id="rId4" Type="http://schemas.openxmlformats.org/officeDocument/2006/relationships/image" Target="../media/image3.png"  /><Relationship Id="rId5" Type="http://schemas.openxmlformats.org/officeDocument/2006/relationships/image" Target="../media/image7.png"  /></Relationships>
</file>

<file path=ppt/slides/_rels/slide7.xml.rels><?xml version="1.0" encoding="UTF-8" standalone="yes" ?><Relationships xmlns="http://schemas.openxmlformats.org/package/2006/relationships"><Relationship Id="rId1" Type="http://schemas.microsoft.com/office/2007/relationships/media" Target="../media/media1.mp4"  /><Relationship Id="rId2" Type="http://schemas.openxmlformats.org/officeDocument/2006/relationships/video" Target="../media/media1.mp4"  /><Relationship Id="rId3" Type="http://schemas.openxmlformats.org/officeDocument/2006/relationships/slideLayout" Target="../slideLayouts/slideLayout1.xml"  /><Relationship Id="rId4" Type="http://schemas.openxmlformats.org/officeDocument/2006/relationships/notesSlide" Target="../notesSlides/notesSlide6.xml"  /><Relationship Id="rId5" Type="http://schemas.openxmlformats.org/officeDocument/2006/relationships/image" Target="../media/image8.png"  /><Relationship Id="rId6" Type="http://schemas.openxmlformats.org/officeDocument/2006/relationships/image" Target="../media/image9.jpeg"  /><Relationship Id="rId7" Type="http://schemas.openxmlformats.org/officeDocument/2006/relationships/image" Target="../media/image3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7.xml"  /><Relationship Id="rId3" Type="http://schemas.openxmlformats.org/officeDocument/2006/relationships/image" Target="../media/image3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8.xml"  /><Relationship Id="rId3" Type="http://schemas.openxmlformats.org/officeDocument/2006/relationships/image" Target="../media/image3.png"  /><Relationship Id="rId4" Type="http://schemas.openxmlformats.org/officeDocument/2006/relationships/image" Target="../media/image10.png"  /><Relationship Id="rId5" Type="http://schemas.openxmlformats.org/officeDocument/2006/relationships/image" Target="../media/image11.png"  /><Relationship Id="rId6" Type="http://schemas.openxmlformats.org/officeDocument/2006/relationships/image" Target="../media/image12.jpeg"  /><Relationship Id="rId7" Type="http://schemas.openxmlformats.org/officeDocument/2006/relationships/image" Target="../media/image13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9.xml"  /><Relationship Id="rId3" Type="http://schemas.openxmlformats.org/officeDocument/2006/relationships/image" Target="../media/image3.png"  /><Relationship Id="rId4" Type="http://schemas.openxmlformats.org/officeDocument/2006/relationships/image" Target="../media/image14.png"  /><Relationship Id="rId5" Type="http://schemas.openxmlformats.org/officeDocument/2006/relationships/image" Target="../media/image15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3.png"  /><Relationship Id="rId3" Type="http://schemas.openxmlformats.org/officeDocument/2006/relationships/image" Target="../media/image16.png"  /><Relationship Id="rId4" Type="http://schemas.openxmlformats.org/officeDocument/2006/relationships/image" Target="../media/image17.jpe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3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0.xml"  /><Relationship Id="rId3" Type="http://schemas.openxmlformats.org/officeDocument/2006/relationships/image" Target="../media/image3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1.xml"  /><Relationship Id="rId3" Type="http://schemas.openxmlformats.org/officeDocument/2006/relationships/image" Target="../media/image3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2.xml"  /><Relationship Id="rId3" Type="http://schemas.openxmlformats.org/officeDocument/2006/relationships/image" Target="../media/image3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3.xml"  /><Relationship Id="rId3" Type="http://schemas.openxmlformats.org/officeDocument/2006/relationships/image" Target="../media/image3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3.png"  /><Relationship Id="rId3" Type="http://schemas.openxmlformats.org/officeDocument/2006/relationships/image" Target="../media/image18.jpeg"  /><Relationship Id="rId4" Type="http://schemas.openxmlformats.org/officeDocument/2006/relationships/image" Target="../media/image19.jpeg"  /><Relationship Id="rId5" Type="http://schemas.openxmlformats.org/officeDocument/2006/relationships/image" Target="../media/image20.jpeg"  /><Relationship Id="rId6" Type="http://schemas.openxmlformats.org/officeDocument/2006/relationships/image" Target="../media/image21.jpeg"  /><Relationship Id="rId7" Type="http://schemas.openxmlformats.org/officeDocument/2006/relationships/image" Target="../media/image22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4.xml"  /><Relationship Id="rId3" Type="http://schemas.openxmlformats.org/officeDocument/2006/relationships/image" Target="../media/image3.png"  /><Relationship Id="rId4" Type="http://schemas.openxmlformats.org/officeDocument/2006/relationships/image" Target="../media/image23.png"  /><Relationship Id="rId5" Type="http://schemas.openxmlformats.org/officeDocument/2006/relationships/image" Target="../media/image24.png"  /><Relationship Id="rId6" Type="http://schemas.openxmlformats.org/officeDocument/2006/relationships/image" Target="../media/image25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6.png"  /><Relationship Id="rId3" Type="http://schemas.openxmlformats.org/officeDocument/2006/relationships/image" Target="../media/image27.jpe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3.png"  /><Relationship Id="rId3" Type="http://schemas.openxmlformats.org/officeDocument/2006/relationships/image" Target="../media/image28.jpeg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3.png"  /><Relationship Id="rId3" Type="http://schemas.openxmlformats.org/officeDocument/2006/relationships/image" Target="../media/image29.jpeg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5.xml"  /><Relationship Id="rId3" Type="http://schemas.openxmlformats.org/officeDocument/2006/relationships/image" Target="../media/image30.jpeg"  /><Relationship Id="rId4" Type="http://schemas.openxmlformats.org/officeDocument/2006/relationships/image" Target="../media/image31.jpeg"  /><Relationship Id="rId5" Type="http://schemas.openxmlformats.org/officeDocument/2006/relationships/image" Target="../media/image3.png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6.xml"  /><Relationship Id="rId3" Type="http://schemas.openxmlformats.org/officeDocument/2006/relationships/image" Target="../media/image3.png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7.xml"  /><Relationship Id="rId3" Type="http://schemas.openxmlformats.org/officeDocument/2006/relationships/image" Target="../media/image32.jpeg"  /><Relationship Id="rId4" Type="http://schemas.openxmlformats.org/officeDocument/2006/relationships/image" Target="../media/image3.png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8.xml"  /><Relationship Id="rId3" Type="http://schemas.openxmlformats.org/officeDocument/2006/relationships/image" Target="../media/image33.png"  /><Relationship Id="rId4" Type="http://schemas.openxmlformats.org/officeDocument/2006/relationships/image" Target="../media/image3.png"  /><Relationship Id="rId5" Type="http://schemas.openxmlformats.org/officeDocument/2006/relationships/image" Target="../media/image6.png"  /></Relationships>
</file>

<file path=ppt/slides/_rels/slide2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19.xml"  /><Relationship Id="rId3" Type="http://schemas.openxmlformats.org/officeDocument/2006/relationships/image" Target="../media/image3.png"  /></Relationships>
</file>

<file path=ppt/slides/_rels/slide2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20.xml"  /><Relationship Id="rId3" Type="http://schemas.openxmlformats.org/officeDocument/2006/relationships/image" Target="../media/image3.png"  /></Relationships>
</file>

<file path=ppt/slides/_rels/slide2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21.xml"  /><Relationship Id="rId3" Type="http://schemas.openxmlformats.org/officeDocument/2006/relationships/image" Target="../media/image3.png"  /><Relationship Id="rId4" Type="http://schemas.openxmlformats.org/officeDocument/2006/relationships/image" Target="../media/image34.png"  /><Relationship Id="rId5" Type="http://schemas.openxmlformats.org/officeDocument/2006/relationships/image" Target="../media/image35.png"  /></Relationships>
</file>

<file path=ppt/slides/_rels/slide2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notesSlide" Target="../notesSlides/notesSlide22.xml"  /><Relationship Id="rId3" Type="http://schemas.openxmlformats.org/officeDocument/2006/relationships/image" Target="../media/image3.png"  /><Relationship Id="rId4" Type="http://schemas.openxmlformats.org/officeDocument/2006/relationships/image" Target="../media/image36.png"  /><Relationship Id="rId5" Type="http://schemas.openxmlformats.org/officeDocument/2006/relationships/image" Target="../media/image37.png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그림 20">
            <a:extLst>
              <a:ext uri="{FF2B5EF4-FFF2-40B4-BE49-F238E27FC236}">
                <a16:creationId xmlns:a16="http://schemas.microsoft.com/office/drawing/2014/main" id="{A985E05F-BACB-B8D7-4C80-46DAA918AA1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801" r="21413"/>
          <a:stretch>
            <a:fillRect/>
          </a:stretch>
        </p:blipFill>
        <p:spPr>
          <a:xfrm>
            <a:off x="7011924" y="0"/>
            <a:ext cx="5180076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81634" y="2186198"/>
            <a:ext cx="3940181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dist">
              <a:lnSpc>
                <a:spcPct val="100000"/>
              </a:lnSpc>
            </a:pPr>
            <a:r>
              <a:rPr lang="ko-KR" altLang="en-US" sz="3200" b="0" dirty="0">
                <a:solidFill>
                  <a:srgbClr val="6C5D4C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검사처럼 느껴지지 않는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81634" y="2811673"/>
            <a:ext cx="3940181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dist">
              <a:lnSpc>
                <a:spcPct val="100000"/>
              </a:lnSpc>
            </a:pPr>
            <a:r>
              <a:rPr lang="ko-KR" altLang="en-US" sz="4000" b="0" dirty="0">
                <a:solidFill>
                  <a:srgbClr val="F57265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두뇌운동</a:t>
            </a:r>
            <a:r>
              <a:rPr lang="ko-KR" altLang="en-US" sz="400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 키오스크</a:t>
            </a:r>
          </a:p>
        </p:txBody>
      </p:sp>
      <p:sp>
        <p:nvSpPr>
          <p:cNvPr id="6" name="Rectangle 5"/>
          <p:cNvSpPr/>
          <p:nvPr/>
        </p:nvSpPr>
        <p:spPr>
          <a:xfrm>
            <a:off x="899922" y="3657600"/>
            <a:ext cx="2148840" cy="381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913637" y="4040124"/>
            <a:ext cx="82296" cy="82296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55954" y="3971544"/>
            <a:ext cx="3125856" cy="21698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10" b="0" dirty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노인 · 가족 · 복지 · 의료를 잇는 일상 기록</a:t>
            </a:r>
          </a:p>
        </p:txBody>
      </p:sp>
      <p:sp>
        <p:nvSpPr>
          <p:cNvPr id="9" name="Oval 8"/>
          <p:cNvSpPr/>
          <p:nvPr/>
        </p:nvSpPr>
        <p:spPr>
          <a:xfrm>
            <a:off x="913637" y="4369308"/>
            <a:ext cx="82296" cy="82296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55954" y="4300728"/>
            <a:ext cx="4754880" cy="27755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10" b="0" dirty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AI 개인화 문항 · 오늘 말한 내용이 내일의 단서</a:t>
            </a:r>
          </a:p>
        </p:txBody>
      </p:sp>
      <p:sp>
        <p:nvSpPr>
          <p:cNvPr id="11" name="Oval 10"/>
          <p:cNvSpPr/>
          <p:nvPr/>
        </p:nvSpPr>
        <p:spPr>
          <a:xfrm>
            <a:off x="913637" y="4698492"/>
            <a:ext cx="82296" cy="82296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55954" y="4629912"/>
            <a:ext cx="4937760" cy="21698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1410" b="0" dirty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하루 = 매일을 기록하는 하루 · Haru = 일본어로 '봄(春)'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9922" y="5141976"/>
            <a:ext cx="4754880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1634" y="5365885"/>
            <a:ext cx="1734449" cy="3077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000" b="0" dirty="0" err="1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Haru by 보편교육연구소</a:t>
            </a:r>
            <a:endParaRPr lang="ko-KR" altLang="en-US" sz="2000" b="0" dirty="0">
              <a:solidFill>
                <a:srgbClr val="2A2018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  <a:cs typeface="나눔스퀘어라운드 ExtraBold" panose="020B0600000101010101" pitchFamily="50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81634" y="5812040"/>
            <a:ext cx="5180076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chemeClr val="tx1">
                    <a:lumMod val="50000"/>
                    <a:lumOff val="50000"/>
                  </a:schemeClr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[E5 KAIST] 지원서  ·  팀 보편교육연구소  ·  2026. 09</a:t>
            </a: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4E9C6F4B-AED3-56C7-72EA-522ACBB5B753}"/>
              </a:ext>
            </a:extLst>
          </p:cNvPr>
          <p:cNvGrpSpPr/>
          <p:nvPr/>
        </p:nvGrpSpPr>
        <p:grpSpPr>
          <a:xfrm>
            <a:off x="10839157" y="5391187"/>
            <a:ext cx="1243584" cy="1243584"/>
            <a:chOff x="6400800" y="5230368"/>
            <a:chExt cx="1243584" cy="1243584"/>
          </a:xfrm>
        </p:grpSpPr>
        <p:sp>
          <p:nvSpPr>
            <p:cNvPr id="16" name="Rounded Rectangle 15"/>
            <p:cNvSpPr/>
            <p:nvPr/>
          </p:nvSpPr>
          <p:spPr>
            <a:xfrm>
              <a:off x="6400800" y="5230368"/>
              <a:ext cx="1243584" cy="1243584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pic>
          <p:nvPicPr>
            <p:cNvPr id="17" name="Picture 16" descr="qr_demo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473952" y="5303520"/>
              <a:ext cx="1097280" cy="1097280"/>
            </a:xfrm>
            <a:prstGeom prst="rect">
              <a:avLst/>
            </a:prstGeom>
            <a:effectLst/>
          </p:spPr>
        </p:pic>
      </p:grp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E1274BF9-E06C-5546-AB8B-2D8650C25639}"/>
              </a:ext>
            </a:extLst>
          </p:cNvPr>
          <p:cNvGrpSpPr/>
          <p:nvPr/>
        </p:nvGrpSpPr>
        <p:grpSpPr>
          <a:xfrm>
            <a:off x="7357473" y="6207135"/>
            <a:ext cx="3215874" cy="355915"/>
            <a:chOff x="8815344" y="6207135"/>
            <a:chExt cx="3215874" cy="355915"/>
          </a:xfrm>
        </p:grpSpPr>
        <p:sp>
          <p:nvSpPr>
            <p:cNvPr id="18" name="Rounded Rectangle 17"/>
            <p:cNvSpPr/>
            <p:nvPr/>
          </p:nvSpPr>
          <p:spPr>
            <a:xfrm>
              <a:off x="8815344" y="6207135"/>
              <a:ext cx="3215874" cy="355915"/>
            </a:xfrm>
            <a:prstGeom prst="roundRect">
              <a:avLst>
                <a:gd name="adj" fmla="val 50000"/>
              </a:avLst>
            </a:prstGeom>
            <a:solidFill>
              <a:srgbClr val="2A201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dirty="0"/>
            </a:p>
          </p:txBody>
        </p:sp>
        <p:sp>
          <p:nvSpPr>
            <p:cNvPr id="19" name="Oval 18"/>
            <p:cNvSpPr/>
            <p:nvPr/>
          </p:nvSpPr>
          <p:spPr>
            <a:xfrm>
              <a:off x="9025655" y="6296443"/>
              <a:ext cx="128016" cy="128016"/>
            </a:xfrm>
            <a:prstGeom prst="ellipse">
              <a:avLst/>
            </a:prstGeom>
            <a:solidFill>
              <a:srgbClr val="F5726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272544" y="6251960"/>
              <a:ext cx="2480038" cy="21698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410" b="0" dirty="0" err="1">
                  <a:solidFill>
                    <a:srgbClr val="FFFFFF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haru-raspberry-pi.vercel.app</a:t>
              </a:r>
              <a:endParaRPr lang="ko-KR" altLang="en-US" sz="1410" b="0" dirty="0">
                <a:solidFill>
                  <a:srgbClr val="FFFFFF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endParaRPr>
            </a:p>
          </p:txBody>
        </p:sp>
      </p:grpSp>
      <p:sp>
        <p:nvSpPr>
          <p:cNvPr id="24" name="Rectangle 4">
            <a:extLst>
              <a:ext uri="{FF2B5EF4-FFF2-40B4-BE49-F238E27FC236}">
                <a16:creationId xmlns:a16="http://schemas.microsoft.com/office/drawing/2014/main" id="{D9E450B4-0FDB-A680-D795-634687799504}"/>
              </a:ext>
            </a:extLst>
          </p:cNvPr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F57265"/>
          </a:solidFill>
          <a:ln>
            <a:noFill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9" name="Picture 2" descr="logo.png">
            <a:extLst>
              <a:ext uri="{FF2B5EF4-FFF2-40B4-BE49-F238E27FC236}">
                <a16:creationId xmlns:a16="http://schemas.microsoft.com/office/drawing/2014/main" id="{82BA9DC0-5BB7-DFAB-1D3B-3C43DD8152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882" y="273571"/>
            <a:ext cx="3884033" cy="1979778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9C8B77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1. ITEM · 아이디어 한 줄 소개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0232" cy="4201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730" b="0" dirty="0">
                <a:solidFill>
                  <a:srgbClr val="F57265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Haru</a:t>
            </a:r>
            <a:r>
              <a:rPr lang="ko-KR" altLang="en-US" sz="273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를 한 줄로 소개합니다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11000232" cy="2431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 dirty="0">
                <a:solidFill>
                  <a:srgbClr val="6C5D4C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팀 보편교육연구소 · 제품명 Haru, 하루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Haru by 보편교육연구소 · 아이디어 한 줄 소개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408454" y="6364224"/>
            <a:ext cx="18915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altLang="ko-KR" sz="1200" b="0" dirty="0">
                <a:solidFill>
                  <a:srgbClr val="9C8B77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02</a:t>
            </a:r>
            <a:endParaRPr lang="ko-KR" altLang="en-US" sz="1200" b="0" dirty="0">
              <a:solidFill>
                <a:srgbClr val="9C8B77"/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나눔스퀘어라운드 Bold" panose="020B0600000101010101" pitchFamily="50" charset="-127"/>
            </a:endParaRPr>
          </a:p>
        </p:txBody>
      </p:sp>
      <p:pic>
        <p:nvPicPr>
          <p:cNvPr id="66" name="Picture 6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sp>
        <p:nvSpPr>
          <p:cNvPr id="67" name="Rounded Rectangle 66"/>
          <p:cNvSpPr/>
          <p:nvPr/>
        </p:nvSpPr>
        <p:spPr>
          <a:xfrm>
            <a:off x="594360" y="1783080"/>
            <a:ext cx="11000232" cy="2103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22960" y="20116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>
                <a:solidFill>
                  <a:srgbClr val="6C5D4C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어르신이 어제 말한 이야기가 오늘의 문항이 되는,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2960" y="2514600"/>
            <a:ext cx="1051560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검사처럼 느껴지지 않는 하루 3분 </a:t>
            </a:r>
            <a:r>
              <a:rPr sz="3000">
                <a:solidFill>
                  <a:srgbClr val="F57265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AI 개인화 두뇌운동 키오스크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22960" y="32461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>
                <a:solidFill>
                  <a:srgbClr val="6C5D4C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치매 조기 징후의 일상 관찰  ·  정서 · 사회적 고립 완화  ·  보호자와 기관을 잇는 예방적 돌봄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594360" y="4114800"/>
            <a:ext cx="3538728" cy="16002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72" name="Oval 71"/>
          <p:cNvSpPr/>
          <p:nvPr/>
        </p:nvSpPr>
        <p:spPr>
          <a:xfrm>
            <a:off x="868680" y="4315968"/>
            <a:ext cx="457200" cy="457200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sz="1600">
                <a:solidFill>
                  <a:srgbClr val="FFFFFF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463040" y="4315968"/>
            <a:ext cx="248716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2×2 물리버튼 키오스크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868680" y="4892040"/>
            <a:ext cx="299008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터치 없이 큰 화면과 네 개의 버튼으로
어르신 혼자 끝까지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325112" y="4114800"/>
            <a:ext cx="3538728" cy="16002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76" name="Oval 75"/>
          <p:cNvSpPr/>
          <p:nvPr/>
        </p:nvSpPr>
        <p:spPr>
          <a:xfrm>
            <a:off x="4599432" y="4315968"/>
            <a:ext cx="457200" cy="457200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sz="1600">
                <a:solidFill>
                  <a:srgbClr val="FFFFFF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193792" y="4315968"/>
            <a:ext cx="248716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AI 개인화 회상 문항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599432" y="4892040"/>
            <a:ext cx="299008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본인이 말한 어제의 이야기가
내일의 문항으로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8055864" y="4114800"/>
            <a:ext cx="3538728" cy="16002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80" name="Oval 79"/>
          <p:cNvSpPr/>
          <p:nvPr/>
        </p:nvSpPr>
        <p:spPr>
          <a:xfrm>
            <a:off x="8330184" y="4315968"/>
            <a:ext cx="457200" cy="457200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sz="1600">
                <a:solidFill>
                  <a:srgbClr val="FFFFFF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924544" y="4315968"/>
            <a:ext cx="248716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60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안부형 리포트 · 기관 연계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330184" y="4892040"/>
            <a:ext cx="2990088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점수가 아닌 안부로
가족 · 복지관 · 의료를 연결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94360" y="5897880"/>
            <a:ext cx="11000232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>
                <a:solidFill>
                  <a:srgbClr val="9C8B77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주 이용자 65세 이상 어르신  ·  보조 이용자 보호자 · 복지관 · 치매안심센터 종사자  ·  1일 1회, 회당 3~5분, 기관 설치형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Rounded Rectangle 38">
            <a:extLst>
              <a:ext uri="{FF2B5EF4-FFF2-40B4-BE49-F238E27FC236}">
                <a16:creationId xmlns:a16="http://schemas.microsoft.com/office/drawing/2014/main" id="{26F8E544-C380-E1F1-39EE-7FD614766A94}"/>
              </a:ext>
            </a:extLst>
          </p:cNvPr>
          <p:cNvSpPr/>
          <p:nvPr/>
        </p:nvSpPr>
        <p:spPr>
          <a:xfrm>
            <a:off x="1436770" y="3869944"/>
            <a:ext cx="9318460" cy="716458"/>
          </a:xfrm>
          <a:prstGeom prst="roundRect">
            <a:avLst>
              <a:gd name="adj" fmla="val 17252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F57265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2. PROBLEM · 문제 정의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49" cy="600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15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초고령사회와 돌봄의 </a:t>
            </a:r>
            <a:r>
              <a:rPr lang="ko-KR" altLang="en-US" sz="3150" b="0" dirty="0">
                <a:solidFill>
                  <a:srgbClr val="F57265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일상 기록 공백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11003249" cy="3110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>
                <a:solidFill>
                  <a:srgbClr val="6C5D4C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치매 인구 증가 · 가족 부담 · 기관 반복 관찰의 한계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55648"/>
            <a:ext cx="3502152" cy="199339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380744" y="1937154"/>
            <a:ext cx="1271182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b="0" dirty="0">
                <a:solidFill>
                  <a:srgbClr val="6C5D4C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가족 · 보호자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52120"/>
            <a:ext cx="3108960" cy="6463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lang="ko-KR" altLang="en-US" sz="1639" b="0" dirty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매일의 안부와 변화를</a:t>
            </a:r>
          </a:p>
          <a:p>
            <a:pPr algn="l">
              <a:lnSpc>
                <a:spcPct val="142000"/>
              </a:lnSpc>
            </a:pPr>
            <a:r>
              <a:rPr lang="ko-KR" altLang="en-US" sz="1639" b="0" dirty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확인할 도구가 없다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3100872"/>
            <a:ext cx="3200400" cy="4876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아이는 </a:t>
            </a:r>
            <a:r>
              <a:rPr lang="ko-KR" altLang="en-US" sz="1200" b="0" dirty="0" err="1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학습앱으로</a:t>
            </a:r>
            <a:r>
              <a:rPr lang="ko-KR" altLang="en-US" sz="120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 챙기지만,</a:t>
            </a:r>
          </a:p>
          <a:p>
            <a:pPr algn="l">
              <a:lnSpc>
                <a:spcPct val="142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부모님 안부는 </a:t>
            </a:r>
            <a:r>
              <a:rPr lang="ko-KR" altLang="en-US" sz="1200" b="0" dirty="0" err="1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가끔의</a:t>
            </a:r>
            <a:r>
              <a:rPr lang="ko-KR" altLang="en-US" sz="120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 </a:t>
            </a:r>
            <a:r>
              <a:rPr lang="ko-KR" altLang="en-US" sz="1200" b="0" dirty="0" err="1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전화뿐입니다</a:t>
            </a:r>
            <a:r>
              <a:rPr lang="ko-KR" altLang="en-US" sz="120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755648"/>
            <a:ext cx="3502152" cy="199339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29784" y="1937154"/>
            <a:ext cx="419987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b="0" dirty="0">
                <a:solidFill>
                  <a:srgbClr val="6C5D4C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노인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2" y="2352120"/>
            <a:ext cx="3108960" cy="6463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lang="ko-KR" altLang="en-US" sz="1639" b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검사 낙인과 작은 화면이</a:t>
            </a:r>
          </a:p>
          <a:p>
            <a:pPr algn="l">
              <a:lnSpc>
                <a:spcPct val="142000"/>
              </a:lnSpc>
            </a:pPr>
            <a:r>
              <a:rPr lang="ko-KR" altLang="en-US" sz="1639" b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기록을 막는다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9432" y="3100872"/>
            <a:ext cx="3200400" cy="4876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글자를 키워도 보이지 않고,</a:t>
            </a:r>
          </a:p>
          <a:p>
            <a:pPr algn="l">
              <a:lnSpc>
                <a:spcPct val="142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전화만 되는 기기를 쓰십니다.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755648"/>
            <a:ext cx="3502152" cy="199339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78824" y="1937154"/>
            <a:ext cx="1481175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b="0" dirty="0">
                <a:solidFill>
                  <a:srgbClr val="6C5D4C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복지 · 의료기관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1" y="2352120"/>
            <a:ext cx="3108960" cy="6463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lang="ko-KR" altLang="en-US" sz="1639" b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매일 살펴볼 인력과</a:t>
            </a:r>
          </a:p>
          <a:p>
            <a:pPr algn="l">
              <a:lnSpc>
                <a:spcPct val="142000"/>
              </a:lnSpc>
            </a:pPr>
            <a:r>
              <a:rPr lang="ko-KR" altLang="en-US" sz="1639" b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기록 수단이 없다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1" y="3100872"/>
            <a:ext cx="3200400" cy="48767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수기 관찰과 반복 문답에 기대어</a:t>
            </a:r>
          </a:p>
          <a:p>
            <a:pPr algn="l">
              <a:lnSpc>
                <a:spcPct val="142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데이터가 남지 않습니다.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38971" y="4041648"/>
            <a:ext cx="7914026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240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변화는 진단 이전에 시작되는데, </a:t>
            </a:r>
            <a:r>
              <a:rPr lang="ko-KR" altLang="en-US" sz="2400" b="0" dirty="0">
                <a:solidFill>
                  <a:srgbClr val="C8410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매일을 남기는 수단이 없습니다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4736592"/>
            <a:ext cx="3502152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94360" y="4882896"/>
            <a:ext cx="1410643" cy="5539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600" b="0" dirty="0">
                <a:solidFill>
                  <a:srgbClr val="F57265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20.3%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5468112"/>
            <a:ext cx="3502152" cy="2559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300" b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65세 이상 인구 비중 · 한국 2025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5724144"/>
            <a:ext cx="2247410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100" b="0">
                <a:solidFill>
                  <a:srgbClr val="9C8B7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출처 · 국가데이터처 2025 고령자 통계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4736592"/>
            <a:ext cx="3502152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343400" y="4882896"/>
            <a:ext cx="2351606" cy="5539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600" b="0" dirty="0">
                <a:solidFill>
                  <a:srgbClr val="F57265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약 101만 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5468112"/>
            <a:ext cx="3502152" cy="2559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300" b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65세 이상 추정 치매 인구 · 2026 전망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43400" y="5724144"/>
            <a:ext cx="2212144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100" b="0" dirty="0">
                <a:solidFill>
                  <a:srgbClr val="9C8B7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출처 · 보건복지부 2023 치매역학조사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92440" y="4736592"/>
            <a:ext cx="3502152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092440" y="4882896"/>
            <a:ext cx="1410643" cy="5539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600" b="0" dirty="0">
                <a:solidFill>
                  <a:srgbClr val="F57265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29.4%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92440" y="5468112"/>
            <a:ext cx="3502152" cy="2559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300" b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65세 이상 인구 비중 · 일본 2025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5724144"/>
            <a:ext cx="1862689" cy="1692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100" b="0">
                <a:solidFill>
                  <a:srgbClr val="9C8B7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출처 · 일본 총무성 통계국 2025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Haru by 보편교육연구소 · 문제 정의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03</a:t>
            </a:r>
          </a:p>
        </p:txBody>
      </p:sp>
      <p:pic>
        <p:nvPicPr>
          <p:cNvPr id="40" name="Picture 39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grpSp>
        <p:nvGrpSpPr>
          <p:cNvPr id="55" name="그룹 54">
            <a:extLst>
              <a:ext uri="{FF2B5EF4-FFF2-40B4-BE49-F238E27FC236}">
                <a16:creationId xmlns:a16="http://schemas.microsoft.com/office/drawing/2014/main" id="{41F6E3BD-BCB9-4A8E-1434-4809C2A0A202}"/>
              </a:ext>
            </a:extLst>
          </p:cNvPr>
          <p:cNvGrpSpPr/>
          <p:nvPr/>
        </p:nvGrpSpPr>
        <p:grpSpPr>
          <a:xfrm>
            <a:off x="838339" y="1866103"/>
            <a:ext cx="419100" cy="419100"/>
            <a:chOff x="838339" y="1860080"/>
            <a:chExt cx="419100" cy="419100"/>
          </a:xfrm>
        </p:grpSpPr>
        <p:sp>
          <p:nvSpPr>
            <p:cNvPr id="42" name="Rectangle 8">
              <a:extLst>
                <a:ext uri="{FF2B5EF4-FFF2-40B4-BE49-F238E27FC236}">
                  <a16:creationId xmlns:a16="http://schemas.microsoft.com/office/drawing/2014/main" id="{8B91D425-76FE-4C84-D0A0-0C4421F6B02F}"/>
                </a:ext>
              </a:extLst>
            </p:cNvPr>
            <p:cNvSpPr/>
            <p:nvPr/>
          </p:nvSpPr>
          <p:spPr>
            <a:xfrm>
              <a:off x="838339" y="1860080"/>
              <a:ext cx="419100" cy="419100"/>
            </a:xfrm>
            <a:prstGeom prst="roundRect">
              <a:avLst>
                <a:gd name="adj" fmla="val 27273"/>
              </a:avLst>
            </a:prstGeom>
            <a:solidFill>
              <a:srgbClr val="FBE0D3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endParaRPr>
            </a:p>
          </p:txBody>
        </p:sp>
        <p:sp>
          <p:nvSpPr>
            <p:cNvPr id="44" name="Freeform 9">
              <a:extLst>
                <a:ext uri="{FF2B5EF4-FFF2-40B4-BE49-F238E27FC236}">
                  <a16:creationId xmlns:a16="http://schemas.microsoft.com/office/drawing/2014/main" id="{A968C8A1-FB1B-00E5-5BA4-6C78F7EE70A1}"/>
                </a:ext>
              </a:extLst>
            </p:cNvPr>
            <p:cNvSpPr/>
            <p:nvPr/>
          </p:nvSpPr>
          <p:spPr>
            <a:xfrm>
              <a:off x="940442" y="1974373"/>
              <a:ext cx="214616" cy="189136"/>
            </a:xfrm>
            <a:custGeom>
              <a:avLst/>
              <a:gdLst/>
              <a:ahLst/>
              <a:cxnLst/>
              <a:rect l="l" t="t" r="r" b="b"/>
              <a:pathLst>
                <a:path w="214616" h="189136">
                  <a:moveTo>
                    <a:pt x="55636" y="3152"/>
                  </a:moveTo>
                  <a:cubicBezTo>
                    <a:pt x="74135" y="0"/>
                    <a:pt x="93064" y="5408"/>
                    <a:pt x="107106" y="17856"/>
                  </a:cubicBezTo>
                  <a:lnTo>
                    <a:pt x="107488" y="18197"/>
                  </a:lnTo>
                  <a:lnTo>
                    <a:pt x="107839" y="17887"/>
                  </a:lnTo>
                  <a:cubicBezTo>
                    <a:pt x="121224" y="6141"/>
                    <a:pt x="139019" y="727"/>
                    <a:pt x="156678" y="3028"/>
                  </a:cubicBezTo>
                  <a:lnTo>
                    <a:pt x="159216" y="3400"/>
                  </a:lnTo>
                  <a:cubicBezTo>
                    <a:pt x="181632" y="7270"/>
                    <a:pt x="200120" y="23121"/>
                    <a:pt x="207368" y="44683"/>
                  </a:cubicBezTo>
                  <a:cubicBezTo>
                    <a:pt x="214616" y="66245"/>
                    <a:pt x="209455" y="90045"/>
                    <a:pt x="193928" y="106670"/>
                  </a:cubicBezTo>
                  <a:lnTo>
                    <a:pt x="192071" y="108579"/>
                  </a:lnTo>
                  <a:lnTo>
                    <a:pt x="191576" y="109002"/>
                  </a:lnTo>
                  <a:lnTo>
                    <a:pt x="114701" y="185144"/>
                  </a:lnTo>
                  <a:cubicBezTo>
                    <a:pt x="111032" y="188775"/>
                    <a:pt x="105244" y="189136"/>
                    <a:pt x="101152" y="185990"/>
                  </a:cubicBezTo>
                  <a:lnTo>
                    <a:pt x="100182" y="185144"/>
                  </a:lnTo>
                  <a:lnTo>
                    <a:pt x="22864" y="108558"/>
                  </a:lnTo>
                  <a:cubicBezTo>
                    <a:pt x="6162" y="92307"/>
                    <a:pt x="0" y="68055"/>
                    <a:pt x="6919" y="45803"/>
                  </a:cubicBezTo>
                  <a:cubicBezTo>
                    <a:pt x="13837" y="23550"/>
                    <a:pt x="32665" y="7067"/>
                    <a:pt x="55636" y="3152"/>
                  </a:cubicBezTo>
                  <a:close/>
                </a:path>
              </a:pathLst>
            </a:custGeom>
            <a:solidFill>
              <a:srgbClr val="C8410E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endParaRPr>
            </a:p>
          </p:txBody>
        </p: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424B8D7B-646E-65AE-874F-F8920D947990}"/>
              </a:ext>
            </a:extLst>
          </p:cNvPr>
          <p:cNvGrpSpPr/>
          <p:nvPr/>
        </p:nvGrpSpPr>
        <p:grpSpPr>
          <a:xfrm>
            <a:off x="4587240" y="1866103"/>
            <a:ext cx="419100" cy="419100"/>
            <a:chOff x="4539456" y="1852739"/>
            <a:chExt cx="419100" cy="419100"/>
          </a:xfrm>
        </p:grpSpPr>
        <p:sp>
          <p:nvSpPr>
            <p:cNvPr id="45" name="Rectangle 17">
              <a:extLst>
                <a:ext uri="{FF2B5EF4-FFF2-40B4-BE49-F238E27FC236}">
                  <a16:creationId xmlns:a16="http://schemas.microsoft.com/office/drawing/2014/main" id="{3AD55E35-8CBD-BFEC-52D5-6203555763FD}"/>
                </a:ext>
              </a:extLst>
            </p:cNvPr>
            <p:cNvSpPr/>
            <p:nvPr/>
          </p:nvSpPr>
          <p:spPr>
            <a:xfrm>
              <a:off x="4539456" y="1852739"/>
              <a:ext cx="419100" cy="419100"/>
            </a:xfrm>
            <a:prstGeom prst="roundRect">
              <a:avLst>
                <a:gd name="adj" fmla="val 27273"/>
              </a:avLst>
            </a:prstGeom>
            <a:solidFill>
              <a:srgbClr val="FBE6B4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endParaRPr>
            </a:p>
          </p:txBody>
        </p:sp>
        <p:grpSp>
          <p:nvGrpSpPr>
            <p:cNvPr id="46" name="Group 20">
              <a:extLst>
                <a:ext uri="{FF2B5EF4-FFF2-40B4-BE49-F238E27FC236}">
                  <a16:creationId xmlns:a16="http://schemas.microsoft.com/office/drawing/2014/main" id="{BBB02EEF-BAD1-542E-36DA-2C6C3063EC63}"/>
                </a:ext>
              </a:extLst>
            </p:cNvPr>
            <p:cNvGrpSpPr/>
            <p:nvPr/>
          </p:nvGrpSpPr>
          <p:grpSpPr>
            <a:xfrm>
              <a:off x="4676775" y="1959101"/>
              <a:ext cx="144462" cy="206376"/>
              <a:chOff x="4728369" y="1782762"/>
              <a:chExt cx="144462" cy="206376"/>
            </a:xfrm>
          </p:grpSpPr>
          <p:sp>
            <p:nvSpPr>
              <p:cNvPr id="47" name="Freeform 18">
                <a:extLst>
                  <a:ext uri="{FF2B5EF4-FFF2-40B4-BE49-F238E27FC236}">
                    <a16:creationId xmlns:a16="http://schemas.microsoft.com/office/drawing/2014/main" id="{933D9564-A76E-3328-4F72-B9A8BD84E112}"/>
                  </a:ext>
                </a:extLst>
              </p:cNvPr>
              <p:cNvSpPr/>
              <p:nvPr/>
            </p:nvSpPr>
            <p:spPr>
              <a:xfrm>
                <a:off x="4749006" y="1782762"/>
                <a:ext cx="103188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103188" h="103188">
                    <a:moveTo>
                      <a:pt x="51594" y="0"/>
                    </a:moveTo>
                    <a:cubicBezTo>
                      <a:pt x="80088" y="0"/>
                      <a:pt x="103188" y="23099"/>
                      <a:pt x="103188" y="51594"/>
                    </a:cubicBezTo>
                    <a:cubicBezTo>
                      <a:pt x="103188" y="80088"/>
                      <a:pt x="80088" y="103188"/>
                      <a:pt x="51594" y="103188"/>
                    </a:cubicBezTo>
                    <a:cubicBezTo>
                      <a:pt x="23099" y="103188"/>
                      <a:pt x="0" y="80088"/>
                      <a:pt x="0" y="51594"/>
                    </a:cubicBezTo>
                    <a:lnTo>
                      <a:pt x="52" y="49355"/>
                    </a:lnTo>
                    <a:cubicBezTo>
                      <a:pt x="1250" y="21758"/>
                      <a:pt x="23971" y="2"/>
                      <a:pt x="51594" y="0"/>
                    </a:cubicBezTo>
                    <a:close/>
                  </a:path>
                </a:pathLst>
              </a:custGeom>
              <a:solidFill>
                <a:srgbClr val="2A2018"/>
              </a:solidFill>
              <a:ln>
                <a:noFill/>
              </a:ln>
            </p:spPr>
            <p:txBody>
              <a:bodyPr/>
              <a:lstStyle/>
              <a:p>
                <a:endParaRPr lang="ko-KR" altLang="en-US"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endParaRPr>
              </a:p>
            </p:txBody>
          </p:sp>
          <p:sp>
            <p:nvSpPr>
              <p:cNvPr id="48" name="Freeform 19">
                <a:extLst>
                  <a:ext uri="{FF2B5EF4-FFF2-40B4-BE49-F238E27FC236}">
                    <a16:creationId xmlns:a16="http://schemas.microsoft.com/office/drawing/2014/main" id="{24766954-E9B6-D213-E234-1774EF3583BE}"/>
                  </a:ext>
                </a:extLst>
              </p:cNvPr>
              <p:cNvSpPr/>
              <p:nvPr/>
            </p:nvSpPr>
            <p:spPr>
              <a:xfrm>
                <a:off x="4728369" y="1906588"/>
                <a:ext cx="144462" cy="82550"/>
              </a:xfrm>
              <a:custGeom>
                <a:avLst/>
                <a:gdLst/>
                <a:ahLst/>
                <a:cxnLst/>
                <a:rect l="l" t="t" r="r" b="b"/>
                <a:pathLst>
                  <a:path w="144462" h="82550">
                    <a:moveTo>
                      <a:pt x="92869" y="0"/>
                    </a:moveTo>
                    <a:cubicBezTo>
                      <a:pt x="121363" y="0"/>
                      <a:pt x="144462" y="23099"/>
                      <a:pt x="144462" y="51594"/>
                    </a:cubicBezTo>
                    <a:lnTo>
                      <a:pt x="144462" y="61912"/>
                    </a:lnTo>
                    <a:cubicBezTo>
                      <a:pt x="144462" y="73310"/>
                      <a:pt x="135223" y="82550"/>
                      <a:pt x="123825" y="82550"/>
                    </a:cubicBezTo>
                    <a:lnTo>
                      <a:pt x="20637" y="82550"/>
                    </a:lnTo>
                    <a:cubicBezTo>
                      <a:pt x="9240" y="82550"/>
                      <a:pt x="0" y="73310"/>
                      <a:pt x="0" y="61912"/>
                    </a:cubicBezTo>
                    <a:lnTo>
                      <a:pt x="0" y="51594"/>
                    </a:lnTo>
                    <a:cubicBezTo>
                      <a:pt x="0" y="23099"/>
                      <a:pt x="23099" y="0"/>
                      <a:pt x="51594" y="0"/>
                    </a:cubicBezTo>
                    <a:lnTo>
                      <a:pt x="92869" y="0"/>
                    </a:lnTo>
                    <a:close/>
                  </a:path>
                </a:pathLst>
              </a:custGeom>
              <a:solidFill>
                <a:srgbClr val="2A2018"/>
              </a:solidFill>
              <a:ln>
                <a:noFill/>
              </a:ln>
            </p:spPr>
            <p:txBody>
              <a:bodyPr/>
              <a:lstStyle/>
              <a:p>
                <a:endParaRPr lang="ko-KR" altLang="en-US"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endParaRPr>
              </a:p>
            </p:txBody>
          </p:sp>
        </p:grp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B1A32792-4C07-BD90-356E-E452662A9AA9}"/>
              </a:ext>
            </a:extLst>
          </p:cNvPr>
          <p:cNvGrpSpPr/>
          <p:nvPr/>
        </p:nvGrpSpPr>
        <p:grpSpPr>
          <a:xfrm>
            <a:off x="8336280" y="1866103"/>
            <a:ext cx="419100" cy="419100"/>
            <a:chOff x="8266938" y="1879468"/>
            <a:chExt cx="419100" cy="419100"/>
          </a:xfrm>
        </p:grpSpPr>
        <p:sp>
          <p:nvSpPr>
            <p:cNvPr id="50" name="Rectangle 28">
              <a:extLst>
                <a:ext uri="{FF2B5EF4-FFF2-40B4-BE49-F238E27FC236}">
                  <a16:creationId xmlns:a16="http://schemas.microsoft.com/office/drawing/2014/main" id="{BDCF59A8-44F2-68C3-F4DF-8FA2371A3FD7}"/>
                </a:ext>
              </a:extLst>
            </p:cNvPr>
            <p:cNvSpPr/>
            <p:nvPr/>
          </p:nvSpPr>
          <p:spPr>
            <a:xfrm>
              <a:off x="8266938" y="1879468"/>
              <a:ext cx="419100" cy="419100"/>
            </a:xfrm>
            <a:prstGeom prst="roundRect">
              <a:avLst>
                <a:gd name="adj" fmla="val 27273"/>
              </a:avLst>
            </a:prstGeom>
            <a:solidFill>
              <a:srgbClr val="EAF3E4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endParaRPr>
            </a:p>
          </p:txBody>
        </p:sp>
        <p:sp>
          <p:nvSpPr>
            <p:cNvPr id="52" name="Freeform 29">
              <a:extLst>
                <a:ext uri="{FF2B5EF4-FFF2-40B4-BE49-F238E27FC236}">
                  <a16:creationId xmlns:a16="http://schemas.microsoft.com/office/drawing/2014/main" id="{945D575B-4128-6D61-E684-AA501DAA9185}"/>
                </a:ext>
              </a:extLst>
            </p:cNvPr>
            <p:cNvSpPr/>
            <p:nvPr/>
          </p:nvSpPr>
          <p:spPr>
            <a:xfrm>
              <a:off x="8373300" y="1985830"/>
              <a:ext cx="206375" cy="206375"/>
            </a:xfrm>
            <a:custGeom>
              <a:avLst/>
              <a:gdLst/>
              <a:ahLst/>
              <a:cxnLst/>
              <a:rect l="l" t="t" r="r" b="b"/>
              <a:pathLst>
                <a:path w="206375" h="206375">
                  <a:moveTo>
                    <a:pt x="103188" y="0"/>
                  </a:moveTo>
                  <a:cubicBezTo>
                    <a:pt x="160178" y="0"/>
                    <a:pt x="206375" y="46197"/>
                    <a:pt x="206375" y="103188"/>
                  </a:cubicBezTo>
                  <a:cubicBezTo>
                    <a:pt x="206375" y="160176"/>
                    <a:pt x="160176" y="206375"/>
                    <a:pt x="103188" y="206375"/>
                  </a:cubicBezTo>
                  <a:cubicBezTo>
                    <a:pt x="46199" y="206375"/>
                    <a:pt x="0" y="160176"/>
                    <a:pt x="0" y="103188"/>
                  </a:cubicBezTo>
                  <a:lnTo>
                    <a:pt x="41" y="100298"/>
                  </a:lnTo>
                  <a:cubicBezTo>
                    <a:pt x="1568" y="44649"/>
                    <a:pt x="47157" y="0"/>
                    <a:pt x="103188" y="0"/>
                  </a:cubicBezTo>
                  <a:moveTo>
                    <a:pt x="123825" y="51594"/>
                  </a:moveTo>
                  <a:cubicBezTo>
                    <a:pt x="118126" y="51594"/>
                    <a:pt x="113506" y="56214"/>
                    <a:pt x="113506" y="61912"/>
                  </a:cubicBezTo>
                  <a:lnTo>
                    <a:pt x="113506" y="92858"/>
                  </a:lnTo>
                  <a:lnTo>
                    <a:pt x="92869" y="92858"/>
                  </a:lnTo>
                  <a:lnTo>
                    <a:pt x="92869" y="61912"/>
                  </a:lnTo>
                  <a:cubicBezTo>
                    <a:pt x="92868" y="56681"/>
                    <a:pt x="88953" y="52278"/>
                    <a:pt x="83757" y="51666"/>
                  </a:cubicBezTo>
                  <a:lnTo>
                    <a:pt x="82550" y="51594"/>
                  </a:lnTo>
                  <a:cubicBezTo>
                    <a:pt x="76851" y="51594"/>
                    <a:pt x="72231" y="56214"/>
                    <a:pt x="72231" y="61912"/>
                  </a:cubicBezTo>
                  <a:lnTo>
                    <a:pt x="72231" y="144463"/>
                  </a:lnTo>
                  <a:cubicBezTo>
                    <a:pt x="72231" y="150161"/>
                    <a:pt x="76851" y="154781"/>
                    <a:pt x="82550" y="154781"/>
                  </a:cubicBezTo>
                  <a:cubicBezTo>
                    <a:pt x="88249" y="154781"/>
                    <a:pt x="92869" y="150161"/>
                    <a:pt x="92869" y="144463"/>
                  </a:cubicBezTo>
                  <a:lnTo>
                    <a:pt x="92869" y="113496"/>
                  </a:lnTo>
                  <a:lnTo>
                    <a:pt x="113506" y="113496"/>
                  </a:lnTo>
                  <a:lnTo>
                    <a:pt x="113506" y="144463"/>
                  </a:lnTo>
                  <a:cubicBezTo>
                    <a:pt x="113507" y="149694"/>
                    <a:pt x="117422" y="154097"/>
                    <a:pt x="122618" y="154709"/>
                  </a:cubicBezTo>
                  <a:lnTo>
                    <a:pt x="123825" y="154781"/>
                  </a:lnTo>
                  <a:cubicBezTo>
                    <a:pt x="129524" y="154781"/>
                    <a:pt x="134144" y="150161"/>
                    <a:pt x="134144" y="144463"/>
                  </a:cubicBezTo>
                  <a:lnTo>
                    <a:pt x="134144" y="61912"/>
                  </a:lnTo>
                  <a:cubicBezTo>
                    <a:pt x="134144" y="56214"/>
                    <a:pt x="129524" y="51594"/>
                    <a:pt x="123825" y="51594"/>
                  </a:cubicBezTo>
                </a:path>
              </a:pathLst>
            </a:custGeom>
            <a:solidFill>
              <a:srgbClr val="5E9A6A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endParaRPr>
            </a:p>
          </p:txBody>
        </p:sp>
      </p:grpSp>
      <p:pic>
        <p:nvPicPr>
          <p:cNvPr id="6" name="그림 5" descr="대한민국의 국기 - 위키백과, 우리 모두의 백과사전">
            <a:extLst>
              <a:ext uri="{FF2B5EF4-FFF2-40B4-BE49-F238E27FC236}">
                <a16:creationId xmlns:a16="http://schemas.microsoft.com/office/drawing/2014/main" id="{1FDF5D61-B1B3-6B14-2761-9F0FF3BD4C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2437" y="4851650"/>
            <a:ext cx="600384" cy="400569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</p:pic>
      <p:pic>
        <p:nvPicPr>
          <p:cNvPr id="7" name="그림 6" descr="일장기 - 나무위키">
            <a:extLst>
              <a:ext uri="{FF2B5EF4-FFF2-40B4-BE49-F238E27FC236}">
                <a16:creationId xmlns:a16="http://schemas.microsoft.com/office/drawing/2014/main" id="{69A2002D-45E1-1A68-C3B2-E147AEBA237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00517" y="4868837"/>
            <a:ext cx="600673" cy="400449"/>
          </a:xfrm>
          <a:prstGeom prst="rect">
            <a:avLst/>
          </a:prstGeom>
          <a:ln>
            <a:solidFill>
              <a:schemeClr val="accent6">
                <a:lumMod val="60000"/>
                <a:lumOff val="40000"/>
              </a:schemeClr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F57265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2. PROBLEM · 경쟁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49" cy="600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150" b="0" dirty="0">
                <a:solidFill>
                  <a:srgbClr val="F57265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기존에 없던</a:t>
            </a:r>
            <a:r>
              <a:rPr lang="ko-KR" altLang="en-US" sz="315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 서비스입니다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11003249" cy="3110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>
                <a:solidFill>
                  <a:srgbClr val="6C5D4C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핵심 기능 범주별 제공 범위 비교 · 운영 방식과 기록 활용 기준</a:t>
            </a:r>
          </a:p>
        </p:txBody>
      </p: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3184E482-6DDB-D462-BC84-EC4FF0AFB168}"/>
              </a:ext>
            </a:extLst>
          </p:cNvPr>
          <p:cNvGrpSpPr/>
          <p:nvPr/>
        </p:nvGrpSpPr>
        <p:grpSpPr>
          <a:xfrm>
            <a:off x="594360" y="1773936"/>
            <a:ext cx="6949440" cy="3167427"/>
            <a:chOff x="594360" y="1773936"/>
            <a:chExt cx="6949440" cy="2879027"/>
          </a:xfrm>
        </p:grpSpPr>
        <p:sp>
          <p:nvSpPr>
            <p:cNvPr id="6" name="Rectangle 5"/>
            <p:cNvSpPr/>
            <p:nvPr/>
          </p:nvSpPr>
          <p:spPr>
            <a:xfrm>
              <a:off x="594360" y="2651760"/>
              <a:ext cx="6032113" cy="457200"/>
            </a:xfrm>
            <a:prstGeom prst="rect">
              <a:avLst/>
            </a:prstGeom>
            <a:solidFill>
              <a:srgbClr val="F5EC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594360" y="3566160"/>
              <a:ext cx="6032113" cy="457200"/>
            </a:xfrm>
            <a:prstGeom prst="rect">
              <a:avLst/>
            </a:prstGeom>
            <a:solidFill>
              <a:srgbClr val="F5EC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35" name="Rectangle 34"/>
            <p:cNvSpPr/>
            <p:nvPr/>
          </p:nvSpPr>
          <p:spPr>
            <a:xfrm>
              <a:off x="594360" y="3566160"/>
              <a:ext cx="6949440" cy="457200"/>
            </a:xfrm>
            <a:prstGeom prst="rect">
              <a:avLst/>
            </a:prstGeom>
            <a:solidFill>
              <a:srgbClr val="F5EC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594360" y="2651760"/>
              <a:ext cx="6949440" cy="457200"/>
            </a:xfrm>
            <a:prstGeom prst="rect">
              <a:avLst/>
            </a:prstGeom>
            <a:solidFill>
              <a:srgbClr val="F5EC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5" name="Rounded Rectangle 4"/>
            <p:cNvSpPr/>
            <p:nvPr/>
          </p:nvSpPr>
          <p:spPr>
            <a:xfrm>
              <a:off x="6626473" y="1773936"/>
              <a:ext cx="917326" cy="2779776"/>
            </a:xfrm>
            <a:prstGeom prst="roundRect">
              <a:avLst>
                <a:gd name="adj" fmla="val 6000"/>
              </a:avLst>
            </a:prstGeom>
            <a:solidFill>
              <a:srgbClr val="FBE0D3"/>
            </a:solidFill>
            <a:ln w="15875">
              <a:solidFill>
                <a:srgbClr val="F57265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dirty="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594360" y="1847088"/>
              <a:ext cx="6949440" cy="12700"/>
            </a:xfrm>
            <a:prstGeom prst="rect">
              <a:avLst/>
            </a:prstGeom>
            <a:solidFill>
              <a:srgbClr val="6C5D4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649224" y="1963568"/>
              <a:ext cx="596317" cy="16785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200" b="0">
                  <a:solidFill>
                    <a:srgbClr val="2A2018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핵심 기능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136909" y="1963568"/>
              <a:ext cx="557845" cy="16785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 dirty="0">
                  <a:solidFill>
                    <a:srgbClr val="2A2018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선별검사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054235" y="1963568"/>
              <a:ext cx="557845" cy="16785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2A2018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두뇌게임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4971561" y="1963568"/>
              <a:ext cx="557845" cy="16785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2A2018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돌봄로봇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869651" y="1963568"/>
              <a:ext cx="596317" cy="16785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 dirty="0">
                  <a:solidFill>
                    <a:srgbClr val="2A2018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기관 활동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879150" y="1949580"/>
              <a:ext cx="411972" cy="19582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400" b="1" dirty="0" err="1">
                  <a:solidFill>
                    <a:srgbClr val="F57265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Haru</a:t>
              </a:r>
              <a:endParaRPr lang="ko-KR" altLang="en-US" sz="1200" b="1" dirty="0">
                <a:solidFill>
                  <a:srgbClr val="F57265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594360" y="2194560"/>
              <a:ext cx="6949440" cy="9525"/>
            </a:xfrm>
            <a:prstGeom prst="rect">
              <a:avLst/>
            </a:prstGeom>
            <a:solidFill>
              <a:srgbClr val="E0D4C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49224" y="2365904"/>
              <a:ext cx="1192634" cy="16785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200" b="0">
                  <a:solidFill>
                    <a:srgbClr val="2A2018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매일 두뇌운동 루틴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012033" y="2331720"/>
              <a:ext cx="807598" cy="23621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 dirty="0">
                  <a:solidFill>
                    <a:srgbClr val="9C8B77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나눔스퀘어라운드 Regular" panose="020B0600000101010101" pitchFamily="50" charset="-127"/>
                </a:rPr>
                <a:t>–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256213" y="2331720"/>
              <a:ext cx="153888" cy="246221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zh-CN" altLang="ko-KR" sz="1600" b="1" dirty="0">
                  <a:solidFill>
                    <a:srgbClr val="5E9A6A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✓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846685" y="2331720"/>
              <a:ext cx="807598" cy="23621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9C8B77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나눔스퀘어라운드 Regular" panose="020B0600000101010101" pitchFamily="50" charset="-127"/>
                </a:rPr>
                <a:t>–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090865" y="2331720"/>
              <a:ext cx="153888" cy="49244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zh-CN" altLang="ko-KR" sz="1600" b="1" dirty="0">
                  <a:solidFill>
                    <a:srgbClr val="5E9A6A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✓</a:t>
              </a:r>
            </a:p>
            <a:p>
              <a:pPr algn="ctr">
                <a:lnSpc>
                  <a:spcPct val="100000"/>
                </a:lnSpc>
              </a:pPr>
              <a:endParaRPr sz="1600" dirty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008192" y="2331720"/>
              <a:ext cx="153888" cy="49244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zh-CN" altLang="ko-KR" sz="1600" b="1" dirty="0">
                  <a:solidFill>
                    <a:srgbClr val="F57265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✓</a:t>
              </a:r>
            </a:p>
            <a:p>
              <a:pPr algn="ctr">
                <a:lnSpc>
                  <a:spcPct val="100000"/>
                </a:lnSpc>
              </a:pPr>
              <a:endParaRPr sz="1600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49224" y="2823104"/>
              <a:ext cx="1053173" cy="16785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200" b="0">
                  <a:solidFill>
                    <a:srgbClr val="2A2018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보호자 안부 확인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012033" y="2788920"/>
              <a:ext cx="807598" cy="23621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9C8B77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나눔스퀘어라운드 Regular" panose="020B0600000101010101" pitchFamily="50" charset="-127"/>
                </a:rPr>
                <a:t>–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3929359" y="2788920"/>
              <a:ext cx="807598" cy="23621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9C8B77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나눔스퀘어라운드 Regular" panose="020B0600000101010101" pitchFamily="50" charset="-127"/>
                </a:rPr>
                <a:t>–</a:t>
              </a: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173539" y="2788920"/>
              <a:ext cx="153888" cy="49244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zh-CN" altLang="ko-KR" sz="1600" b="1" dirty="0">
                  <a:solidFill>
                    <a:srgbClr val="5E9A6A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✓</a:t>
              </a:r>
            </a:p>
            <a:p>
              <a:pPr algn="ctr">
                <a:lnSpc>
                  <a:spcPct val="100000"/>
                </a:lnSpc>
              </a:pPr>
              <a:endParaRPr sz="1600" dirty="0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764011" y="2788920"/>
              <a:ext cx="807598" cy="23621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9C8B77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나눔스퀘어라운드 Regular" panose="020B0600000101010101" pitchFamily="50" charset="-127"/>
                </a:rPr>
                <a:t>–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008192" y="2788920"/>
              <a:ext cx="153888" cy="49244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zh-CN" altLang="ko-KR" sz="1600" b="1" dirty="0">
                  <a:solidFill>
                    <a:srgbClr val="F57265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✓</a:t>
              </a:r>
            </a:p>
            <a:p>
              <a:pPr algn="ctr">
                <a:lnSpc>
                  <a:spcPct val="100000"/>
                </a:lnSpc>
              </a:pPr>
              <a:endParaRPr sz="1600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649224" y="3280304"/>
              <a:ext cx="1053173" cy="16785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200" b="0">
                  <a:solidFill>
                    <a:srgbClr val="2A2018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변화 요약 리포트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3012033" y="3246120"/>
              <a:ext cx="807598" cy="23621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9C8B77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나눔스퀘어라운드 Regular" panose="020B0600000101010101" pitchFamily="50" charset="-127"/>
                </a:rPr>
                <a:t>–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3929359" y="3246120"/>
              <a:ext cx="807598" cy="23621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9C8B77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나눔스퀘어라운드 Regular" panose="020B0600000101010101" pitchFamily="50" charset="-127"/>
                </a:rPr>
                <a:t>–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846685" y="3246120"/>
              <a:ext cx="807598" cy="23621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9C8B77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나눔스퀘어라운드 Regular" panose="020B0600000101010101" pitchFamily="50" charset="-127"/>
                </a:rPr>
                <a:t>–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764011" y="3246120"/>
              <a:ext cx="807598" cy="23621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9C8B77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나눔스퀘어라운드 Regular" panose="020B0600000101010101" pitchFamily="50" charset="-127"/>
                </a:rPr>
                <a:t>–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008192" y="3246120"/>
              <a:ext cx="153888" cy="246221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zh-CN" altLang="ko-KR" sz="1600" b="1">
                  <a:solidFill>
                    <a:srgbClr val="F57265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✓</a:t>
              </a:r>
              <a:endParaRPr lang="zh-CN" altLang="ko-KR" sz="1600" b="1" dirty="0">
                <a:solidFill>
                  <a:srgbClr val="F57265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649224" y="3737504"/>
              <a:ext cx="1441100" cy="16785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200" b="0">
                  <a:solidFill>
                    <a:srgbClr val="2A2018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복지기관 · 지자체 연계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338887" y="3703320"/>
              <a:ext cx="153888" cy="246221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zh-CN" altLang="ko-KR" sz="1600" b="1">
                  <a:solidFill>
                    <a:srgbClr val="5E9A6A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✓</a:t>
              </a:r>
              <a:endParaRPr lang="zh-CN" altLang="ko-KR" sz="1600" b="1" dirty="0">
                <a:solidFill>
                  <a:srgbClr val="5E9A6A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3929359" y="3703320"/>
              <a:ext cx="807598" cy="23621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9C8B77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나눔스퀘어라운드 Regular" panose="020B0600000101010101" pitchFamily="50" charset="-127"/>
                </a:rPr>
                <a:t>–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173539" y="3703320"/>
              <a:ext cx="153888" cy="49244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zh-CN" altLang="ko-KR" sz="1600" b="1" dirty="0">
                  <a:solidFill>
                    <a:srgbClr val="5E9A6A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✓</a:t>
              </a:r>
            </a:p>
            <a:p>
              <a:pPr algn="ctr">
                <a:lnSpc>
                  <a:spcPct val="100000"/>
                </a:lnSpc>
              </a:pPr>
              <a:endParaRPr sz="1600" dirty="0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6090865" y="3703320"/>
              <a:ext cx="153888" cy="49244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zh-CN" altLang="ko-KR" sz="1600" b="1" dirty="0">
                  <a:solidFill>
                    <a:srgbClr val="5E9A6A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✓</a:t>
              </a:r>
            </a:p>
            <a:p>
              <a:pPr algn="ctr">
                <a:lnSpc>
                  <a:spcPct val="100000"/>
                </a:lnSpc>
              </a:pPr>
              <a:endParaRPr sz="1600" dirty="0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7008192" y="3703320"/>
              <a:ext cx="153888" cy="49244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zh-CN" altLang="ko-KR" sz="1600" b="1" dirty="0">
                  <a:solidFill>
                    <a:srgbClr val="F57265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✓</a:t>
              </a:r>
            </a:p>
            <a:p>
              <a:pPr algn="ctr">
                <a:lnSpc>
                  <a:spcPct val="100000"/>
                </a:lnSpc>
              </a:pPr>
              <a:endParaRPr sz="1600" dirty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649224" y="4194704"/>
              <a:ext cx="1510029" cy="16785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200" b="0">
                  <a:solidFill>
                    <a:srgbClr val="2A2018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기록의 다음 문항 재사용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3012033" y="4160520"/>
              <a:ext cx="807598" cy="23621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9C8B77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나눔스퀘어라운드 Regular" panose="020B0600000101010101" pitchFamily="50" charset="-127"/>
                </a:rPr>
                <a:t>–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3929359" y="4160520"/>
              <a:ext cx="807598" cy="23621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9C8B77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나눔스퀘어라운드 Regular" panose="020B0600000101010101" pitchFamily="50" charset="-127"/>
                </a:rPr>
                <a:t>–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846685" y="4160520"/>
              <a:ext cx="807598" cy="23621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9C8B77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나눔스퀘어라운드 Regular" panose="020B0600000101010101" pitchFamily="50" charset="-127"/>
                </a:rPr>
                <a:t>–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5764011" y="4160520"/>
              <a:ext cx="807598" cy="236219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>
                  <a:solidFill>
                    <a:srgbClr val="9C8B77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나눔스퀘어라운드 Regular" panose="020B0600000101010101" pitchFamily="50" charset="-127"/>
                </a:rPr>
                <a:t>–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7008192" y="4160520"/>
              <a:ext cx="153888" cy="49244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/>
              <a:r>
                <a:rPr lang="zh-CN" altLang="ko-KR" sz="1600" b="1" dirty="0">
                  <a:solidFill>
                    <a:srgbClr val="F57265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✓</a:t>
              </a:r>
            </a:p>
            <a:p>
              <a:pPr algn="ctr">
                <a:lnSpc>
                  <a:spcPct val="100000"/>
                </a:lnSpc>
              </a:pPr>
              <a:endParaRPr sz="1600" dirty="0"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594360" y="4480560"/>
              <a:ext cx="6949440" cy="9525"/>
            </a:xfrm>
            <a:prstGeom prst="rect">
              <a:avLst/>
            </a:prstGeom>
            <a:solidFill>
              <a:srgbClr val="E0D4C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81" name="Rounded Rectangle 80"/>
          <p:cNvSpPr/>
          <p:nvPr/>
        </p:nvSpPr>
        <p:spPr>
          <a:xfrm>
            <a:off x="7863840" y="1773936"/>
            <a:ext cx="3730752" cy="420624"/>
          </a:xfrm>
          <a:prstGeom prst="roundRect">
            <a:avLst>
              <a:gd name="adj" fmla="val 8000"/>
            </a:avLst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863840" y="1865376"/>
            <a:ext cx="3730752" cy="32283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639" b="0">
                <a:solidFill>
                  <a:srgbClr val="FFFFFF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왜 Haru가 더 나은가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863840" y="2304288"/>
            <a:ext cx="3730752" cy="12618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7863840" y="2487168"/>
            <a:ext cx="50292" cy="896112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8092440" y="2423160"/>
            <a:ext cx="310896" cy="310896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8092440" y="2487168"/>
            <a:ext cx="310896" cy="2677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360" b="0">
                <a:solidFill>
                  <a:srgbClr val="FFFFFF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522208" y="2468880"/>
            <a:ext cx="1792157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2×2 버튼 · 음성 인식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119870" y="2806507"/>
            <a:ext cx="3028775" cy="61523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40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스마트폰도 터치 메뉴도 없이 큰 화면과 </a:t>
            </a:r>
            <a:endParaRPr lang="en-US" altLang="ko-KR" sz="1400" b="0" dirty="0">
              <a:solidFill>
                <a:srgbClr val="6C5D4C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  <a:cs typeface="나눔스퀘어라운드 Regular" panose="020B0600000101010101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40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네 개 버튼으로 노인이 혼자 끝까지 수행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7863840" y="3621024"/>
            <a:ext cx="3730752" cy="12618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7863840" y="3803904"/>
            <a:ext cx="50292" cy="896112"/>
          </a:xfrm>
          <a:prstGeom prst="rect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8092440" y="3739896"/>
            <a:ext cx="310896" cy="310896"/>
          </a:xfrm>
          <a:prstGeom prst="ellips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8092440" y="3803904"/>
            <a:ext cx="310896" cy="2677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360" b="0">
                <a:solidFill>
                  <a:srgbClr val="FFFFFF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2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522208" y="3785615"/>
            <a:ext cx="1641475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네 축이 하나로 연결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119871" y="4123243"/>
            <a:ext cx="3048912" cy="61523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40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노인 · 보호자 · 복지관 · 의료가</a:t>
            </a:r>
          </a:p>
          <a:p>
            <a:pPr algn="l">
              <a:lnSpc>
                <a:spcPct val="150000"/>
              </a:lnSpc>
            </a:pPr>
            <a:r>
              <a:rPr lang="ko-KR" altLang="en-US" sz="140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같은 기록을 각자의 형태로 나눠 쓰는 구조</a:t>
            </a:r>
          </a:p>
        </p:txBody>
      </p:sp>
      <p:sp>
        <p:nvSpPr>
          <p:cNvPr id="95" name="Rounded Rectangle 94"/>
          <p:cNvSpPr/>
          <p:nvPr/>
        </p:nvSpPr>
        <p:spPr>
          <a:xfrm>
            <a:off x="7863840" y="4937760"/>
            <a:ext cx="3730752" cy="12618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7863840" y="5120640"/>
            <a:ext cx="50292" cy="896112"/>
          </a:xfrm>
          <a:prstGeom prst="rect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8092440" y="5056632"/>
            <a:ext cx="310896" cy="310896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8092440" y="5120640"/>
            <a:ext cx="310896" cy="2677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360" b="0">
                <a:solidFill>
                  <a:srgbClr val="FFFFFF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3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522208" y="5102352"/>
            <a:ext cx="1232710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AI 개인화 문항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119871" y="5439979"/>
            <a:ext cx="3048912" cy="61523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40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오늘 말한 내용이 근거로 남아</a:t>
            </a:r>
          </a:p>
          <a:p>
            <a:pPr algn="l">
              <a:lnSpc>
                <a:spcPct val="150000"/>
              </a:lnSpc>
            </a:pPr>
            <a:r>
              <a:rPr lang="ko-KR" altLang="en-US" sz="140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내일 문항과 상담 단서로 다시 나오는 구조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Haru by 보편교육연구소 · 경쟁 구조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04</a:t>
            </a:r>
          </a:p>
        </p:txBody>
      </p:sp>
      <p:pic>
        <p:nvPicPr>
          <p:cNvPr id="104" name="Picture 10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08540764-185A-7C5B-22C2-F26A13F10FF7}"/>
              </a:ext>
            </a:extLst>
          </p:cNvPr>
          <p:cNvGrpSpPr/>
          <p:nvPr/>
        </p:nvGrpSpPr>
        <p:grpSpPr>
          <a:xfrm>
            <a:off x="594360" y="5155931"/>
            <a:ext cx="6949440" cy="547901"/>
            <a:chOff x="594360" y="4865663"/>
            <a:chExt cx="6949440" cy="457200"/>
          </a:xfrm>
        </p:grpSpPr>
        <p:sp>
          <p:nvSpPr>
            <p:cNvPr id="71" name="Rounded Rectangle 70"/>
            <p:cNvSpPr/>
            <p:nvPr/>
          </p:nvSpPr>
          <p:spPr>
            <a:xfrm>
              <a:off x="594360" y="4865663"/>
              <a:ext cx="6949440" cy="457200"/>
            </a:xfrm>
            <a:prstGeom prst="roundRect">
              <a:avLst>
                <a:gd name="adj" fmla="val 25231"/>
              </a:avLst>
            </a:prstGeom>
            <a:solidFill>
              <a:srgbClr val="F5726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3264348" y="5014837"/>
              <a:ext cx="302968" cy="18234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420" b="0" dirty="0">
                  <a:solidFill>
                    <a:srgbClr val="FFFFFF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나눔스퀘어라운드 ExtraBold" panose="020B0600000101010101" pitchFamily="50" charset="-127"/>
                </a:rPr>
                <a:t>1/5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4181674" y="5014837"/>
              <a:ext cx="302968" cy="18234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420" b="0">
                  <a:solidFill>
                    <a:srgbClr val="FFFFFF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나눔스퀘어라운드 ExtraBold" panose="020B0600000101010101" pitchFamily="50" charset="-127"/>
                </a:rPr>
                <a:t>1/5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5099000" y="5014837"/>
              <a:ext cx="302968" cy="18234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420" b="0">
                  <a:solidFill>
                    <a:srgbClr val="FFFFFF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나눔스퀘어라운드 ExtraBold" panose="020B0600000101010101" pitchFamily="50" charset="-127"/>
                </a:rPr>
                <a:t>2/5</a:t>
              </a: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6016326" y="5014837"/>
              <a:ext cx="302968" cy="18234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420" b="0">
                  <a:solidFill>
                    <a:srgbClr val="FFFFFF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나눔스퀘어라운드 ExtraBold" panose="020B0600000101010101" pitchFamily="50" charset="-127"/>
                </a:rPr>
                <a:t>2/5</a:t>
              </a: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6933652" y="5014837"/>
              <a:ext cx="302968" cy="182346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420" b="0">
                  <a:solidFill>
                    <a:srgbClr val="FFFFFF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나눔스퀘어라운드 ExtraBold" panose="020B0600000101010101" pitchFamily="50" charset="-127"/>
                </a:rPr>
                <a:t>5/5</a:t>
              </a:r>
            </a:p>
          </p:txBody>
        </p:sp>
        <p:grpSp>
          <p:nvGrpSpPr>
            <p:cNvPr id="109" name="그룹 108">
              <a:extLst>
                <a:ext uri="{FF2B5EF4-FFF2-40B4-BE49-F238E27FC236}">
                  <a16:creationId xmlns:a16="http://schemas.microsoft.com/office/drawing/2014/main" id="{1BA4B0D3-6ED4-D3EE-6724-F8F67F5EACA3}"/>
                </a:ext>
              </a:extLst>
            </p:cNvPr>
            <p:cNvGrpSpPr/>
            <p:nvPr/>
          </p:nvGrpSpPr>
          <p:grpSpPr>
            <a:xfrm>
              <a:off x="762001" y="4917297"/>
              <a:ext cx="1407437" cy="394216"/>
              <a:chOff x="762001" y="4735212"/>
              <a:chExt cx="1407437" cy="394216"/>
            </a:xfrm>
          </p:grpSpPr>
          <p:sp>
            <p:nvSpPr>
              <p:cNvPr id="106" name="TextBox 50">
                <a:extLst>
                  <a:ext uri="{FF2B5EF4-FFF2-40B4-BE49-F238E27FC236}">
                    <a16:creationId xmlns:a16="http://schemas.microsoft.com/office/drawing/2014/main" id="{463643AB-CA20-B1B4-B055-A000AC09A73D}"/>
                  </a:ext>
                </a:extLst>
              </p:cNvPr>
              <p:cNvSpPr txBox="1"/>
              <p:nvPr/>
            </p:nvSpPr>
            <p:spPr>
              <a:xfrm>
                <a:off x="762001" y="4735212"/>
                <a:ext cx="1053173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FFFFFF"/>
                    </a:solidFill>
                    <a:latin typeface="나눔스퀘어라운드 Bold" panose="020B0600000101010101" pitchFamily="50" charset="-127"/>
                    <a:ea typeface="나눔스퀘어라운드 Bold" panose="020B0600000101010101" pitchFamily="50" charset="-127"/>
                    <a:cs typeface="나눔스퀘어라운드 Bold" panose="020B0600000101010101" pitchFamily="50" charset="-127"/>
                  </a:rPr>
                  <a:t>네 가지를 동시에</a:t>
                </a:r>
              </a:p>
            </p:txBody>
          </p:sp>
          <p:sp>
            <p:nvSpPr>
              <p:cNvPr id="108" name="TextBox 51">
                <a:extLst>
                  <a:ext uri="{FF2B5EF4-FFF2-40B4-BE49-F238E27FC236}">
                    <a16:creationId xmlns:a16="http://schemas.microsoft.com/office/drawing/2014/main" id="{60C90A43-CBA2-B8F6-FA50-50DB5EA6E12D}"/>
                  </a:ext>
                </a:extLst>
              </p:cNvPr>
              <p:cNvSpPr txBox="1"/>
              <p:nvPr/>
            </p:nvSpPr>
            <p:spPr>
              <a:xfrm>
                <a:off x="762001" y="4944762"/>
                <a:ext cx="1407437" cy="1846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FFFFFF"/>
                    </a:solidFill>
                    <a:latin typeface="나눔스퀘어라운드 Bold" panose="020B0600000101010101" pitchFamily="50" charset="-127"/>
                    <a:ea typeface="나눔스퀘어라운드 Bold" panose="020B0600000101010101" pitchFamily="50" charset="-127"/>
                    <a:cs typeface="나눔스퀘어라운드 Bold" panose="020B0600000101010101" pitchFamily="50" charset="-127"/>
                  </a:rPr>
                  <a:t>제공하는 것은 Haru뿐</a:t>
                </a: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그룹 67">
            <a:extLst>
              <a:ext uri="{FF2B5EF4-FFF2-40B4-BE49-F238E27FC236}">
                <a16:creationId xmlns:a16="http://schemas.microsoft.com/office/drawing/2014/main" id="{B375C6EB-E70A-6E3C-5C00-C819E0347E82}"/>
              </a:ext>
            </a:extLst>
          </p:cNvPr>
          <p:cNvGrpSpPr/>
          <p:nvPr/>
        </p:nvGrpSpPr>
        <p:grpSpPr>
          <a:xfrm>
            <a:off x="3934945" y="2089521"/>
            <a:ext cx="4152900" cy="2286000"/>
            <a:chOff x="4019550" y="2039817"/>
            <a:chExt cx="4152900" cy="2286000"/>
          </a:xfrm>
        </p:grpSpPr>
        <p:grpSp>
          <p:nvGrpSpPr>
            <p:cNvPr id="56" name="Group 13">
              <a:extLst>
                <a:ext uri="{FF2B5EF4-FFF2-40B4-BE49-F238E27FC236}">
                  <a16:creationId xmlns:a16="http://schemas.microsoft.com/office/drawing/2014/main" id="{40DA31C2-89F3-E25E-60CB-9DB0D83B3E88}"/>
                </a:ext>
              </a:extLst>
            </p:cNvPr>
            <p:cNvGrpSpPr/>
            <p:nvPr/>
          </p:nvGrpSpPr>
          <p:grpSpPr>
            <a:xfrm>
              <a:off x="4019550" y="2039817"/>
              <a:ext cx="4152900" cy="2286000"/>
              <a:chOff x="4019550" y="2171700"/>
              <a:chExt cx="4152900" cy="2286000"/>
            </a:xfrm>
          </p:grpSpPr>
          <p:sp>
            <p:nvSpPr>
              <p:cNvPr id="57" name="Ellipse 7">
                <a:extLst>
                  <a:ext uri="{FF2B5EF4-FFF2-40B4-BE49-F238E27FC236}">
                    <a16:creationId xmlns:a16="http://schemas.microsoft.com/office/drawing/2014/main" id="{7244949F-F85E-80E5-F2D9-A6BC3CF1509B}"/>
                  </a:ext>
                </a:extLst>
              </p:cNvPr>
              <p:cNvSpPr/>
              <p:nvPr/>
            </p:nvSpPr>
            <p:spPr>
              <a:xfrm>
                <a:off x="4953000" y="2171700"/>
                <a:ext cx="2286000" cy="2286000"/>
              </a:xfrm>
              <a:prstGeom prst="ellipse">
                <a:avLst/>
              </a:prstGeom>
              <a:noFill/>
              <a:ln w="14288">
                <a:solidFill>
                  <a:srgbClr val="E7DBC2"/>
                </a:solidFill>
                <a:custDash>
                  <a:ds d="400000" sp="400000"/>
                </a:custDash>
              </a:ln>
            </p:spPr>
            <p:txBody>
              <a:bodyPr/>
              <a:lstStyle/>
              <a:p>
                <a:endParaRPr lang="ko-KR" altLang="en-US"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endParaRPr>
              </a:p>
            </p:txBody>
          </p:sp>
          <p:sp>
            <p:nvSpPr>
              <p:cNvPr id="59" name="Line 9">
                <a:extLst>
                  <a:ext uri="{FF2B5EF4-FFF2-40B4-BE49-F238E27FC236}">
                    <a16:creationId xmlns:a16="http://schemas.microsoft.com/office/drawing/2014/main" id="{B8F73BCB-C48C-A3E7-E60A-62B963BA07C4}"/>
                  </a:ext>
                </a:extLst>
              </p:cNvPr>
              <p:cNvSpPr/>
              <p:nvPr/>
            </p:nvSpPr>
            <p:spPr>
              <a:xfrm>
                <a:off x="4019550" y="2362200"/>
                <a:ext cx="146685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1466850" h="571500">
                    <a:moveTo>
                      <a:pt x="1466850" y="571500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D8C7A6"/>
                </a:solidFill>
                <a:custDash>
                  <a:ds d="300000" sp="300000"/>
                </a:custDash>
              </a:ln>
            </p:spPr>
            <p:txBody>
              <a:bodyPr/>
              <a:lstStyle/>
              <a:p>
                <a:endParaRPr lang="ko-KR" altLang="en-US"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endParaRPr>
              </a:p>
            </p:txBody>
          </p:sp>
          <p:sp>
            <p:nvSpPr>
              <p:cNvPr id="60" name="Line 10">
                <a:extLst>
                  <a:ext uri="{FF2B5EF4-FFF2-40B4-BE49-F238E27FC236}">
                    <a16:creationId xmlns:a16="http://schemas.microsoft.com/office/drawing/2014/main" id="{09B87292-AD93-91C8-DB11-35770D554E4B}"/>
                  </a:ext>
                </a:extLst>
              </p:cNvPr>
              <p:cNvSpPr/>
              <p:nvPr/>
            </p:nvSpPr>
            <p:spPr>
              <a:xfrm>
                <a:off x="6705600" y="2362200"/>
                <a:ext cx="146685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1466850" h="571500">
                    <a:moveTo>
                      <a:pt x="0" y="571500"/>
                    </a:moveTo>
                    <a:lnTo>
                      <a:pt x="1466850" y="0"/>
                    </a:lnTo>
                  </a:path>
                </a:pathLst>
              </a:custGeom>
              <a:noFill/>
              <a:ln w="19050">
                <a:solidFill>
                  <a:srgbClr val="D8C7A6"/>
                </a:solidFill>
                <a:custDash>
                  <a:ds d="300000" sp="300000"/>
                </a:custDash>
              </a:ln>
            </p:spPr>
            <p:txBody>
              <a:bodyPr/>
              <a:lstStyle/>
              <a:p>
                <a:endParaRPr lang="ko-KR" altLang="en-US"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endParaRPr>
              </a:p>
            </p:txBody>
          </p:sp>
          <p:sp>
            <p:nvSpPr>
              <p:cNvPr id="61" name="Line 11">
                <a:extLst>
                  <a:ext uri="{FF2B5EF4-FFF2-40B4-BE49-F238E27FC236}">
                    <a16:creationId xmlns:a16="http://schemas.microsoft.com/office/drawing/2014/main" id="{8CF46B06-9483-900A-365A-EFD5B47F3A54}"/>
                  </a:ext>
                </a:extLst>
              </p:cNvPr>
              <p:cNvSpPr/>
              <p:nvPr/>
            </p:nvSpPr>
            <p:spPr>
              <a:xfrm>
                <a:off x="4019550" y="3695700"/>
                <a:ext cx="146685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1466850" h="571500">
                    <a:moveTo>
                      <a:pt x="1466850" y="0"/>
                    </a:moveTo>
                    <a:lnTo>
                      <a:pt x="0" y="571500"/>
                    </a:lnTo>
                  </a:path>
                </a:pathLst>
              </a:custGeom>
              <a:noFill/>
              <a:ln w="19050">
                <a:solidFill>
                  <a:srgbClr val="D8C7A6"/>
                </a:solidFill>
                <a:custDash>
                  <a:ds d="300000" sp="300000"/>
                </a:custDash>
              </a:ln>
            </p:spPr>
            <p:txBody>
              <a:bodyPr/>
              <a:lstStyle/>
              <a:p>
                <a:endParaRPr lang="ko-KR" altLang="en-US"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endParaRPr>
              </a:p>
            </p:txBody>
          </p:sp>
          <p:sp>
            <p:nvSpPr>
              <p:cNvPr id="62" name="Line 12">
                <a:extLst>
                  <a:ext uri="{FF2B5EF4-FFF2-40B4-BE49-F238E27FC236}">
                    <a16:creationId xmlns:a16="http://schemas.microsoft.com/office/drawing/2014/main" id="{55C7A0B3-EB56-1037-C9F2-27F36DD17C40}"/>
                  </a:ext>
                </a:extLst>
              </p:cNvPr>
              <p:cNvSpPr/>
              <p:nvPr/>
            </p:nvSpPr>
            <p:spPr>
              <a:xfrm>
                <a:off x="6705600" y="3695700"/>
                <a:ext cx="146685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1466850" h="571500">
                    <a:moveTo>
                      <a:pt x="0" y="0"/>
                    </a:moveTo>
                    <a:lnTo>
                      <a:pt x="1466850" y="571500"/>
                    </a:lnTo>
                  </a:path>
                </a:pathLst>
              </a:custGeom>
              <a:noFill/>
              <a:ln w="19050">
                <a:solidFill>
                  <a:srgbClr val="D8C7A6"/>
                </a:solidFill>
                <a:custDash>
                  <a:ds d="300000" sp="300000"/>
                </a:custDash>
              </a:ln>
            </p:spPr>
            <p:txBody>
              <a:bodyPr/>
              <a:lstStyle/>
              <a:p>
                <a:endParaRPr lang="ko-KR" altLang="en-US"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endParaRPr>
              </a:p>
            </p:txBody>
          </p:sp>
        </p:grpSp>
        <p:grpSp>
          <p:nvGrpSpPr>
            <p:cNvPr id="63" name="Group 18">
              <a:extLst>
                <a:ext uri="{FF2B5EF4-FFF2-40B4-BE49-F238E27FC236}">
                  <a16:creationId xmlns:a16="http://schemas.microsoft.com/office/drawing/2014/main" id="{B425260C-ACA6-1811-A5CB-A66785D7B441}"/>
                </a:ext>
              </a:extLst>
            </p:cNvPr>
            <p:cNvGrpSpPr/>
            <p:nvPr/>
          </p:nvGrpSpPr>
          <p:grpSpPr>
            <a:xfrm>
              <a:off x="5314950" y="2401767"/>
              <a:ext cx="1562100" cy="1562100"/>
              <a:chOff x="5314950" y="2533650"/>
              <a:chExt cx="1562100" cy="1562100"/>
            </a:xfrm>
            <a:solidFill>
              <a:srgbClr val="F57265"/>
            </a:solidFill>
          </p:grpSpPr>
          <p:sp>
            <p:nvSpPr>
              <p:cNvPr id="64" name="Ellipse 14">
                <a:extLst>
                  <a:ext uri="{FF2B5EF4-FFF2-40B4-BE49-F238E27FC236}">
                    <a16:creationId xmlns:a16="http://schemas.microsoft.com/office/drawing/2014/main" id="{7F98A053-AC1F-BCD5-0F87-055C81BA0CBD}"/>
                  </a:ext>
                </a:extLst>
              </p:cNvPr>
              <p:cNvSpPr/>
              <p:nvPr/>
            </p:nvSpPr>
            <p:spPr>
              <a:xfrm>
                <a:off x="5314950" y="2533650"/>
                <a:ext cx="1562100" cy="1562100"/>
              </a:xfrm>
              <a:prstGeom prst="ellipse">
                <a:avLst/>
              </a:prstGeom>
              <a:grpFill/>
              <a:ln>
                <a:noFill/>
              </a:ln>
            </p:spPr>
            <p:txBody>
              <a:bodyPr/>
              <a:lstStyle/>
              <a:p>
                <a:endParaRPr lang="ko-KR" altLang="en-US"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endParaRPr>
              </a:p>
            </p:txBody>
          </p:sp>
          <p:sp>
            <p:nvSpPr>
              <p:cNvPr id="65" name="Ellipse 15">
                <a:extLst>
                  <a:ext uri="{FF2B5EF4-FFF2-40B4-BE49-F238E27FC236}">
                    <a16:creationId xmlns:a16="http://schemas.microsoft.com/office/drawing/2014/main" id="{43FD5FD6-D3FC-0D9F-8A8B-DB536328E2E9}"/>
                  </a:ext>
                </a:extLst>
              </p:cNvPr>
              <p:cNvSpPr/>
              <p:nvPr/>
            </p:nvSpPr>
            <p:spPr>
              <a:xfrm>
                <a:off x="5429250" y="2647950"/>
                <a:ext cx="1333500" cy="1333500"/>
              </a:xfrm>
              <a:prstGeom prst="ellipse">
                <a:avLst/>
              </a:prstGeom>
              <a:grpFill/>
              <a:ln w="14288">
                <a:solidFill>
                  <a:srgbClr val="FFFFFF">
                    <a:alpha val="40000"/>
                  </a:srgbClr>
                </a:solidFill>
              </a:ln>
            </p:spPr>
            <p:txBody>
              <a:bodyPr/>
              <a:lstStyle/>
              <a:p>
                <a:endParaRPr lang="ko-KR" altLang="en-US"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endParaRPr>
              </a:p>
            </p:txBody>
          </p:sp>
          <p:sp>
            <p:nvSpPr>
              <p:cNvPr id="66" name="TextBox 16">
                <a:extLst>
                  <a:ext uri="{FF2B5EF4-FFF2-40B4-BE49-F238E27FC236}">
                    <a16:creationId xmlns:a16="http://schemas.microsoft.com/office/drawing/2014/main" id="{1DA71D68-AE39-7038-EF28-3523FF79D41E}"/>
                  </a:ext>
                </a:extLst>
              </p:cNvPr>
              <p:cNvSpPr txBox="1"/>
              <p:nvPr/>
            </p:nvSpPr>
            <p:spPr>
              <a:xfrm>
                <a:off x="5720096" y="2982278"/>
                <a:ext cx="751808" cy="392415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2550" b="1" dirty="0">
                    <a:solidFill>
                      <a:srgbClr val="FFFFFF"/>
                    </a:solidFill>
                    <a:latin typeface="나눔스퀘어라운드 Bold" panose="020B0600000101010101" pitchFamily="50" charset="-127"/>
                    <a:ea typeface="나눔스퀘어라운드 Bold" panose="020B0600000101010101" pitchFamily="50" charset="-127"/>
                    <a:cs typeface="나눔스퀘어라운드 Bold" panose="020B0600000101010101" pitchFamily="50" charset="-127"/>
                  </a:rPr>
                  <a:t>Haru</a:t>
                </a:r>
              </a:p>
            </p:txBody>
          </p:sp>
          <p:sp>
            <p:nvSpPr>
              <p:cNvPr id="67" name="TextBox 17">
                <a:extLst>
                  <a:ext uri="{FF2B5EF4-FFF2-40B4-BE49-F238E27FC236}">
                    <a16:creationId xmlns:a16="http://schemas.microsoft.com/office/drawing/2014/main" id="{59112F3C-5B7C-EE12-79A4-73FD1BA7648D}"/>
                  </a:ext>
                </a:extLst>
              </p:cNvPr>
              <p:cNvSpPr txBox="1"/>
              <p:nvPr/>
            </p:nvSpPr>
            <p:spPr>
              <a:xfrm>
                <a:off x="5686433" y="3440906"/>
                <a:ext cx="819135" cy="173124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125" b="1" dirty="0">
                    <a:solidFill>
                      <a:srgbClr val="FBE6B4"/>
                    </a:solidFill>
                    <a:latin typeface="나눔스퀘어라운드 Bold" panose="020B0600000101010101" pitchFamily="50" charset="-127"/>
                    <a:ea typeface="나눔스퀘어라운드 Bold" panose="020B0600000101010101" pitchFamily="50" charset="-127"/>
                    <a:cs typeface="나눔스퀘어라운드 Bold" panose="020B0600000101010101" pitchFamily="50" charset="-127"/>
                  </a:rPr>
                  <a:t>매일 3분 루틴</a:t>
                </a:r>
              </a:p>
            </p:txBody>
          </p:sp>
        </p:grpSp>
      </p:grpSp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F57265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3. SOLUTION · 해결 구조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6160341" cy="9694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315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하나의 </a:t>
            </a:r>
            <a:r>
              <a:rPr lang="en-US" altLang="ko-KR" sz="315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3</a:t>
            </a:r>
            <a:r>
              <a:rPr lang="ko-KR" altLang="en-US" sz="315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분 루틴이 </a:t>
            </a:r>
            <a:r>
              <a:rPr lang="ko-KR" altLang="en-US" sz="3150" dirty="0">
                <a:solidFill>
                  <a:srgbClr val="F57265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모두</a:t>
            </a:r>
            <a:r>
              <a:rPr lang="ko-KR" altLang="en-US" sz="315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를 연결합니다</a:t>
            </a:r>
          </a:p>
          <a:p>
            <a:pPr algn="l">
              <a:lnSpc>
                <a:spcPct val="100000"/>
              </a:lnSpc>
            </a:pPr>
            <a:endParaRPr lang="ko-KR" altLang="en-US" sz="3150" b="0" dirty="0">
              <a:solidFill>
                <a:srgbClr val="2A2018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  <a:cs typeface="나눔스퀘어라운드 ExtraBold" panose="020B0600000101010101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4530086" cy="2431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 dirty="0">
                <a:solidFill>
                  <a:srgbClr val="6C5D4C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노인 활동 · 보호자 안부 · 복지관 운영 · 의료 상담 준비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850957"/>
            <a:ext cx="4087368" cy="1280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2106989"/>
            <a:ext cx="50292" cy="530352"/>
          </a:xfrm>
          <a:prstGeom prst="rect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14400" y="2006404"/>
            <a:ext cx="457200" cy="457200"/>
          </a:xfrm>
          <a:prstGeom prst="ellipse">
            <a:avLst/>
          </a:prstGeom>
          <a:solidFill>
            <a:srgbClr val="FBE6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98560" y="2121436"/>
            <a:ext cx="88879" cy="88879"/>
          </a:xfrm>
          <a:prstGeom prst="ellips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44244" y="2239942"/>
            <a:ext cx="197510" cy="108630"/>
          </a:xfrm>
          <a:prstGeom prst="roundRect">
            <a:avLst>
              <a:gd name="adj" fmla="val 45000"/>
            </a:avLst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563624" y="2045154"/>
            <a:ext cx="468077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00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노인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63624" y="2417885"/>
            <a:ext cx="2693045" cy="5850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lang="ko-KR" altLang="en-US" sz="140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큰 글씨 · 네 개  버튼 · 음성 안내</a:t>
            </a:r>
          </a:p>
          <a:p>
            <a:pPr algn="l">
              <a:lnSpc>
                <a:spcPct val="142000"/>
              </a:lnSpc>
            </a:pPr>
            <a:r>
              <a:rPr lang="ko-KR" altLang="en-US" sz="140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검사가 아닌 일상 활동으로 매일 참여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54232" y="1850957"/>
            <a:ext cx="4087368" cy="1280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54232" y="2106989"/>
            <a:ext cx="50292" cy="530352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674272" y="2006404"/>
            <a:ext cx="457200" cy="457200"/>
          </a:xfrm>
          <a:prstGeom prst="ellipse">
            <a:avLst/>
          </a:prstGeom>
          <a:solidFill>
            <a:srgbClr val="FBE0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9" name="Heart 18"/>
          <p:cNvSpPr/>
          <p:nvPr/>
        </p:nvSpPr>
        <p:spPr>
          <a:xfrm>
            <a:off x="7779428" y="2121436"/>
            <a:ext cx="246888" cy="227136"/>
          </a:xfrm>
          <a:prstGeom prst="hear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3496" y="2045154"/>
            <a:ext cx="702115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000" b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보호자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3496" y="2417885"/>
            <a:ext cx="2305118" cy="5850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lang="ko-KR" altLang="en-US" sz="1400" b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점수가 아닌 안부와 대화 단서</a:t>
            </a:r>
          </a:p>
          <a:p>
            <a:pPr algn="l">
              <a:lnSpc>
                <a:spcPct val="142000"/>
              </a:lnSpc>
            </a:pPr>
            <a:r>
              <a:rPr lang="ko-KR" altLang="en-US" sz="1400" b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오늘 남긴 이야기로 통화를 시작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3387149"/>
            <a:ext cx="4087368" cy="1280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94360" y="3643181"/>
            <a:ext cx="50292" cy="530352"/>
          </a:xfrm>
          <a:prstGeom prst="rect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14400" y="3542597"/>
            <a:ext cx="457200" cy="457200"/>
          </a:xfrm>
          <a:prstGeom prst="ellipse">
            <a:avLst/>
          </a:prstGeom>
          <a:solidFill>
            <a:srgbClr val="EA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5" name="Isosceles Triangle 24"/>
          <p:cNvSpPr/>
          <p:nvPr/>
        </p:nvSpPr>
        <p:spPr>
          <a:xfrm>
            <a:off x="1019556" y="3652690"/>
            <a:ext cx="246888" cy="118506"/>
          </a:xfrm>
          <a:prstGeom prst="triangl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061526" y="3766259"/>
            <a:ext cx="162946" cy="123444"/>
          </a:xfrm>
          <a:prstGeom prst="rect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563624" y="3581346"/>
            <a:ext cx="702115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00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복지관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63624" y="3954076"/>
            <a:ext cx="2394886" cy="5850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lang="ko-KR" altLang="en-US" sz="140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반복 활동 운영과 참여 확인</a:t>
            </a:r>
          </a:p>
          <a:p>
            <a:pPr algn="l">
              <a:lnSpc>
                <a:spcPct val="142000"/>
              </a:lnSpc>
            </a:pPr>
            <a:r>
              <a:rPr lang="ko-KR" altLang="en-US" sz="140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기관 단말 한 대로 여러 노인 순환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54232" y="3387149"/>
            <a:ext cx="4087368" cy="1280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354232" y="3643181"/>
            <a:ext cx="50292" cy="530352"/>
          </a:xfrm>
          <a:prstGeom prst="rect">
            <a:avLst/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7674272" y="3542597"/>
            <a:ext cx="457200" cy="457200"/>
          </a:xfrm>
          <a:prstGeom prst="ellipse">
            <a:avLst/>
          </a:prstGeom>
          <a:solidFill>
            <a:srgbClr val="F7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2" name="Cross 31"/>
          <p:cNvSpPr/>
          <p:nvPr/>
        </p:nvSpPr>
        <p:spPr>
          <a:xfrm>
            <a:off x="7779428" y="3647753"/>
            <a:ext cx="246888" cy="246888"/>
          </a:xfrm>
          <a:prstGeom prst="plus">
            <a:avLst>
              <a:gd name="adj" fmla="val 32000"/>
            </a:avLst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23496" y="3581346"/>
            <a:ext cx="1181414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000" b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의료 · 상담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3496" y="3954076"/>
            <a:ext cx="2305118" cy="58509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lang="ko-KR" altLang="en-US" sz="140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진료 전 참고 가능한 변화 기록</a:t>
            </a:r>
          </a:p>
          <a:p>
            <a:pPr algn="l">
              <a:lnSpc>
                <a:spcPct val="142000"/>
              </a:lnSpc>
            </a:pPr>
            <a:r>
              <a:rPr lang="ko-KR" altLang="en-US" sz="1400" b="0" dirty="0" err="1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동의된</a:t>
            </a:r>
            <a:r>
              <a:rPr lang="ko-KR" altLang="en-US" sz="140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 관찰 기록만 요약해 전달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5078789"/>
            <a:ext cx="11003249" cy="859536"/>
          </a:xfrm>
          <a:prstGeom prst="roundRect">
            <a:avLst>
              <a:gd name="adj" fmla="val 17252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16398" y="5261669"/>
            <a:ext cx="1897955" cy="209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36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MMSE · CIST 인지영역을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7306" y="5535989"/>
            <a:ext cx="1356140" cy="2092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36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일상 문항으로 변환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62656" y="5389685"/>
            <a:ext cx="292608" cy="2795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420" b="0">
                <a:solidFill>
                  <a:srgbClr val="F57265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▶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346704" y="5353109"/>
            <a:ext cx="2339721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 dirty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"오늘 무슨 요일일까요?＂  </a:t>
            </a:r>
            <a:r>
              <a:rPr lang="ko-KR" altLang="en-US" sz="1200" b="0" dirty="0" err="1">
                <a:solidFill>
                  <a:srgbClr val="F4A81D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지남력</a:t>
            </a:r>
            <a:endParaRPr lang="ko-KR" altLang="en-US" sz="1200" b="0" dirty="0">
              <a:solidFill>
                <a:srgbClr val="F4A81D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  <a:cs typeface="나눔스퀘어라운드 ExtraBold" panose="020B0600000101010101" pitchFamily="50" charset="-127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5796153" y="5353109"/>
            <a:ext cx="1958721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 dirty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시장 계산하기  </a:t>
            </a:r>
            <a:r>
              <a:rPr lang="ko-KR" altLang="en-US" sz="1200" b="0" dirty="0">
                <a:solidFill>
                  <a:srgbClr val="5E9A6A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주의 · 계산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864602" y="5353109"/>
            <a:ext cx="15681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 dirty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속담 뜻 고르기  </a:t>
            </a:r>
            <a:r>
              <a:rPr lang="ko-KR" altLang="en-US" sz="1200" b="0" dirty="0">
                <a:solidFill>
                  <a:srgbClr val="00B0F0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언어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Haru by 보편교육연구소 · 해결 구조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05</a:t>
            </a:r>
          </a:p>
        </p:txBody>
      </p:sp>
      <p:pic>
        <p:nvPicPr>
          <p:cNvPr id="55" name="Picture 5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grpSp>
        <p:nvGrpSpPr>
          <p:cNvPr id="69" name="그룹 68">
            <a:extLst>
              <a:ext uri="{FF2B5EF4-FFF2-40B4-BE49-F238E27FC236}">
                <a16:creationId xmlns:a16="http://schemas.microsoft.com/office/drawing/2014/main" id="{6540A2EA-6F55-CE77-1743-1736881023EA}"/>
              </a:ext>
            </a:extLst>
          </p:cNvPr>
          <p:cNvGrpSpPr/>
          <p:nvPr/>
        </p:nvGrpSpPr>
        <p:grpSpPr>
          <a:xfrm>
            <a:off x="9893950" y="5344719"/>
            <a:ext cx="1458061" cy="369332"/>
            <a:chOff x="9557608" y="5784398"/>
            <a:chExt cx="1028667" cy="260565"/>
          </a:xfrm>
        </p:grpSpPr>
        <p:sp>
          <p:nvSpPr>
            <p:cNvPr id="70" name="Freeform 61">
              <a:extLst>
                <a:ext uri="{FF2B5EF4-FFF2-40B4-BE49-F238E27FC236}">
                  <a16:creationId xmlns:a16="http://schemas.microsoft.com/office/drawing/2014/main" id="{0732090E-FE8C-41F8-D7BA-31C05C5526F0}"/>
                </a:ext>
              </a:extLst>
            </p:cNvPr>
            <p:cNvSpPr/>
            <p:nvPr/>
          </p:nvSpPr>
          <p:spPr>
            <a:xfrm>
              <a:off x="9557608" y="5821637"/>
              <a:ext cx="182523" cy="174718"/>
            </a:xfrm>
            <a:custGeom>
              <a:avLst/>
              <a:gdLst/>
              <a:ahLst/>
              <a:cxnLst/>
              <a:rect l="l" t="t" r="r" b="b"/>
              <a:pathLst>
                <a:path w="182523" h="174718">
                  <a:moveTo>
                    <a:pt x="91249" y="0"/>
                  </a:moveTo>
                  <a:lnTo>
                    <a:pt x="92279" y="61"/>
                  </a:lnTo>
                  <a:lnTo>
                    <a:pt x="92794" y="131"/>
                  </a:lnTo>
                  <a:lnTo>
                    <a:pt x="93327" y="244"/>
                  </a:lnTo>
                  <a:lnTo>
                    <a:pt x="94296" y="541"/>
                  </a:lnTo>
                  <a:cubicBezTo>
                    <a:pt x="94965" y="788"/>
                    <a:pt x="95601" y="1117"/>
                    <a:pt x="96190" y="1519"/>
                  </a:cubicBezTo>
                  <a:lnTo>
                    <a:pt x="97098" y="2235"/>
                  </a:lnTo>
                  <a:lnTo>
                    <a:pt x="99325" y="4139"/>
                  </a:lnTo>
                  <a:cubicBezTo>
                    <a:pt x="116939" y="18768"/>
                    <a:pt x="139199" y="26624"/>
                    <a:pt x="162094" y="26290"/>
                  </a:cubicBezTo>
                  <a:lnTo>
                    <a:pt x="165080" y="26202"/>
                  </a:lnTo>
                  <a:cubicBezTo>
                    <a:pt x="169098" y="26019"/>
                    <a:pt x="172721" y="28604"/>
                    <a:pt x="173855" y="32463"/>
                  </a:cubicBezTo>
                  <a:cubicBezTo>
                    <a:pt x="182523" y="61951"/>
                    <a:pt x="178863" y="93693"/>
                    <a:pt x="163710" y="120434"/>
                  </a:cubicBezTo>
                  <a:cubicBezTo>
                    <a:pt x="148558" y="147175"/>
                    <a:pt x="123208" y="166628"/>
                    <a:pt x="93458" y="174346"/>
                  </a:cubicBezTo>
                  <a:cubicBezTo>
                    <a:pt x="92020" y="174718"/>
                    <a:pt x="90512" y="174718"/>
                    <a:pt x="89074" y="174346"/>
                  </a:cubicBezTo>
                  <a:cubicBezTo>
                    <a:pt x="59322" y="166630"/>
                    <a:pt x="33970" y="147178"/>
                    <a:pt x="18816" y="120437"/>
                  </a:cubicBezTo>
                  <a:cubicBezTo>
                    <a:pt x="3662" y="93696"/>
                    <a:pt x="0" y="61952"/>
                    <a:pt x="8668" y="32463"/>
                  </a:cubicBezTo>
                  <a:cubicBezTo>
                    <a:pt x="9802" y="28604"/>
                    <a:pt x="13426" y="26019"/>
                    <a:pt x="17443" y="26202"/>
                  </a:cubicBezTo>
                  <a:cubicBezTo>
                    <a:pt x="41345" y="27295"/>
                    <a:pt x="64793" y="19427"/>
                    <a:pt x="83198" y="4139"/>
                  </a:cubicBezTo>
                  <a:lnTo>
                    <a:pt x="85495" y="2174"/>
                  </a:lnTo>
                  <a:lnTo>
                    <a:pt x="86333" y="1519"/>
                  </a:lnTo>
                  <a:cubicBezTo>
                    <a:pt x="86922" y="1117"/>
                    <a:pt x="87558" y="788"/>
                    <a:pt x="88227" y="541"/>
                  </a:cubicBezTo>
                  <a:lnTo>
                    <a:pt x="89205" y="244"/>
                  </a:lnTo>
                  <a:cubicBezTo>
                    <a:pt x="89548" y="162"/>
                    <a:pt x="89895" y="101"/>
                    <a:pt x="90244" y="61"/>
                  </a:cubicBezTo>
                  <a:lnTo>
                    <a:pt x="91249" y="0"/>
                  </a:lnTo>
                  <a:close/>
                  <a:moveTo>
                    <a:pt x="123641" y="63677"/>
                  </a:moveTo>
                  <a:cubicBezTo>
                    <a:pt x="122004" y="62037"/>
                    <a:pt x="119781" y="61116"/>
                    <a:pt x="117464" y="61116"/>
                  </a:cubicBezTo>
                  <a:cubicBezTo>
                    <a:pt x="115147" y="61116"/>
                    <a:pt x="112924" y="62037"/>
                    <a:pt x="111287" y="63677"/>
                  </a:cubicBezTo>
                  <a:lnTo>
                    <a:pt x="82535" y="92420"/>
                  </a:lnTo>
                  <a:lnTo>
                    <a:pt x="71245" y="81140"/>
                  </a:lnTo>
                  <a:lnTo>
                    <a:pt x="70424" y="80415"/>
                  </a:lnTo>
                  <a:cubicBezTo>
                    <a:pt x="66782" y="77599"/>
                    <a:pt x="61580" y="78094"/>
                    <a:pt x="58535" y="81547"/>
                  </a:cubicBezTo>
                  <a:cubicBezTo>
                    <a:pt x="55490" y="85001"/>
                    <a:pt x="55649" y="90225"/>
                    <a:pt x="58899" y="93485"/>
                  </a:cubicBezTo>
                  <a:lnTo>
                    <a:pt x="76362" y="110948"/>
                  </a:lnTo>
                  <a:lnTo>
                    <a:pt x="77182" y="111673"/>
                  </a:lnTo>
                  <a:cubicBezTo>
                    <a:pt x="80658" y="114369"/>
                    <a:pt x="85597" y="114058"/>
                    <a:pt x="88708" y="110948"/>
                  </a:cubicBezTo>
                  <a:lnTo>
                    <a:pt x="123633" y="76023"/>
                  </a:lnTo>
                  <a:lnTo>
                    <a:pt x="124357" y="75202"/>
                  </a:lnTo>
                  <a:cubicBezTo>
                    <a:pt x="127054" y="71726"/>
                    <a:pt x="126743" y="66788"/>
                    <a:pt x="123633" y="63677"/>
                  </a:cubicBezTo>
                  <a:close/>
                </a:path>
              </a:pathLst>
            </a:custGeom>
            <a:solidFill>
              <a:srgbClr val="5E9A6A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endParaRPr>
            </a:p>
          </p:txBody>
        </p:sp>
        <p:sp>
          <p:nvSpPr>
            <p:cNvPr id="71" name="TextBox 62">
              <a:extLst>
                <a:ext uri="{FF2B5EF4-FFF2-40B4-BE49-F238E27FC236}">
                  <a16:creationId xmlns:a16="http://schemas.microsoft.com/office/drawing/2014/main" id="{BFFE95DD-EEF4-F1DF-5E2D-E33EAC79A6D1}"/>
                </a:ext>
              </a:extLst>
            </p:cNvPr>
            <p:cNvSpPr txBox="1"/>
            <p:nvPr/>
          </p:nvSpPr>
          <p:spPr>
            <a:xfrm>
              <a:off x="9740131" y="5784398"/>
              <a:ext cx="846144" cy="2605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5E9A6A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진단 · 위험도 </a:t>
              </a:r>
              <a:endParaRPr lang="en-US" altLang="zh-CN" sz="1200" b="1" dirty="0">
                <a:solidFill>
                  <a:srgbClr val="5E9A6A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endParaRPr>
            </a:p>
            <a:p>
              <a:pPr algn="ctr"/>
              <a:r>
                <a:rPr lang="zh-CN" sz="1200" b="1" dirty="0">
                  <a:solidFill>
                    <a:srgbClr val="5E9A6A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판정 없음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F57265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3. SOLUTION · 사전 검증 (베타테스트)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8213787" cy="4847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150" b="0">
                <a:solidFill>
                  <a:srgbClr val="F57265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베타테스트</a:t>
            </a:r>
            <a:r>
              <a:rPr lang="ko-KR" altLang="en-US" sz="3150" b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를 통해 </a:t>
            </a:r>
            <a:r>
              <a:rPr lang="ko-KR" altLang="en-US" sz="3150" b="0" dirty="0">
                <a:solidFill>
                  <a:srgbClr val="F57265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노인에게</a:t>
            </a:r>
            <a:r>
              <a:rPr lang="ko-KR" altLang="en-US" sz="315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 한 걸음 다가갔습니다</a:t>
            </a:r>
            <a:endParaRPr lang="ko-KR" altLang="en-US" sz="3150" b="0" dirty="0">
              <a:solidFill>
                <a:srgbClr val="F57265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  <a:cs typeface="나눔스퀘어라운드 ExtraBold" panose="020B0600000101010101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4892040" cy="2431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en-US" sz="1580" dirty="0">
                <a:solidFill>
                  <a:srgbClr val="6C5D4C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데모 버전을 활용한 </a:t>
            </a:r>
            <a:r>
              <a:rPr lang="en-US" altLang="ko-KR" sz="1580" dirty="0">
                <a:solidFill>
                  <a:srgbClr val="6C5D4C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20</a:t>
            </a:r>
            <a:r>
              <a:rPr lang="ko-KR" altLang="en-US" sz="1580" dirty="0">
                <a:solidFill>
                  <a:srgbClr val="6C5D4C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명 규모의 베타테스트 완료</a:t>
            </a:r>
            <a:endParaRPr lang="ko-KR" altLang="en-US" sz="1580" b="0" dirty="0">
              <a:solidFill>
                <a:srgbClr val="6C5D4C"/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나눔스퀘어라운드 Bold" panose="020B0600000101010101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8557" y="2567222"/>
            <a:ext cx="931024" cy="2522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39" b="1" spc="160" dirty="0">
                <a:solidFill>
                  <a:srgbClr val="9C8B77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BEFORE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557" y="2823254"/>
            <a:ext cx="3840480" cy="4350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210" b="0" dirty="0">
                <a:solidFill>
                  <a:srgbClr val="6C5D4C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모바일 URL </a:t>
            </a:r>
            <a:r>
              <a:rPr lang="ko-KR" altLang="en-US" sz="2210" b="0" dirty="0" err="1">
                <a:solidFill>
                  <a:srgbClr val="6C5D4C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웹앱</a:t>
            </a:r>
            <a:endParaRPr lang="ko-KR" altLang="en-US" sz="2210" b="0" dirty="0">
              <a:solidFill>
                <a:srgbClr val="6C5D4C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  <a:cs typeface="나눔스퀘어라운드 ExtraBold" panose="020B0600000101010101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970283" y="3293213"/>
            <a:ext cx="2755368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300" b="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데모기반 20명 </a:t>
            </a:r>
            <a:r>
              <a:rPr lang="ko-KR" altLang="en-US" sz="1300" b="0" dirty="0">
                <a:solidFill>
                  <a:srgbClr val="C8410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베타테스트 </a:t>
            </a:r>
            <a:r>
              <a:rPr lang="ko-KR" altLang="en-US" sz="1300" b="0" dirty="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결과 반영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59622" y="2567222"/>
            <a:ext cx="756617" cy="25224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39" b="1" spc="160" dirty="0">
                <a:solidFill>
                  <a:srgbClr val="F57265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AFTER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59622" y="2823254"/>
            <a:ext cx="2213748" cy="34009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21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2×2 버튼 키오스크</a:t>
            </a:r>
          </a:p>
        </p:txBody>
      </p:sp>
      <p:pic>
        <p:nvPicPr>
          <p:cNvPr id="21" name="Picture 20" descr="mk_front_blur.png"/>
          <p:cNvPicPr>
            <a:picLocks noChangeAspect="1"/>
          </p:cNvPicPr>
          <p:nvPr/>
        </p:nvPicPr>
        <p:blipFill>
          <a:blip r:embed="rId3"/>
          <a:srcRect t="5057" b="1"/>
          <a:stretch>
            <a:fillRect/>
          </a:stretch>
        </p:blipFill>
        <p:spPr>
          <a:xfrm>
            <a:off x="9701329" y="2793108"/>
            <a:ext cx="1927184" cy="2439630"/>
          </a:xfrm>
          <a:prstGeom prst="roundRect">
            <a:avLst>
              <a:gd name="adj" fmla="val 9139"/>
            </a:avLst>
          </a:prstGeom>
          <a:ln w="19050">
            <a:solidFill>
              <a:srgbClr val="F57265"/>
            </a:solidFill>
          </a:ln>
          <a:effectLst/>
        </p:spPr>
      </p:pic>
      <p:grpSp>
        <p:nvGrpSpPr>
          <p:cNvPr id="132" name="그룹 131">
            <a:extLst>
              <a:ext uri="{FF2B5EF4-FFF2-40B4-BE49-F238E27FC236}">
                <a16:creationId xmlns:a16="http://schemas.microsoft.com/office/drawing/2014/main" id="{C84E7594-7C31-A526-066D-9A51DBF7F414}"/>
              </a:ext>
            </a:extLst>
          </p:cNvPr>
          <p:cNvGrpSpPr/>
          <p:nvPr/>
        </p:nvGrpSpPr>
        <p:grpSpPr>
          <a:xfrm>
            <a:off x="5234009" y="3590822"/>
            <a:ext cx="4233672" cy="310896"/>
            <a:chOff x="7415117" y="3444261"/>
            <a:chExt cx="4233672" cy="310896"/>
          </a:xfrm>
        </p:grpSpPr>
        <p:sp>
          <p:nvSpPr>
            <p:cNvPr id="23" name="Rounded Rectangle 22"/>
            <p:cNvSpPr/>
            <p:nvPr/>
          </p:nvSpPr>
          <p:spPr>
            <a:xfrm>
              <a:off x="7415117" y="3444261"/>
              <a:ext cx="1481328" cy="310896"/>
            </a:xfrm>
            <a:prstGeom prst="roundRect">
              <a:avLst>
                <a:gd name="adj" fmla="val 50000"/>
              </a:avLst>
            </a:prstGeom>
            <a:solidFill>
              <a:srgbClr val="F5EC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b="1">
                <a:solidFill>
                  <a:schemeClr val="tx1"/>
                </a:solidFill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7857622" y="3517413"/>
              <a:ext cx="596317" cy="18466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1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나눔스퀘어라운드 Regular" panose="020B0600000101010101" pitchFamily="50" charset="-127"/>
                </a:rPr>
                <a:t>작은 화면</a:t>
              </a:r>
            </a:p>
          </p:txBody>
        </p:sp>
        <p:sp>
          <p:nvSpPr>
            <p:cNvPr id="25" name="Isosceles Triangle 24"/>
            <p:cNvSpPr/>
            <p:nvPr/>
          </p:nvSpPr>
          <p:spPr>
            <a:xfrm rot="5400000">
              <a:off x="8992457" y="3531129"/>
              <a:ext cx="137160" cy="137160"/>
            </a:xfrm>
            <a:prstGeom prst="triangle">
              <a:avLst/>
            </a:prstGeom>
            <a:solidFill>
              <a:srgbClr val="F5726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b="1"/>
            </a:p>
          </p:txBody>
        </p:sp>
        <p:sp>
          <p:nvSpPr>
            <p:cNvPr id="26" name="Rounded Rectangle 25"/>
            <p:cNvSpPr/>
            <p:nvPr/>
          </p:nvSpPr>
          <p:spPr>
            <a:xfrm>
              <a:off x="9225629" y="3444261"/>
              <a:ext cx="2423160" cy="310896"/>
            </a:xfrm>
            <a:prstGeom prst="roundRect">
              <a:avLst>
                <a:gd name="adj" fmla="val 50000"/>
              </a:avLst>
            </a:prstGeom>
            <a:solidFill>
              <a:srgbClr val="FBE0D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9225629" y="3499125"/>
              <a:ext cx="2423160" cy="255905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300" b="0" dirty="0">
                  <a:solidFill>
                    <a:srgbClr val="C8410E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나눔스퀘어라운드 ExtraBold" panose="020B0600000101010101" pitchFamily="50" charset="-127"/>
                </a:rPr>
                <a:t>큰 세로 화면</a:t>
              </a:r>
            </a:p>
          </p:txBody>
        </p:sp>
      </p:grpSp>
      <p:grpSp>
        <p:nvGrpSpPr>
          <p:cNvPr id="131" name="그룹 130">
            <a:extLst>
              <a:ext uri="{FF2B5EF4-FFF2-40B4-BE49-F238E27FC236}">
                <a16:creationId xmlns:a16="http://schemas.microsoft.com/office/drawing/2014/main" id="{0801B55C-545F-A1B7-E6B8-29EFDCB9630F}"/>
              </a:ext>
            </a:extLst>
          </p:cNvPr>
          <p:cNvGrpSpPr/>
          <p:nvPr/>
        </p:nvGrpSpPr>
        <p:grpSpPr>
          <a:xfrm>
            <a:off x="5234009" y="4044801"/>
            <a:ext cx="4233672" cy="310896"/>
            <a:chOff x="7415117" y="3846597"/>
            <a:chExt cx="4233672" cy="310896"/>
          </a:xfrm>
        </p:grpSpPr>
        <p:sp>
          <p:nvSpPr>
            <p:cNvPr id="28" name="Rounded Rectangle 27"/>
            <p:cNvSpPr/>
            <p:nvPr/>
          </p:nvSpPr>
          <p:spPr>
            <a:xfrm>
              <a:off x="7415117" y="3846597"/>
              <a:ext cx="1481328" cy="310896"/>
            </a:xfrm>
            <a:prstGeom prst="roundRect">
              <a:avLst>
                <a:gd name="adj" fmla="val 50000"/>
              </a:avLst>
            </a:prstGeom>
            <a:solidFill>
              <a:srgbClr val="F5EC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b="1">
                <a:solidFill>
                  <a:schemeClr val="tx1"/>
                </a:solidFill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7644423" y="3919749"/>
              <a:ext cx="1022716" cy="18466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1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나눔스퀘어라운드 Regular" panose="020B0600000101010101" pitchFamily="50" charset="-127"/>
                </a:rPr>
                <a:t>터치 · 메뉴 부담</a:t>
              </a:r>
            </a:p>
          </p:txBody>
        </p:sp>
        <p:sp>
          <p:nvSpPr>
            <p:cNvPr id="30" name="Isosceles Triangle 29"/>
            <p:cNvSpPr/>
            <p:nvPr/>
          </p:nvSpPr>
          <p:spPr>
            <a:xfrm rot="5400000">
              <a:off x="8992457" y="3933465"/>
              <a:ext cx="137160" cy="137160"/>
            </a:xfrm>
            <a:prstGeom prst="triangle">
              <a:avLst/>
            </a:prstGeom>
            <a:solidFill>
              <a:srgbClr val="F5726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b="1"/>
            </a:p>
          </p:txBody>
        </p:sp>
        <p:sp>
          <p:nvSpPr>
            <p:cNvPr id="31" name="Rounded Rectangle 30"/>
            <p:cNvSpPr/>
            <p:nvPr/>
          </p:nvSpPr>
          <p:spPr>
            <a:xfrm>
              <a:off x="9225629" y="3846597"/>
              <a:ext cx="2423160" cy="310896"/>
            </a:xfrm>
            <a:prstGeom prst="roundRect">
              <a:avLst>
                <a:gd name="adj" fmla="val 50000"/>
              </a:avLst>
            </a:prstGeom>
            <a:solidFill>
              <a:srgbClr val="FBE0D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0070121" y="3901461"/>
              <a:ext cx="734175" cy="200055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300" b="0" dirty="0">
                  <a:solidFill>
                    <a:srgbClr val="C8410E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나눔스퀘어라운드 ExtraBold" panose="020B0600000101010101" pitchFamily="50" charset="-127"/>
                </a:rPr>
                <a:t>네 개  버튼</a:t>
              </a:r>
            </a:p>
          </p:txBody>
        </p:sp>
      </p:grp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C96BD34E-78A3-AEA9-B1B9-5D987F433825}"/>
              </a:ext>
            </a:extLst>
          </p:cNvPr>
          <p:cNvGrpSpPr/>
          <p:nvPr/>
        </p:nvGrpSpPr>
        <p:grpSpPr>
          <a:xfrm>
            <a:off x="5234009" y="4498780"/>
            <a:ext cx="4233672" cy="310896"/>
            <a:chOff x="7415117" y="4248933"/>
            <a:chExt cx="4233672" cy="310896"/>
          </a:xfrm>
        </p:grpSpPr>
        <p:sp>
          <p:nvSpPr>
            <p:cNvPr id="33" name="Rounded Rectangle 32"/>
            <p:cNvSpPr/>
            <p:nvPr/>
          </p:nvSpPr>
          <p:spPr>
            <a:xfrm>
              <a:off x="7415117" y="4248933"/>
              <a:ext cx="1481328" cy="310896"/>
            </a:xfrm>
            <a:prstGeom prst="roundRect">
              <a:avLst>
                <a:gd name="adj" fmla="val 50000"/>
              </a:avLst>
            </a:prstGeom>
            <a:solidFill>
              <a:srgbClr val="F5EC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b="1">
                <a:solidFill>
                  <a:schemeClr val="tx1"/>
                </a:solidFill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7629194" y="4322085"/>
              <a:ext cx="1053173" cy="18466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1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나눔스퀘어라운드 Regular" panose="020B0600000101010101" pitchFamily="50" charset="-127"/>
                </a:rPr>
                <a:t>듣는 상태 불명확</a:t>
              </a:r>
            </a:p>
          </p:txBody>
        </p:sp>
        <p:sp>
          <p:nvSpPr>
            <p:cNvPr id="35" name="Isosceles Triangle 34"/>
            <p:cNvSpPr/>
            <p:nvPr/>
          </p:nvSpPr>
          <p:spPr>
            <a:xfrm rot="5400000">
              <a:off x="8992457" y="4335801"/>
              <a:ext cx="137160" cy="137160"/>
            </a:xfrm>
            <a:prstGeom prst="triangle">
              <a:avLst/>
            </a:prstGeom>
            <a:solidFill>
              <a:srgbClr val="F5726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b="1"/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9225629" y="4248933"/>
              <a:ext cx="2423160" cy="310896"/>
            </a:xfrm>
            <a:prstGeom prst="roundRect">
              <a:avLst>
                <a:gd name="adj" fmla="val 50000"/>
              </a:avLst>
            </a:prstGeom>
            <a:solidFill>
              <a:srgbClr val="FBE0D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9225629" y="4303797"/>
              <a:ext cx="2423160" cy="255905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300" b="0">
                  <a:solidFill>
                    <a:srgbClr val="C8410E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나눔스퀘어라운드 ExtraBold" panose="020B0600000101010101" pitchFamily="50" charset="-127"/>
                </a:rPr>
                <a:t>붉은 듣기 상태 · 파형</a:t>
              </a:r>
            </a:p>
          </p:txBody>
        </p:sp>
      </p:grp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420CFF71-4B19-42FA-DCAF-0172CBBE961C}"/>
              </a:ext>
            </a:extLst>
          </p:cNvPr>
          <p:cNvGrpSpPr/>
          <p:nvPr/>
        </p:nvGrpSpPr>
        <p:grpSpPr>
          <a:xfrm>
            <a:off x="5234009" y="4952759"/>
            <a:ext cx="4233672" cy="310896"/>
            <a:chOff x="7415117" y="4651269"/>
            <a:chExt cx="4233672" cy="310896"/>
          </a:xfrm>
        </p:grpSpPr>
        <p:sp>
          <p:nvSpPr>
            <p:cNvPr id="38" name="Rounded Rectangle 37"/>
            <p:cNvSpPr/>
            <p:nvPr/>
          </p:nvSpPr>
          <p:spPr>
            <a:xfrm>
              <a:off x="7415117" y="4651269"/>
              <a:ext cx="1481328" cy="310896"/>
            </a:xfrm>
            <a:prstGeom prst="roundRect">
              <a:avLst>
                <a:gd name="adj" fmla="val 50000"/>
              </a:avLst>
            </a:prstGeom>
            <a:solidFill>
              <a:srgbClr val="F5ECD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b="1">
                <a:solidFill>
                  <a:schemeClr val="tx1"/>
                </a:solidFill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7698925" y="4724421"/>
              <a:ext cx="913712" cy="184666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1" dirty="0"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나눔스퀘어라운드 Regular" panose="020B0600000101010101" pitchFamily="50" charset="-127"/>
                </a:rPr>
                <a:t>인식 실패 체감</a:t>
              </a:r>
            </a:p>
          </p:txBody>
        </p:sp>
        <p:sp>
          <p:nvSpPr>
            <p:cNvPr id="40" name="Isosceles Triangle 39"/>
            <p:cNvSpPr/>
            <p:nvPr/>
          </p:nvSpPr>
          <p:spPr>
            <a:xfrm rot="5400000">
              <a:off x="8992457" y="4738137"/>
              <a:ext cx="137160" cy="137160"/>
            </a:xfrm>
            <a:prstGeom prst="triangle">
              <a:avLst/>
            </a:prstGeom>
            <a:solidFill>
              <a:srgbClr val="F5726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b="1"/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9225629" y="4651269"/>
              <a:ext cx="2423160" cy="310896"/>
            </a:xfrm>
            <a:prstGeom prst="roundRect">
              <a:avLst>
                <a:gd name="adj" fmla="val 50000"/>
              </a:avLst>
            </a:prstGeom>
            <a:solidFill>
              <a:srgbClr val="FBE0D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9225629" y="4706132"/>
              <a:ext cx="2423160" cy="255905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300" b="0" dirty="0">
                  <a:solidFill>
                    <a:srgbClr val="C8410E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나눔스퀘어라운드 ExtraBold" panose="020B0600000101010101" pitchFamily="50" charset="-127"/>
                </a:rPr>
                <a:t>재시도 · 실패 </a:t>
              </a:r>
              <a:r>
                <a:rPr lang="ko-KR" altLang="en-US" sz="1300" b="0" dirty="0" err="1">
                  <a:solidFill>
                    <a:srgbClr val="C8410E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나눔스퀘어라운드 ExtraBold" panose="020B0600000101010101" pitchFamily="50" charset="-127"/>
                </a:rPr>
                <a:t>비차단</a:t>
              </a:r>
              <a:endParaRPr lang="ko-KR" altLang="en-US" sz="1300" b="0" dirty="0">
                <a:solidFill>
                  <a:srgbClr val="C8410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endParaRPr>
            </a:p>
          </p:txBody>
        </p:sp>
      </p:grpSp>
      <p:sp>
        <p:nvSpPr>
          <p:cNvPr id="65" name="Rectangle 57">
            <a:extLst>
              <a:ext uri="{FF2B5EF4-FFF2-40B4-BE49-F238E27FC236}">
                <a16:creationId xmlns:a16="http://schemas.microsoft.com/office/drawing/2014/main" id="{48717C6A-6E3A-C695-017F-DCA77B4EAA93}"/>
              </a:ext>
            </a:extLst>
          </p:cNvPr>
          <p:cNvSpPr/>
          <p:nvPr/>
        </p:nvSpPr>
        <p:spPr>
          <a:xfrm>
            <a:off x="630269" y="1647573"/>
            <a:ext cx="3513419" cy="745995"/>
          </a:xfrm>
          <a:prstGeom prst="roundRect">
            <a:avLst>
              <a:gd name="adj" fmla="val 9524"/>
            </a:avLst>
          </a:prstGeom>
          <a:solidFill>
            <a:srgbClr val="F5ECD8"/>
          </a:solidFill>
          <a:ln w="9525">
            <a:solidFill>
              <a:srgbClr val="E7DBC2"/>
            </a:solidFill>
          </a:ln>
        </p:spPr>
        <p:txBody>
          <a:bodyPr/>
          <a:lstStyle/>
          <a:p>
            <a:endParaRPr lang="ko-KR" altLang="en-US"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나눔스퀘어라운드 Bold" panose="020B0600000101010101" pitchFamily="50" charset="-127"/>
            </a:endParaRPr>
          </a:p>
        </p:txBody>
      </p:sp>
      <p:sp>
        <p:nvSpPr>
          <p:cNvPr id="67" name="Rectangle 57">
            <a:extLst>
              <a:ext uri="{FF2B5EF4-FFF2-40B4-BE49-F238E27FC236}">
                <a16:creationId xmlns:a16="http://schemas.microsoft.com/office/drawing/2014/main" id="{EAC8D8B2-A639-5600-A7ED-647BBF5EF4BD}"/>
              </a:ext>
            </a:extLst>
          </p:cNvPr>
          <p:cNvSpPr/>
          <p:nvPr/>
        </p:nvSpPr>
        <p:spPr>
          <a:xfrm>
            <a:off x="4394549" y="1647573"/>
            <a:ext cx="3513419" cy="745995"/>
          </a:xfrm>
          <a:prstGeom prst="roundRect">
            <a:avLst>
              <a:gd name="adj" fmla="val 9524"/>
            </a:avLst>
          </a:prstGeom>
          <a:solidFill>
            <a:srgbClr val="F5ECD8"/>
          </a:solidFill>
          <a:ln w="9525">
            <a:solidFill>
              <a:srgbClr val="E7DBC2"/>
            </a:solidFill>
          </a:ln>
        </p:spPr>
        <p:txBody>
          <a:bodyPr/>
          <a:lstStyle/>
          <a:p>
            <a:endParaRPr lang="ko-KR" altLang="en-US"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나눔스퀘어라운드 Bold" panose="020B0600000101010101" pitchFamily="50" charset="-127"/>
            </a:endParaRPr>
          </a:p>
        </p:txBody>
      </p:sp>
      <p:sp>
        <p:nvSpPr>
          <p:cNvPr id="69" name="Rectangle 57">
            <a:extLst>
              <a:ext uri="{FF2B5EF4-FFF2-40B4-BE49-F238E27FC236}">
                <a16:creationId xmlns:a16="http://schemas.microsoft.com/office/drawing/2014/main" id="{37DDDA18-FB1A-E3A0-CC32-5E847B70E642}"/>
              </a:ext>
            </a:extLst>
          </p:cNvPr>
          <p:cNvSpPr/>
          <p:nvPr/>
        </p:nvSpPr>
        <p:spPr>
          <a:xfrm>
            <a:off x="8158829" y="1647573"/>
            <a:ext cx="3513419" cy="745995"/>
          </a:xfrm>
          <a:prstGeom prst="roundRect">
            <a:avLst>
              <a:gd name="adj" fmla="val 9524"/>
            </a:avLst>
          </a:prstGeom>
          <a:solidFill>
            <a:srgbClr val="F5ECD8"/>
          </a:solidFill>
          <a:ln w="9525">
            <a:solidFill>
              <a:srgbClr val="E7DBC2"/>
            </a:solidFill>
          </a:ln>
        </p:spPr>
        <p:txBody>
          <a:bodyPr/>
          <a:lstStyle/>
          <a:p>
            <a:endParaRPr lang="ko-KR" altLang="en-US" dirty="0"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나눔스퀘어라운드 Bold" panose="020B0600000101010101" pitchFamily="50" charset="-127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793337" y="1770539"/>
            <a:ext cx="256032" cy="256032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71660" y="1807375"/>
            <a:ext cx="99386" cy="1908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40" b="0" dirty="0">
                <a:solidFill>
                  <a:srgbClr val="FFFFFF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77385" y="1779104"/>
            <a:ext cx="1962076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복잡한 조작을 어려워함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77385" y="2098315"/>
            <a:ext cx="331012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메뉴 이동과 터치 자체가 부담</a:t>
            </a:r>
          </a:p>
        </p:txBody>
      </p:sp>
      <p:sp>
        <p:nvSpPr>
          <p:cNvPr id="51" name="Oval 50"/>
          <p:cNvSpPr/>
          <p:nvPr/>
        </p:nvSpPr>
        <p:spPr>
          <a:xfrm>
            <a:off x="4542377" y="1770539"/>
            <a:ext cx="256032" cy="256032"/>
          </a:xfrm>
          <a:prstGeom prst="ellips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620700" y="1807375"/>
            <a:ext cx="99386" cy="1908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40" b="0">
                <a:solidFill>
                  <a:srgbClr val="FFFFFF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26425" y="1779104"/>
            <a:ext cx="2013372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글자가 작아 보이지 않음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26425" y="2098315"/>
            <a:ext cx="331012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확대해도 화면이 작아 읽기 어려움</a:t>
            </a:r>
          </a:p>
        </p:txBody>
      </p:sp>
      <p:sp>
        <p:nvSpPr>
          <p:cNvPr id="55" name="Oval 54"/>
          <p:cNvSpPr/>
          <p:nvPr/>
        </p:nvSpPr>
        <p:spPr>
          <a:xfrm>
            <a:off x="8291417" y="1770539"/>
            <a:ext cx="256032" cy="256032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369740" y="1807375"/>
            <a:ext cx="99386" cy="1908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40" b="0">
                <a:solidFill>
                  <a:srgbClr val="FFFFFF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75465" y="1779104"/>
            <a:ext cx="1827423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잘못 눌러 그냥 </a:t>
            </a:r>
            <a:r>
              <a:rPr lang="ko-KR" altLang="en-US" sz="1600" b="0" dirty="0" err="1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넘어감</a:t>
            </a:r>
            <a:endParaRPr lang="ko-KR" altLang="en-US" sz="1600" b="0" dirty="0">
              <a:solidFill>
                <a:srgbClr val="2A2018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  <a:cs typeface="나눔스퀘어라운드 ExtraBold" panose="020B0600000101010101" pitchFamily="50" charset="-127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8675465" y="2098315"/>
            <a:ext cx="331012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실수를 되돌릴 방법이 없음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Haru by 보편교육연구소 · 사용 흐름 확인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06</a:t>
            </a:r>
          </a:p>
        </p:txBody>
      </p:sp>
      <p:pic>
        <p:nvPicPr>
          <p:cNvPr id="63" name="Picture 62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59609716-ED08-148F-CF24-C177A14C1655}"/>
              </a:ext>
            </a:extLst>
          </p:cNvPr>
          <p:cNvGrpSpPr/>
          <p:nvPr/>
        </p:nvGrpSpPr>
        <p:grpSpPr>
          <a:xfrm>
            <a:off x="593730" y="5586984"/>
            <a:ext cx="11003879" cy="609600"/>
            <a:chOff x="469391" y="4714940"/>
            <a:chExt cx="11003879" cy="609600"/>
          </a:xfrm>
        </p:grpSpPr>
        <p:sp>
          <p:nvSpPr>
            <p:cNvPr id="91" name="Rectangle 44">
              <a:extLst>
                <a:ext uri="{FF2B5EF4-FFF2-40B4-BE49-F238E27FC236}">
                  <a16:creationId xmlns:a16="http://schemas.microsoft.com/office/drawing/2014/main" id="{44E3FDC0-BF28-00D5-DC24-01F0FFEC61F4}"/>
                </a:ext>
              </a:extLst>
            </p:cNvPr>
            <p:cNvSpPr/>
            <p:nvPr/>
          </p:nvSpPr>
          <p:spPr>
            <a:xfrm>
              <a:off x="469391" y="4714940"/>
              <a:ext cx="11003879" cy="609600"/>
            </a:xfrm>
            <a:prstGeom prst="roundRect">
              <a:avLst>
                <a:gd name="adj" fmla="val 28125"/>
              </a:avLst>
            </a:prstGeom>
            <a:solidFill>
              <a:srgbClr val="EAF3E4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endParaRPr>
            </a:p>
          </p:txBody>
        </p:sp>
        <p:sp>
          <p:nvSpPr>
            <p:cNvPr id="93" name="Freeform 45">
              <a:extLst>
                <a:ext uri="{FF2B5EF4-FFF2-40B4-BE49-F238E27FC236}">
                  <a16:creationId xmlns:a16="http://schemas.microsoft.com/office/drawing/2014/main" id="{4201FF42-704F-A1E6-1600-A3E5BAD1E10F}"/>
                </a:ext>
              </a:extLst>
            </p:cNvPr>
            <p:cNvSpPr/>
            <p:nvPr/>
          </p:nvSpPr>
          <p:spPr>
            <a:xfrm>
              <a:off x="756730" y="4911930"/>
              <a:ext cx="217004" cy="217359"/>
            </a:xfrm>
            <a:custGeom>
              <a:avLst/>
              <a:gdLst/>
              <a:ahLst/>
              <a:cxnLst/>
              <a:rect l="l" t="t" r="r" b="b"/>
              <a:pathLst>
                <a:path w="217004" h="217359">
                  <a:moveTo>
                    <a:pt x="154781" y="18449"/>
                  </a:moveTo>
                  <a:cubicBezTo>
                    <a:pt x="197784" y="43278"/>
                    <a:pt x="217004" y="95214"/>
                    <a:pt x="200524" y="142056"/>
                  </a:cubicBezTo>
                  <a:cubicBezTo>
                    <a:pt x="184045" y="188897"/>
                    <a:pt x="136540" y="217359"/>
                    <a:pt x="87464" y="209794"/>
                  </a:cubicBezTo>
                  <a:cubicBezTo>
                    <a:pt x="38388" y="202229"/>
                    <a:pt x="1660" y="160783"/>
                    <a:pt x="52" y="111153"/>
                  </a:cubicBezTo>
                  <a:lnTo>
                    <a:pt x="0" y="107810"/>
                  </a:lnTo>
                  <a:lnTo>
                    <a:pt x="52" y="104466"/>
                  </a:lnTo>
                  <a:cubicBezTo>
                    <a:pt x="1227" y="68216"/>
                    <a:pt x="21348" y="35245"/>
                    <a:pt x="53048" y="17623"/>
                  </a:cubicBezTo>
                  <a:cubicBezTo>
                    <a:pt x="84748" y="0"/>
                    <a:pt x="123372" y="314"/>
                    <a:pt x="154781" y="18449"/>
                  </a:cubicBezTo>
                  <a:close/>
                  <a:moveTo>
                    <a:pt x="141439" y="79877"/>
                  </a:moveTo>
                  <a:cubicBezTo>
                    <a:pt x="137763" y="76201"/>
                    <a:pt x="131926" y="75834"/>
                    <a:pt x="127818" y="79020"/>
                  </a:cubicBezTo>
                  <a:lnTo>
                    <a:pt x="126848" y="79877"/>
                  </a:lnTo>
                  <a:lnTo>
                    <a:pt x="92869" y="113846"/>
                  </a:lnTo>
                  <a:lnTo>
                    <a:pt x="79527" y="100514"/>
                  </a:lnTo>
                  <a:lnTo>
                    <a:pt x="78557" y="99658"/>
                  </a:lnTo>
                  <a:cubicBezTo>
                    <a:pt x="74449" y="96474"/>
                    <a:pt x="68614" y="96842"/>
                    <a:pt x="64939" y="100517"/>
                  </a:cubicBezTo>
                  <a:cubicBezTo>
                    <a:pt x="61263" y="104192"/>
                    <a:pt x="60895" y="110027"/>
                    <a:pt x="64079" y="114135"/>
                  </a:cubicBezTo>
                  <a:lnTo>
                    <a:pt x="64936" y="115105"/>
                  </a:lnTo>
                  <a:lnTo>
                    <a:pt x="85573" y="135743"/>
                  </a:lnTo>
                  <a:lnTo>
                    <a:pt x="86543" y="136599"/>
                  </a:lnTo>
                  <a:cubicBezTo>
                    <a:pt x="90266" y="139487"/>
                    <a:pt x="95472" y="139487"/>
                    <a:pt x="99194" y="136599"/>
                  </a:cubicBezTo>
                  <a:lnTo>
                    <a:pt x="100164" y="135743"/>
                  </a:lnTo>
                  <a:lnTo>
                    <a:pt x="141439" y="94468"/>
                  </a:lnTo>
                  <a:lnTo>
                    <a:pt x="142296" y="93498"/>
                  </a:lnTo>
                  <a:cubicBezTo>
                    <a:pt x="145482" y="89390"/>
                    <a:pt x="145115" y="83553"/>
                    <a:pt x="141439" y="79877"/>
                  </a:cubicBezTo>
                  <a:close/>
                </a:path>
              </a:pathLst>
            </a:custGeom>
            <a:solidFill>
              <a:srgbClr val="5E9A6A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endParaRPr>
            </a:p>
          </p:txBody>
        </p:sp>
        <p:sp>
          <p:nvSpPr>
            <p:cNvPr id="95" name="TextBox 46">
              <a:extLst>
                <a:ext uri="{FF2B5EF4-FFF2-40B4-BE49-F238E27FC236}">
                  <a16:creationId xmlns:a16="http://schemas.microsoft.com/office/drawing/2014/main" id="{140DDE60-EFA7-7E61-319C-5F91C8039105}"/>
                </a:ext>
              </a:extLst>
            </p:cNvPr>
            <p:cNvSpPr txBox="1"/>
            <p:nvPr/>
          </p:nvSpPr>
          <p:spPr>
            <a:xfrm>
              <a:off x="1100900" y="4788733"/>
              <a:ext cx="4161396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2A2018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전문가 멘토링 </a:t>
              </a:r>
              <a:r>
                <a:rPr lang="ko-KR" altLang="en-US" sz="1600" b="1" dirty="0">
                  <a:solidFill>
                    <a:srgbClr val="2A2018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및 베타테스트 제품에</a:t>
              </a:r>
              <a:r>
                <a:rPr lang="zh-CN" sz="1600" b="1" dirty="0">
                  <a:solidFill>
                    <a:srgbClr val="2A2018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 반영했습니다</a:t>
              </a:r>
            </a:p>
          </p:txBody>
        </p:sp>
        <p:sp>
          <p:nvSpPr>
            <p:cNvPr id="97" name="TextBox 47">
              <a:extLst>
                <a:ext uri="{FF2B5EF4-FFF2-40B4-BE49-F238E27FC236}">
                  <a16:creationId xmlns:a16="http://schemas.microsoft.com/office/drawing/2014/main" id="{9FBE6DEE-79F8-C146-8689-520485D44756}"/>
                </a:ext>
              </a:extLst>
            </p:cNvPr>
            <p:cNvSpPr txBox="1"/>
            <p:nvPr/>
          </p:nvSpPr>
          <p:spPr>
            <a:xfrm>
              <a:off x="1104233" y="5062841"/>
              <a:ext cx="3770263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C5D4C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MVP 시연 → 멘토 피드백 </a:t>
              </a:r>
              <a:r>
                <a:rPr lang="ko-KR" altLang="en-US" sz="1200" dirty="0">
                  <a:solidFill>
                    <a:srgbClr val="6C5D4C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및 베타테스트 </a:t>
              </a:r>
              <a:r>
                <a:rPr lang="zh-CN" sz="1200" dirty="0">
                  <a:solidFill>
                    <a:srgbClr val="6C5D4C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→ 디자인 개선 완료</a:t>
              </a:r>
            </a:p>
          </p:txBody>
        </p:sp>
        <p:sp>
          <p:nvSpPr>
            <p:cNvPr id="99" name="Rectangle 48">
              <a:extLst>
                <a:ext uri="{FF2B5EF4-FFF2-40B4-BE49-F238E27FC236}">
                  <a16:creationId xmlns:a16="http://schemas.microsoft.com/office/drawing/2014/main" id="{5780EB86-FAA3-1EFE-303F-E10D0C35A5CF}"/>
                </a:ext>
              </a:extLst>
            </p:cNvPr>
            <p:cNvSpPr/>
            <p:nvPr/>
          </p:nvSpPr>
          <p:spPr>
            <a:xfrm>
              <a:off x="5738865" y="4870249"/>
              <a:ext cx="1676401" cy="313973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D8C7A6"/>
              </a:solidFill>
            </a:ln>
          </p:spPr>
          <p:txBody>
            <a:bodyPr/>
            <a:lstStyle/>
            <a:p>
              <a:endParaRPr lang="ko-KR" altLang="en-US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endParaRPr>
            </a:p>
          </p:txBody>
        </p:sp>
        <p:sp>
          <p:nvSpPr>
            <p:cNvPr id="101" name="TextBox 49">
              <a:extLst>
                <a:ext uri="{FF2B5EF4-FFF2-40B4-BE49-F238E27FC236}">
                  <a16:creationId xmlns:a16="http://schemas.microsoft.com/office/drawing/2014/main" id="{AEE9AE0C-7766-2B9C-B470-FCF8F0887C60}"/>
                </a:ext>
              </a:extLst>
            </p:cNvPr>
            <p:cNvSpPr txBox="1"/>
            <p:nvPr/>
          </p:nvSpPr>
          <p:spPr>
            <a:xfrm>
              <a:off x="5907010" y="4943694"/>
              <a:ext cx="134011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A2018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고대비 화면 · 큰 글자</a:t>
              </a:r>
            </a:p>
          </p:txBody>
        </p:sp>
        <p:sp>
          <p:nvSpPr>
            <p:cNvPr id="103" name="Rectangle 50">
              <a:extLst>
                <a:ext uri="{FF2B5EF4-FFF2-40B4-BE49-F238E27FC236}">
                  <a16:creationId xmlns:a16="http://schemas.microsoft.com/office/drawing/2014/main" id="{F1D72537-EDCB-7F18-927C-5984415F217F}"/>
                </a:ext>
              </a:extLst>
            </p:cNvPr>
            <p:cNvSpPr/>
            <p:nvPr/>
          </p:nvSpPr>
          <p:spPr>
            <a:xfrm>
              <a:off x="7615216" y="4870249"/>
              <a:ext cx="1619250" cy="313973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D8C7A6"/>
              </a:solidFill>
            </a:ln>
          </p:spPr>
          <p:txBody>
            <a:bodyPr/>
            <a:lstStyle/>
            <a:p>
              <a:endParaRPr lang="ko-KR" altLang="en-US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endParaRPr>
            </a:p>
          </p:txBody>
        </p:sp>
        <p:sp>
          <p:nvSpPr>
            <p:cNvPr id="105" name="TextBox 51">
              <a:extLst>
                <a:ext uri="{FF2B5EF4-FFF2-40B4-BE49-F238E27FC236}">
                  <a16:creationId xmlns:a16="http://schemas.microsoft.com/office/drawing/2014/main" id="{FCF0F49C-E450-A2F1-4A29-41056F39840F}"/>
                </a:ext>
              </a:extLst>
            </p:cNvPr>
            <p:cNvSpPr txBox="1"/>
            <p:nvPr/>
          </p:nvSpPr>
          <p:spPr>
            <a:xfrm>
              <a:off x="7754786" y="4943694"/>
              <a:ext cx="1340110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A2018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실물 보상 · 참여 경쟁</a:t>
              </a:r>
            </a:p>
          </p:txBody>
        </p:sp>
        <p:sp>
          <p:nvSpPr>
            <p:cNvPr id="107" name="Rectangle 52">
              <a:extLst>
                <a:ext uri="{FF2B5EF4-FFF2-40B4-BE49-F238E27FC236}">
                  <a16:creationId xmlns:a16="http://schemas.microsoft.com/office/drawing/2014/main" id="{05325A05-E030-1296-3F1F-4C1AE282BB8C}"/>
                </a:ext>
              </a:extLst>
            </p:cNvPr>
            <p:cNvSpPr/>
            <p:nvPr/>
          </p:nvSpPr>
          <p:spPr>
            <a:xfrm>
              <a:off x="9434416" y="4870249"/>
              <a:ext cx="1779176" cy="313973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D8C7A6"/>
              </a:solidFill>
            </a:ln>
          </p:spPr>
          <p:txBody>
            <a:bodyPr/>
            <a:lstStyle/>
            <a:p>
              <a:endParaRPr lang="ko-KR" altLang="en-US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endParaRPr>
            </a:p>
          </p:txBody>
        </p:sp>
        <p:sp>
          <p:nvSpPr>
            <p:cNvPr id="109" name="TextBox 53">
              <a:extLst>
                <a:ext uri="{FF2B5EF4-FFF2-40B4-BE49-F238E27FC236}">
                  <a16:creationId xmlns:a16="http://schemas.microsoft.com/office/drawing/2014/main" id="{68C8459A-6EA8-796A-C05F-395772C19637}"/>
                </a:ext>
              </a:extLst>
            </p:cNvPr>
            <p:cNvSpPr txBox="1"/>
            <p:nvPr/>
          </p:nvSpPr>
          <p:spPr>
            <a:xfrm>
              <a:off x="9584218" y="4943694"/>
              <a:ext cx="1479572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A2018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일상형 문항 · 음성 발화</a:t>
              </a:r>
            </a:p>
          </p:txBody>
        </p:sp>
      </p:grpSp>
      <p:pic>
        <p:nvPicPr>
          <p:cNvPr id="121" name="그림 120">
            <a:extLst>
              <a:ext uri="{FF2B5EF4-FFF2-40B4-BE49-F238E27FC236}">
                <a16:creationId xmlns:a16="http://schemas.microsoft.com/office/drawing/2014/main" id="{FA62A5D7-2F38-CBAC-9286-03FCC141A5A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6432"/>
          <a:stretch>
            <a:fillRect/>
          </a:stretch>
        </p:blipFill>
        <p:spPr>
          <a:xfrm>
            <a:off x="599468" y="3260661"/>
            <a:ext cx="3889569" cy="2082516"/>
          </a:xfrm>
          <a:prstGeom prst="rect">
            <a:avLst/>
          </a:prstGeom>
        </p:spPr>
      </p:pic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7F477EE5-F866-24E2-5833-69E2FDB6D537}"/>
              </a:ext>
            </a:extLst>
          </p:cNvPr>
          <p:cNvCxnSpPr>
            <a:cxnSpLocks/>
          </p:cNvCxnSpPr>
          <p:nvPr/>
        </p:nvCxnSpPr>
        <p:spPr>
          <a:xfrm>
            <a:off x="4798409" y="3133725"/>
            <a:ext cx="45434" cy="2209452"/>
          </a:xfrm>
          <a:prstGeom prst="line">
            <a:avLst/>
          </a:prstGeom>
          <a:ln w="28575" cap="flat" cmpd="sng" algn="ctr">
            <a:solidFill>
              <a:schemeClr val="accent6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F57265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3. SOLUTION · 조작 규칙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6756658" cy="4847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15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2×2 버튼을 통해 구현한 </a:t>
            </a:r>
            <a:r>
              <a:rPr lang="ko-KR" altLang="en-US" sz="3150" b="0" dirty="0">
                <a:solidFill>
                  <a:srgbClr val="F57265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노인친화적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11003249" cy="3110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>
                <a:solidFill>
                  <a:srgbClr val="6C5D4C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선택 · 재입력 확정 · 음성 안내의 단일 규칙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60443" y="4977945"/>
            <a:ext cx="897682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b="1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실물 </a:t>
            </a:r>
            <a:r>
              <a:rPr lang="ko-KR" altLang="en-US" b="1" dirty="0" err="1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목업</a:t>
            </a:r>
            <a:endParaRPr lang="ko-KR" altLang="en-US" b="1" dirty="0">
              <a:solidFill>
                <a:srgbClr val="2A2018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  <a:cs typeface="나눔스퀘어라운드 ExtraBold" panose="020B0600000101010101" pitchFamily="50" charset="-127"/>
            </a:endParaRPr>
          </a:p>
        </p:txBody>
      </p:sp>
      <p:pic>
        <p:nvPicPr>
          <p:cNvPr id="7" name="Picture 6" descr="mk_side_blur2.png"/>
          <p:cNvPicPr>
            <a:picLocks noChangeAspect="1"/>
          </p:cNvPicPr>
          <p:nvPr/>
        </p:nvPicPr>
        <p:blipFill>
          <a:blip r:embed="rId5"/>
          <a:srcRect l="14802" t="10389" r="4408" b="11544"/>
          <a:stretch>
            <a:fillRect/>
          </a:stretch>
        </p:blipFill>
        <p:spPr>
          <a:xfrm>
            <a:off x="616428" y="1735966"/>
            <a:ext cx="2387504" cy="3126800"/>
          </a:xfrm>
          <a:prstGeom prst="roundRect">
            <a:avLst>
              <a:gd name="adj" fmla="val 10313"/>
            </a:avLst>
          </a:prstGeom>
          <a:ln>
            <a:solidFill>
              <a:srgbClr val="F57265"/>
            </a:solidFill>
          </a:ln>
          <a:effectLst/>
        </p:spPr>
      </p:pic>
      <p:sp>
        <p:nvSpPr>
          <p:cNvPr id="8" name="TextBox 7"/>
          <p:cNvSpPr txBox="1"/>
          <p:nvPr/>
        </p:nvSpPr>
        <p:spPr>
          <a:xfrm>
            <a:off x="9618816" y="4977945"/>
            <a:ext cx="1375378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b="1" dirty="0">
                <a:solidFill>
                  <a:srgbClr val="C8410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실제 구동 영상</a:t>
            </a:r>
          </a:p>
        </p:txBody>
      </p:sp>
      <p:pic>
        <p:nvPicPr>
          <p:cNvPr id="10" name="haru_2x2_9s5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304187" y="1150674"/>
            <a:ext cx="2106763" cy="3738597"/>
          </a:xfrm>
          <a:prstGeom prst="roundRect">
            <a:avLst/>
          </a:prstGeom>
          <a:ln w="12700">
            <a:solidFill>
              <a:srgbClr val="F57265"/>
            </a:solidFill>
          </a:ln>
        </p:spPr>
      </p:pic>
      <p:grpSp>
        <p:nvGrpSpPr>
          <p:cNvPr id="59" name="그룹 58">
            <a:extLst>
              <a:ext uri="{FF2B5EF4-FFF2-40B4-BE49-F238E27FC236}">
                <a16:creationId xmlns:a16="http://schemas.microsoft.com/office/drawing/2014/main" id="{E5CF1F81-9A0A-B2E4-DE44-3AF3A69101B3}"/>
              </a:ext>
            </a:extLst>
          </p:cNvPr>
          <p:cNvGrpSpPr/>
          <p:nvPr/>
        </p:nvGrpSpPr>
        <p:grpSpPr>
          <a:xfrm>
            <a:off x="5165413" y="1996055"/>
            <a:ext cx="3651439" cy="1863223"/>
            <a:chOff x="4019396" y="2109844"/>
            <a:chExt cx="3566160" cy="1664208"/>
          </a:xfrm>
        </p:grpSpPr>
        <p:sp>
          <p:nvSpPr>
            <p:cNvPr id="12" name="Rounded Rectangle 11"/>
            <p:cNvSpPr/>
            <p:nvPr/>
          </p:nvSpPr>
          <p:spPr>
            <a:xfrm>
              <a:off x="4019396" y="2109844"/>
              <a:ext cx="1737360" cy="786384"/>
            </a:xfrm>
            <a:prstGeom prst="roundRect">
              <a:avLst>
                <a:gd name="adj" fmla="val 14000"/>
              </a:avLst>
            </a:prstGeom>
            <a:solidFill>
              <a:srgbClr val="FBE0D3"/>
            </a:solidFill>
            <a:ln w="9525">
              <a:solidFill>
                <a:srgbClr val="C8410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147412" y="2192140"/>
              <a:ext cx="137769" cy="21992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0" dirty="0" err="1">
                  <a:solidFill>
                    <a:srgbClr val="C8410E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나눔스퀘어라운드 ExtraBold" panose="020B0600000101010101" pitchFamily="50" charset="-127"/>
                </a:rPr>
                <a:t>A</a:t>
              </a:r>
              <a:endParaRPr lang="ko-KR" altLang="en-US" sz="1600" b="0" dirty="0">
                <a:solidFill>
                  <a:srgbClr val="C8410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408764" y="2389795"/>
              <a:ext cx="976914" cy="27490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000" dirty="0">
                  <a:solidFill>
                    <a:srgbClr val="2A2018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매우 좋음</a:t>
              </a: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5848196" y="2109844"/>
              <a:ext cx="1737360" cy="786384"/>
            </a:xfrm>
            <a:prstGeom prst="roundRect">
              <a:avLst>
                <a:gd name="adj" fmla="val 14000"/>
              </a:avLst>
            </a:prstGeom>
            <a:solidFill>
              <a:srgbClr val="FBE6B4"/>
            </a:solidFill>
            <a:ln w="9525">
              <a:solidFill>
                <a:srgbClr val="F4A81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976212" y="2192140"/>
              <a:ext cx="133074" cy="21992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0">
                  <a:solidFill>
                    <a:srgbClr val="F4A81D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나눔스퀘어라운드 ExtraBold" panose="020B0600000101010101" pitchFamily="50" charset="-127"/>
                </a:rPr>
                <a:t>B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6497447" y="2389795"/>
              <a:ext cx="457145" cy="27490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000">
                  <a:solidFill>
                    <a:srgbClr val="2A2018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좋음</a:t>
              </a:r>
            </a:p>
          </p:txBody>
        </p:sp>
        <p:sp>
          <p:nvSpPr>
            <p:cNvPr id="18" name="Rounded Rectangle 17"/>
            <p:cNvSpPr/>
            <p:nvPr/>
          </p:nvSpPr>
          <p:spPr>
            <a:xfrm>
              <a:off x="4019396" y="2987668"/>
              <a:ext cx="1737360" cy="786384"/>
            </a:xfrm>
            <a:prstGeom prst="roundRect">
              <a:avLst>
                <a:gd name="adj" fmla="val 14000"/>
              </a:avLst>
            </a:prstGeom>
            <a:solidFill>
              <a:srgbClr val="EAF3E4"/>
            </a:solidFill>
            <a:ln w="9525">
              <a:solidFill>
                <a:srgbClr val="5E9A6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147412" y="3069964"/>
              <a:ext cx="131507" cy="21992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0">
                  <a:solidFill>
                    <a:srgbClr val="5E9A6A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나눔스퀘어라운드 ExtraBold" panose="020B0600000101010101" pitchFamily="50" charset="-127"/>
                </a:rPr>
                <a:t>C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408764" y="3267619"/>
              <a:ext cx="976914" cy="27490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000" dirty="0">
                  <a:solidFill>
                    <a:srgbClr val="2A2018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그저 그럼</a:t>
              </a:r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5848196" y="2987668"/>
              <a:ext cx="1737360" cy="786384"/>
            </a:xfrm>
            <a:prstGeom prst="roundRect">
              <a:avLst>
                <a:gd name="adj" fmla="val 14000"/>
              </a:avLst>
            </a:prstGeom>
            <a:solidFill>
              <a:srgbClr val="DFEAF6"/>
            </a:solidFill>
            <a:ln w="9525">
              <a:solidFill>
                <a:srgbClr val="4A779B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976212" y="3069964"/>
              <a:ext cx="140901" cy="219922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600" b="0">
                  <a:solidFill>
                    <a:srgbClr val="4A779B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나눔스퀘어라운드 ExtraBold" panose="020B0600000101010101" pitchFamily="50" charset="-127"/>
                </a:rPr>
                <a:t>D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237564" y="3267619"/>
              <a:ext cx="976914" cy="274903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000">
                  <a:solidFill>
                    <a:srgbClr val="2A2018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좋지 않음</a:t>
              </a:r>
            </a:p>
          </p:txBody>
        </p:sp>
      </p:grpSp>
      <p:sp>
        <p:nvSpPr>
          <p:cNvPr id="37" name="Rounded Rectangle 36"/>
          <p:cNvSpPr/>
          <p:nvPr/>
        </p:nvSpPr>
        <p:spPr>
          <a:xfrm>
            <a:off x="3246120" y="4133087"/>
            <a:ext cx="5577840" cy="402336"/>
          </a:xfrm>
          <a:prstGeom prst="roundRect">
            <a:avLst>
              <a:gd name="adj" fmla="val 34042"/>
            </a:avLst>
          </a:prstGeom>
          <a:solidFill>
            <a:srgbClr val="FBE6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928694" y="4215384"/>
            <a:ext cx="4212692" cy="246221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600" b="0" dirty="0">
                <a:solidFill>
                  <a:srgbClr val="C8410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버튼의 색과 위치가 화면 문항과 그대로 대응합니다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350895" y="4673827"/>
            <a:ext cx="110608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>
                <a:solidFill>
                  <a:srgbClr val="F57265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88638" y="4673827"/>
            <a:ext cx="1561325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2A2018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음성 안내를 듣습니다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80760" y="4673827"/>
            <a:ext cx="110608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>
                <a:solidFill>
                  <a:srgbClr val="F57265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18504" y="4673827"/>
            <a:ext cx="2260234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>
                <a:solidFill>
                  <a:srgbClr val="2A2018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보이는 자리의 버튼을 누릅니다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50895" y="4948146"/>
            <a:ext cx="110608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>
                <a:solidFill>
                  <a:srgbClr val="F57265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588638" y="4948146"/>
            <a:ext cx="2051844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>
                <a:solidFill>
                  <a:srgbClr val="2A2018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화면에서 선택을 확인합니다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080760" y="4948146"/>
            <a:ext cx="110608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>
                <a:solidFill>
                  <a:srgbClr val="F57265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18504" y="4948146"/>
            <a:ext cx="2231380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>
                <a:solidFill>
                  <a:srgbClr val="2A2018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같은 버튼을 한 번 더 눌러 확정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4360" y="5450078"/>
            <a:ext cx="11003249" cy="680974"/>
          </a:xfrm>
          <a:prstGeom prst="roundRect">
            <a:avLst>
              <a:gd name="adj" fmla="val 22481"/>
            </a:avLst>
          </a:prstGeom>
          <a:solidFill>
            <a:srgbClr val="F57265">
              <a:alpha val="9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768096" y="5580253"/>
            <a:ext cx="420624" cy="420624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883029" y="5664441"/>
            <a:ext cx="190757" cy="25224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639" b="0" dirty="0">
                <a:solidFill>
                  <a:srgbClr val="F57265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★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62456" y="5648219"/>
            <a:ext cx="4267194" cy="284693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b="0" dirty="0">
                <a:solidFill>
                  <a:srgbClr val="FFFFFF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2×2 위치 일치 · 같은 버튼 재입력 확정 구조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60820" y="5631624"/>
            <a:ext cx="1320546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360" b="1" dirty="0">
                <a:solidFill>
                  <a:schemeClr val="tx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특허 출원 진행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46720" y="5631624"/>
            <a:ext cx="1491847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360" b="1" dirty="0">
                <a:solidFill>
                  <a:schemeClr val="tx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KCI 논문 작성 중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Haru by 보편교육연구소 · 조작 규칙</a:t>
            </a:r>
          </a:p>
        </p:txBody>
      </p:sp>
      <p:pic>
        <p:nvPicPr>
          <p:cNvPr id="56" name="Picture 55" descr="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sp>
        <p:nvSpPr>
          <p:cNvPr id="58" name="Rounded Rectangle 51">
            <a:extLst>
              <a:ext uri="{FF2B5EF4-FFF2-40B4-BE49-F238E27FC236}">
                <a16:creationId xmlns:a16="http://schemas.microsoft.com/office/drawing/2014/main" id="{959AC31A-60D1-87E3-956F-ECD58B9BB9D9}"/>
              </a:ext>
            </a:extLst>
          </p:cNvPr>
          <p:cNvSpPr/>
          <p:nvPr/>
        </p:nvSpPr>
        <p:spPr>
          <a:xfrm>
            <a:off x="9687295" y="5631624"/>
            <a:ext cx="1723655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360" b="1" dirty="0">
                <a:solidFill>
                  <a:srgbClr val="FF0000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한일</a:t>
            </a:r>
            <a:r>
              <a:rPr lang="ko-KR" altLang="en-US" sz="1360" b="1" dirty="0">
                <a:solidFill>
                  <a:schemeClr val="tx1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 양국 실증 계획</a:t>
            </a:r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C78B20F9-88CC-23A6-D5C8-8C873E641640}"/>
              </a:ext>
            </a:extLst>
          </p:cNvPr>
          <p:cNvCxnSpPr>
            <a:cxnSpLocks/>
            <a:endCxn id="67" idx="1"/>
          </p:cNvCxnSpPr>
          <p:nvPr/>
        </p:nvCxnSpPr>
        <p:spPr>
          <a:xfrm flipV="1">
            <a:off x="2371725" y="3401292"/>
            <a:ext cx="1027113" cy="307681"/>
          </a:xfrm>
          <a:prstGeom prst="straightConnector1">
            <a:avLst/>
          </a:prstGeom>
          <a:ln>
            <a:solidFill>
              <a:srgbClr val="F5726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802B5A59-CD72-E625-C5FE-E86287EA94DF}"/>
              </a:ext>
            </a:extLst>
          </p:cNvPr>
          <p:cNvCxnSpPr>
            <a:cxnSpLocks/>
          </p:cNvCxnSpPr>
          <p:nvPr/>
        </p:nvCxnSpPr>
        <p:spPr>
          <a:xfrm flipV="1">
            <a:off x="2062958" y="2398242"/>
            <a:ext cx="1326902" cy="716562"/>
          </a:xfrm>
          <a:prstGeom prst="straightConnector1">
            <a:avLst/>
          </a:prstGeom>
          <a:ln>
            <a:solidFill>
              <a:srgbClr val="F5726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C73743F8-5940-FC46-70D8-DD9D4ED685F5}"/>
              </a:ext>
            </a:extLst>
          </p:cNvPr>
          <p:cNvGrpSpPr/>
          <p:nvPr/>
        </p:nvGrpSpPr>
        <p:grpSpPr>
          <a:xfrm>
            <a:off x="3398838" y="2284763"/>
            <a:ext cx="1508813" cy="1285806"/>
            <a:chOff x="3426713" y="2312471"/>
            <a:chExt cx="1508813" cy="1285806"/>
          </a:xfrm>
        </p:grpSpPr>
        <p:sp>
          <p:nvSpPr>
            <p:cNvPr id="11" name="TextBox 10"/>
            <p:cNvSpPr txBox="1"/>
            <p:nvPr/>
          </p:nvSpPr>
          <p:spPr>
            <a:xfrm>
              <a:off x="3571978" y="2312471"/>
              <a:ext cx="1218282" cy="246221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ko-KR" altLang="en-US" sz="1600" b="0" dirty="0">
                  <a:solidFill>
                    <a:srgbClr val="2A2018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나눔스퀘어라운드 ExtraBold" panose="020B0600000101010101" pitchFamily="50" charset="-127"/>
                </a:rPr>
                <a:t>화면</a:t>
              </a:r>
              <a:r>
                <a:rPr lang="ko-KR" altLang="en-US" sz="1600" dirty="0">
                  <a:solidFill>
                    <a:srgbClr val="2A2018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나눔스퀘어라운드 ExtraBold" panose="020B0600000101010101" pitchFamily="50" charset="-127"/>
                </a:rPr>
                <a:t> 문항 </a:t>
              </a:r>
              <a:r>
                <a:rPr lang="ko-KR" altLang="en-US" sz="1600" b="0" dirty="0">
                  <a:solidFill>
                    <a:srgbClr val="2A2018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나눔스퀘어라운드 ExtraBold" panose="020B0600000101010101" pitchFamily="50" charset="-127"/>
                </a:rPr>
                <a:t>위치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A74F2945-E7B9-58D7-D332-CD559B98BF46}"/>
                </a:ext>
              </a:extLst>
            </p:cNvPr>
            <p:cNvSpPr txBox="1"/>
            <p:nvPr/>
          </p:nvSpPr>
          <p:spPr>
            <a:xfrm>
              <a:off x="3426713" y="3259723"/>
              <a:ext cx="1508813" cy="33855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ko-KR" altLang="en-US" sz="1600" dirty="0">
                  <a:solidFill>
                    <a:srgbClr val="2A2018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나눔스퀘어라운드 ExtraBold" panose="020B0600000101010101" pitchFamily="50" charset="-127"/>
                </a:rPr>
                <a:t> </a:t>
              </a:r>
              <a:r>
                <a:rPr lang="ko-KR" altLang="en-US" sz="1600" b="0" dirty="0">
                  <a:solidFill>
                    <a:srgbClr val="2A2018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나눔스퀘어라운드 ExtraBold" panose="020B0600000101010101" pitchFamily="50" charset="-127"/>
                </a:rPr>
                <a:t>버튼 위치</a:t>
              </a:r>
              <a:endParaRPr lang="ko-KR" altLang="en-US" sz="1600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1A6E7CFD-5867-32CE-6888-4821ADDFC55E}"/>
                </a:ext>
              </a:extLst>
            </p:cNvPr>
            <p:cNvSpPr txBox="1"/>
            <p:nvPr/>
          </p:nvSpPr>
          <p:spPr>
            <a:xfrm>
              <a:off x="3843406" y="2739931"/>
              <a:ext cx="675427" cy="33855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/>
              <a:r>
                <a:rPr lang="ko-KR" altLang="en-US" sz="1600" b="0" dirty="0">
                  <a:solidFill>
                    <a:srgbClr val="2A2018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나눔스퀘어라운드 ExtraBold" panose="020B0600000101010101" pitchFamily="50" charset="-127"/>
                </a:rPr>
                <a:t>=</a:t>
              </a:r>
              <a:endParaRPr lang="ko-KR" altLang="en-US" sz="1600" dirty="0"/>
            </a:p>
          </p:txBody>
        </p:sp>
      </p:grpSp>
      <p:cxnSp>
        <p:nvCxnSpPr>
          <p:cNvPr id="80" name="직선 연결선 79">
            <a:extLst>
              <a:ext uri="{FF2B5EF4-FFF2-40B4-BE49-F238E27FC236}">
                <a16:creationId xmlns:a16="http://schemas.microsoft.com/office/drawing/2014/main" id="{88B51178-B399-96D4-28B1-4FA78951E1AC}"/>
              </a:ext>
            </a:extLst>
          </p:cNvPr>
          <p:cNvCxnSpPr>
            <a:cxnSpLocks/>
          </p:cNvCxnSpPr>
          <p:nvPr/>
        </p:nvCxnSpPr>
        <p:spPr>
          <a:xfrm>
            <a:off x="4916628" y="2005965"/>
            <a:ext cx="37907" cy="1843403"/>
          </a:xfrm>
          <a:prstGeom prst="line">
            <a:avLst/>
          </a:prstGeom>
          <a:ln w="28575" cap="flat" cmpd="sng" algn="ctr">
            <a:solidFill>
              <a:schemeClr val="accent6">
                <a:lumMod val="60000"/>
                <a:lumOff val="4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7E6BA8E-449F-12CD-7D1C-16038EC60F03}"/>
              </a:ext>
            </a:extLst>
          </p:cNvPr>
          <p:cNvSpPr txBox="1"/>
          <p:nvPr/>
        </p:nvSpPr>
        <p:spPr>
          <a:xfrm>
            <a:off x="11408454" y="6364224"/>
            <a:ext cx="18915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altLang="ko-KR" sz="1200" b="0" dirty="0">
                <a:solidFill>
                  <a:srgbClr val="9C8B77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07</a:t>
            </a:r>
            <a:endParaRPr lang="ko-KR" altLang="en-US" sz="1200" b="0" dirty="0">
              <a:solidFill>
                <a:srgbClr val="9C8B77"/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나눔스퀘어라운드 Bold" panose="020B0600000101010101" pitchFamily="50" charset="-12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509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0"/>
                  </p:stCondLst>
                </p:cTn>
                <p:tgtEl>
                  <p:spTgt spid="10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F57265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3. SOLUTION · 문항 체계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49" cy="600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150" b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모든 문항은 </a:t>
            </a:r>
            <a:r>
              <a:rPr lang="ko-KR" altLang="en-US" sz="3150" b="0">
                <a:solidFill>
                  <a:srgbClr val="F57265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검증된 인지 영역</a:t>
            </a:r>
            <a:r>
              <a:rPr lang="ko-KR" altLang="en-US" sz="3150" b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 위에 설계됩니다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11003249" cy="3110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>
                <a:solidFill>
                  <a:srgbClr val="6C5D4C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인지에는 MMSE · CIST의 검증된 영역 체계가 있습니다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Haru by 보편교육연구소 · 문항 체계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08</a:t>
            </a:r>
          </a:p>
        </p:txBody>
      </p:sp>
      <p:pic>
        <p:nvPicPr>
          <p:cNvPr id="63" name="Picture 62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grpSp>
        <p:nvGrpSpPr>
          <p:cNvPr id="64" name="Group 21">
            <a:extLst>
              <a:ext uri="{FF2B5EF4-FFF2-40B4-BE49-F238E27FC236}">
                <a16:creationId xmlns:a16="http://schemas.microsoft.com/office/drawing/2014/main" id="{60782165-601F-A341-F4D2-183668D31558}"/>
              </a:ext>
            </a:extLst>
          </p:cNvPr>
          <p:cNvGrpSpPr/>
          <p:nvPr/>
        </p:nvGrpSpPr>
        <p:grpSpPr>
          <a:xfrm>
            <a:off x="609600" y="1657350"/>
            <a:ext cx="3505200" cy="1828800"/>
            <a:chOff x="609600" y="1543050"/>
            <a:chExt cx="3505200" cy="1828800"/>
          </a:xfrm>
        </p:grpSpPr>
        <p:sp>
          <p:nvSpPr>
            <p:cNvPr id="65" name="Rectangle 9">
              <a:extLst>
                <a:ext uri="{FF2B5EF4-FFF2-40B4-BE49-F238E27FC236}">
                  <a16:creationId xmlns:a16="http://schemas.microsoft.com/office/drawing/2014/main" id="{2E04AFD0-D137-B2D4-0D02-E8ADB5F8F8E3}"/>
                </a:ext>
              </a:extLst>
            </p:cNvPr>
            <p:cNvSpPr/>
            <p:nvPr/>
          </p:nvSpPr>
          <p:spPr>
            <a:xfrm>
              <a:off x="609600" y="1543050"/>
              <a:ext cx="3505200" cy="1828800"/>
            </a:xfrm>
            <a:prstGeom prst="roundRect">
              <a:avLst>
                <a:gd name="adj" fmla="val 10417"/>
              </a:avLst>
            </a:prstGeom>
            <a:solidFill>
              <a:srgbClr val="FFFFFF"/>
            </a:solidFill>
            <a:ln w="9525">
              <a:solidFill>
                <a:srgbClr val="E7DBC2"/>
              </a:solidFill>
            </a:ln>
          </p:spPr>
          <p:txBody>
            <a:bodyPr/>
            <a:lstStyle/>
            <a:p>
              <a:endParaRPr lang="ko-KR" altLang="en-US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endParaRPr>
            </a:p>
          </p:txBody>
        </p:sp>
        <p:sp>
          <p:nvSpPr>
            <p:cNvPr id="66" name="Rectangle 10">
              <a:extLst>
                <a:ext uri="{FF2B5EF4-FFF2-40B4-BE49-F238E27FC236}">
                  <a16:creationId xmlns:a16="http://schemas.microsoft.com/office/drawing/2014/main" id="{AF58C334-F112-8D73-0D25-B6B8C1894DCD}"/>
                </a:ext>
              </a:extLst>
            </p:cNvPr>
            <p:cNvSpPr/>
            <p:nvPr/>
          </p:nvSpPr>
          <p:spPr>
            <a:xfrm>
              <a:off x="819150" y="1714500"/>
              <a:ext cx="381000" cy="381000"/>
            </a:xfrm>
            <a:prstGeom prst="roundRect">
              <a:avLst>
                <a:gd name="adj" fmla="val 27500"/>
              </a:avLst>
            </a:prstGeom>
            <a:solidFill>
              <a:srgbClr val="FBE0D3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endParaRPr>
            </a:p>
          </p:txBody>
        </p:sp>
        <p:grpSp>
          <p:nvGrpSpPr>
            <p:cNvPr id="67" name="Group 13">
              <a:extLst>
                <a:ext uri="{FF2B5EF4-FFF2-40B4-BE49-F238E27FC236}">
                  <a16:creationId xmlns:a16="http://schemas.microsoft.com/office/drawing/2014/main" id="{65C94A03-9B7A-61DD-666F-F5CD16085052}"/>
                </a:ext>
              </a:extLst>
            </p:cNvPr>
            <p:cNvGrpSpPr/>
            <p:nvPr/>
          </p:nvGrpSpPr>
          <p:grpSpPr>
            <a:xfrm>
              <a:off x="923924" y="1809482"/>
              <a:ext cx="171452" cy="190769"/>
              <a:chOff x="923924" y="1809482"/>
              <a:chExt cx="171452" cy="190769"/>
            </a:xfrm>
          </p:grpSpPr>
          <p:sp>
            <p:nvSpPr>
              <p:cNvPr id="75" name="Freeform 11">
                <a:extLst>
                  <a:ext uri="{FF2B5EF4-FFF2-40B4-BE49-F238E27FC236}">
                    <a16:creationId xmlns:a16="http://schemas.microsoft.com/office/drawing/2014/main" id="{EC63BA7F-C04B-F37E-15CC-136295311956}"/>
                  </a:ext>
                </a:extLst>
              </p:cNvPr>
              <p:cNvSpPr/>
              <p:nvPr/>
            </p:nvSpPr>
            <p:spPr>
              <a:xfrm>
                <a:off x="923924" y="1809482"/>
                <a:ext cx="171452" cy="190769"/>
              </a:xfrm>
              <a:custGeom>
                <a:avLst/>
                <a:gdLst/>
                <a:ahLst/>
                <a:cxnLst/>
                <a:rect l="l" t="t" r="r" b="b"/>
                <a:pathLst>
                  <a:path w="171452" h="190769">
                    <a:moveTo>
                      <a:pt x="123826" y="268"/>
                    </a:moveTo>
                    <a:cubicBezTo>
                      <a:pt x="128655" y="269"/>
                      <a:pt x="132719" y="3883"/>
                      <a:pt x="133284" y="8679"/>
                    </a:cubicBezTo>
                    <a:lnTo>
                      <a:pt x="133351" y="9793"/>
                    </a:lnTo>
                    <a:lnTo>
                      <a:pt x="133351" y="19318"/>
                    </a:lnTo>
                    <a:lnTo>
                      <a:pt x="142876" y="19318"/>
                    </a:lnTo>
                    <a:cubicBezTo>
                      <a:pt x="158007" y="19318"/>
                      <a:pt x="170516" y="31112"/>
                      <a:pt x="171403" y="46217"/>
                    </a:cubicBezTo>
                    <a:lnTo>
                      <a:pt x="171451" y="47893"/>
                    </a:lnTo>
                    <a:lnTo>
                      <a:pt x="171451" y="162193"/>
                    </a:lnTo>
                    <a:cubicBezTo>
                      <a:pt x="171452" y="177324"/>
                      <a:pt x="159657" y="189833"/>
                      <a:pt x="144552" y="190721"/>
                    </a:cubicBezTo>
                    <a:lnTo>
                      <a:pt x="142876" y="190768"/>
                    </a:lnTo>
                    <a:lnTo>
                      <a:pt x="28576" y="190768"/>
                    </a:lnTo>
                    <a:cubicBezTo>
                      <a:pt x="13445" y="190769"/>
                      <a:pt x="936" y="178975"/>
                      <a:pt x="48" y="163870"/>
                    </a:cubicBezTo>
                    <a:lnTo>
                      <a:pt x="1" y="162193"/>
                    </a:lnTo>
                    <a:lnTo>
                      <a:pt x="1" y="47893"/>
                    </a:lnTo>
                    <a:cubicBezTo>
                      <a:pt x="0" y="32762"/>
                      <a:pt x="11794" y="20254"/>
                      <a:pt x="26899" y="19366"/>
                    </a:cubicBezTo>
                    <a:lnTo>
                      <a:pt x="28576" y="19318"/>
                    </a:lnTo>
                    <a:lnTo>
                      <a:pt x="38101" y="19318"/>
                    </a:lnTo>
                    <a:lnTo>
                      <a:pt x="38101" y="9793"/>
                    </a:lnTo>
                    <a:cubicBezTo>
                      <a:pt x="38106" y="4754"/>
                      <a:pt x="42037" y="591"/>
                      <a:pt x="47068" y="295"/>
                    </a:cubicBezTo>
                    <a:cubicBezTo>
                      <a:pt x="52099" y="0"/>
                      <a:pt x="56489" y="3675"/>
                      <a:pt x="57084" y="8679"/>
                    </a:cubicBezTo>
                    <a:lnTo>
                      <a:pt x="57151" y="9793"/>
                    </a:lnTo>
                    <a:lnTo>
                      <a:pt x="57151" y="19318"/>
                    </a:lnTo>
                    <a:lnTo>
                      <a:pt x="114301" y="19318"/>
                    </a:lnTo>
                    <a:lnTo>
                      <a:pt x="114301" y="9793"/>
                    </a:lnTo>
                    <a:cubicBezTo>
                      <a:pt x="114301" y="4533"/>
                      <a:pt x="118565" y="268"/>
                      <a:pt x="123826" y="268"/>
                    </a:cubicBezTo>
                    <a:close/>
                    <a:moveTo>
                      <a:pt x="152401" y="66943"/>
                    </a:moveTo>
                    <a:lnTo>
                      <a:pt x="19051" y="66943"/>
                    </a:lnTo>
                    <a:lnTo>
                      <a:pt x="19051" y="158622"/>
                    </a:lnTo>
                    <a:cubicBezTo>
                      <a:pt x="19051" y="165337"/>
                      <a:pt x="22727" y="170871"/>
                      <a:pt x="27461" y="171633"/>
                    </a:cubicBezTo>
                    <a:lnTo>
                      <a:pt x="28576" y="171718"/>
                    </a:lnTo>
                    <a:lnTo>
                      <a:pt x="142876" y="171718"/>
                    </a:lnTo>
                    <a:cubicBezTo>
                      <a:pt x="147762" y="171718"/>
                      <a:pt x="151791" y="166670"/>
                      <a:pt x="152334" y="160146"/>
                    </a:cubicBezTo>
                    <a:lnTo>
                      <a:pt x="152401" y="158622"/>
                    </a:lnTo>
                    <a:lnTo>
                      <a:pt x="152401" y="66943"/>
                    </a:lnTo>
                    <a:close/>
                  </a:path>
                </a:pathLst>
              </a:custGeom>
              <a:solidFill>
                <a:srgbClr val="C8410E"/>
              </a:solidFill>
              <a:ln>
                <a:noFill/>
              </a:ln>
            </p:spPr>
            <p:txBody>
              <a:bodyPr/>
              <a:lstStyle/>
              <a:p>
                <a:endParaRPr lang="ko-KR" altLang="en-US"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endParaRPr>
              </a:p>
            </p:txBody>
          </p:sp>
          <p:sp>
            <p:nvSpPr>
              <p:cNvPr id="76" name="Freeform 12">
                <a:extLst>
                  <a:ext uri="{FF2B5EF4-FFF2-40B4-BE49-F238E27FC236}">
                    <a16:creationId xmlns:a16="http://schemas.microsoft.com/office/drawing/2014/main" id="{9F805578-2D51-F4C9-6DDA-8C59AD059AF3}"/>
                  </a:ext>
                </a:extLst>
              </p:cNvPr>
              <p:cNvSpPr/>
              <p:nvPr/>
            </p:nvSpPr>
            <p:spPr>
              <a:xfrm>
                <a:off x="990332" y="1905000"/>
                <a:ext cx="28843" cy="47893"/>
              </a:xfrm>
              <a:custGeom>
                <a:avLst/>
                <a:gdLst/>
                <a:ahLst/>
                <a:cxnLst/>
                <a:rect l="l" t="t" r="r" b="b"/>
                <a:pathLst>
                  <a:path w="28843" h="47893">
                    <a:moveTo>
                      <a:pt x="19318" y="0"/>
                    </a:moveTo>
                    <a:cubicBezTo>
                      <a:pt x="24147" y="1"/>
                      <a:pt x="28212" y="3615"/>
                      <a:pt x="28777" y="8411"/>
                    </a:cubicBezTo>
                    <a:lnTo>
                      <a:pt x="28843" y="9525"/>
                    </a:lnTo>
                    <a:lnTo>
                      <a:pt x="28843" y="38100"/>
                    </a:lnTo>
                    <a:cubicBezTo>
                      <a:pt x="28838" y="43140"/>
                      <a:pt x="24908" y="47303"/>
                      <a:pt x="19877" y="47598"/>
                    </a:cubicBezTo>
                    <a:cubicBezTo>
                      <a:pt x="14846" y="47893"/>
                      <a:pt x="10455" y="44219"/>
                      <a:pt x="9860" y="39214"/>
                    </a:cubicBezTo>
                    <a:lnTo>
                      <a:pt x="9793" y="38100"/>
                    </a:lnTo>
                    <a:lnTo>
                      <a:pt x="9793" y="19050"/>
                    </a:lnTo>
                    <a:cubicBezTo>
                      <a:pt x="4754" y="19044"/>
                      <a:pt x="591" y="15114"/>
                      <a:pt x="295" y="10083"/>
                    </a:cubicBezTo>
                    <a:cubicBezTo>
                      <a:pt x="0" y="5052"/>
                      <a:pt x="3675" y="662"/>
                      <a:pt x="8679" y="67"/>
                    </a:cubicBezTo>
                    <a:lnTo>
                      <a:pt x="9793" y="0"/>
                    </a:lnTo>
                    <a:lnTo>
                      <a:pt x="19318" y="0"/>
                    </a:lnTo>
                    <a:close/>
                  </a:path>
                </a:pathLst>
              </a:custGeom>
              <a:solidFill>
                <a:srgbClr val="C8410E"/>
              </a:solidFill>
              <a:ln>
                <a:noFill/>
              </a:ln>
            </p:spPr>
            <p:txBody>
              <a:bodyPr/>
              <a:lstStyle/>
              <a:p>
                <a:endParaRPr lang="ko-KR" altLang="en-US" dirty="0"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endParaRPr>
              </a:p>
            </p:txBody>
          </p:sp>
        </p:grpSp>
        <p:sp>
          <p:nvSpPr>
            <p:cNvPr id="68" name="TextBox 14">
              <a:extLst>
                <a:ext uri="{FF2B5EF4-FFF2-40B4-BE49-F238E27FC236}">
                  <a16:creationId xmlns:a16="http://schemas.microsoft.com/office/drawing/2014/main" id="{D36CFF92-7AB5-AC1B-D521-D76C23486B19}"/>
                </a:ext>
              </a:extLst>
            </p:cNvPr>
            <p:cNvSpPr txBox="1"/>
            <p:nvPr/>
          </p:nvSpPr>
          <p:spPr>
            <a:xfrm>
              <a:off x="1295400" y="1745315"/>
              <a:ext cx="557845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2A2018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지남력</a:t>
              </a:r>
            </a:p>
          </p:txBody>
        </p:sp>
        <p:sp>
          <p:nvSpPr>
            <p:cNvPr id="69" name="TextBox 15">
              <a:extLst>
                <a:ext uri="{FF2B5EF4-FFF2-40B4-BE49-F238E27FC236}">
                  <a16:creationId xmlns:a16="http://schemas.microsoft.com/office/drawing/2014/main" id="{6A114974-5B6E-1839-B008-80F28C65F5E4}"/>
                </a:ext>
              </a:extLst>
            </p:cNvPr>
            <p:cNvSpPr txBox="1"/>
            <p:nvPr/>
          </p:nvSpPr>
          <p:spPr>
            <a:xfrm>
              <a:off x="1302544" y="2032397"/>
              <a:ext cx="799899" cy="1443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b="1" dirty="0">
                  <a:solidFill>
                    <a:srgbClr val="6C5D4C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시간 · 장소 감각</a:t>
              </a:r>
            </a:p>
          </p:txBody>
        </p:sp>
        <p:sp>
          <p:nvSpPr>
            <p:cNvPr id="70" name="TextBox 16">
              <a:extLst>
                <a:ext uri="{FF2B5EF4-FFF2-40B4-BE49-F238E27FC236}">
                  <a16:creationId xmlns:a16="http://schemas.microsoft.com/office/drawing/2014/main" id="{3238D68D-D1BC-4E2F-D05E-3F6AE082D849}"/>
                </a:ext>
              </a:extLst>
            </p:cNvPr>
            <p:cNvSpPr txBox="1"/>
            <p:nvPr/>
          </p:nvSpPr>
          <p:spPr>
            <a:xfrm>
              <a:off x="806768" y="2314099"/>
              <a:ext cx="2170466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00" b="1" dirty="0">
                  <a:solidFill>
                    <a:srgbClr val="6E5D49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기존 검사</a:t>
              </a:r>
              <a:r>
                <a:rPr lang="en-US" altLang="zh-CN" sz="1000" b="1" dirty="0">
                  <a:solidFill>
                    <a:srgbClr val="6E5D49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:</a:t>
              </a:r>
              <a:r>
                <a:rPr lang="zh-CN" sz="1000" dirty="0">
                  <a:solidFill>
                    <a:srgbClr val="6E5D49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 오늘 날짜 확인, 현재 위치 확인</a:t>
              </a:r>
            </a:p>
          </p:txBody>
        </p:sp>
        <p:sp>
          <p:nvSpPr>
            <p:cNvPr id="71" name="Rectangle 17">
              <a:extLst>
                <a:ext uri="{FF2B5EF4-FFF2-40B4-BE49-F238E27FC236}">
                  <a16:creationId xmlns:a16="http://schemas.microsoft.com/office/drawing/2014/main" id="{16CF1FF2-ED89-273E-36A6-F530076FB765}"/>
                </a:ext>
              </a:extLst>
            </p:cNvPr>
            <p:cNvSpPr/>
            <p:nvPr/>
          </p:nvSpPr>
          <p:spPr>
            <a:xfrm>
              <a:off x="819150" y="2571750"/>
              <a:ext cx="2057400" cy="247650"/>
            </a:xfrm>
            <a:prstGeom prst="roundRect">
              <a:avLst>
                <a:gd name="adj" fmla="val 50000"/>
              </a:avLst>
            </a:prstGeom>
            <a:solidFill>
              <a:srgbClr val="F5ECD8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endParaRPr>
            </a:p>
          </p:txBody>
        </p:sp>
        <p:sp>
          <p:nvSpPr>
            <p:cNvPr id="72" name="TextBox 18">
              <a:extLst>
                <a:ext uri="{FF2B5EF4-FFF2-40B4-BE49-F238E27FC236}">
                  <a16:creationId xmlns:a16="http://schemas.microsoft.com/office/drawing/2014/main" id="{796D04D8-F322-B4B2-5601-E2809F2F9EF3}"/>
                </a:ext>
              </a:extLst>
            </p:cNvPr>
            <p:cNvSpPr txBox="1"/>
            <p:nvPr/>
          </p:nvSpPr>
          <p:spPr>
            <a:xfrm>
              <a:off x="940118" y="2637949"/>
              <a:ext cx="1402628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00" b="1" dirty="0">
                  <a:solidFill>
                    <a:srgbClr val="2A2018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"오늘은 무슨 요일일까요?"</a:t>
              </a:r>
            </a:p>
          </p:txBody>
        </p:sp>
        <p:sp>
          <p:nvSpPr>
            <p:cNvPr id="73" name="Rectangle 19">
              <a:extLst>
                <a:ext uri="{FF2B5EF4-FFF2-40B4-BE49-F238E27FC236}">
                  <a16:creationId xmlns:a16="http://schemas.microsoft.com/office/drawing/2014/main" id="{A81507A4-3E54-249A-B0E6-9E2FC89660A5}"/>
                </a:ext>
              </a:extLst>
            </p:cNvPr>
            <p:cNvSpPr/>
            <p:nvPr/>
          </p:nvSpPr>
          <p:spPr>
            <a:xfrm>
              <a:off x="819150" y="2895600"/>
              <a:ext cx="2057400" cy="247650"/>
            </a:xfrm>
            <a:prstGeom prst="roundRect">
              <a:avLst>
                <a:gd name="adj" fmla="val 50000"/>
              </a:avLst>
            </a:prstGeom>
            <a:solidFill>
              <a:srgbClr val="F5ECD8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endParaRPr>
            </a:p>
          </p:txBody>
        </p:sp>
        <p:sp>
          <p:nvSpPr>
            <p:cNvPr id="74" name="TextBox 20">
              <a:extLst>
                <a:ext uri="{FF2B5EF4-FFF2-40B4-BE49-F238E27FC236}">
                  <a16:creationId xmlns:a16="http://schemas.microsoft.com/office/drawing/2014/main" id="{0E4260A6-7DA6-A78E-F3E8-C1CB31C6ACCD}"/>
                </a:ext>
              </a:extLst>
            </p:cNvPr>
            <p:cNvSpPr txBox="1"/>
            <p:nvPr/>
          </p:nvSpPr>
          <p:spPr>
            <a:xfrm>
              <a:off x="940118" y="2961799"/>
              <a:ext cx="1519647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00" b="1" dirty="0">
                  <a:solidFill>
                    <a:srgbClr val="2A2018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"오늘 어디에 다녀오셨어요?"</a:t>
              </a:r>
            </a:p>
          </p:txBody>
        </p:sp>
      </p:grpSp>
      <p:grpSp>
        <p:nvGrpSpPr>
          <p:cNvPr id="77" name="Group 32">
            <a:extLst>
              <a:ext uri="{FF2B5EF4-FFF2-40B4-BE49-F238E27FC236}">
                <a16:creationId xmlns:a16="http://schemas.microsoft.com/office/drawing/2014/main" id="{8CEE30E3-A9CB-0CAA-0609-DDF1C0BEF9B6}"/>
              </a:ext>
            </a:extLst>
          </p:cNvPr>
          <p:cNvGrpSpPr/>
          <p:nvPr/>
        </p:nvGrpSpPr>
        <p:grpSpPr>
          <a:xfrm>
            <a:off x="4343400" y="1657350"/>
            <a:ext cx="3505200" cy="1828800"/>
            <a:chOff x="4343400" y="1543050"/>
            <a:chExt cx="3505200" cy="1828800"/>
          </a:xfrm>
        </p:grpSpPr>
        <p:sp>
          <p:nvSpPr>
            <p:cNvPr id="78" name="Rectangle 22">
              <a:extLst>
                <a:ext uri="{FF2B5EF4-FFF2-40B4-BE49-F238E27FC236}">
                  <a16:creationId xmlns:a16="http://schemas.microsoft.com/office/drawing/2014/main" id="{20A8FE4C-66E0-8175-2570-5A5C7EA3F06D}"/>
                </a:ext>
              </a:extLst>
            </p:cNvPr>
            <p:cNvSpPr/>
            <p:nvPr/>
          </p:nvSpPr>
          <p:spPr>
            <a:xfrm>
              <a:off x="4343400" y="1543050"/>
              <a:ext cx="3505200" cy="1828800"/>
            </a:xfrm>
            <a:prstGeom prst="roundRect">
              <a:avLst>
                <a:gd name="adj" fmla="val 10417"/>
              </a:avLst>
            </a:prstGeom>
            <a:solidFill>
              <a:srgbClr val="FFFFFF"/>
            </a:solidFill>
            <a:ln w="9525">
              <a:solidFill>
                <a:srgbClr val="E7DBC2"/>
              </a:solidFill>
            </a:ln>
          </p:spPr>
          <p:txBody>
            <a:bodyPr/>
            <a:lstStyle/>
            <a:p>
              <a:endParaRPr lang="ko-KR" altLang="en-US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endParaRPr>
            </a:p>
          </p:txBody>
        </p:sp>
        <p:sp>
          <p:nvSpPr>
            <p:cNvPr id="79" name="Rectangle 23">
              <a:extLst>
                <a:ext uri="{FF2B5EF4-FFF2-40B4-BE49-F238E27FC236}">
                  <a16:creationId xmlns:a16="http://schemas.microsoft.com/office/drawing/2014/main" id="{1081A191-76A3-404F-9E5C-8DA90C106036}"/>
                </a:ext>
              </a:extLst>
            </p:cNvPr>
            <p:cNvSpPr/>
            <p:nvPr/>
          </p:nvSpPr>
          <p:spPr>
            <a:xfrm>
              <a:off x="4552950" y="1714500"/>
              <a:ext cx="381000" cy="381000"/>
            </a:xfrm>
            <a:prstGeom prst="roundRect">
              <a:avLst>
                <a:gd name="adj" fmla="val 27500"/>
              </a:avLst>
            </a:prstGeom>
            <a:solidFill>
              <a:srgbClr val="FBE6B4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endParaRPr>
            </a:p>
          </p:txBody>
        </p:sp>
        <p:sp>
          <p:nvSpPr>
            <p:cNvPr id="80" name="Freeform 24">
              <a:extLst>
                <a:ext uri="{FF2B5EF4-FFF2-40B4-BE49-F238E27FC236}">
                  <a16:creationId xmlns:a16="http://schemas.microsoft.com/office/drawing/2014/main" id="{725122E9-990D-97D7-CEBF-92AB8C09B88A}"/>
                </a:ext>
              </a:extLst>
            </p:cNvPr>
            <p:cNvSpPr/>
            <p:nvPr/>
          </p:nvSpPr>
          <p:spPr>
            <a:xfrm>
              <a:off x="4676775" y="1809750"/>
              <a:ext cx="133351" cy="191032"/>
            </a:xfrm>
            <a:custGeom>
              <a:avLst/>
              <a:gdLst/>
              <a:ahLst/>
              <a:cxnLst/>
              <a:rect l="l" t="t" r="r" b="b"/>
              <a:pathLst>
                <a:path w="133351" h="191032">
                  <a:moveTo>
                    <a:pt x="85725" y="0"/>
                  </a:moveTo>
                  <a:cubicBezTo>
                    <a:pt x="112028" y="0"/>
                    <a:pt x="133350" y="21322"/>
                    <a:pt x="133350" y="47625"/>
                  </a:cubicBezTo>
                  <a:lnTo>
                    <a:pt x="133350" y="180975"/>
                  </a:lnTo>
                  <a:cubicBezTo>
                    <a:pt x="133351" y="184489"/>
                    <a:pt x="131417" y="187717"/>
                    <a:pt x="128319" y="189375"/>
                  </a:cubicBezTo>
                  <a:cubicBezTo>
                    <a:pt x="125220" y="191032"/>
                    <a:pt x="121461" y="190850"/>
                    <a:pt x="118539" y="188900"/>
                  </a:cubicBezTo>
                  <a:lnTo>
                    <a:pt x="66675" y="154324"/>
                  </a:lnTo>
                  <a:lnTo>
                    <a:pt x="14821" y="188900"/>
                  </a:lnTo>
                  <a:cubicBezTo>
                    <a:pt x="12057" y="190750"/>
                    <a:pt x="8527" y="191024"/>
                    <a:pt x="5511" y="189622"/>
                  </a:cubicBezTo>
                  <a:cubicBezTo>
                    <a:pt x="2494" y="188221"/>
                    <a:pt x="427" y="185348"/>
                    <a:pt x="57" y="182042"/>
                  </a:cubicBezTo>
                  <a:lnTo>
                    <a:pt x="0" y="180975"/>
                  </a:lnTo>
                  <a:lnTo>
                    <a:pt x="0" y="47625"/>
                  </a:lnTo>
                  <a:cubicBezTo>
                    <a:pt x="0" y="21322"/>
                    <a:pt x="21322" y="0"/>
                    <a:pt x="47625" y="0"/>
                  </a:cubicBezTo>
                  <a:lnTo>
                    <a:pt x="85725" y="0"/>
                  </a:lnTo>
                  <a:close/>
                </a:path>
              </a:pathLst>
            </a:custGeom>
            <a:solidFill>
              <a:srgbClr val="2A2018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endParaRPr>
            </a:p>
          </p:txBody>
        </p:sp>
        <p:sp>
          <p:nvSpPr>
            <p:cNvPr id="81" name="TextBox 25">
              <a:extLst>
                <a:ext uri="{FF2B5EF4-FFF2-40B4-BE49-F238E27FC236}">
                  <a16:creationId xmlns:a16="http://schemas.microsoft.com/office/drawing/2014/main" id="{DB3DF683-FB89-6881-4836-E418A280171E}"/>
                </a:ext>
              </a:extLst>
            </p:cNvPr>
            <p:cNvSpPr txBox="1"/>
            <p:nvPr/>
          </p:nvSpPr>
          <p:spPr>
            <a:xfrm>
              <a:off x="5029200" y="1745315"/>
              <a:ext cx="557845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2A2018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기억력</a:t>
              </a:r>
            </a:p>
          </p:txBody>
        </p:sp>
        <p:sp>
          <p:nvSpPr>
            <p:cNvPr id="82" name="TextBox 26">
              <a:extLst>
                <a:ext uri="{FF2B5EF4-FFF2-40B4-BE49-F238E27FC236}">
                  <a16:creationId xmlns:a16="http://schemas.microsoft.com/office/drawing/2014/main" id="{38568239-7EF7-733C-5046-F1FBB522B74D}"/>
                </a:ext>
              </a:extLst>
            </p:cNvPr>
            <p:cNvSpPr txBox="1"/>
            <p:nvPr/>
          </p:nvSpPr>
          <p:spPr>
            <a:xfrm>
              <a:off x="5036344" y="2032397"/>
              <a:ext cx="1048364" cy="1443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b="1" dirty="0">
                  <a:solidFill>
                    <a:srgbClr val="6C5D4C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기억 등록 · 지연 회상</a:t>
              </a:r>
            </a:p>
          </p:txBody>
        </p:sp>
        <p:sp>
          <p:nvSpPr>
            <p:cNvPr id="83" name="TextBox 27">
              <a:extLst>
                <a:ext uri="{FF2B5EF4-FFF2-40B4-BE49-F238E27FC236}">
                  <a16:creationId xmlns:a16="http://schemas.microsoft.com/office/drawing/2014/main" id="{D0426738-7849-DE00-E57D-0A7C1281BB8B}"/>
                </a:ext>
              </a:extLst>
            </p:cNvPr>
            <p:cNvSpPr txBox="1"/>
            <p:nvPr/>
          </p:nvSpPr>
          <p:spPr>
            <a:xfrm>
              <a:off x="4540568" y="2314099"/>
              <a:ext cx="1780937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00" b="1" dirty="0">
                  <a:solidFill>
                    <a:srgbClr val="6E5D49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기존 검사</a:t>
              </a:r>
              <a:r>
                <a:rPr lang="en-US" altLang="zh-CN" sz="1000" b="1" dirty="0">
                  <a:solidFill>
                    <a:srgbClr val="6E5D49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:</a:t>
              </a:r>
              <a:r>
                <a:rPr lang="zh-CN" sz="1000" dirty="0">
                  <a:solidFill>
                    <a:srgbClr val="6E5D49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 단어·문장 기억 후 회상</a:t>
              </a:r>
            </a:p>
          </p:txBody>
        </p:sp>
        <p:sp>
          <p:nvSpPr>
            <p:cNvPr id="84" name="Rectangle 28">
              <a:extLst>
                <a:ext uri="{FF2B5EF4-FFF2-40B4-BE49-F238E27FC236}">
                  <a16:creationId xmlns:a16="http://schemas.microsoft.com/office/drawing/2014/main" id="{BC5E4B1E-7173-1B93-70F6-DA3896A6E1A3}"/>
                </a:ext>
              </a:extLst>
            </p:cNvPr>
            <p:cNvSpPr/>
            <p:nvPr/>
          </p:nvSpPr>
          <p:spPr>
            <a:xfrm>
              <a:off x="4552950" y="2571750"/>
              <a:ext cx="2286000" cy="247650"/>
            </a:xfrm>
            <a:prstGeom prst="roundRect">
              <a:avLst>
                <a:gd name="adj" fmla="val 50000"/>
              </a:avLst>
            </a:prstGeom>
            <a:solidFill>
              <a:srgbClr val="F5ECD8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endParaRPr>
            </a:p>
          </p:txBody>
        </p:sp>
        <p:sp>
          <p:nvSpPr>
            <p:cNvPr id="85" name="TextBox 29">
              <a:extLst>
                <a:ext uri="{FF2B5EF4-FFF2-40B4-BE49-F238E27FC236}">
                  <a16:creationId xmlns:a16="http://schemas.microsoft.com/office/drawing/2014/main" id="{178C077E-58C0-6AC5-954A-724991ABC8CC}"/>
                </a:ext>
              </a:extLst>
            </p:cNvPr>
            <p:cNvSpPr txBox="1"/>
            <p:nvPr/>
          </p:nvSpPr>
          <p:spPr>
            <a:xfrm>
              <a:off x="4673918" y="2637949"/>
              <a:ext cx="1415452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ko-KR" altLang="en-US" sz="1000" b="1" dirty="0">
                  <a:solidFill>
                    <a:srgbClr val="2A2018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어제 남긴 이야기 이어 묻기</a:t>
              </a:r>
            </a:p>
          </p:txBody>
        </p:sp>
        <p:sp>
          <p:nvSpPr>
            <p:cNvPr id="86" name="Rectangle 30">
              <a:extLst>
                <a:ext uri="{FF2B5EF4-FFF2-40B4-BE49-F238E27FC236}">
                  <a16:creationId xmlns:a16="http://schemas.microsoft.com/office/drawing/2014/main" id="{3AFBBCAC-0569-1720-9A05-76F2B43AA00B}"/>
                </a:ext>
              </a:extLst>
            </p:cNvPr>
            <p:cNvSpPr/>
            <p:nvPr/>
          </p:nvSpPr>
          <p:spPr>
            <a:xfrm>
              <a:off x="4552950" y="2895600"/>
              <a:ext cx="1638300" cy="247650"/>
            </a:xfrm>
            <a:prstGeom prst="roundRect">
              <a:avLst>
                <a:gd name="adj" fmla="val 50000"/>
              </a:avLst>
            </a:prstGeom>
            <a:solidFill>
              <a:srgbClr val="F5ECD8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endParaRPr>
            </a:p>
          </p:txBody>
        </p:sp>
        <p:sp>
          <p:nvSpPr>
            <p:cNvPr id="87" name="TextBox 31">
              <a:extLst>
                <a:ext uri="{FF2B5EF4-FFF2-40B4-BE49-F238E27FC236}">
                  <a16:creationId xmlns:a16="http://schemas.microsoft.com/office/drawing/2014/main" id="{F2CDC7AF-A051-3C6E-548F-B4B2E38AC2B5}"/>
                </a:ext>
              </a:extLst>
            </p:cNvPr>
            <p:cNvSpPr txBox="1"/>
            <p:nvPr/>
          </p:nvSpPr>
          <p:spPr>
            <a:xfrm>
              <a:off x="4673918" y="2961799"/>
              <a:ext cx="1239122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ko-KR" altLang="en-US" sz="1000" b="1" dirty="0">
                  <a:solidFill>
                    <a:srgbClr val="2A2018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가족 식사 </a:t>
              </a:r>
              <a:r>
                <a:rPr lang="en-US" altLang="ko-KR" sz="1000" b="1" dirty="0">
                  <a:solidFill>
                    <a:srgbClr val="2A2018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· </a:t>
              </a:r>
              <a:r>
                <a:rPr lang="ko-KR" altLang="en-US" sz="1000" b="1" dirty="0">
                  <a:solidFill>
                    <a:srgbClr val="2A2018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나들이 회상</a:t>
              </a:r>
            </a:p>
          </p:txBody>
        </p:sp>
      </p:grpSp>
      <p:sp>
        <p:nvSpPr>
          <p:cNvPr id="89" name="Rectangle 33">
            <a:extLst>
              <a:ext uri="{FF2B5EF4-FFF2-40B4-BE49-F238E27FC236}">
                <a16:creationId xmlns:a16="http://schemas.microsoft.com/office/drawing/2014/main" id="{867B34B4-2760-649E-A4ED-8A94D3047AA9}"/>
              </a:ext>
            </a:extLst>
          </p:cNvPr>
          <p:cNvSpPr/>
          <p:nvPr/>
        </p:nvSpPr>
        <p:spPr>
          <a:xfrm>
            <a:off x="8077200" y="1657350"/>
            <a:ext cx="3505200" cy="1828800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9525">
            <a:solidFill>
              <a:srgbClr val="E7DBC2"/>
            </a:solidFill>
          </a:ln>
        </p:spPr>
        <p:txBody>
          <a:bodyPr/>
          <a:lstStyle/>
          <a:p>
            <a:endParaRPr lang="ko-KR" altLang="en-US"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나눔스퀘어라운드 Bold" panose="020B0600000101010101" pitchFamily="50" charset="-127"/>
            </a:endParaRPr>
          </a:p>
        </p:txBody>
      </p:sp>
      <p:sp>
        <p:nvSpPr>
          <p:cNvPr id="90" name="Rectangle 34">
            <a:extLst>
              <a:ext uri="{FF2B5EF4-FFF2-40B4-BE49-F238E27FC236}">
                <a16:creationId xmlns:a16="http://schemas.microsoft.com/office/drawing/2014/main" id="{079F5EF4-B915-47B1-1F92-B66EC909B87E}"/>
              </a:ext>
            </a:extLst>
          </p:cNvPr>
          <p:cNvSpPr/>
          <p:nvPr/>
        </p:nvSpPr>
        <p:spPr>
          <a:xfrm>
            <a:off x="8286750" y="1828800"/>
            <a:ext cx="381000" cy="381000"/>
          </a:xfrm>
          <a:prstGeom prst="roundRect">
            <a:avLst>
              <a:gd name="adj" fmla="val 27500"/>
            </a:avLst>
          </a:prstGeom>
          <a:solidFill>
            <a:srgbClr val="EAF3E4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나눔스퀘어라운드 Bold" panose="020B0600000101010101" pitchFamily="50" charset="-127"/>
            </a:endParaRPr>
          </a:p>
        </p:txBody>
      </p:sp>
      <p:sp>
        <p:nvSpPr>
          <p:cNvPr id="91" name="Freeform 35">
            <a:extLst>
              <a:ext uri="{FF2B5EF4-FFF2-40B4-BE49-F238E27FC236}">
                <a16:creationId xmlns:a16="http://schemas.microsoft.com/office/drawing/2014/main" id="{F3EC55A5-4C04-1183-5D30-AE2C194E5E82}"/>
              </a:ext>
            </a:extLst>
          </p:cNvPr>
          <p:cNvSpPr/>
          <p:nvPr/>
        </p:nvSpPr>
        <p:spPr>
          <a:xfrm>
            <a:off x="8391525" y="1924050"/>
            <a:ext cx="171450" cy="190500"/>
          </a:xfrm>
          <a:custGeom>
            <a:avLst/>
            <a:gdLst/>
            <a:ahLst/>
            <a:cxnLst/>
            <a:rect l="l" t="t" r="r" b="b"/>
            <a:pathLst>
              <a:path w="171450" h="190500">
                <a:moveTo>
                  <a:pt x="142875" y="0"/>
                </a:moveTo>
                <a:cubicBezTo>
                  <a:pt x="158657" y="0"/>
                  <a:pt x="171450" y="12793"/>
                  <a:pt x="171450" y="28575"/>
                </a:cubicBezTo>
                <a:lnTo>
                  <a:pt x="171450" y="161925"/>
                </a:lnTo>
                <a:cubicBezTo>
                  <a:pt x="171450" y="177707"/>
                  <a:pt x="158657" y="190500"/>
                  <a:pt x="142875" y="190500"/>
                </a:cubicBezTo>
                <a:lnTo>
                  <a:pt x="28575" y="190500"/>
                </a:lnTo>
                <a:cubicBezTo>
                  <a:pt x="12793" y="190500"/>
                  <a:pt x="0" y="177707"/>
                  <a:pt x="0" y="161925"/>
                </a:cubicBezTo>
                <a:lnTo>
                  <a:pt x="0" y="28575"/>
                </a:lnTo>
                <a:cubicBezTo>
                  <a:pt x="0" y="12793"/>
                  <a:pt x="12793" y="0"/>
                  <a:pt x="28575" y="0"/>
                </a:cubicBezTo>
                <a:close/>
                <a:moveTo>
                  <a:pt x="47625" y="142875"/>
                </a:moveTo>
                <a:cubicBezTo>
                  <a:pt x="42364" y="142875"/>
                  <a:pt x="38100" y="147139"/>
                  <a:pt x="38100" y="152400"/>
                </a:cubicBezTo>
                <a:lnTo>
                  <a:pt x="38167" y="153610"/>
                </a:lnTo>
                <a:cubicBezTo>
                  <a:pt x="38762" y="158614"/>
                  <a:pt x="43152" y="162289"/>
                  <a:pt x="48183" y="161993"/>
                </a:cubicBezTo>
                <a:cubicBezTo>
                  <a:pt x="53214" y="161698"/>
                  <a:pt x="57144" y="157535"/>
                  <a:pt x="57150" y="152495"/>
                </a:cubicBezTo>
                <a:lnTo>
                  <a:pt x="57083" y="151286"/>
                </a:lnTo>
                <a:cubicBezTo>
                  <a:pt x="56518" y="146490"/>
                  <a:pt x="52454" y="142876"/>
                  <a:pt x="47625" y="142875"/>
                </a:cubicBezTo>
                <a:close/>
                <a:moveTo>
                  <a:pt x="85725" y="142875"/>
                </a:moveTo>
                <a:cubicBezTo>
                  <a:pt x="80464" y="142875"/>
                  <a:pt x="76200" y="147139"/>
                  <a:pt x="76200" y="152400"/>
                </a:cubicBezTo>
                <a:lnTo>
                  <a:pt x="76267" y="153610"/>
                </a:lnTo>
                <a:cubicBezTo>
                  <a:pt x="76862" y="158614"/>
                  <a:pt x="81252" y="162289"/>
                  <a:pt x="86283" y="161993"/>
                </a:cubicBezTo>
                <a:cubicBezTo>
                  <a:pt x="91314" y="161698"/>
                  <a:pt x="95244" y="157535"/>
                  <a:pt x="95250" y="152495"/>
                </a:cubicBezTo>
                <a:lnTo>
                  <a:pt x="95183" y="151286"/>
                </a:lnTo>
                <a:cubicBezTo>
                  <a:pt x="94618" y="146490"/>
                  <a:pt x="90554" y="142876"/>
                  <a:pt x="85725" y="142875"/>
                </a:cubicBezTo>
                <a:close/>
                <a:moveTo>
                  <a:pt x="123825" y="142875"/>
                </a:moveTo>
                <a:cubicBezTo>
                  <a:pt x="118564" y="142875"/>
                  <a:pt x="114300" y="147139"/>
                  <a:pt x="114300" y="152400"/>
                </a:cubicBezTo>
                <a:lnTo>
                  <a:pt x="114367" y="153610"/>
                </a:lnTo>
                <a:cubicBezTo>
                  <a:pt x="114962" y="158614"/>
                  <a:pt x="119352" y="162289"/>
                  <a:pt x="124383" y="161993"/>
                </a:cubicBezTo>
                <a:cubicBezTo>
                  <a:pt x="129414" y="161698"/>
                  <a:pt x="133344" y="157535"/>
                  <a:pt x="133350" y="152495"/>
                </a:cubicBezTo>
                <a:lnTo>
                  <a:pt x="133283" y="151286"/>
                </a:lnTo>
                <a:cubicBezTo>
                  <a:pt x="132718" y="146490"/>
                  <a:pt x="128654" y="142876"/>
                  <a:pt x="123825" y="142875"/>
                </a:cubicBezTo>
                <a:close/>
                <a:moveTo>
                  <a:pt x="47625" y="104775"/>
                </a:moveTo>
                <a:cubicBezTo>
                  <a:pt x="42364" y="104775"/>
                  <a:pt x="38100" y="109039"/>
                  <a:pt x="38100" y="114300"/>
                </a:cubicBezTo>
                <a:lnTo>
                  <a:pt x="38167" y="115510"/>
                </a:lnTo>
                <a:cubicBezTo>
                  <a:pt x="38762" y="120514"/>
                  <a:pt x="43152" y="124189"/>
                  <a:pt x="48183" y="123893"/>
                </a:cubicBezTo>
                <a:cubicBezTo>
                  <a:pt x="53214" y="123598"/>
                  <a:pt x="57144" y="119435"/>
                  <a:pt x="57150" y="114395"/>
                </a:cubicBezTo>
                <a:lnTo>
                  <a:pt x="57083" y="113186"/>
                </a:lnTo>
                <a:cubicBezTo>
                  <a:pt x="56518" y="108390"/>
                  <a:pt x="52454" y="104776"/>
                  <a:pt x="47625" y="104775"/>
                </a:cubicBezTo>
                <a:close/>
                <a:moveTo>
                  <a:pt x="85725" y="104775"/>
                </a:moveTo>
                <a:cubicBezTo>
                  <a:pt x="80464" y="104775"/>
                  <a:pt x="76200" y="109039"/>
                  <a:pt x="76200" y="114300"/>
                </a:cubicBezTo>
                <a:lnTo>
                  <a:pt x="76267" y="115510"/>
                </a:lnTo>
                <a:cubicBezTo>
                  <a:pt x="76862" y="120514"/>
                  <a:pt x="81252" y="124189"/>
                  <a:pt x="86283" y="123893"/>
                </a:cubicBezTo>
                <a:cubicBezTo>
                  <a:pt x="91314" y="123598"/>
                  <a:pt x="95244" y="119435"/>
                  <a:pt x="95250" y="114395"/>
                </a:cubicBezTo>
                <a:lnTo>
                  <a:pt x="95183" y="113186"/>
                </a:lnTo>
                <a:cubicBezTo>
                  <a:pt x="94618" y="108390"/>
                  <a:pt x="90554" y="104776"/>
                  <a:pt x="85725" y="104775"/>
                </a:cubicBezTo>
                <a:close/>
                <a:moveTo>
                  <a:pt x="123825" y="104775"/>
                </a:moveTo>
                <a:cubicBezTo>
                  <a:pt x="118564" y="104775"/>
                  <a:pt x="114300" y="109039"/>
                  <a:pt x="114300" y="114300"/>
                </a:cubicBezTo>
                <a:lnTo>
                  <a:pt x="114367" y="115510"/>
                </a:lnTo>
                <a:cubicBezTo>
                  <a:pt x="114962" y="120514"/>
                  <a:pt x="119352" y="124189"/>
                  <a:pt x="124383" y="123893"/>
                </a:cubicBezTo>
                <a:cubicBezTo>
                  <a:pt x="129414" y="123598"/>
                  <a:pt x="133344" y="119435"/>
                  <a:pt x="133350" y="114395"/>
                </a:cubicBezTo>
                <a:lnTo>
                  <a:pt x="133283" y="113186"/>
                </a:lnTo>
                <a:cubicBezTo>
                  <a:pt x="132718" y="108390"/>
                  <a:pt x="128654" y="104776"/>
                  <a:pt x="123825" y="104775"/>
                </a:cubicBezTo>
                <a:close/>
                <a:moveTo>
                  <a:pt x="114300" y="38100"/>
                </a:moveTo>
                <a:lnTo>
                  <a:pt x="57150" y="38100"/>
                </a:lnTo>
                <a:cubicBezTo>
                  <a:pt x="46629" y="38100"/>
                  <a:pt x="38100" y="46629"/>
                  <a:pt x="38100" y="57150"/>
                </a:cubicBezTo>
                <a:lnTo>
                  <a:pt x="38100" y="66675"/>
                </a:lnTo>
                <a:cubicBezTo>
                  <a:pt x="38100" y="77196"/>
                  <a:pt x="46629" y="85725"/>
                  <a:pt x="57150" y="85725"/>
                </a:cubicBezTo>
                <a:lnTo>
                  <a:pt x="114300" y="85725"/>
                </a:lnTo>
                <a:cubicBezTo>
                  <a:pt x="124821" y="85725"/>
                  <a:pt x="133350" y="77196"/>
                  <a:pt x="133350" y="66675"/>
                </a:cubicBezTo>
                <a:lnTo>
                  <a:pt x="133350" y="57150"/>
                </a:lnTo>
                <a:cubicBezTo>
                  <a:pt x="133350" y="46629"/>
                  <a:pt x="124821" y="38100"/>
                  <a:pt x="114300" y="38100"/>
                </a:cubicBezTo>
                <a:close/>
              </a:path>
            </a:pathLst>
          </a:custGeom>
          <a:solidFill>
            <a:srgbClr val="5E9A6A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나눔스퀘어라운드 Bold" panose="020B0600000101010101" pitchFamily="50" charset="-127"/>
            </a:endParaRPr>
          </a:p>
        </p:txBody>
      </p:sp>
      <p:sp>
        <p:nvSpPr>
          <p:cNvPr id="92" name="TextBox 36">
            <a:extLst>
              <a:ext uri="{FF2B5EF4-FFF2-40B4-BE49-F238E27FC236}">
                <a16:creationId xmlns:a16="http://schemas.microsoft.com/office/drawing/2014/main" id="{A04E5A72-4C5C-C95D-8C6E-89C906ADA5C0}"/>
              </a:ext>
            </a:extLst>
          </p:cNvPr>
          <p:cNvSpPr txBox="1"/>
          <p:nvPr/>
        </p:nvSpPr>
        <p:spPr>
          <a:xfrm>
            <a:off x="8763000" y="1859615"/>
            <a:ext cx="939360" cy="2462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00" b="1" dirty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주의 · 계산</a:t>
            </a:r>
          </a:p>
        </p:txBody>
      </p:sp>
      <p:sp>
        <p:nvSpPr>
          <p:cNvPr id="93" name="TextBox 37">
            <a:extLst>
              <a:ext uri="{FF2B5EF4-FFF2-40B4-BE49-F238E27FC236}">
                <a16:creationId xmlns:a16="http://schemas.microsoft.com/office/drawing/2014/main" id="{0A9582FA-3FF6-08E9-0AAE-B80B79D246CC}"/>
              </a:ext>
            </a:extLst>
          </p:cNvPr>
          <p:cNvSpPr txBox="1"/>
          <p:nvPr/>
        </p:nvSpPr>
        <p:spPr>
          <a:xfrm>
            <a:off x="8770144" y="2146697"/>
            <a:ext cx="769441" cy="1443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38" b="1" dirty="0">
                <a:solidFill>
                  <a:srgbClr val="6C5D4C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주의집중 · 연산</a:t>
            </a:r>
          </a:p>
        </p:txBody>
      </p:sp>
      <p:sp>
        <p:nvSpPr>
          <p:cNvPr id="94" name="Rectangle 38">
            <a:extLst>
              <a:ext uri="{FF2B5EF4-FFF2-40B4-BE49-F238E27FC236}">
                <a16:creationId xmlns:a16="http://schemas.microsoft.com/office/drawing/2014/main" id="{1203F14B-73F5-A818-43B5-E1F81791F2B5}"/>
              </a:ext>
            </a:extLst>
          </p:cNvPr>
          <p:cNvSpPr/>
          <p:nvPr/>
        </p:nvSpPr>
        <p:spPr>
          <a:xfrm>
            <a:off x="10515600" y="1817438"/>
            <a:ext cx="876300" cy="209550"/>
          </a:xfrm>
          <a:prstGeom prst="roundRect">
            <a:avLst>
              <a:gd name="adj" fmla="val 50000"/>
            </a:avLst>
          </a:prstGeom>
          <a:solidFill>
            <a:srgbClr val="F57265"/>
          </a:solidFill>
          <a:ln>
            <a:noFill/>
          </a:ln>
        </p:spPr>
        <p:txBody>
          <a:bodyPr/>
          <a:lstStyle/>
          <a:p>
            <a:endParaRPr lang="ko-KR" altLang="en-US" dirty="0"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나눔스퀘어라운드 Bold" panose="020B0600000101010101" pitchFamily="50" charset="-127"/>
            </a:endParaRPr>
          </a:p>
        </p:txBody>
      </p:sp>
      <p:sp>
        <p:nvSpPr>
          <p:cNvPr id="95" name="TextBox 39">
            <a:extLst>
              <a:ext uri="{FF2B5EF4-FFF2-40B4-BE49-F238E27FC236}">
                <a16:creationId xmlns:a16="http://schemas.microsoft.com/office/drawing/2014/main" id="{4EA063ED-0FF7-E096-C08A-249AD08A4B61}"/>
              </a:ext>
            </a:extLst>
          </p:cNvPr>
          <p:cNvSpPr txBox="1"/>
          <p:nvPr/>
        </p:nvSpPr>
        <p:spPr>
          <a:xfrm>
            <a:off x="10674828" y="1855881"/>
            <a:ext cx="557845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00" b="1" dirty="0">
                <a:solidFill>
                  <a:srgbClr val="FFFFFF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멘토링 반영</a:t>
            </a:r>
          </a:p>
        </p:txBody>
      </p:sp>
      <p:sp>
        <p:nvSpPr>
          <p:cNvPr id="96" name="TextBox 40">
            <a:extLst>
              <a:ext uri="{FF2B5EF4-FFF2-40B4-BE49-F238E27FC236}">
                <a16:creationId xmlns:a16="http://schemas.microsoft.com/office/drawing/2014/main" id="{E9C686B5-E061-CDF6-850A-448D5A96DED5}"/>
              </a:ext>
            </a:extLst>
          </p:cNvPr>
          <p:cNvSpPr txBox="1"/>
          <p:nvPr/>
        </p:nvSpPr>
        <p:spPr>
          <a:xfrm>
            <a:off x="8274368" y="2428399"/>
            <a:ext cx="1638269" cy="153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00" b="1" dirty="0">
                <a:solidFill>
                  <a:srgbClr val="6E5D49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기존 검사</a:t>
            </a:r>
            <a:r>
              <a:rPr lang="en-US" altLang="zh-CN" sz="1000" b="1" dirty="0">
                <a:solidFill>
                  <a:srgbClr val="6E5D49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:</a:t>
            </a:r>
            <a:r>
              <a:rPr lang="zh-CN" sz="1000" dirty="0">
                <a:solidFill>
                  <a:srgbClr val="6E5D49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 숫자 빼기, 수열 잇기</a:t>
            </a:r>
          </a:p>
        </p:txBody>
      </p:sp>
      <p:sp>
        <p:nvSpPr>
          <p:cNvPr id="97" name="Rectangle 41">
            <a:extLst>
              <a:ext uri="{FF2B5EF4-FFF2-40B4-BE49-F238E27FC236}">
                <a16:creationId xmlns:a16="http://schemas.microsoft.com/office/drawing/2014/main" id="{358FE79B-76E7-A825-1CBC-C917A02B9BE2}"/>
              </a:ext>
            </a:extLst>
          </p:cNvPr>
          <p:cNvSpPr/>
          <p:nvPr/>
        </p:nvSpPr>
        <p:spPr>
          <a:xfrm>
            <a:off x="8286750" y="2686050"/>
            <a:ext cx="1390650" cy="247650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나눔스퀘어라운드 Bold" panose="020B0600000101010101" pitchFamily="50" charset="-127"/>
            </a:endParaRPr>
          </a:p>
        </p:txBody>
      </p:sp>
      <p:sp>
        <p:nvSpPr>
          <p:cNvPr id="98" name="TextBox 42">
            <a:extLst>
              <a:ext uri="{FF2B5EF4-FFF2-40B4-BE49-F238E27FC236}">
                <a16:creationId xmlns:a16="http://schemas.microsoft.com/office/drawing/2014/main" id="{E95B5B15-E986-0171-7084-94BCDF6220F0}"/>
              </a:ext>
            </a:extLst>
          </p:cNvPr>
          <p:cNvSpPr txBox="1"/>
          <p:nvPr/>
        </p:nvSpPr>
        <p:spPr>
          <a:xfrm>
            <a:off x="8407718" y="2752249"/>
            <a:ext cx="883255" cy="153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00" b="1" dirty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시장 돈 계산하기</a:t>
            </a:r>
          </a:p>
        </p:txBody>
      </p:sp>
      <p:sp>
        <p:nvSpPr>
          <p:cNvPr id="99" name="Rectangle 43">
            <a:extLst>
              <a:ext uri="{FF2B5EF4-FFF2-40B4-BE49-F238E27FC236}">
                <a16:creationId xmlns:a16="http://schemas.microsoft.com/office/drawing/2014/main" id="{EC08778F-9089-C4BB-73E7-A1CBC23A79F6}"/>
              </a:ext>
            </a:extLst>
          </p:cNvPr>
          <p:cNvSpPr/>
          <p:nvPr/>
        </p:nvSpPr>
        <p:spPr>
          <a:xfrm>
            <a:off x="8286750" y="3009900"/>
            <a:ext cx="1838325" cy="247650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나눔스퀘어라운드 Bold" panose="020B0600000101010101" pitchFamily="50" charset="-127"/>
            </a:endParaRPr>
          </a:p>
        </p:txBody>
      </p:sp>
      <p:sp>
        <p:nvSpPr>
          <p:cNvPr id="100" name="TextBox 44">
            <a:extLst>
              <a:ext uri="{FF2B5EF4-FFF2-40B4-BE49-F238E27FC236}">
                <a16:creationId xmlns:a16="http://schemas.microsoft.com/office/drawing/2014/main" id="{9F8C49C1-7438-59FE-D156-A05C44360912}"/>
              </a:ext>
            </a:extLst>
          </p:cNvPr>
          <p:cNvSpPr txBox="1"/>
          <p:nvPr/>
        </p:nvSpPr>
        <p:spPr>
          <a:xfrm>
            <a:off x="8407718" y="3076099"/>
            <a:ext cx="1271182" cy="1538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00" b="1" dirty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약 복용 시간 · 숫자 패턴</a:t>
            </a:r>
          </a:p>
        </p:txBody>
      </p:sp>
      <p:grpSp>
        <p:nvGrpSpPr>
          <p:cNvPr id="101" name="Group 58">
            <a:extLst>
              <a:ext uri="{FF2B5EF4-FFF2-40B4-BE49-F238E27FC236}">
                <a16:creationId xmlns:a16="http://schemas.microsoft.com/office/drawing/2014/main" id="{930450A9-5970-A823-4303-98B3DAF0C175}"/>
              </a:ext>
            </a:extLst>
          </p:cNvPr>
          <p:cNvGrpSpPr/>
          <p:nvPr/>
        </p:nvGrpSpPr>
        <p:grpSpPr>
          <a:xfrm>
            <a:off x="609600" y="3657600"/>
            <a:ext cx="3505200" cy="1828800"/>
            <a:chOff x="609600" y="3543300"/>
            <a:chExt cx="3505200" cy="1828800"/>
          </a:xfrm>
        </p:grpSpPr>
        <p:sp>
          <p:nvSpPr>
            <p:cNvPr id="102" name="Rectangle 46">
              <a:extLst>
                <a:ext uri="{FF2B5EF4-FFF2-40B4-BE49-F238E27FC236}">
                  <a16:creationId xmlns:a16="http://schemas.microsoft.com/office/drawing/2014/main" id="{F9784F3D-6A6F-722C-41D4-2C64A983349F}"/>
                </a:ext>
              </a:extLst>
            </p:cNvPr>
            <p:cNvSpPr/>
            <p:nvPr/>
          </p:nvSpPr>
          <p:spPr>
            <a:xfrm>
              <a:off x="609600" y="3543300"/>
              <a:ext cx="3505200" cy="1828800"/>
            </a:xfrm>
            <a:prstGeom prst="roundRect">
              <a:avLst>
                <a:gd name="adj" fmla="val 10417"/>
              </a:avLst>
            </a:prstGeom>
            <a:solidFill>
              <a:srgbClr val="FFFFFF"/>
            </a:solidFill>
            <a:ln w="9525">
              <a:solidFill>
                <a:srgbClr val="E7DBC2"/>
              </a:solidFill>
            </a:ln>
          </p:spPr>
          <p:txBody>
            <a:bodyPr/>
            <a:lstStyle/>
            <a:p>
              <a:endParaRPr lang="ko-KR" altLang="en-US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endParaRPr>
            </a:p>
          </p:txBody>
        </p:sp>
        <p:sp>
          <p:nvSpPr>
            <p:cNvPr id="103" name="Rectangle 47">
              <a:extLst>
                <a:ext uri="{FF2B5EF4-FFF2-40B4-BE49-F238E27FC236}">
                  <a16:creationId xmlns:a16="http://schemas.microsoft.com/office/drawing/2014/main" id="{3BAE612F-108E-63A0-FAAC-C8E3DEF567A7}"/>
                </a:ext>
              </a:extLst>
            </p:cNvPr>
            <p:cNvSpPr/>
            <p:nvPr/>
          </p:nvSpPr>
          <p:spPr>
            <a:xfrm>
              <a:off x="819150" y="3714750"/>
              <a:ext cx="381000" cy="381000"/>
            </a:xfrm>
            <a:prstGeom prst="roundRect">
              <a:avLst>
                <a:gd name="adj" fmla="val 27500"/>
              </a:avLst>
            </a:prstGeom>
            <a:solidFill>
              <a:srgbClr val="FBE0D3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endParaRPr>
            </a:p>
          </p:txBody>
        </p:sp>
        <p:sp>
          <p:nvSpPr>
            <p:cNvPr id="104" name="Freeform 48">
              <a:extLst>
                <a:ext uri="{FF2B5EF4-FFF2-40B4-BE49-F238E27FC236}">
                  <a16:creationId xmlns:a16="http://schemas.microsoft.com/office/drawing/2014/main" id="{28C7573C-B5C1-0236-E226-D6E72510F27B}"/>
                </a:ext>
              </a:extLst>
            </p:cNvPr>
            <p:cNvSpPr/>
            <p:nvPr/>
          </p:nvSpPr>
          <p:spPr>
            <a:xfrm>
              <a:off x="933446" y="3800475"/>
              <a:ext cx="152408" cy="200025"/>
            </a:xfrm>
            <a:custGeom>
              <a:avLst/>
              <a:gdLst/>
              <a:ahLst/>
              <a:cxnLst/>
              <a:rect l="l" t="t" r="r" b="b"/>
              <a:pathLst>
                <a:path w="152408" h="200025">
                  <a:moveTo>
                    <a:pt x="142879" y="76200"/>
                  </a:moveTo>
                  <a:cubicBezTo>
                    <a:pt x="148139" y="76200"/>
                    <a:pt x="152404" y="80464"/>
                    <a:pt x="152404" y="85725"/>
                  </a:cubicBezTo>
                  <a:cubicBezTo>
                    <a:pt x="152408" y="124126"/>
                    <a:pt x="123837" y="156530"/>
                    <a:pt x="85738" y="161334"/>
                  </a:cubicBezTo>
                  <a:lnTo>
                    <a:pt x="85729" y="180975"/>
                  </a:lnTo>
                  <a:lnTo>
                    <a:pt x="114304" y="180975"/>
                  </a:lnTo>
                  <a:cubicBezTo>
                    <a:pt x="119564" y="180975"/>
                    <a:pt x="123829" y="185239"/>
                    <a:pt x="123829" y="190500"/>
                  </a:cubicBezTo>
                  <a:cubicBezTo>
                    <a:pt x="123829" y="195761"/>
                    <a:pt x="119564" y="200025"/>
                    <a:pt x="114304" y="200025"/>
                  </a:cubicBezTo>
                  <a:lnTo>
                    <a:pt x="38104" y="200025"/>
                  </a:lnTo>
                  <a:cubicBezTo>
                    <a:pt x="32843" y="200025"/>
                    <a:pt x="28579" y="195761"/>
                    <a:pt x="28579" y="190500"/>
                  </a:cubicBezTo>
                  <a:cubicBezTo>
                    <a:pt x="28579" y="185239"/>
                    <a:pt x="32843" y="180975"/>
                    <a:pt x="38104" y="180975"/>
                  </a:cubicBezTo>
                  <a:lnTo>
                    <a:pt x="66679" y="180975"/>
                  </a:lnTo>
                  <a:lnTo>
                    <a:pt x="66679" y="161334"/>
                  </a:lnTo>
                  <a:cubicBezTo>
                    <a:pt x="28576" y="156534"/>
                    <a:pt x="0" y="124129"/>
                    <a:pt x="4" y="85725"/>
                  </a:cubicBezTo>
                  <a:cubicBezTo>
                    <a:pt x="4" y="80464"/>
                    <a:pt x="4268" y="76200"/>
                    <a:pt x="9529" y="76200"/>
                  </a:cubicBezTo>
                  <a:cubicBezTo>
                    <a:pt x="14789" y="76200"/>
                    <a:pt x="19054" y="80464"/>
                    <a:pt x="19054" y="85725"/>
                  </a:cubicBezTo>
                  <a:cubicBezTo>
                    <a:pt x="19054" y="117288"/>
                    <a:pt x="44641" y="142875"/>
                    <a:pt x="76204" y="142875"/>
                  </a:cubicBezTo>
                  <a:cubicBezTo>
                    <a:pt x="107767" y="142875"/>
                    <a:pt x="133354" y="117288"/>
                    <a:pt x="133354" y="85725"/>
                  </a:cubicBezTo>
                  <a:cubicBezTo>
                    <a:pt x="133354" y="80464"/>
                    <a:pt x="137618" y="76200"/>
                    <a:pt x="142879" y="76200"/>
                  </a:cubicBezTo>
                  <a:moveTo>
                    <a:pt x="76204" y="0"/>
                  </a:moveTo>
                  <a:cubicBezTo>
                    <a:pt x="97246" y="0"/>
                    <a:pt x="114304" y="17058"/>
                    <a:pt x="114304" y="38100"/>
                  </a:cubicBezTo>
                  <a:lnTo>
                    <a:pt x="114304" y="85725"/>
                  </a:lnTo>
                  <a:cubicBezTo>
                    <a:pt x="114304" y="106767"/>
                    <a:pt x="97246" y="123825"/>
                    <a:pt x="76204" y="123825"/>
                  </a:cubicBezTo>
                  <a:cubicBezTo>
                    <a:pt x="55162" y="123825"/>
                    <a:pt x="38104" y="106767"/>
                    <a:pt x="38104" y="85725"/>
                  </a:cubicBezTo>
                  <a:lnTo>
                    <a:pt x="38104" y="38100"/>
                  </a:lnTo>
                  <a:cubicBezTo>
                    <a:pt x="38104" y="17058"/>
                    <a:pt x="55162" y="0"/>
                    <a:pt x="76204" y="0"/>
                  </a:cubicBezTo>
                </a:path>
              </a:pathLst>
            </a:custGeom>
            <a:solidFill>
              <a:srgbClr val="C8410E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endParaRPr>
            </a:p>
          </p:txBody>
        </p:sp>
        <p:sp>
          <p:nvSpPr>
            <p:cNvPr id="105" name="TextBox 49">
              <a:extLst>
                <a:ext uri="{FF2B5EF4-FFF2-40B4-BE49-F238E27FC236}">
                  <a16:creationId xmlns:a16="http://schemas.microsoft.com/office/drawing/2014/main" id="{1481F92F-F7C5-EC1C-29B0-CD57BB2B8B51}"/>
                </a:ext>
              </a:extLst>
            </p:cNvPr>
            <p:cNvSpPr txBox="1"/>
            <p:nvPr/>
          </p:nvSpPr>
          <p:spPr>
            <a:xfrm>
              <a:off x="1295400" y="3745565"/>
              <a:ext cx="371897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2A2018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언어</a:t>
              </a:r>
            </a:p>
          </p:txBody>
        </p:sp>
        <p:sp>
          <p:nvSpPr>
            <p:cNvPr id="106" name="TextBox 50">
              <a:extLst>
                <a:ext uri="{FF2B5EF4-FFF2-40B4-BE49-F238E27FC236}">
                  <a16:creationId xmlns:a16="http://schemas.microsoft.com/office/drawing/2014/main" id="{231A6560-C424-8D94-2C41-0170623D802A}"/>
                </a:ext>
              </a:extLst>
            </p:cNvPr>
            <p:cNvSpPr txBox="1"/>
            <p:nvPr/>
          </p:nvSpPr>
          <p:spPr>
            <a:xfrm>
              <a:off x="1302544" y="4032647"/>
              <a:ext cx="1102866" cy="1443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b="1" dirty="0">
                  <a:solidFill>
                    <a:srgbClr val="6C5D4C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이름대기 · 이해 · 발화</a:t>
              </a:r>
            </a:p>
          </p:txBody>
        </p:sp>
        <p:sp>
          <p:nvSpPr>
            <p:cNvPr id="107" name="Rectangle 51">
              <a:extLst>
                <a:ext uri="{FF2B5EF4-FFF2-40B4-BE49-F238E27FC236}">
                  <a16:creationId xmlns:a16="http://schemas.microsoft.com/office/drawing/2014/main" id="{B28B705D-7A76-8D78-429D-F1026A711FB7}"/>
                </a:ext>
              </a:extLst>
            </p:cNvPr>
            <p:cNvSpPr/>
            <p:nvPr/>
          </p:nvSpPr>
          <p:spPr>
            <a:xfrm>
              <a:off x="3048000" y="3695700"/>
              <a:ext cx="876300" cy="209550"/>
            </a:xfrm>
            <a:prstGeom prst="roundRect">
              <a:avLst>
                <a:gd name="adj" fmla="val 50000"/>
              </a:avLst>
            </a:prstGeom>
            <a:solidFill>
              <a:srgbClr val="F57265"/>
            </a:solidFill>
            <a:ln>
              <a:noFill/>
            </a:ln>
          </p:spPr>
          <p:txBody>
            <a:bodyPr/>
            <a:lstStyle/>
            <a:p>
              <a:endParaRPr lang="ko-KR" altLang="en-US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endParaRPr>
            </a:p>
          </p:txBody>
        </p:sp>
        <p:sp>
          <p:nvSpPr>
            <p:cNvPr id="108" name="TextBox 52">
              <a:extLst>
                <a:ext uri="{FF2B5EF4-FFF2-40B4-BE49-F238E27FC236}">
                  <a16:creationId xmlns:a16="http://schemas.microsoft.com/office/drawing/2014/main" id="{34EB1C96-41C4-1F34-F910-B7C829369EBB}"/>
                </a:ext>
              </a:extLst>
            </p:cNvPr>
            <p:cNvSpPr txBox="1"/>
            <p:nvPr/>
          </p:nvSpPr>
          <p:spPr>
            <a:xfrm>
              <a:off x="3139903" y="3728444"/>
              <a:ext cx="692497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ko-KR" altLang="en-US" sz="900" b="1" dirty="0">
                  <a:solidFill>
                    <a:srgbClr val="FFFFFF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음성 인식 기술</a:t>
              </a:r>
              <a:endParaRPr lang="zh-CN" sz="900" b="1" dirty="0">
                <a:solidFill>
                  <a:srgbClr val="FFFFFF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endParaRPr>
            </a:p>
          </p:txBody>
        </p:sp>
        <p:sp>
          <p:nvSpPr>
            <p:cNvPr id="109" name="TextBox 53">
              <a:extLst>
                <a:ext uri="{FF2B5EF4-FFF2-40B4-BE49-F238E27FC236}">
                  <a16:creationId xmlns:a16="http://schemas.microsoft.com/office/drawing/2014/main" id="{BE875033-8E3B-49FA-3075-243B3825CE4B}"/>
                </a:ext>
              </a:extLst>
            </p:cNvPr>
            <p:cNvSpPr txBox="1"/>
            <p:nvPr/>
          </p:nvSpPr>
          <p:spPr>
            <a:xfrm>
              <a:off x="806768" y="4314349"/>
              <a:ext cx="1840247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00" b="1" dirty="0">
                  <a:solidFill>
                    <a:srgbClr val="6E5D49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기존 검사</a:t>
              </a:r>
              <a:r>
                <a:rPr lang="en-US" altLang="zh-CN" sz="1000" b="1" dirty="0">
                  <a:solidFill>
                    <a:srgbClr val="6E5D49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:</a:t>
              </a:r>
              <a:r>
                <a:rPr lang="zh-CN" sz="1000" dirty="0">
                  <a:solidFill>
                    <a:srgbClr val="6E5D49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 이름대기, 문장 따라하기</a:t>
              </a:r>
            </a:p>
          </p:txBody>
        </p:sp>
        <p:sp>
          <p:nvSpPr>
            <p:cNvPr id="110" name="Rectangle 54">
              <a:extLst>
                <a:ext uri="{FF2B5EF4-FFF2-40B4-BE49-F238E27FC236}">
                  <a16:creationId xmlns:a16="http://schemas.microsoft.com/office/drawing/2014/main" id="{CF232EAA-8AC9-F3F2-2D32-B6F8791609DA}"/>
                </a:ext>
              </a:extLst>
            </p:cNvPr>
            <p:cNvSpPr/>
            <p:nvPr/>
          </p:nvSpPr>
          <p:spPr>
            <a:xfrm>
              <a:off x="819150" y="4572000"/>
              <a:ext cx="1943100" cy="247650"/>
            </a:xfrm>
            <a:prstGeom prst="roundRect">
              <a:avLst>
                <a:gd name="adj" fmla="val 50000"/>
              </a:avLst>
            </a:prstGeom>
            <a:solidFill>
              <a:srgbClr val="F5ECD8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endParaRPr>
            </a:p>
          </p:txBody>
        </p:sp>
        <p:sp>
          <p:nvSpPr>
            <p:cNvPr id="111" name="TextBox 55">
              <a:extLst>
                <a:ext uri="{FF2B5EF4-FFF2-40B4-BE49-F238E27FC236}">
                  <a16:creationId xmlns:a16="http://schemas.microsoft.com/office/drawing/2014/main" id="{9DBC9E1D-247C-BC09-4B9D-3BEE8614907A}"/>
                </a:ext>
              </a:extLst>
            </p:cNvPr>
            <p:cNvSpPr txBox="1"/>
            <p:nvPr/>
          </p:nvSpPr>
          <p:spPr>
            <a:xfrm>
              <a:off x="940118" y="4638199"/>
              <a:ext cx="1149354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ko-KR" altLang="en-US" sz="1000" b="1" dirty="0">
                  <a:solidFill>
                    <a:srgbClr val="2A2018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오늘 다녀온 곳 말하기</a:t>
              </a:r>
            </a:p>
          </p:txBody>
        </p:sp>
        <p:sp>
          <p:nvSpPr>
            <p:cNvPr id="112" name="Rectangle 56">
              <a:extLst>
                <a:ext uri="{FF2B5EF4-FFF2-40B4-BE49-F238E27FC236}">
                  <a16:creationId xmlns:a16="http://schemas.microsoft.com/office/drawing/2014/main" id="{6C7B09A5-3D28-6CF5-1AE2-82C715510F97}"/>
                </a:ext>
              </a:extLst>
            </p:cNvPr>
            <p:cNvSpPr/>
            <p:nvPr/>
          </p:nvSpPr>
          <p:spPr>
            <a:xfrm>
              <a:off x="819150" y="4895850"/>
              <a:ext cx="1428750" cy="247650"/>
            </a:xfrm>
            <a:prstGeom prst="roundRect">
              <a:avLst>
                <a:gd name="adj" fmla="val 50000"/>
              </a:avLst>
            </a:prstGeom>
            <a:solidFill>
              <a:srgbClr val="F5ECD8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endParaRPr>
            </a:p>
          </p:txBody>
        </p:sp>
        <p:sp>
          <p:nvSpPr>
            <p:cNvPr id="113" name="TextBox 57">
              <a:extLst>
                <a:ext uri="{FF2B5EF4-FFF2-40B4-BE49-F238E27FC236}">
                  <a16:creationId xmlns:a16="http://schemas.microsoft.com/office/drawing/2014/main" id="{FF749C33-F3C6-52A9-9546-212FA5E7BAD0}"/>
                </a:ext>
              </a:extLst>
            </p:cNvPr>
            <p:cNvSpPr txBox="1"/>
            <p:nvPr/>
          </p:nvSpPr>
          <p:spPr>
            <a:xfrm>
              <a:off x="940118" y="4962049"/>
              <a:ext cx="7662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00" b="1" dirty="0">
                  <a:solidFill>
                    <a:srgbClr val="2A2018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속담 뜻 고르기</a:t>
              </a:r>
            </a:p>
          </p:txBody>
        </p:sp>
      </p:grpSp>
      <p:grpSp>
        <p:nvGrpSpPr>
          <p:cNvPr id="114" name="Group 72">
            <a:extLst>
              <a:ext uri="{FF2B5EF4-FFF2-40B4-BE49-F238E27FC236}">
                <a16:creationId xmlns:a16="http://schemas.microsoft.com/office/drawing/2014/main" id="{5E247A69-FCEF-9070-8C00-0E3DCCBF37D6}"/>
              </a:ext>
            </a:extLst>
          </p:cNvPr>
          <p:cNvGrpSpPr/>
          <p:nvPr/>
        </p:nvGrpSpPr>
        <p:grpSpPr>
          <a:xfrm>
            <a:off x="4343400" y="3657600"/>
            <a:ext cx="3505200" cy="1828800"/>
            <a:chOff x="4343400" y="3543300"/>
            <a:chExt cx="3505200" cy="1828800"/>
          </a:xfrm>
        </p:grpSpPr>
        <p:sp>
          <p:nvSpPr>
            <p:cNvPr id="115" name="Rectangle 59">
              <a:extLst>
                <a:ext uri="{FF2B5EF4-FFF2-40B4-BE49-F238E27FC236}">
                  <a16:creationId xmlns:a16="http://schemas.microsoft.com/office/drawing/2014/main" id="{7A747763-9A0D-C8F4-48F5-E596D0B5D9D3}"/>
                </a:ext>
              </a:extLst>
            </p:cNvPr>
            <p:cNvSpPr/>
            <p:nvPr/>
          </p:nvSpPr>
          <p:spPr>
            <a:xfrm>
              <a:off x="4343400" y="3543300"/>
              <a:ext cx="3505200" cy="1828800"/>
            </a:xfrm>
            <a:prstGeom prst="roundRect">
              <a:avLst>
                <a:gd name="adj" fmla="val 10417"/>
              </a:avLst>
            </a:prstGeom>
            <a:solidFill>
              <a:srgbClr val="FFFFFF"/>
            </a:solidFill>
            <a:ln w="9525">
              <a:solidFill>
                <a:srgbClr val="E7DBC2"/>
              </a:solidFill>
            </a:ln>
          </p:spPr>
          <p:txBody>
            <a:bodyPr/>
            <a:lstStyle/>
            <a:p>
              <a:endParaRPr lang="ko-KR" altLang="en-US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endParaRPr>
            </a:p>
          </p:txBody>
        </p:sp>
        <p:sp>
          <p:nvSpPr>
            <p:cNvPr id="116" name="Rectangle 60">
              <a:extLst>
                <a:ext uri="{FF2B5EF4-FFF2-40B4-BE49-F238E27FC236}">
                  <a16:creationId xmlns:a16="http://schemas.microsoft.com/office/drawing/2014/main" id="{EE7C53B8-E06B-3BAE-B0D2-CD0A72A0FAB1}"/>
                </a:ext>
              </a:extLst>
            </p:cNvPr>
            <p:cNvSpPr/>
            <p:nvPr/>
          </p:nvSpPr>
          <p:spPr>
            <a:xfrm>
              <a:off x="4552950" y="3714750"/>
              <a:ext cx="381000" cy="381000"/>
            </a:xfrm>
            <a:prstGeom prst="roundRect">
              <a:avLst>
                <a:gd name="adj" fmla="val 27500"/>
              </a:avLst>
            </a:prstGeom>
            <a:solidFill>
              <a:srgbClr val="FBE6B4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endParaRPr>
            </a:p>
          </p:txBody>
        </p:sp>
        <p:grpSp>
          <p:nvGrpSpPr>
            <p:cNvPr id="117" name="Group 64">
              <a:extLst>
                <a:ext uri="{FF2B5EF4-FFF2-40B4-BE49-F238E27FC236}">
                  <a16:creationId xmlns:a16="http://schemas.microsoft.com/office/drawing/2014/main" id="{7AF5C15A-C245-B27B-646E-D59750C21A5B}"/>
                </a:ext>
              </a:extLst>
            </p:cNvPr>
            <p:cNvGrpSpPr/>
            <p:nvPr/>
          </p:nvGrpSpPr>
          <p:grpSpPr>
            <a:xfrm>
              <a:off x="4657725" y="3810005"/>
              <a:ext cx="171791" cy="181642"/>
              <a:chOff x="4657725" y="3810005"/>
              <a:chExt cx="171791" cy="181642"/>
            </a:xfrm>
          </p:grpSpPr>
          <p:sp>
            <p:nvSpPr>
              <p:cNvPr id="125" name="Freeform 61">
                <a:extLst>
                  <a:ext uri="{FF2B5EF4-FFF2-40B4-BE49-F238E27FC236}">
                    <a16:creationId xmlns:a16="http://schemas.microsoft.com/office/drawing/2014/main" id="{C6B2E840-F16C-7202-0528-91B080D7622E}"/>
                  </a:ext>
                </a:extLst>
              </p:cNvPr>
              <p:cNvSpPr/>
              <p:nvPr/>
            </p:nvSpPr>
            <p:spPr>
              <a:xfrm>
                <a:off x="4695399" y="3810005"/>
                <a:ext cx="96103" cy="85720"/>
              </a:xfrm>
              <a:custGeom>
                <a:avLst/>
                <a:gdLst/>
                <a:ahLst/>
                <a:cxnLst/>
                <a:rect l="l" t="t" r="r" b="b"/>
                <a:pathLst>
                  <a:path w="96103" h="85720">
                    <a:moveTo>
                      <a:pt x="39784" y="4795"/>
                    </a:moveTo>
                    <a:lnTo>
                      <a:pt x="1684" y="71470"/>
                    </a:lnTo>
                    <a:cubicBezTo>
                      <a:pt x="0" y="74418"/>
                      <a:pt x="12" y="78039"/>
                      <a:pt x="1716" y="80975"/>
                    </a:cubicBezTo>
                    <a:cubicBezTo>
                      <a:pt x="3419" y="83911"/>
                      <a:pt x="6557" y="85719"/>
                      <a:pt x="9951" y="85720"/>
                    </a:cubicBezTo>
                    <a:lnTo>
                      <a:pt x="86151" y="85720"/>
                    </a:lnTo>
                    <a:cubicBezTo>
                      <a:pt x="89546" y="85719"/>
                      <a:pt x="92683" y="83911"/>
                      <a:pt x="94387" y="80975"/>
                    </a:cubicBezTo>
                    <a:cubicBezTo>
                      <a:pt x="96091" y="78039"/>
                      <a:pt x="96103" y="74418"/>
                      <a:pt x="94419" y="71470"/>
                    </a:cubicBezTo>
                    <a:lnTo>
                      <a:pt x="56319" y="4795"/>
                    </a:lnTo>
                    <a:cubicBezTo>
                      <a:pt x="54623" y="1830"/>
                      <a:pt x="51468" y="0"/>
                      <a:pt x="48051" y="0"/>
                    </a:cubicBezTo>
                    <a:cubicBezTo>
                      <a:pt x="44635" y="0"/>
                      <a:pt x="41480" y="1830"/>
                      <a:pt x="39784" y="4795"/>
                    </a:cubicBezTo>
                    <a:close/>
                  </a:path>
                </a:pathLst>
              </a:custGeom>
              <a:solidFill>
                <a:srgbClr val="2A2018"/>
              </a:solidFill>
              <a:ln>
                <a:noFill/>
              </a:ln>
            </p:spPr>
            <p:txBody>
              <a:bodyPr/>
              <a:lstStyle/>
              <a:p>
                <a:endParaRPr lang="ko-KR" altLang="en-US"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endParaRPr>
              </a:p>
            </p:txBody>
          </p:sp>
          <p:sp>
            <p:nvSpPr>
              <p:cNvPr id="126" name="Freeform 62">
                <a:extLst>
                  <a:ext uri="{FF2B5EF4-FFF2-40B4-BE49-F238E27FC236}">
                    <a16:creationId xmlns:a16="http://schemas.microsoft.com/office/drawing/2014/main" id="{C79EECB8-1BBC-17D7-4D0D-9E6E253E13ED}"/>
                  </a:ext>
                </a:extLst>
              </p:cNvPr>
              <p:cNvSpPr/>
              <p:nvPr/>
            </p:nvSpPr>
            <p:spPr>
              <a:xfrm>
                <a:off x="4752975" y="3914775"/>
                <a:ext cx="76541" cy="76872"/>
              </a:xfrm>
              <a:custGeom>
                <a:avLst/>
                <a:gdLst/>
                <a:ahLst/>
                <a:cxnLst/>
                <a:rect l="l" t="t" r="r" b="b"/>
                <a:pathLst>
                  <a:path w="76541" h="76872">
                    <a:moveTo>
                      <a:pt x="38100" y="0"/>
                    </a:moveTo>
                    <a:cubicBezTo>
                      <a:pt x="58894" y="0"/>
                      <a:pt x="75848" y="16673"/>
                      <a:pt x="76195" y="37465"/>
                    </a:cubicBezTo>
                    <a:cubicBezTo>
                      <a:pt x="76541" y="58256"/>
                      <a:pt x="60153" y="75486"/>
                      <a:pt x="39370" y="76179"/>
                    </a:cubicBezTo>
                    <a:cubicBezTo>
                      <a:pt x="18587" y="76872"/>
                      <a:pt x="1087" y="60773"/>
                      <a:pt x="48" y="40005"/>
                    </a:cubicBezTo>
                    <a:lnTo>
                      <a:pt x="0" y="38100"/>
                    </a:lnTo>
                    <a:lnTo>
                      <a:pt x="48" y="36195"/>
                    </a:lnTo>
                    <a:cubicBezTo>
                      <a:pt x="1063" y="15919"/>
                      <a:pt x="17798" y="0"/>
                      <a:pt x="38100" y="0"/>
                    </a:cubicBezTo>
                    <a:close/>
                  </a:path>
                </a:pathLst>
              </a:custGeom>
              <a:solidFill>
                <a:srgbClr val="2A2018"/>
              </a:solidFill>
              <a:ln>
                <a:noFill/>
              </a:ln>
            </p:spPr>
            <p:txBody>
              <a:bodyPr/>
              <a:lstStyle/>
              <a:p>
                <a:endParaRPr lang="ko-KR" altLang="en-US"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endParaRPr>
              </a:p>
            </p:txBody>
          </p:sp>
          <p:sp>
            <p:nvSpPr>
              <p:cNvPr id="127" name="Freeform 63">
                <a:extLst>
                  <a:ext uri="{FF2B5EF4-FFF2-40B4-BE49-F238E27FC236}">
                    <a16:creationId xmlns:a16="http://schemas.microsoft.com/office/drawing/2014/main" id="{F98479BA-6DA7-A2A6-9AFC-3F9FBAA9F7C1}"/>
                  </a:ext>
                </a:extLst>
              </p:cNvPr>
              <p:cNvSpPr/>
              <p:nvPr/>
            </p:nvSpPr>
            <p:spPr>
              <a:xfrm>
                <a:off x="4657725" y="3914775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57150" y="0"/>
                    </a:moveTo>
                    <a:lnTo>
                      <a:pt x="19050" y="0"/>
                    </a:lnTo>
                    <a:cubicBezTo>
                      <a:pt x="8529" y="0"/>
                      <a:pt x="0" y="8529"/>
                      <a:pt x="0" y="19050"/>
                    </a:cubicBezTo>
                    <a:lnTo>
                      <a:pt x="0" y="57150"/>
                    </a:lnTo>
                    <a:cubicBezTo>
                      <a:pt x="0" y="67671"/>
                      <a:pt x="8529" y="76200"/>
                      <a:pt x="19050" y="76200"/>
                    </a:cubicBezTo>
                    <a:lnTo>
                      <a:pt x="57150" y="76200"/>
                    </a:lnTo>
                    <a:cubicBezTo>
                      <a:pt x="67671" y="76200"/>
                      <a:pt x="76200" y="67671"/>
                      <a:pt x="76200" y="57150"/>
                    </a:cubicBezTo>
                    <a:lnTo>
                      <a:pt x="76200" y="19050"/>
                    </a:lnTo>
                    <a:cubicBezTo>
                      <a:pt x="76200" y="8529"/>
                      <a:pt x="67671" y="0"/>
                      <a:pt x="57150" y="0"/>
                    </a:cubicBezTo>
                    <a:close/>
                  </a:path>
                </a:pathLst>
              </a:custGeom>
              <a:solidFill>
                <a:srgbClr val="2A2018"/>
              </a:solidFill>
              <a:ln>
                <a:noFill/>
              </a:ln>
            </p:spPr>
            <p:txBody>
              <a:bodyPr/>
              <a:lstStyle/>
              <a:p>
                <a:endParaRPr lang="ko-KR" altLang="en-US"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endParaRPr>
              </a:p>
            </p:txBody>
          </p:sp>
        </p:grpSp>
        <p:sp>
          <p:nvSpPr>
            <p:cNvPr id="118" name="TextBox 65">
              <a:extLst>
                <a:ext uri="{FF2B5EF4-FFF2-40B4-BE49-F238E27FC236}">
                  <a16:creationId xmlns:a16="http://schemas.microsoft.com/office/drawing/2014/main" id="{DD20CF61-0F44-4C8C-68E4-0CF84F9299F2}"/>
                </a:ext>
              </a:extLst>
            </p:cNvPr>
            <p:cNvSpPr txBox="1"/>
            <p:nvPr/>
          </p:nvSpPr>
          <p:spPr>
            <a:xfrm>
              <a:off x="5029200" y="3745565"/>
              <a:ext cx="557845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2A2018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시공간</a:t>
              </a:r>
            </a:p>
          </p:txBody>
        </p:sp>
        <p:sp>
          <p:nvSpPr>
            <p:cNvPr id="119" name="TextBox 66">
              <a:extLst>
                <a:ext uri="{FF2B5EF4-FFF2-40B4-BE49-F238E27FC236}">
                  <a16:creationId xmlns:a16="http://schemas.microsoft.com/office/drawing/2014/main" id="{F601CD11-C722-DFBD-BAA3-2CBC4FED0C37}"/>
                </a:ext>
              </a:extLst>
            </p:cNvPr>
            <p:cNvSpPr txBox="1"/>
            <p:nvPr/>
          </p:nvSpPr>
          <p:spPr>
            <a:xfrm>
              <a:off x="5036344" y="4032647"/>
              <a:ext cx="823944" cy="1443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b="1" dirty="0">
                  <a:solidFill>
                    <a:srgbClr val="6C5D4C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시공간 구성 능력</a:t>
              </a:r>
            </a:p>
          </p:txBody>
        </p:sp>
        <p:sp>
          <p:nvSpPr>
            <p:cNvPr id="120" name="TextBox 67">
              <a:extLst>
                <a:ext uri="{FF2B5EF4-FFF2-40B4-BE49-F238E27FC236}">
                  <a16:creationId xmlns:a16="http://schemas.microsoft.com/office/drawing/2014/main" id="{07CE41D9-0240-7294-D347-C8140F9E88A8}"/>
                </a:ext>
              </a:extLst>
            </p:cNvPr>
            <p:cNvSpPr txBox="1"/>
            <p:nvPr/>
          </p:nvSpPr>
          <p:spPr>
            <a:xfrm>
              <a:off x="4540568" y="4314349"/>
              <a:ext cx="1457130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00" b="1" dirty="0">
                  <a:solidFill>
                    <a:srgbClr val="6E5D49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기존 검사</a:t>
              </a:r>
              <a:r>
                <a:rPr lang="en-US" altLang="zh-CN" sz="1000" b="1" dirty="0">
                  <a:solidFill>
                    <a:srgbClr val="6E5D49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:</a:t>
              </a:r>
              <a:r>
                <a:rPr lang="zh-CN" sz="1000" dirty="0">
                  <a:solidFill>
                    <a:srgbClr val="6E5D49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 겹친 도형 그리기</a:t>
              </a:r>
            </a:p>
          </p:txBody>
        </p:sp>
        <p:sp>
          <p:nvSpPr>
            <p:cNvPr id="121" name="Rectangle 68">
              <a:extLst>
                <a:ext uri="{FF2B5EF4-FFF2-40B4-BE49-F238E27FC236}">
                  <a16:creationId xmlns:a16="http://schemas.microsoft.com/office/drawing/2014/main" id="{B3441CEF-424A-8FB3-7F1B-92565C633424}"/>
                </a:ext>
              </a:extLst>
            </p:cNvPr>
            <p:cNvSpPr/>
            <p:nvPr/>
          </p:nvSpPr>
          <p:spPr>
            <a:xfrm>
              <a:off x="4552950" y="4572000"/>
              <a:ext cx="2003057" cy="247650"/>
            </a:xfrm>
            <a:prstGeom prst="roundRect">
              <a:avLst>
                <a:gd name="adj" fmla="val 50000"/>
              </a:avLst>
            </a:prstGeom>
            <a:solidFill>
              <a:srgbClr val="F5ECD8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endParaRPr>
            </a:p>
          </p:txBody>
        </p:sp>
        <p:sp>
          <p:nvSpPr>
            <p:cNvPr id="122" name="TextBox 69">
              <a:extLst>
                <a:ext uri="{FF2B5EF4-FFF2-40B4-BE49-F238E27FC236}">
                  <a16:creationId xmlns:a16="http://schemas.microsoft.com/office/drawing/2014/main" id="{FCFA9D65-D33F-645E-4E47-51E60F89BFED}"/>
                </a:ext>
              </a:extLst>
            </p:cNvPr>
            <p:cNvSpPr txBox="1"/>
            <p:nvPr/>
          </p:nvSpPr>
          <p:spPr>
            <a:xfrm>
              <a:off x="4673918" y="4638199"/>
              <a:ext cx="1383392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ko-KR" altLang="en-US" sz="1000" b="1" dirty="0">
                  <a:solidFill>
                    <a:srgbClr val="2A2018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들은 순서대로 버튼 누르기</a:t>
              </a:r>
            </a:p>
          </p:txBody>
        </p:sp>
        <p:sp>
          <p:nvSpPr>
            <p:cNvPr id="123" name="Rectangle 70">
              <a:extLst>
                <a:ext uri="{FF2B5EF4-FFF2-40B4-BE49-F238E27FC236}">
                  <a16:creationId xmlns:a16="http://schemas.microsoft.com/office/drawing/2014/main" id="{0BE1AC33-CF37-AB67-CA44-4F2FE39336A1}"/>
                </a:ext>
              </a:extLst>
            </p:cNvPr>
            <p:cNvSpPr/>
            <p:nvPr/>
          </p:nvSpPr>
          <p:spPr>
            <a:xfrm>
              <a:off x="4552950" y="4895850"/>
              <a:ext cx="1866900" cy="247650"/>
            </a:xfrm>
            <a:prstGeom prst="roundRect">
              <a:avLst>
                <a:gd name="adj" fmla="val 50000"/>
              </a:avLst>
            </a:prstGeom>
            <a:solidFill>
              <a:srgbClr val="F5ECD8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endParaRPr>
            </a:p>
          </p:txBody>
        </p:sp>
        <p:sp>
          <p:nvSpPr>
            <p:cNvPr id="124" name="TextBox 71">
              <a:extLst>
                <a:ext uri="{FF2B5EF4-FFF2-40B4-BE49-F238E27FC236}">
                  <a16:creationId xmlns:a16="http://schemas.microsoft.com/office/drawing/2014/main" id="{1D81F552-35AC-D37F-D647-DD53A5CEFFBA}"/>
                </a:ext>
              </a:extLst>
            </p:cNvPr>
            <p:cNvSpPr txBox="1"/>
            <p:nvPr/>
          </p:nvSpPr>
          <p:spPr>
            <a:xfrm>
              <a:off x="4673918" y="4962049"/>
              <a:ext cx="1298432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00" b="1" dirty="0">
                  <a:solidFill>
                    <a:srgbClr val="2A2018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그림 보고 같은 것 고르기</a:t>
              </a:r>
            </a:p>
          </p:txBody>
        </p:sp>
      </p:grpSp>
      <p:grpSp>
        <p:nvGrpSpPr>
          <p:cNvPr id="128" name="Group 83">
            <a:extLst>
              <a:ext uri="{FF2B5EF4-FFF2-40B4-BE49-F238E27FC236}">
                <a16:creationId xmlns:a16="http://schemas.microsoft.com/office/drawing/2014/main" id="{A0CA2EDD-10BC-6AAD-0A08-37EB8EA38A32}"/>
              </a:ext>
            </a:extLst>
          </p:cNvPr>
          <p:cNvGrpSpPr/>
          <p:nvPr/>
        </p:nvGrpSpPr>
        <p:grpSpPr>
          <a:xfrm>
            <a:off x="8077200" y="3657600"/>
            <a:ext cx="3505200" cy="1828800"/>
            <a:chOff x="8077200" y="3543300"/>
            <a:chExt cx="3505200" cy="1828800"/>
          </a:xfrm>
        </p:grpSpPr>
        <p:sp>
          <p:nvSpPr>
            <p:cNvPr id="129" name="Rectangle 73">
              <a:extLst>
                <a:ext uri="{FF2B5EF4-FFF2-40B4-BE49-F238E27FC236}">
                  <a16:creationId xmlns:a16="http://schemas.microsoft.com/office/drawing/2014/main" id="{2FB03F16-7DA5-A817-3219-CF49F52517BB}"/>
                </a:ext>
              </a:extLst>
            </p:cNvPr>
            <p:cNvSpPr/>
            <p:nvPr/>
          </p:nvSpPr>
          <p:spPr>
            <a:xfrm>
              <a:off x="8077200" y="3543300"/>
              <a:ext cx="3505200" cy="1828800"/>
            </a:xfrm>
            <a:prstGeom prst="roundRect">
              <a:avLst>
                <a:gd name="adj" fmla="val 10417"/>
              </a:avLst>
            </a:prstGeom>
            <a:solidFill>
              <a:srgbClr val="FFFFFF"/>
            </a:solidFill>
            <a:ln w="9525">
              <a:solidFill>
                <a:srgbClr val="E7DBC2"/>
              </a:solidFill>
            </a:ln>
          </p:spPr>
          <p:txBody>
            <a:bodyPr/>
            <a:lstStyle/>
            <a:p>
              <a:endParaRPr lang="ko-KR" altLang="en-US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endParaRPr>
            </a:p>
          </p:txBody>
        </p:sp>
        <p:sp>
          <p:nvSpPr>
            <p:cNvPr id="130" name="Rectangle 74">
              <a:extLst>
                <a:ext uri="{FF2B5EF4-FFF2-40B4-BE49-F238E27FC236}">
                  <a16:creationId xmlns:a16="http://schemas.microsoft.com/office/drawing/2014/main" id="{7EFF1018-EAC6-9EB2-82FA-5433378F5176}"/>
                </a:ext>
              </a:extLst>
            </p:cNvPr>
            <p:cNvSpPr/>
            <p:nvPr/>
          </p:nvSpPr>
          <p:spPr>
            <a:xfrm>
              <a:off x="8286750" y="3714750"/>
              <a:ext cx="381000" cy="381000"/>
            </a:xfrm>
            <a:prstGeom prst="roundRect">
              <a:avLst>
                <a:gd name="adj" fmla="val 27500"/>
              </a:avLst>
            </a:prstGeom>
            <a:solidFill>
              <a:srgbClr val="EAF3E4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endParaRPr>
            </a:p>
          </p:txBody>
        </p:sp>
        <p:sp>
          <p:nvSpPr>
            <p:cNvPr id="131" name="Freeform 75">
              <a:extLst>
                <a:ext uri="{FF2B5EF4-FFF2-40B4-BE49-F238E27FC236}">
                  <a16:creationId xmlns:a16="http://schemas.microsoft.com/office/drawing/2014/main" id="{A3BEA368-6B0A-F001-814B-27C1B41B09B3}"/>
                </a:ext>
              </a:extLst>
            </p:cNvPr>
            <p:cNvSpPr/>
            <p:nvPr/>
          </p:nvSpPr>
          <p:spPr>
            <a:xfrm>
              <a:off x="8382000" y="3805733"/>
              <a:ext cx="200311" cy="200639"/>
            </a:xfrm>
            <a:custGeom>
              <a:avLst/>
              <a:gdLst/>
              <a:ahLst/>
              <a:cxnLst/>
              <a:rect l="l" t="t" r="r" b="b"/>
              <a:pathLst>
                <a:path w="200311" h="200639">
                  <a:moveTo>
                    <a:pt x="142875" y="17030"/>
                  </a:moveTo>
                  <a:cubicBezTo>
                    <a:pt x="182569" y="39949"/>
                    <a:pt x="200311" y="87890"/>
                    <a:pt x="185099" y="131128"/>
                  </a:cubicBezTo>
                  <a:cubicBezTo>
                    <a:pt x="169888" y="174367"/>
                    <a:pt x="126037" y="200639"/>
                    <a:pt x="80736" y="193656"/>
                  </a:cubicBezTo>
                  <a:cubicBezTo>
                    <a:pt x="35435" y="186673"/>
                    <a:pt x="1532" y="148415"/>
                    <a:pt x="48" y="102603"/>
                  </a:cubicBezTo>
                  <a:lnTo>
                    <a:pt x="0" y="99517"/>
                  </a:lnTo>
                  <a:lnTo>
                    <a:pt x="48" y="96431"/>
                  </a:lnTo>
                  <a:cubicBezTo>
                    <a:pt x="1133" y="62969"/>
                    <a:pt x="19706" y="32534"/>
                    <a:pt x="48967" y="16267"/>
                  </a:cubicBezTo>
                  <a:cubicBezTo>
                    <a:pt x="78228" y="0"/>
                    <a:pt x="113882" y="290"/>
                    <a:pt x="142875" y="17030"/>
                  </a:cubicBezTo>
                  <a:close/>
                  <a:moveTo>
                    <a:pt x="125730" y="121291"/>
                  </a:moveTo>
                  <a:cubicBezTo>
                    <a:pt x="121974" y="117609"/>
                    <a:pt x="115944" y="117669"/>
                    <a:pt x="112262" y="121424"/>
                  </a:cubicBezTo>
                  <a:cubicBezTo>
                    <a:pt x="107783" y="125997"/>
                    <a:pt x="101651" y="128574"/>
                    <a:pt x="95250" y="128574"/>
                  </a:cubicBezTo>
                  <a:cubicBezTo>
                    <a:pt x="88849" y="128574"/>
                    <a:pt x="82717" y="125997"/>
                    <a:pt x="78238" y="121424"/>
                  </a:cubicBezTo>
                  <a:cubicBezTo>
                    <a:pt x="74540" y="117758"/>
                    <a:pt x="68583" y="117742"/>
                    <a:pt x="64865" y="121387"/>
                  </a:cubicBezTo>
                  <a:cubicBezTo>
                    <a:pt x="61146" y="125033"/>
                    <a:pt x="61045" y="130989"/>
                    <a:pt x="64637" y="134759"/>
                  </a:cubicBezTo>
                  <a:cubicBezTo>
                    <a:pt x="72698" y="142986"/>
                    <a:pt x="83732" y="147621"/>
                    <a:pt x="95250" y="147621"/>
                  </a:cubicBezTo>
                  <a:cubicBezTo>
                    <a:pt x="106768" y="147621"/>
                    <a:pt x="117802" y="142986"/>
                    <a:pt x="125863" y="134759"/>
                  </a:cubicBezTo>
                  <a:cubicBezTo>
                    <a:pt x="129545" y="131003"/>
                    <a:pt x="129485" y="124973"/>
                    <a:pt x="125730" y="121291"/>
                  </a:cubicBezTo>
                  <a:close/>
                  <a:moveTo>
                    <a:pt x="66770" y="70942"/>
                  </a:moveTo>
                  <a:lnTo>
                    <a:pt x="65561" y="71008"/>
                  </a:lnTo>
                  <a:cubicBezTo>
                    <a:pt x="60556" y="71604"/>
                    <a:pt x="56882" y="75994"/>
                    <a:pt x="57177" y="81025"/>
                  </a:cubicBezTo>
                  <a:cubicBezTo>
                    <a:pt x="57472" y="86056"/>
                    <a:pt x="61635" y="89986"/>
                    <a:pt x="66675" y="89992"/>
                  </a:cubicBezTo>
                  <a:lnTo>
                    <a:pt x="67885" y="89925"/>
                  </a:lnTo>
                  <a:cubicBezTo>
                    <a:pt x="72889" y="89330"/>
                    <a:pt x="76564" y="84939"/>
                    <a:pt x="76268" y="79908"/>
                  </a:cubicBezTo>
                  <a:cubicBezTo>
                    <a:pt x="75973" y="74877"/>
                    <a:pt x="71810" y="70947"/>
                    <a:pt x="66770" y="70942"/>
                  </a:cubicBezTo>
                  <a:close/>
                  <a:moveTo>
                    <a:pt x="123920" y="70942"/>
                  </a:moveTo>
                  <a:lnTo>
                    <a:pt x="122711" y="71008"/>
                  </a:lnTo>
                  <a:cubicBezTo>
                    <a:pt x="117706" y="71604"/>
                    <a:pt x="114032" y="75994"/>
                    <a:pt x="114327" y="81025"/>
                  </a:cubicBezTo>
                  <a:cubicBezTo>
                    <a:pt x="114622" y="86056"/>
                    <a:pt x="118785" y="89986"/>
                    <a:pt x="123825" y="89992"/>
                  </a:cubicBezTo>
                  <a:lnTo>
                    <a:pt x="125035" y="89925"/>
                  </a:lnTo>
                  <a:cubicBezTo>
                    <a:pt x="130039" y="89330"/>
                    <a:pt x="133714" y="84939"/>
                    <a:pt x="133418" y="79908"/>
                  </a:cubicBezTo>
                  <a:cubicBezTo>
                    <a:pt x="133123" y="74877"/>
                    <a:pt x="128960" y="70947"/>
                    <a:pt x="123920" y="70942"/>
                  </a:cubicBezTo>
                  <a:close/>
                </a:path>
              </a:pathLst>
            </a:custGeom>
            <a:solidFill>
              <a:srgbClr val="5E9A6A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endParaRPr>
            </a:p>
          </p:txBody>
        </p:sp>
        <p:sp>
          <p:nvSpPr>
            <p:cNvPr id="132" name="TextBox 76">
              <a:extLst>
                <a:ext uri="{FF2B5EF4-FFF2-40B4-BE49-F238E27FC236}">
                  <a16:creationId xmlns:a16="http://schemas.microsoft.com/office/drawing/2014/main" id="{A771D792-CAAF-E35D-1E97-61BA93BBAE0A}"/>
                </a:ext>
              </a:extLst>
            </p:cNvPr>
            <p:cNvSpPr txBox="1"/>
            <p:nvPr/>
          </p:nvSpPr>
          <p:spPr>
            <a:xfrm>
              <a:off x="8763000" y="3745565"/>
              <a:ext cx="371897" cy="24622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00" b="1" dirty="0">
                  <a:solidFill>
                    <a:srgbClr val="2A2018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감정</a:t>
              </a:r>
            </a:p>
          </p:txBody>
        </p:sp>
        <p:sp>
          <p:nvSpPr>
            <p:cNvPr id="133" name="TextBox 77">
              <a:extLst>
                <a:ext uri="{FF2B5EF4-FFF2-40B4-BE49-F238E27FC236}">
                  <a16:creationId xmlns:a16="http://schemas.microsoft.com/office/drawing/2014/main" id="{6C7789B4-7383-AFF3-230B-896B824D8D82}"/>
                </a:ext>
              </a:extLst>
            </p:cNvPr>
            <p:cNvSpPr txBox="1"/>
            <p:nvPr/>
          </p:nvSpPr>
          <p:spPr>
            <a:xfrm>
              <a:off x="8770144" y="4032647"/>
              <a:ext cx="799899" cy="1443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38" b="1" dirty="0">
                  <a:solidFill>
                    <a:srgbClr val="6C5D4C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기분 · 정서 관찰</a:t>
              </a:r>
            </a:p>
          </p:txBody>
        </p:sp>
        <p:sp>
          <p:nvSpPr>
            <p:cNvPr id="134" name="TextBox 78">
              <a:extLst>
                <a:ext uri="{FF2B5EF4-FFF2-40B4-BE49-F238E27FC236}">
                  <a16:creationId xmlns:a16="http://schemas.microsoft.com/office/drawing/2014/main" id="{BFDE73E3-010C-242E-4390-9A2CF0898217}"/>
                </a:ext>
              </a:extLst>
            </p:cNvPr>
            <p:cNvSpPr txBox="1"/>
            <p:nvPr/>
          </p:nvSpPr>
          <p:spPr>
            <a:xfrm>
              <a:off x="8274368" y="4314349"/>
              <a:ext cx="1631857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00" b="1" dirty="0">
                  <a:solidFill>
                    <a:srgbClr val="6E5D49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기존 검사</a:t>
              </a:r>
              <a:r>
                <a:rPr lang="en-US" altLang="zh-CN" sz="1000" b="1" dirty="0">
                  <a:solidFill>
                    <a:srgbClr val="6E5D49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:</a:t>
              </a:r>
              <a:r>
                <a:rPr lang="zh-CN" sz="1000" dirty="0">
                  <a:solidFill>
                    <a:srgbClr val="6E5D49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 기분·우울 선별 설문</a:t>
              </a:r>
            </a:p>
          </p:txBody>
        </p:sp>
        <p:sp>
          <p:nvSpPr>
            <p:cNvPr id="135" name="Rectangle 79">
              <a:extLst>
                <a:ext uri="{FF2B5EF4-FFF2-40B4-BE49-F238E27FC236}">
                  <a16:creationId xmlns:a16="http://schemas.microsoft.com/office/drawing/2014/main" id="{B081523F-21D0-0A98-094F-7088A14B4E53}"/>
                </a:ext>
              </a:extLst>
            </p:cNvPr>
            <p:cNvSpPr/>
            <p:nvPr/>
          </p:nvSpPr>
          <p:spPr>
            <a:xfrm>
              <a:off x="8286750" y="4572000"/>
              <a:ext cx="2038350" cy="247650"/>
            </a:xfrm>
            <a:prstGeom prst="roundRect">
              <a:avLst>
                <a:gd name="adj" fmla="val 50000"/>
              </a:avLst>
            </a:prstGeom>
            <a:solidFill>
              <a:srgbClr val="F5ECD8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endParaRPr>
            </a:p>
          </p:txBody>
        </p:sp>
        <p:sp>
          <p:nvSpPr>
            <p:cNvPr id="136" name="TextBox 80">
              <a:extLst>
                <a:ext uri="{FF2B5EF4-FFF2-40B4-BE49-F238E27FC236}">
                  <a16:creationId xmlns:a16="http://schemas.microsoft.com/office/drawing/2014/main" id="{4A2513CE-5510-A949-6A7F-E64D8F87368A}"/>
                </a:ext>
              </a:extLst>
            </p:cNvPr>
            <p:cNvSpPr txBox="1"/>
            <p:nvPr/>
          </p:nvSpPr>
          <p:spPr>
            <a:xfrm>
              <a:off x="8407718" y="4638199"/>
              <a:ext cx="1532471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ko-KR" altLang="en-US" sz="1000" b="1" dirty="0">
                  <a:solidFill>
                    <a:srgbClr val="2A2018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오늘 기분 네 자리에서 고르기</a:t>
              </a:r>
            </a:p>
          </p:txBody>
        </p:sp>
        <p:sp>
          <p:nvSpPr>
            <p:cNvPr id="137" name="Rectangle 81">
              <a:extLst>
                <a:ext uri="{FF2B5EF4-FFF2-40B4-BE49-F238E27FC236}">
                  <a16:creationId xmlns:a16="http://schemas.microsoft.com/office/drawing/2014/main" id="{D0A01F53-0E58-E632-D47C-D1A344B5A3AF}"/>
                </a:ext>
              </a:extLst>
            </p:cNvPr>
            <p:cNvSpPr/>
            <p:nvPr/>
          </p:nvSpPr>
          <p:spPr>
            <a:xfrm>
              <a:off x="8286750" y="4895850"/>
              <a:ext cx="1638300" cy="247650"/>
            </a:xfrm>
            <a:prstGeom prst="roundRect">
              <a:avLst>
                <a:gd name="adj" fmla="val 50000"/>
              </a:avLst>
            </a:prstGeom>
            <a:solidFill>
              <a:srgbClr val="F5ECD8"/>
            </a:solidFill>
            <a:ln>
              <a:noFill/>
            </a:ln>
          </p:spPr>
          <p:txBody>
            <a:bodyPr/>
            <a:lstStyle/>
            <a:p>
              <a:endParaRPr lang="ko-KR" altLang="en-US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endParaRPr>
            </a:p>
          </p:txBody>
        </p:sp>
        <p:sp>
          <p:nvSpPr>
            <p:cNvPr id="138" name="TextBox 82">
              <a:extLst>
                <a:ext uri="{FF2B5EF4-FFF2-40B4-BE49-F238E27FC236}">
                  <a16:creationId xmlns:a16="http://schemas.microsoft.com/office/drawing/2014/main" id="{41FDE1EB-612E-B03E-0D3C-CB74A9D7C39F}"/>
                </a:ext>
              </a:extLst>
            </p:cNvPr>
            <p:cNvSpPr txBox="1"/>
            <p:nvPr/>
          </p:nvSpPr>
          <p:spPr>
            <a:xfrm>
              <a:off x="8407718" y="4962049"/>
              <a:ext cx="883255" cy="1538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ko-KR" altLang="en-US" sz="1000" b="1" dirty="0">
                  <a:solidFill>
                    <a:srgbClr val="2A2018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오늘 하루 말하기</a:t>
              </a:r>
            </a:p>
          </p:txBody>
        </p:sp>
      </p:grpSp>
      <p:sp>
        <p:nvSpPr>
          <p:cNvPr id="139" name="Rectangle 84">
            <a:extLst>
              <a:ext uri="{FF2B5EF4-FFF2-40B4-BE49-F238E27FC236}">
                <a16:creationId xmlns:a16="http://schemas.microsoft.com/office/drawing/2014/main" id="{8E2491E2-18C0-BA15-FDF3-214D85AE9E15}"/>
              </a:ext>
            </a:extLst>
          </p:cNvPr>
          <p:cNvSpPr/>
          <p:nvPr/>
        </p:nvSpPr>
        <p:spPr>
          <a:xfrm>
            <a:off x="609600" y="5581650"/>
            <a:ext cx="10972800" cy="590550"/>
          </a:xfrm>
          <a:prstGeom prst="roundRect">
            <a:avLst>
              <a:gd name="adj" fmla="val 29032"/>
            </a:avLst>
          </a:prstGeom>
          <a:solidFill>
            <a:srgbClr val="F5ECD8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나눔스퀘어라운드 Bold" panose="020B0600000101010101" pitchFamily="50" charset="-127"/>
            </a:endParaRPr>
          </a:p>
        </p:txBody>
      </p:sp>
      <p:sp>
        <p:nvSpPr>
          <p:cNvPr id="140" name="Rectangle 85">
            <a:extLst>
              <a:ext uri="{FF2B5EF4-FFF2-40B4-BE49-F238E27FC236}">
                <a16:creationId xmlns:a16="http://schemas.microsoft.com/office/drawing/2014/main" id="{BB8E636F-631E-E881-189F-62BCECDBE28C}"/>
              </a:ext>
            </a:extLst>
          </p:cNvPr>
          <p:cNvSpPr/>
          <p:nvPr/>
        </p:nvSpPr>
        <p:spPr>
          <a:xfrm>
            <a:off x="770796" y="5724525"/>
            <a:ext cx="268605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C7A6"/>
            </a:solidFill>
          </a:ln>
        </p:spPr>
        <p:txBody>
          <a:bodyPr/>
          <a:lstStyle/>
          <a:p>
            <a:endParaRPr lang="ko-KR" altLang="en-US"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나눔스퀘어라운드 Bold" panose="020B0600000101010101" pitchFamily="50" charset="-127"/>
            </a:endParaRPr>
          </a:p>
        </p:txBody>
      </p:sp>
      <p:sp>
        <p:nvSpPr>
          <p:cNvPr id="141" name="Freeform 86">
            <a:extLst>
              <a:ext uri="{FF2B5EF4-FFF2-40B4-BE49-F238E27FC236}">
                <a16:creationId xmlns:a16="http://schemas.microsoft.com/office/drawing/2014/main" id="{BB3BB1B8-6FBB-A774-9FE8-BA7D76355B67}"/>
              </a:ext>
            </a:extLst>
          </p:cNvPr>
          <p:cNvSpPr/>
          <p:nvPr/>
        </p:nvSpPr>
        <p:spPr>
          <a:xfrm>
            <a:off x="891928" y="5819775"/>
            <a:ext cx="157467" cy="114300"/>
          </a:xfrm>
          <a:custGeom>
            <a:avLst/>
            <a:gdLst/>
            <a:ahLst/>
            <a:cxnLst/>
            <a:rect l="l" t="t" r="r" b="b"/>
            <a:pathLst>
              <a:path w="157467" h="114300">
                <a:moveTo>
                  <a:pt x="78893" y="0"/>
                </a:moveTo>
                <a:cubicBezTo>
                  <a:pt x="109539" y="0"/>
                  <a:pt x="135064" y="17352"/>
                  <a:pt x="155081" y="51106"/>
                </a:cubicBezTo>
                <a:lnTo>
                  <a:pt x="156652" y="53814"/>
                </a:lnTo>
                <a:lnTo>
                  <a:pt x="156974" y="54528"/>
                </a:lnTo>
                <a:lnTo>
                  <a:pt x="157188" y="55121"/>
                </a:lnTo>
                <a:lnTo>
                  <a:pt x="157288" y="55514"/>
                </a:lnTo>
                <a:lnTo>
                  <a:pt x="157388" y="56100"/>
                </a:lnTo>
                <a:lnTo>
                  <a:pt x="157467" y="56814"/>
                </a:lnTo>
                <a:lnTo>
                  <a:pt x="157467" y="57600"/>
                </a:lnTo>
                <a:lnTo>
                  <a:pt x="157367" y="58393"/>
                </a:lnTo>
                <a:cubicBezTo>
                  <a:pt x="157320" y="58658"/>
                  <a:pt x="157258" y="58921"/>
                  <a:pt x="157181" y="59179"/>
                </a:cubicBezTo>
                <a:lnTo>
                  <a:pt x="156902" y="59950"/>
                </a:lnTo>
                <a:lnTo>
                  <a:pt x="156645" y="60486"/>
                </a:lnTo>
                <a:lnTo>
                  <a:pt x="156531" y="60700"/>
                </a:lnTo>
                <a:cubicBezTo>
                  <a:pt x="136785" y="95248"/>
                  <a:pt x="111525" y="113421"/>
                  <a:pt x="81128" y="114271"/>
                </a:cubicBezTo>
                <a:lnTo>
                  <a:pt x="78893" y="114300"/>
                </a:lnTo>
                <a:cubicBezTo>
                  <a:pt x="47489" y="114300"/>
                  <a:pt x="21478" y="96091"/>
                  <a:pt x="1254" y="60693"/>
                </a:cubicBezTo>
                <a:cubicBezTo>
                  <a:pt x="0" y="58498"/>
                  <a:pt x="0" y="55802"/>
                  <a:pt x="1254" y="53607"/>
                </a:cubicBezTo>
                <a:cubicBezTo>
                  <a:pt x="21478" y="18209"/>
                  <a:pt x="47489" y="0"/>
                  <a:pt x="78893" y="0"/>
                </a:cubicBezTo>
                <a:close/>
                <a:moveTo>
                  <a:pt x="78893" y="35719"/>
                </a:moveTo>
                <a:cubicBezTo>
                  <a:pt x="67056" y="35719"/>
                  <a:pt x="57461" y="45314"/>
                  <a:pt x="57461" y="57150"/>
                </a:cubicBezTo>
                <a:cubicBezTo>
                  <a:pt x="57461" y="68986"/>
                  <a:pt x="67056" y="78581"/>
                  <a:pt x="78893" y="78581"/>
                </a:cubicBezTo>
                <a:cubicBezTo>
                  <a:pt x="90729" y="78581"/>
                  <a:pt x="100324" y="68986"/>
                  <a:pt x="100324" y="57150"/>
                </a:cubicBezTo>
                <a:cubicBezTo>
                  <a:pt x="100324" y="45314"/>
                  <a:pt x="90729" y="35719"/>
                  <a:pt x="78893" y="35719"/>
                </a:cubicBezTo>
              </a:path>
            </a:pathLst>
          </a:custGeom>
          <a:solidFill>
            <a:srgbClr val="C8410E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나눔스퀘어라운드 Bold" panose="020B0600000101010101" pitchFamily="50" charset="-127"/>
            </a:endParaRPr>
          </a:p>
        </p:txBody>
      </p:sp>
      <p:sp>
        <p:nvSpPr>
          <p:cNvPr id="142" name="TextBox 87">
            <a:extLst>
              <a:ext uri="{FF2B5EF4-FFF2-40B4-BE49-F238E27FC236}">
                <a16:creationId xmlns:a16="http://schemas.microsoft.com/office/drawing/2014/main" id="{3AE15F0E-35D3-6E8E-7148-F9700EB5E9EA}"/>
              </a:ext>
            </a:extLst>
          </p:cNvPr>
          <p:cNvSpPr txBox="1"/>
          <p:nvPr/>
        </p:nvSpPr>
        <p:spPr>
          <a:xfrm>
            <a:off x="1119411" y="5784592"/>
            <a:ext cx="2075889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spAutoFit/>
          </a:bodyPr>
          <a:lstStyle/>
          <a:p>
            <a:pPr algn="l"/>
            <a:r>
              <a:rPr lang="zh-CN" sz="1200" b="1" dirty="0">
                <a:solidFill>
                  <a:srgbClr val="C8410E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확인</a:t>
            </a:r>
            <a:r>
              <a:rPr lang="zh-CN" sz="1200" b="1" dirty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 · 오늘의 수행으로 변화 관찰</a:t>
            </a:r>
          </a:p>
        </p:txBody>
      </p:sp>
      <p:sp>
        <p:nvSpPr>
          <p:cNvPr id="143" name="TextBox 88">
            <a:extLst>
              <a:ext uri="{FF2B5EF4-FFF2-40B4-BE49-F238E27FC236}">
                <a16:creationId xmlns:a16="http://schemas.microsoft.com/office/drawing/2014/main" id="{920BFE75-F50A-4BFF-C9E4-5C02F4A8F659}"/>
              </a:ext>
            </a:extLst>
          </p:cNvPr>
          <p:cNvSpPr txBox="1"/>
          <p:nvPr/>
        </p:nvSpPr>
        <p:spPr>
          <a:xfrm>
            <a:off x="3504622" y="5784966"/>
            <a:ext cx="149080" cy="1962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75" b="1" dirty="0">
                <a:solidFill>
                  <a:srgbClr val="6E5D49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↔</a:t>
            </a:r>
          </a:p>
        </p:txBody>
      </p:sp>
      <p:sp>
        <p:nvSpPr>
          <p:cNvPr id="144" name="Rectangle 89">
            <a:extLst>
              <a:ext uri="{FF2B5EF4-FFF2-40B4-BE49-F238E27FC236}">
                <a16:creationId xmlns:a16="http://schemas.microsoft.com/office/drawing/2014/main" id="{89312BE2-2282-86A4-CFA6-FF977B15378F}"/>
              </a:ext>
            </a:extLst>
          </p:cNvPr>
          <p:cNvSpPr/>
          <p:nvPr/>
        </p:nvSpPr>
        <p:spPr>
          <a:xfrm>
            <a:off x="3698632" y="5724525"/>
            <a:ext cx="2686050" cy="3048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D8C7A6"/>
            </a:solidFill>
          </a:ln>
        </p:spPr>
        <p:txBody>
          <a:bodyPr/>
          <a:lstStyle/>
          <a:p>
            <a:endParaRPr lang="ko-KR" altLang="en-US"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나눔스퀘어라운드 Bold" panose="020B0600000101010101" pitchFamily="50" charset="-127"/>
            </a:endParaRPr>
          </a:p>
        </p:txBody>
      </p:sp>
      <p:sp>
        <p:nvSpPr>
          <p:cNvPr id="145" name="Freeform 90">
            <a:extLst>
              <a:ext uri="{FF2B5EF4-FFF2-40B4-BE49-F238E27FC236}">
                <a16:creationId xmlns:a16="http://schemas.microsoft.com/office/drawing/2014/main" id="{75BA955B-75DF-7FB2-42D8-2D0FD601918A}"/>
              </a:ext>
            </a:extLst>
          </p:cNvPr>
          <p:cNvSpPr/>
          <p:nvPr/>
        </p:nvSpPr>
        <p:spPr>
          <a:xfrm>
            <a:off x="3827220" y="5812629"/>
            <a:ext cx="142875" cy="128592"/>
          </a:xfrm>
          <a:custGeom>
            <a:avLst/>
            <a:gdLst/>
            <a:ahLst/>
            <a:cxnLst/>
            <a:rect l="l" t="t" r="r" b="b"/>
            <a:pathLst>
              <a:path w="142875" h="128592">
                <a:moveTo>
                  <a:pt x="28575" y="4"/>
                </a:moveTo>
                <a:cubicBezTo>
                  <a:pt x="53861" y="0"/>
                  <a:pt x="75172" y="18873"/>
                  <a:pt x="78224" y="43974"/>
                </a:cubicBezTo>
                <a:cubicBezTo>
                  <a:pt x="87637" y="34123"/>
                  <a:pt x="100675" y="28559"/>
                  <a:pt x="114300" y="28579"/>
                </a:cubicBezTo>
                <a:lnTo>
                  <a:pt x="135731" y="28579"/>
                </a:lnTo>
                <a:cubicBezTo>
                  <a:pt x="139677" y="28579"/>
                  <a:pt x="142875" y="31778"/>
                  <a:pt x="142875" y="35723"/>
                </a:cubicBezTo>
                <a:lnTo>
                  <a:pt x="142875" y="42867"/>
                </a:lnTo>
                <a:cubicBezTo>
                  <a:pt x="142875" y="70484"/>
                  <a:pt x="120486" y="92873"/>
                  <a:pt x="92869" y="92873"/>
                </a:cubicBezTo>
                <a:lnTo>
                  <a:pt x="78581" y="92873"/>
                </a:lnTo>
                <a:lnTo>
                  <a:pt x="78581" y="121448"/>
                </a:lnTo>
                <a:cubicBezTo>
                  <a:pt x="78581" y="125393"/>
                  <a:pt x="75383" y="128592"/>
                  <a:pt x="71438" y="128592"/>
                </a:cubicBezTo>
                <a:cubicBezTo>
                  <a:pt x="67492" y="128592"/>
                  <a:pt x="64294" y="125393"/>
                  <a:pt x="64294" y="121448"/>
                </a:cubicBezTo>
                <a:lnTo>
                  <a:pt x="64294" y="71442"/>
                </a:lnTo>
                <a:lnTo>
                  <a:pt x="50006" y="71442"/>
                </a:lnTo>
                <a:cubicBezTo>
                  <a:pt x="22389" y="71442"/>
                  <a:pt x="0" y="49053"/>
                  <a:pt x="0" y="21436"/>
                </a:cubicBezTo>
                <a:lnTo>
                  <a:pt x="0" y="7148"/>
                </a:lnTo>
                <a:cubicBezTo>
                  <a:pt x="0" y="3203"/>
                  <a:pt x="3198" y="4"/>
                  <a:pt x="7144" y="4"/>
                </a:cubicBezTo>
                <a:close/>
              </a:path>
            </a:pathLst>
          </a:custGeom>
          <a:solidFill>
            <a:srgbClr val="5E9A6A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나눔스퀘어라운드 Bold" panose="020B0600000101010101" pitchFamily="50" charset="-127"/>
            </a:endParaRPr>
          </a:p>
        </p:txBody>
      </p:sp>
      <p:sp>
        <p:nvSpPr>
          <p:cNvPr id="146" name="TextBox 91">
            <a:extLst>
              <a:ext uri="{FF2B5EF4-FFF2-40B4-BE49-F238E27FC236}">
                <a16:creationId xmlns:a16="http://schemas.microsoft.com/office/drawing/2014/main" id="{5FB41078-012D-F551-9537-C3B8D4DAF11D}"/>
              </a:ext>
            </a:extLst>
          </p:cNvPr>
          <p:cNvSpPr txBox="1"/>
          <p:nvPr/>
        </p:nvSpPr>
        <p:spPr>
          <a:xfrm>
            <a:off x="4047247" y="5784592"/>
            <a:ext cx="2075889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spAutoFit/>
          </a:bodyPr>
          <a:lstStyle/>
          <a:p>
            <a:pPr algn="l"/>
            <a:r>
              <a:rPr lang="zh-CN" sz="1200" b="1" dirty="0">
                <a:solidFill>
                  <a:srgbClr val="5E9A6A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강화</a:t>
            </a:r>
            <a:r>
              <a:rPr lang="zh-CN" sz="1200" b="1" dirty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 · 매일의 반복으로 인지 훈련</a:t>
            </a:r>
          </a:p>
        </p:txBody>
      </p:sp>
      <p:sp>
        <p:nvSpPr>
          <p:cNvPr id="147" name="Freeform 92">
            <a:extLst>
              <a:ext uri="{FF2B5EF4-FFF2-40B4-BE49-F238E27FC236}">
                <a16:creationId xmlns:a16="http://schemas.microsoft.com/office/drawing/2014/main" id="{9F8E11D5-8AAF-C26E-534C-BBB861410090}"/>
              </a:ext>
            </a:extLst>
          </p:cNvPr>
          <p:cNvSpPr/>
          <p:nvPr/>
        </p:nvSpPr>
        <p:spPr>
          <a:xfrm>
            <a:off x="6735301" y="5784966"/>
            <a:ext cx="183618" cy="183919"/>
          </a:xfrm>
          <a:custGeom>
            <a:avLst/>
            <a:gdLst/>
            <a:ahLst/>
            <a:cxnLst/>
            <a:rect l="l" t="t" r="r" b="b"/>
            <a:pathLst>
              <a:path w="183618" h="183919">
                <a:moveTo>
                  <a:pt x="130969" y="15611"/>
                </a:moveTo>
                <a:cubicBezTo>
                  <a:pt x="167355" y="36620"/>
                  <a:pt x="183618" y="80566"/>
                  <a:pt x="169674" y="120201"/>
                </a:cubicBezTo>
                <a:cubicBezTo>
                  <a:pt x="155730" y="159836"/>
                  <a:pt x="115534" y="183919"/>
                  <a:pt x="74008" y="177518"/>
                </a:cubicBezTo>
                <a:cubicBezTo>
                  <a:pt x="32482" y="171117"/>
                  <a:pt x="1405" y="136047"/>
                  <a:pt x="44" y="94052"/>
                </a:cubicBezTo>
                <a:lnTo>
                  <a:pt x="0" y="91224"/>
                </a:lnTo>
                <a:lnTo>
                  <a:pt x="44" y="88395"/>
                </a:lnTo>
                <a:cubicBezTo>
                  <a:pt x="1038" y="57722"/>
                  <a:pt x="18063" y="29823"/>
                  <a:pt x="44886" y="14911"/>
                </a:cubicBezTo>
                <a:cubicBezTo>
                  <a:pt x="71709" y="0"/>
                  <a:pt x="104392" y="266"/>
                  <a:pt x="130969" y="15611"/>
                </a:cubicBezTo>
                <a:close/>
                <a:moveTo>
                  <a:pt x="119679" y="67588"/>
                </a:moveTo>
                <a:cubicBezTo>
                  <a:pt x="116569" y="64478"/>
                  <a:pt x="111630" y="64167"/>
                  <a:pt x="108154" y="66863"/>
                </a:cubicBezTo>
                <a:lnTo>
                  <a:pt x="107333" y="67588"/>
                </a:lnTo>
                <a:lnTo>
                  <a:pt x="78581" y="96331"/>
                </a:lnTo>
                <a:lnTo>
                  <a:pt x="67292" y="85051"/>
                </a:lnTo>
                <a:lnTo>
                  <a:pt x="66471" y="84326"/>
                </a:lnTo>
                <a:cubicBezTo>
                  <a:pt x="62995" y="81632"/>
                  <a:pt x="58058" y="81943"/>
                  <a:pt x="54948" y="85053"/>
                </a:cubicBezTo>
                <a:cubicBezTo>
                  <a:pt x="51838" y="88163"/>
                  <a:pt x="51527" y="93100"/>
                  <a:pt x="54221" y="96576"/>
                </a:cubicBezTo>
                <a:lnTo>
                  <a:pt x="54946" y="97397"/>
                </a:lnTo>
                <a:lnTo>
                  <a:pt x="72408" y="114859"/>
                </a:lnTo>
                <a:lnTo>
                  <a:pt x="73229" y="115584"/>
                </a:lnTo>
                <a:cubicBezTo>
                  <a:pt x="76379" y="118028"/>
                  <a:pt x="80784" y="118028"/>
                  <a:pt x="83934" y="115584"/>
                </a:cubicBezTo>
                <a:lnTo>
                  <a:pt x="84754" y="114859"/>
                </a:lnTo>
                <a:lnTo>
                  <a:pt x="119679" y="79934"/>
                </a:lnTo>
                <a:lnTo>
                  <a:pt x="120404" y="79113"/>
                </a:lnTo>
                <a:cubicBezTo>
                  <a:pt x="123100" y="75638"/>
                  <a:pt x="122790" y="70699"/>
                  <a:pt x="119679" y="67588"/>
                </a:cubicBezTo>
                <a:close/>
              </a:path>
            </a:pathLst>
          </a:custGeom>
          <a:solidFill>
            <a:srgbClr val="5E9A6A"/>
          </a:solidFill>
          <a:ln>
            <a:noFill/>
          </a:ln>
        </p:spPr>
        <p:txBody>
          <a:bodyPr/>
          <a:lstStyle/>
          <a:p>
            <a:endParaRPr lang="ko-KR" altLang="en-US"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나눔스퀘어라운드 Bold" panose="020B0600000101010101" pitchFamily="50" charset="-127"/>
            </a:endParaRPr>
          </a:p>
        </p:txBody>
      </p:sp>
      <p:sp>
        <p:nvSpPr>
          <p:cNvPr id="148" name="TextBox 93">
            <a:extLst>
              <a:ext uri="{FF2B5EF4-FFF2-40B4-BE49-F238E27FC236}">
                <a16:creationId xmlns:a16="http://schemas.microsoft.com/office/drawing/2014/main" id="{5765D0F3-88F3-5829-0EBF-84AF9E1505CF}"/>
              </a:ext>
            </a:extLst>
          </p:cNvPr>
          <p:cNvSpPr txBox="1"/>
          <p:nvPr/>
        </p:nvSpPr>
        <p:spPr>
          <a:xfrm>
            <a:off x="7009304" y="5784592"/>
            <a:ext cx="4332917" cy="1846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spAutoFit/>
          </a:bodyPr>
          <a:lstStyle/>
          <a:p>
            <a:pPr algn="l"/>
            <a:r>
              <a:rPr lang="zh-CN" sz="1200" dirty="0">
                <a:solidFill>
                  <a:srgbClr val="6C5D4C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전문가 멘토링 제안 문항 </a:t>
            </a:r>
            <a:r>
              <a:rPr lang="en-US" altLang="zh-CN" sz="1200" dirty="0">
                <a:solidFill>
                  <a:srgbClr val="6C5D4C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-</a:t>
            </a:r>
            <a:r>
              <a:rPr lang="zh-CN" sz="1200" dirty="0">
                <a:solidFill>
                  <a:srgbClr val="6C5D4C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 </a:t>
            </a:r>
            <a:r>
              <a:rPr lang="zh-CN" sz="1200" b="1" dirty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돈 계산 · 단순한 발화 · 주의집중</a:t>
            </a:r>
            <a:r>
              <a:rPr lang="zh-CN" sz="1200" dirty="0">
                <a:solidFill>
                  <a:srgbClr val="6C5D4C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 반영 완료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80EA4661-EC56-83E6-EF2C-6879A3152F9C}"/>
              </a:ext>
            </a:extLst>
          </p:cNvPr>
          <p:cNvSpPr txBox="1"/>
          <p:nvPr/>
        </p:nvSpPr>
        <p:spPr>
          <a:xfrm>
            <a:off x="8503920" y="1319011"/>
            <a:ext cx="3108960" cy="2169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410" b="0" dirty="0">
                <a:solidFill>
                  <a:srgbClr val="C8410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7일 × 하루 6개 = 42개 고정 활동</a:t>
            </a:r>
          </a:p>
        </p:txBody>
      </p:sp>
      <p:sp>
        <p:nvSpPr>
          <p:cNvPr id="6" name="Rectangle 51">
            <a:extLst>
              <a:ext uri="{FF2B5EF4-FFF2-40B4-BE49-F238E27FC236}">
                <a16:creationId xmlns:a16="http://schemas.microsoft.com/office/drawing/2014/main" id="{E2FF8F8A-6771-62A5-F65B-9D2EEE17AA00}"/>
              </a:ext>
            </a:extLst>
          </p:cNvPr>
          <p:cNvSpPr/>
          <p:nvPr/>
        </p:nvSpPr>
        <p:spPr>
          <a:xfrm>
            <a:off x="6809485" y="1817438"/>
            <a:ext cx="876300" cy="209550"/>
          </a:xfrm>
          <a:prstGeom prst="roundRect">
            <a:avLst>
              <a:gd name="adj" fmla="val 50000"/>
            </a:avLst>
          </a:prstGeom>
          <a:solidFill>
            <a:srgbClr val="F57265"/>
          </a:solidFill>
          <a:ln>
            <a:noFill/>
          </a:ln>
        </p:spPr>
        <p:txBody>
          <a:bodyPr/>
          <a:lstStyle/>
          <a:p>
            <a:endParaRPr lang="ko-KR" altLang="en-US" dirty="0"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나눔스퀘어라운드 Bold" panose="020B0600000101010101" pitchFamily="50" charset="-127"/>
            </a:endParaRPr>
          </a:p>
        </p:txBody>
      </p:sp>
      <p:sp>
        <p:nvSpPr>
          <p:cNvPr id="8" name="TextBox 52">
            <a:extLst>
              <a:ext uri="{FF2B5EF4-FFF2-40B4-BE49-F238E27FC236}">
                <a16:creationId xmlns:a16="http://schemas.microsoft.com/office/drawing/2014/main" id="{9BD8F312-1851-B089-901E-10B91C31FE97}"/>
              </a:ext>
            </a:extLst>
          </p:cNvPr>
          <p:cNvSpPr txBox="1"/>
          <p:nvPr/>
        </p:nvSpPr>
        <p:spPr>
          <a:xfrm>
            <a:off x="7019211" y="1855881"/>
            <a:ext cx="456856" cy="1384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altLang="ko-KR" sz="900" b="1" dirty="0">
                <a:solidFill>
                  <a:srgbClr val="FFFFFF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AI </a:t>
            </a:r>
            <a:r>
              <a:rPr lang="ko-KR" altLang="en-US" sz="900" b="1" dirty="0">
                <a:solidFill>
                  <a:srgbClr val="FFFFFF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개인화</a:t>
            </a:r>
            <a:endParaRPr lang="zh-CN" sz="900" b="1" dirty="0">
              <a:solidFill>
                <a:srgbClr val="FFFFFF"/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나눔스퀘어라운드 Bold" panose="020B0600000101010101" pitchFamily="50" charset="-127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F57265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3. SOLUTION · 개발 완성도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49" cy="600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150" b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한 번의 응답이 </a:t>
            </a:r>
            <a:r>
              <a:rPr lang="ko-KR" altLang="en-US" sz="3150" b="0">
                <a:solidFill>
                  <a:srgbClr val="F57265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다음 대화</a:t>
            </a:r>
            <a:r>
              <a:rPr lang="ko-KR" altLang="en-US" sz="3150" b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로 이어지는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4385816" cy="2431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 dirty="0">
                <a:solidFill>
                  <a:srgbClr val="6C5D4C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음성 기록 · 응답 결과 활용 · 보호자 및 전문가 리포트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4247836"/>
            <a:ext cx="4572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spc="60">
                <a:solidFill>
                  <a:srgbClr val="F57265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430716"/>
            <a:ext cx="1344920" cy="2968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ko-KR" sz="160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3</a:t>
            </a:r>
            <a:r>
              <a:rPr lang="ko-KR" altLang="en-US" sz="160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분의 루틴 활동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792890"/>
            <a:ext cx="26974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같은 규칙으로 매일 여섯 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10265" y="2741916"/>
            <a:ext cx="177933" cy="25224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639" b="1" dirty="0">
                <a:solidFill>
                  <a:srgbClr val="F57265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92424" y="4247836"/>
            <a:ext cx="4572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spc="60">
                <a:solidFill>
                  <a:srgbClr val="F57265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92424" y="4430716"/>
            <a:ext cx="1776127" cy="2968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60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활동을 </a:t>
            </a:r>
            <a:r>
              <a:rPr lang="ko-KR" altLang="en-US" sz="160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정확하게 기록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92424" y="4792890"/>
            <a:ext cx="26974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작은 목소리와 긴 쉼까지 그대로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08329" y="2741916"/>
            <a:ext cx="177933" cy="25224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639" b="1">
                <a:solidFill>
                  <a:srgbClr val="F57265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4247836"/>
            <a:ext cx="4572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spc="60">
                <a:solidFill>
                  <a:srgbClr val="F57265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0488" y="4430716"/>
            <a:ext cx="1404231" cy="2968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개인화 문항 제공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0488" y="4792890"/>
            <a:ext cx="2144818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과거 답변을 기반으로 한 문항 생성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6393" y="2741916"/>
            <a:ext cx="177933" cy="25224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639" b="1">
                <a:solidFill>
                  <a:srgbClr val="F57265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88552" y="4247836"/>
            <a:ext cx="4572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spc="60">
                <a:solidFill>
                  <a:srgbClr val="F57265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88552" y="4430716"/>
            <a:ext cx="981038" cy="29687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리포트 제공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88552" y="4792890"/>
            <a:ext cx="1548501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종합된 기록</a:t>
            </a:r>
            <a:r>
              <a:rPr lang="ko-KR" altLang="en-US" sz="120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 및 수치 제공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514000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5249372"/>
            <a:ext cx="2310889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spc="6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개발 완성도 </a:t>
            </a:r>
            <a:r>
              <a:rPr lang="ko-KR" altLang="en-US" sz="1600" b="0" spc="60" dirty="0">
                <a:solidFill>
                  <a:srgbClr val="F57265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CHECK LIST</a:t>
            </a:r>
          </a:p>
        </p:txBody>
      </p:sp>
      <p:sp>
        <p:nvSpPr>
          <p:cNvPr id="26" name="Oval 25"/>
          <p:cNvSpPr/>
          <p:nvPr/>
        </p:nvSpPr>
        <p:spPr>
          <a:xfrm>
            <a:off x="576072" y="5654421"/>
            <a:ext cx="237744" cy="237744"/>
          </a:xfrm>
          <a:prstGeom prst="ellipse">
            <a:avLst/>
          </a:prstGeom>
          <a:solidFill>
            <a:srgbClr val="EA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ko-KR" sz="1200" b="1">
                <a:solidFill>
                  <a:srgbClr val="5E9A6A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✓</a:t>
            </a:r>
            <a:endParaRPr sz="1200"/>
          </a:p>
        </p:txBody>
      </p:sp>
      <p:sp>
        <p:nvSpPr>
          <p:cNvPr id="29" name="TextBox 28"/>
          <p:cNvSpPr txBox="1"/>
          <p:nvPr/>
        </p:nvSpPr>
        <p:spPr>
          <a:xfrm>
            <a:off x="895760" y="5651514"/>
            <a:ext cx="1189428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음성인식 정확도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5760" y="5906138"/>
            <a:ext cx="862416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고도화 완료</a:t>
            </a:r>
          </a:p>
        </p:txBody>
      </p:sp>
      <p:sp>
        <p:nvSpPr>
          <p:cNvPr id="31" name="Oval 30"/>
          <p:cNvSpPr/>
          <p:nvPr/>
        </p:nvSpPr>
        <p:spPr>
          <a:xfrm>
            <a:off x="2770632" y="5654421"/>
            <a:ext cx="237744" cy="237744"/>
          </a:xfrm>
          <a:prstGeom prst="ellipse">
            <a:avLst/>
          </a:prstGeom>
          <a:solidFill>
            <a:srgbClr val="EA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ko-KR" sz="1200" b="1">
                <a:solidFill>
                  <a:srgbClr val="5E9A6A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✓</a:t>
            </a:r>
            <a:endParaRPr sz="1200"/>
          </a:p>
        </p:txBody>
      </p:sp>
      <p:sp>
        <p:nvSpPr>
          <p:cNvPr id="34" name="TextBox 33"/>
          <p:cNvSpPr txBox="1"/>
          <p:nvPr/>
        </p:nvSpPr>
        <p:spPr>
          <a:xfrm>
            <a:off x="3090319" y="5651514"/>
            <a:ext cx="1093248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NFC </a:t>
            </a:r>
            <a:r>
              <a:rPr lang="ko-KR" altLang="en-US" sz="1400" b="0" dirty="0" err="1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태깅</a:t>
            </a:r>
            <a:r>
              <a:rPr lang="ko-KR" altLang="en-US" sz="1400" b="0" dirty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 기반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90319" y="5906138"/>
            <a:ext cx="1516441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데이터베이스화 완료</a:t>
            </a:r>
          </a:p>
        </p:txBody>
      </p:sp>
      <p:sp>
        <p:nvSpPr>
          <p:cNvPr id="36" name="Oval 35"/>
          <p:cNvSpPr/>
          <p:nvPr/>
        </p:nvSpPr>
        <p:spPr>
          <a:xfrm>
            <a:off x="5010017" y="5654421"/>
            <a:ext cx="237744" cy="237744"/>
          </a:xfrm>
          <a:prstGeom prst="ellipse">
            <a:avLst/>
          </a:prstGeom>
          <a:solidFill>
            <a:srgbClr val="EA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ko-KR" sz="1200" b="1">
                <a:solidFill>
                  <a:srgbClr val="5E9A6A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✓</a:t>
            </a:r>
            <a:endParaRPr sz="1200"/>
          </a:p>
        </p:txBody>
      </p:sp>
      <p:sp>
        <p:nvSpPr>
          <p:cNvPr id="39" name="TextBox 38"/>
          <p:cNvSpPr txBox="1"/>
          <p:nvPr/>
        </p:nvSpPr>
        <p:spPr>
          <a:xfrm>
            <a:off x="5329705" y="5651514"/>
            <a:ext cx="1687963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개인정보 동의서 구성 ·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29705" y="5906138"/>
            <a:ext cx="1606209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보안 시스템 설계 완료</a:t>
            </a:r>
          </a:p>
        </p:txBody>
      </p:sp>
      <p:sp>
        <p:nvSpPr>
          <p:cNvPr id="41" name="Oval 40"/>
          <p:cNvSpPr/>
          <p:nvPr/>
        </p:nvSpPr>
        <p:spPr>
          <a:xfrm>
            <a:off x="7401799" y="5654421"/>
            <a:ext cx="237744" cy="237744"/>
          </a:xfrm>
          <a:prstGeom prst="ellipse">
            <a:avLst/>
          </a:prstGeom>
          <a:solidFill>
            <a:srgbClr val="EA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ko-KR" sz="1200" b="1">
                <a:solidFill>
                  <a:srgbClr val="5E9A6A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✓</a:t>
            </a:r>
            <a:endParaRPr sz="1200"/>
          </a:p>
        </p:txBody>
      </p:sp>
      <p:sp>
        <p:nvSpPr>
          <p:cNvPr id="44" name="TextBox 43"/>
          <p:cNvSpPr txBox="1"/>
          <p:nvPr/>
        </p:nvSpPr>
        <p:spPr>
          <a:xfrm>
            <a:off x="7721487" y="5651514"/>
            <a:ext cx="1025922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키오스크 목업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21487" y="5906138"/>
            <a:ext cx="698909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제작 완료</a:t>
            </a:r>
          </a:p>
        </p:txBody>
      </p:sp>
      <p:sp>
        <p:nvSpPr>
          <p:cNvPr id="46" name="Oval 45"/>
          <p:cNvSpPr/>
          <p:nvPr/>
        </p:nvSpPr>
        <p:spPr>
          <a:xfrm>
            <a:off x="9354311" y="5654421"/>
            <a:ext cx="237744" cy="237744"/>
          </a:xfrm>
          <a:prstGeom prst="ellipse">
            <a:avLst/>
          </a:prstGeom>
          <a:solidFill>
            <a:srgbClr val="EA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zh-CN" altLang="ko-KR" sz="1200" b="1">
                <a:solidFill>
                  <a:srgbClr val="5E9A6A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✓</a:t>
            </a:r>
            <a:endParaRPr sz="1200"/>
          </a:p>
        </p:txBody>
      </p:sp>
      <p:sp>
        <p:nvSpPr>
          <p:cNvPr id="49" name="TextBox 48"/>
          <p:cNvSpPr txBox="1"/>
          <p:nvPr/>
        </p:nvSpPr>
        <p:spPr>
          <a:xfrm>
            <a:off x="9674000" y="5651514"/>
            <a:ext cx="1405834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AI 개인화 알고리즘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74000" y="5906138"/>
            <a:ext cx="698909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설계 완료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 err="1">
                <a:solidFill>
                  <a:srgbClr val="9C8B7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Haru by 보편교육연구소 · 개발 완성도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09</a:t>
            </a:r>
          </a:p>
        </p:txBody>
      </p:sp>
      <p:pic>
        <p:nvPicPr>
          <p:cNvPr id="54" name="Picture 5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99E5A798-D1BF-652F-BD6D-50A14878A1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382" y="1611027"/>
            <a:ext cx="1891873" cy="252249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E4D2640-023B-B852-C43D-8D1A7AFE34F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276073" y="1517156"/>
            <a:ext cx="2062521" cy="2710239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B430FD1E-0578-4573-B13A-9AC1C09B932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13130" b="20065"/>
          <a:stretch>
            <a:fillRect/>
          </a:stretch>
        </p:blipFill>
        <p:spPr>
          <a:xfrm>
            <a:off x="6236425" y="1632413"/>
            <a:ext cx="1858957" cy="2479724"/>
          </a:xfrm>
          <a:prstGeom prst="roundRect">
            <a:avLst>
              <a:gd name="adj" fmla="val 3192"/>
            </a:avLst>
          </a:prstGeom>
          <a:ln w="28575">
            <a:solidFill>
              <a:srgbClr val="F57265"/>
            </a:solidFill>
          </a:ln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DF1E5E09-3894-85DA-E79D-EA0F0EDEA5A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8991946" y="1551539"/>
            <a:ext cx="1981104" cy="26414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ounded Rectangle 38">
            <a:extLst>
              <a:ext uri="{FF2B5EF4-FFF2-40B4-BE49-F238E27FC236}">
                <a16:creationId xmlns:a16="http://schemas.microsoft.com/office/drawing/2014/main" id="{3B15E090-8A90-2D7C-6AEF-4FF35F117187}"/>
              </a:ext>
            </a:extLst>
          </p:cNvPr>
          <p:cNvSpPr/>
          <p:nvPr/>
        </p:nvSpPr>
        <p:spPr>
          <a:xfrm>
            <a:off x="594361" y="5555564"/>
            <a:ext cx="7982712" cy="573065"/>
          </a:xfrm>
          <a:prstGeom prst="roundRect">
            <a:avLst>
              <a:gd name="adj" fmla="val 17252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F57265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3. SOLUTION · 실증 준비도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4909998" cy="4847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15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실증을 위한 </a:t>
            </a:r>
            <a:r>
              <a:rPr lang="ko-KR" altLang="en-US" sz="3150" b="0" dirty="0">
                <a:solidFill>
                  <a:srgbClr val="F57265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네 가지 준비 완료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11003249" cy="3110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>
                <a:solidFill>
                  <a:srgbClr val="6C5D4C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연구근거 · 연구윤리 · 권리화 · 개인정보 운영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20506"/>
            <a:ext cx="3931920" cy="1745363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2031402"/>
            <a:ext cx="50292" cy="566928"/>
          </a:xfrm>
          <a:prstGeom prst="rect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86967" y="1873591"/>
            <a:ext cx="2522025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ko-KR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KCI </a:t>
            </a:r>
            <a:r>
              <a:rPr lang="ko-KR" altLang="en-US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논문화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6328" y="1976538"/>
            <a:ext cx="920495" cy="256032"/>
          </a:xfrm>
          <a:prstGeom prst="roundRect">
            <a:avLst>
              <a:gd name="adj" fmla="val 50000"/>
            </a:avLst>
          </a:prstGeom>
          <a:solidFill>
            <a:srgbClr val="EAF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 dirty="0">
                <a:solidFill>
                  <a:schemeClr val="accent3">
                    <a:lumMod val="50000"/>
                  </a:schemeClr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근거 정리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524462"/>
            <a:ext cx="91440" cy="91440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24712" y="2469598"/>
            <a:ext cx="324612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고령자 UX · 인지 활동 문헌 검토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2817427"/>
            <a:ext cx="91440" cy="91440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24712" y="2762563"/>
            <a:ext cx="324612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음성 처리 · 개인 기억 구조 검토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110393"/>
            <a:ext cx="91440" cy="91440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124712" y="3055529"/>
            <a:ext cx="324612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설계 결정마다 참고 근거 정리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45152" y="1720506"/>
            <a:ext cx="3931920" cy="1745363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645152" y="2031402"/>
            <a:ext cx="50292" cy="566928"/>
          </a:xfrm>
          <a:prstGeom prst="rect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937759" y="1873592"/>
            <a:ext cx="3135227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IRB 심의 신청</a:t>
            </a:r>
            <a:endParaRPr lang="en-US" altLang="ko-KR" b="0" dirty="0">
              <a:solidFill>
                <a:srgbClr val="2A2018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  <a:cs typeface="나눔스퀘어라운드 ExtraBold" panose="020B0600000101010101" pitchFamily="50" charset="-127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7437120" y="1976538"/>
            <a:ext cx="920495" cy="256032"/>
          </a:xfrm>
          <a:prstGeom prst="roundRect">
            <a:avLst>
              <a:gd name="adj" fmla="val 50000"/>
            </a:avLst>
          </a:prstGeom>
          <a:solidFill>
            <a:srgbClr val="FBE6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 dirty="0">
                <a:solidFill>
                  <a:schemeClr val="accent6">
                    <a:lumMod val="75000"/>
                  </a:schemeClr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심의 신청</a:t>
            </a:r>
          </a:p>
        </p:txBody>
      </p:sp>
      <p:sp>
        <p:nvSpPr>
          <p:cNvPr id="19" name="Oval 18"/>
          <p:cNvSpPr/>
          <p:nvPr/>
        </p:nvSpPr>
        <p:spPr>
          <a:xfrm>
            <a:off x="4965192" y="2524462"/>
            <a:ext cx="91440" cy="91440"/>
          </a:xfrm>
          <a:prstGeom prst="ellips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75504" y="2469598"/>
            <a:ext cx="324612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이해관계 없는 목표 연령대 연구</a:t>
            </a:r>
          </a:p>
        </p:txBody>
      </p:sp>
      <p:sp>
        <p:nvSpPr>
          <p:cNvPr id="21" name="Oval 20"/>
          <p:cNvSpPr/>
          <p:nvPr/>
        </p:nvSpPr>
        <p:spPr>
          <a:xfrm>
            <a:off x="4965192" y="2817427"/>
            <a:ext cx="91440" cy="91440"/>
          </a:xfrm>
          <a:prstGeom prst="ellips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75504" y="2762563"/>
            <a:ext cx="324612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참여자 모집 · 동의 절차 설계</a:t>
            </a:r>
          </a:p>
        </p:txBody>
      </p:sp>
      <p:sp>
        <p:nvSpPr>
          <p:cNvPr id="23" name="Oval 22"/>
          <p:cNvSpPr/>
          <p:nvPr/>
        </p:nvSpPr>
        <p:spPr>
          <a:xfrm>
            <a:off x="4965192" y="3110393"/>
            <a:ext cx="91440" cy="91440"/>
          </a:xfrm>
          <a:prstGeom prst="ellips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175504" y="3055529"/>
            <a:ext cx="324612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승인 후 실행 예정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633575"/>
            <a:ext cx="3931920" cy="1745363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94360" y="3944471"/>
            <a:ext cx="50292" cy="566928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6967" y="3786661"/>
            <a:ext cx="2279903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특허 신청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86328" y="3889607"/>
            <a:ext cx="920495" cy="256032"/>
          </a:xfrm>
          <a:prstGeom prst="roundRect">
            <a:avLst>
              <a:gd name="adj" fmla="val 50000"/>
            </a:avLst>
          </a:prstGeom>
          <a:solidFill>
            <a:srgbClr val="FBE0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 dirty="0">
                <a:solidFill>
                  <a:schemeClr val="accent2">
                    <a:lumMod val="75000"/>
                  </a:schemeClr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출원 진행</a:t>
            </a:r>
          </a:p>
        </p:txBody>
      </p:sp>
      <p:sp>
        <p:nvSpPr>
          <p:cNvPr id="29" name="Oval 28"/>
          <p:cNvSpPr/>
          <p:nvPr/>
        </p:nvSpPr>
        <p:spPr>
          <a:xfrm>
            <a:off x="914400" y="4437531"/>
            <a:ext cx="91440" cy="91440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24712" y="4382667"/>
            <a:ext cx="228428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2×2 </a:t>
            </a:r>
            <a:r>
              <a:rPr lang="ko-KR" altLang="en-US" sz="12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버튼 기반 노인 친화 인터페이스</a:t>
            </a:r>
            <a:endParaRPr lang="ko-KR" altLang="en-US" sz="1200" b="0" dirty="0">
              <a:solidFill>
                <a:srgbClr val="6C5D4C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  <a:cs typeface="나눔스퀘어라운드 Regular" panose="020B0600000101010101" pitchFamily="50" charset="-127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914400" y="4730497"/>
            <a:ext cx="91440" cy="91440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124712" y="4675633"/>
            <a:ext cx="1370568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키오스크 형식의 기기</a:t>
            </a:r>
            <a:endParaRPr lang="ko-KR" altLang="en-US" sz="1200" b="0" dirty="0">
              <a:solidFill>
                <a:srgbClr val="6C5D4C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  <a:cs typeface="나눔스퀘어라운드 Regular" panose="020B0600000101010101" pitchFamily="50" charset="-127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914400" y="5023463"/>
            <a:ext cx="91440" cy="91440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24712" y="4968599"/>
            <a:ext cx="256480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변리사와 상담 중 </a:t>
            </a:r>
            <a:r>
              <a:rPr lang="en-US" altLang="ko-KR" sz="12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- </a:t>
            </a:r>
            <a:r>
              <a:rPr lang="ko-KR" altLang="en-US" sz="12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특허 출원서 작성 완료</a:t>
            </a:r>
            <a:endParaRPr lang="ko-KR" altLang="en-US" sz="1200" b="0" dirty="0">
              <a:solidFill>
                <a:srgbClr val="6C5D4C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  <a:cs typeface="나눔스퀘어라운드 Regular" panose="020B0600000101010101" pitchFamily="50" charset="-127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4645152" y="3633575"/>
            <a:ext cx="3931920" cy="1745363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645152" y="3944471"/>
            <a:ext cx="50292" cy="566928"/>
          </a:xfrm>
          <a:prstGeom prst="rect">
            <a:avLst/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937760" y="3786661"/>
            <a:ext cx="1317668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개인정보 운영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37120" y="3889607"/>
            <a:ext cx="920495" cy="256032"/>
          </a:xfrm>
          <a:prstGeom prst="roundRect">
            <a:avLst>
              <a:gd name="adj" fmla="val 50000"/>
            </a:avLst>
          </a:prstGeom>
          <a:solidFill>
            <a:srgbClr val="F7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 dirty="0">
                <a:solidFill>
                  <a:srgbClr val="C8410E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운영 설계</a:t>
            </a:r>
          </a:p>
        </p:txBody>
      </p:sp>
      <p:sp>
        <p:nvSpPr>
          <p:cNvPr id="39" name="Oval 38"/>
          <p:cNvSpPr/>
          <p:nvPr/>
        </p:nvSpPr>
        <p:spPr>
          <a:xfrm>
            <a:off x="4965192" y="4437531"/>
            <a:ext cx="91440" cy="91440"/>
          </a:xfrm>
          <a:prstGeom prst="ellipse">
            <a:avLst/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175504" y="4382667"/>
            <a:ext cx="2595262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복지관 등록 · 한</a:t>
            </a:r>
            <a:r>
              <a:rPr lang="en-US" altLang="ko-KR" sz="120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/</a:t>
            </a:r>
            <a:r>
              <a:rPr lang="ko-KR" altLang="en-US" sz="120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일 개인정보 이용 동의서</a:t>
            </a:r>
          </a:p>
        </p:txBody>
      </p:sp>
      <p:sp>
        <p:nvSpPr>
          <p:cNvPr id="41" name="Oval 40"/>
          <p:cNvSpPr/>
          <p:nvPr/>
        </p:nvSpPr>
        <p:spPr>
          <a:xfrm>
            <a:off x="4965192" y="4730497"/>
            <a:ext cx="91440" cy="91440"/>
          </a:xfrm>
          <a:prstGeom prst="ellipse">
            <a:avLst/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175504" y="4675633"/>
            <a:ext cx="324612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NFC 가명 ID · 식별정보 분리</a:t>
            </a:r>
          </a:p>
        </p:txBody>
      </p:sp>
      <p:sp>
        <p:nvSpPr>
          <p:cNvPr id="43" name="Oval 42"/>
          <p:cNvSpPr/>
          <p:nvPr/>
        </p:nvSpPr>
        <p:spPr>
          <a:xfrm>
            <a:off x="4965192" y="5023463"/>
            <a:ext cx="91440" cy="91440"/>
          </a:xfrm>
          <a:prstGeom prst="ellipse">
            <a:avLst/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175504" y="4968599"/>
            <a:ext cx="324612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역할별 최소 공개 · 철회 및 삭제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796528" y="1686479"/>
            <a:ext cx="1641475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진행 중인 공식 절차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38401" y="3968496"/>
            <a:ext cx="1014701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00" b="0" dirty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IRB 심의 신청서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59190" y="3968496"/>
            <a:ext cx="735778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00" b="0" dirty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특허 출원서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796528" y="4315968"/>
            <a:ext cx="2798064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225800" y="4480560"/>
            <a:ext cx="2368791" cy="146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2000"/>
              </a:lnSpc>
            </a:pPr>
            <a:r>
              <a:rPr lang="ko-KR" altLang="en-US" sz="1400" b="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승인 후 목표 연령대 참여자로</a:t>
            </a:r>
          </a:p>
          <a:p>
            <a:pPr algn="l">
              <a:lnSpc>
                <a:spcPct val="152000"/>
              </a:lnSpc>
            </a:pPr>
            <a:r>
              <a:rPr lang="ko-KR" altLang="en-US" sz="1400" b="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실증을 시작합니다.</a:t>
            </a:r>
          </a:p>
          <a:p>
            <a:pPr algn="l">
              <a:lnSpc>
                <a:spcPct val="152000"/>
              </a:lnSpc>
            </a:pPr>
            <a:endParaRPr lang="ko-KR" altLang="en-US" sz="800" b="0" dirty="0">
              <a:latin typeface="나눔스퀘어라운드 Regular" panose="020B0600000101010101" pitchFamily="50" charset="-127"/>
              <a:ea typeface="나눔스퀘어라운드 Regular" panose="020B0600000101010101" pitchFamily="50" charset="-127"/>
              <a:cs typeface="나눔스퀘어라운드 Regular" panose="020B0600000101010101" pitchFamily="50" charset="-127"/>
            </a:endParaRPr>
          </a:p>
          <a:p>
            <a:pPr algn="l">
              <a:lnSpc>
                <a:spcPct val="152000"/>
              </a:lnSpc>
            </a:pPr>
            <a:r>
              <a:rPr lang="ko-KR" altLang="en-US" sz="1400" b="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결과는 국내 현장 적용과</a:t>
            </a:r>
          </a:p>
          <a:p>
            <a:pPr algn="l">
              <a:lnSpc>
                <a:spcPct val="152000"/>
              </a:lnSpc>
            </a:pPr>
            <a:r>
              <a:rPr lang="ko-KR" altLang="en-US" sz="1400" b="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일본 확장의 근거가 됩니다.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8446" y="5723068"/>
            <a:ext cx="6974541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제품만 만든 것이 아니라, </a:t>
            </a:r>
            <a:r>
              <a:rPr lang="ko-KR" altLang="en-US" sz="1600" dirty="0">
                <a:solidFill>
                  <a:srgbClr val="F57265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국내외 실증</a:t>
            </a:r>
            <a:r>
              <a:rPr lang="ko-KR" altLang="en-US" sz="1600" b="0" dirty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을 시작할 조건을 함께 준비했습니다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Haru by 보편교육연구소 · 실증 준비도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10</a:t>
            </a:r>
          </a:p>
        </p:txBody>
      </p:sp>
      <p:pic>
        <p:nvPicPr>
          <p:cNvPr id="57" name="Picture 56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pic>
        <p:nvPicPr>
          <p:cNvPr id="59" name="그림 58">
            <a:extLst>
              <a:ext uri="{FF2B5EF4-FFF2-40B4-BE49-F238E27FC236}">
                <a16:creationId xmlns:a16="http://schemas.microsoft.com/office/drawing/2014/main" id="{71F49D93-8A8F-065E-0BC6-A8302A6F15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5408" y="2118224"/>
            <a:ext cx="1241042" cy="175488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1" name="그림 60">
            <a:extLst>
              <a:ext uri="{FF2B5EF4-FFF2-40B4-BE49-F238E27FC236}">
                <a16:creationId xmlns:a16="http://schemas.microsoft.com/office/drawing/2014/main" id="{564104E9-E6FA-D606-9719-0B3D463E99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5907" y="2120335"/>
            <a:ext cx="1242344" cy="175555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3" name="Oval 6">
            <a:extLst>
              <a:ext uri="{FF2B5EF4-FFF2-40B4-BE49-F238E27FC236}">
                <a16:creationId xmlns:a16="http://schemas.microsoft.com/office/drawing/2014/main" id="{DA9EA50F-2F5D-F23E-D67E-5F2B44A81AF4}"/>
              </a:ext>
            </a:extLst>
          </p:cNvPr>
          <p:cNvSpPr/>
          <p:nvPr/>
        </p:nvSpPr>
        <p:spPr>
          <a:xfrm>
            <a:off x="8974836" y="4634483"/>
            <a:ext cx="82296" cy="82296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5" name="Oval 6">
            <a:extLst>
              <a:ext uri="{FF2B5EF4-FFF2-40B4-BE49-F238E27FC236}">
                <a16:creationId xmlns:a16="http://schemas.microsoft.com/office/drawing/2014/main" id="{D5ED8810-AB53-F96C-A9CA-E61CA1FCD971}"/>
              </a:ext>
            </a:extLst>
          </p:cNvPr>
          <p:cNvSpPr/>
          <p:nvPr/>
        </p:nvSpPr>
        <p:spPr>
          <a:xfrm>
            <a:off x="8974836" y="5451348"/>
            <a:ext cx="82296" cy="82296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01" name="TextBox 1001"/>
          <p:cNvSpPr txBox="1"/>
          <p:nvPr/>
        </p:nvSpPr>
        <p:spPr>
          <a:xfrm>
            <a:off x="886967" y="2202140"/>
            <a:ext cx="3300000" cy="180000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100" b="0" dirty="0">
                <a:solidFill>
                  <a:srgbClr val="5E9A6A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석 · 박사 과정 팀원이 직접 작성</a:t>
            </a:r>
          </a:p>
        </p:txBody>
      </p:sp>
      <p:sp>
        <p:nvSpPr>
          <p:cNvPr id="1002" name="TextBox 1002"/>
          <p:cNvSpPr txBox="1"/>
          <p:nvPr/>
        </p:nvSpPr>
        <p:spPr>
          <a:xfrm>
            <a:off x="4937759" y="2202140"/>
            <a:ext cx="3300000" cy="180000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100" b="0" dirty="0">
                <a:solidFill>
                  <a:schemeClr val="accent6">
                    <a:lumMod val="75000"/>
                  </a:schemeClr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의료 IRB 경험 팀원이 직접 신청</a:t>
            </a:r>
          </a:p>
        </p:txBody>
      </p:sp>
      <p:sp>
        <p:nvSpPr>
          <p:cNvPr id="1003" name="TextBox 1003"/>
          <p:cNvSpPr txBox="1"/>
          <p:nvPr/>
        </p:nvSpPr>
        <p:spPr>
          <a:xfrm>
            <a:off x="886967" y="4114860"/>
            <a:ext cx="3300000" cy="180000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100" b="0" dirty="0">
                <a:solidFill>
                  <a:srgbClr val="F57265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KAIST 변리사 상담 프로그램 활용</a:t>
            </a:r>
          </a:p>
        </p:txBody>
      </p:sp>
      <p:sp>
        <p:nvSpPr>
          <p:cNvPr id="1004" name="TextBox 1004"/>
          <p:cNvSpPr txBox="1"/>
          <p:nvPr/>
        </p:nvSpPr>
        <p:spPr>
          <a:xfrm>
            <a:off x="4937760" y="4114860"/>
            <a:ext cx="3300000" cy="180000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100" b="0" dirty="0">
                <a:solidFill>
                  <a:srgbClr val="C8410E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KAIST 보안학회 경험 활용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9C8B77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3. SOLUTION · 실증 추진 계획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0232" cy="4201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730" b="0" dirty="0">
                <a:solidFill>
                  <a:srgbClr val="F57265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한 · 일 양국 실증</a:t>
            </a:r>
            <a:r>
              <a:rPr lang="ko-KR" altLang="en-US" sz="273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을 ICT콤플렉스 · 현지 기관과 함께 추진합니다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11000232" cy="2431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 dirty="0">
                <a:solidFill>
                  <a:srgbClr val="6C5D4C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2026 글로벌 피우다프로젝트 우수개발물 '시범적용(국내외 실증)' 5개 팀에 선정 · 일본 실증 후 국내 실증 추진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Haru by 보편교육연구소 · 실증 추진 계획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408454" y="6364224"/>
            <a:ext cx="18915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altLang="ko-KR" sz="1200" b="0" dirty="0">
                <a:solidFill>
                  <a:srgbClr val="9C8B77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11</a:t>
            </a:r>
            <a:endParaRPr lang="ko-KR" altLang="en-US" sz="1200" b="0" dirty="0">
              <a:solidFill>
                <a:srgbClr val="9C8B77"/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나눔스퀘어라운드 Bold" panose="020B0600000101010101" pitchFamily="50" charset="-127"/>
            </a:endParaRPr>
          </a:p>
        </p:txBody>
      </p:sp>
      <p:pic>
        <p:nvPicPr>
          <p:cNvPr id="66" name="Picture 6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sp>
        <p:nvSpPr>
          <p:cNvPr id="88" name="Rounded Rectangle 87"/>
          <p:cNvSpPr/>
          <p:nvPr/>
        </p:nvSpPr>
        <p:spPr>
          <a:xfrm>
            <a:off x="594360" y="1838960"/>
            <a:ext cx="3611880" cy="427558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89" name="Rounded Rectangle 88"/>
          <p:cNvSpPr/>
          <p:nvPr/>
        </p:nvSpPr>
        <p:spPr>
          <a:xfrm>
            <a:off x="822960" y="202184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F57265"/>
          </a:solidFill>
          <a:ln>
            <a:noFill/>
          </a:ln>
          <a:effectLst/>
        </p:spPr>
        <p:txBody>
          <a:bodyPr lIns="73152" tIns="0" rIns="73152" bIns="0" rtlCol="0" anchor="ctr"/>
          <a:lstStyle/>
          <a:p>
            <a:pPr algn="ctr"/>
            <a:r>
              <a:rPr sz="1200">
                <a:solidFill>
                  <a:srgbClr val="FFFFFF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일본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828800" y="2021840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dirty="0">
                <a:solidFill>
                  <a:srgbClr val="C8410E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10.19 ~ 10.23 · </a:t>
            </a:r>
            <a:r>
              <a:rPr sz="1100" dirty="0" err="1">
                <a:solidFill>
                  <a:srgbClr val="C8410E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오사카</a:t>
            </a:r>
            <a:endParaRPr sz="1100" dirty="0">
              <a:solidFill>
                <a:srgbClr val="C8410E"/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나눔스퀘어라운드 Bold" panose="020B0600000101010101" pitchFamily="50" charset="-127"/>
            </a:endParaRPr>
          </a:p>
        </p:txBody>
      </p:sp>
      <p:sp>
        <p:nvSpPr>
          <p:cNvPr id="91" name="TextBox 90"/>
          <p:cNvSpPr txBox="1"/>
          <p:nvPr/>
        </p:nvSpPr>
        <p:spPr>
          <a:xfrm>
            <a:off x="822960" y="2479039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ATC 에이지리스센터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22960" y="2780792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'미라이존' 체험공간에서 어르신 20명 체험 · 인터뷰
전시 준비 · 참여자 모집을 센터가 지원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22960" y="3439160"/>
            <a:ext cx="3154680" cy="10972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822960" y="3548888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현지 협력 · Shohei Nakamura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22960" y="3841496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오사카대학 특임연구원 · SN Design 대표
고령자 UX 자문 · 오사카대 및 현지 기관 연계 · 일본 시장 진출 협력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4343400" y="1838960"/>
            <a:ext cx="3611880" cy="427558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97" name="Rounded Rectangle 96"/>
          <p:cNvSpPr/>
          <p:nvPr/>
        </p:nvSpPr>
        <p:spPr>
          <a:xfrm>
            <a:off x="4572000" y="202184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F57265"/>
          </a:solidFill>
          <a:ln>
            <a:noFill/>
          </a:ln>
          <a:effectLst/>
        </p:spPr>
        <p:txBody>
          <a:bodyPr lIns="73152" tIns="0" rIns="73152" bIns="0" rtlCol="0" anchor="ctr"/>
          <a:lstStyle/>
          <a:p>
            <a:pPr algn="ctr"/>
            <a:r>
              <a:rPr sz="1200">
                <a:solidFill>
                  <a:srgbClr val="FFFFFF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한국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577840" y="2021840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C8410E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11월 · 일본 실증 후 진행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572000" y="2479039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dirty="0" err="1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한국재가노인복지협회</a:t>
            </a:r>
            <a:r>
              <a:rPr sz="140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 </a:t>
            </a:r>
            <a:r>
              <a:rPr sz="1400" dirty="0" err="1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회원시설</a:t>
            </a:r>
            <a:endParaRPr sz="1400" dirty="0">
              <a:solidFill>
                <a:srgbClr val="2A2018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  <a:cs typeface="나눔스퀘어라운드 ExtraBold" panose="020B0600000101010101" pitchFamily="50" charset="-127"/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4572000" y="2780792"/>
            <a:ext cx="3200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주야간보호 · 재가 서비스 이용 어르신 대상
기관 설치형 키오스크로 1주일 실증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4572000" y="3439160"/>
            <a:ext cx="3154680" cy="10972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4572000" y="3548888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dirty="0" err="1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마포구</a:t>
            </a:r>
            <a:r>
              <a:rPr sz="130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 </a:t>
            </a:r>
            <a:r>
              <a:rPr sz="1300" dirty="0" err="1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치매안심센터</a:t>
            </a:r>
            <a:r>
              <a:rPr sz="1050" dirty="0">
                <a:solidFill>
                  <a:srgbClr val="C8410E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  협</a:t>
            </a:r>
            <a:r>
              <a:rPr lang="ko-KR" altLang="en-US" sz="1050" dirty="0">
                <a:solidFill>
                  <a:srgbClr val="C8410E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력 진행 중</a:t>
            </a:r>
            <a:endParaRPr sz="1050" dirty="0">
              <a:solidFill>
                <a:srgbClr val="C8410E"/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나눔스퀘어라운드 Bold" panose="020B0600000101010101" pitchFamily="50" charset="-127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4572000" y="3841496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인지 활동 프로그램과 연계 실증
치매안심센터 B2G 모델의 첫 레퍼런스 확보</a:t>
            </a:r>
          </a:p>
        </p:txBody>
      </p:sp>
      <p:pic>
        <p:nvPicPr>
          <p:cNvPr id="104" name="Picture 103" descr="atc.png"/>
          <p:cNvPicPr>
            <a:picLocks noChangeAspect="1"/>
          </p:cNvPicPr>
          <p:nvPr/>
        </p:nvPicPr>
        <p:blipFill>
          <a:blip r:embed="rId3"/>
          <a:srcRect l="147" r="147"/>
          <a:stretch>
            <a:fillRect/>
          </a:stretch>
        </p:blipFill>
        <p:spPr>
          <a:xfrm>
            <a:off x="8158957" y="2067560"/>
            <a:ext cx="3502152" cy="1261872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8155940" y="3443732"/>
            <a:ext cx="350215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dirty="0">
                <a:solidFill>
                  <a:srgbClr val="9C8B7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ATC </a:t>
            </a:r>
            <a:r>
              <a:rPr sz="1000" dirty="0" err="1">
                <a:solidFill>
                  <a:srgbClr val="9C8B7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에이지리스센터</a:t>
            </a:r>
            <a:r>
              <a:rPr sz="1000" dirty="0">
                <a:solidFill>
                  <a:srgbClr val="9C8B7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 (</a:t>
            </a:r>
            <a:r>
              <a:rPr sz="1000" dirty="0" err="1">
                <a:solidFill>
                  <a:srgbClr val="9C8B7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오사카</a:t>
            </a:r>
            <a:r>
              <a:rPr sz="1000" dirty="0">
                <a:solidFill>
                  <a:srgbClr val="9C8B7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)</a:t>
            </a:r>
          </a:p>
        </p:txBody>
      </p:sp>
      <p:pic>
        <p:nvPicPr>
          <p:cNvPr id="5" name="그림 4" descr="서울 마포구치매안심센터 &gt; 포토 갤러리 | (주)케이제이이노베이션">
            <a:extLst>
              <a:ext uri="{FF2B5EF4-FFF2-40B4-BE49-F238E27FC236}">
                <a16:creationId xmlns:a16="http://schemas.microsoft.com/office/drawing/2014/main" id="{F2494F91-80A4-0DB9-5F22-EC94AB0AD42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3801" r="11944" b="11827"/>
          <a:stretch>
            <a:fillRect/>
          </a:stretch>
        </p:blipFill>
        <p:spPr>
          <a:xfrm>
            <a:off x="8155940" y="3704525"/>
            <a:ext cx="3502152" cy="19232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9B02AE0-F126-C157-EAB6-F69B822FA528}"/>
              </a:ext>
            </a:extLst>
          </p:cNvPr>
          <p:cNvSpPr txBox="1"/>
          <p:nvPr/>
        </p:nvSpPr>
        <p:spPr>
          <a:xfrm>
            <a:off x="8155940" y="5751576"/>
            <a:ext cx="3502152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en-US" sz="1000" dirty="0">
                <a:solidFill>
                  <a:srgbClr val="9C8B7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마포구 치매안심센터</a:t>
            </a:r>
            <a:endParaRPr sz="1000" dirty="0">
              <a:solidFill>
                <a:srgbClr val="9C8B77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  <a:cs typeface="나눔스퀘어라운드 Regular" panose="020B0600000101010101" pitchFamily="50" charset="-127"/>
            </a:endParaRPr>
          </a:p>
        </p:txBody>
      </p:sp>
      <p:sp>
        <p:nvSpPr>
          <p:cNvPr id="300" name="Rectangle 299"/>
          <p:cNvSpPr/>
          <p:nvPr/>
        </p:nvSpPr>
        <p:spPr>
          <a:xfrm>
            <a:off x="822960" y="4709160"/>
            <a:ext cx="3154680" cy="10972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01" name="TextBox 300"/>
          <p:cNvSpPr txBox="1"/>
          <p:nvPr/>
        </p:nvSpPr>
        <p:spPr>
          <a:xfrm>
            <a:off x="822960" y="4818888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0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홋카이도대학교 창업지원부문</a:t>
            </a:r>
            <a:r>
              <a:rPr lang="ko-KR" altLang="en-US" sz="1050" dirty="0">
                <a:solidFill>
                  <a:srgbClr val="C8410E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  일본 시장 자문 중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822960" y="5111496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ko-KR" altLang="en-US" sz="11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산학·지역협업추진기구 산하 창업지원부문</a:t>
            </a:r>
            <a:br/>
            <a:r>
              <a:rPr lang="ko-KR" altLang="en-US" sz="11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팀장 나현우 소속 · 일본 시장 진출 · 현지 사업화 자문</a:t>
            </a:r>
          </a:p>
        </p:txBody>
      </p:sp>
      <p:sp>
        <p:nvSpPr>
          <p:cNvPr id="303" name="Rectangle 302"/>
          <p:cNvSpPr/>
          <p:nvPr/>
        </p:nvSpPr>
        <p:spPr>
          <a:xfrm>
            <a:off x="4572000" y="4709160"/>
            <a:ext cx="3154680" cy="10972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304" name="TextBox 303"/>
          <p:cNvSpPr txBox="1"/>
          <p:nvPr/>
        </p:nvSpPr>
        <p:spPr>
          <a:xfrm>
            <a:off x="4572000" y="4818888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0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정보통신산업진흥원(NIPA)</a:t>
            </a:r>
            <a:r>
              <a:rPr lang="ko-KR" altLang="en-US" sz="1050" dirty="0">
                <a:solidFill>
                  <a:srgbClr val="C8410E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  기술협력 진행 중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4572000" y="5111496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ko-KR" altLang="en-US" sz="11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신성우 정책기획단 단장과 기술협력 진행</a:t>
            </a:r>
            <a:br/>
            <a:r>
              <a:rPr lang="ko-KR" altLang="en-US" sz="11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돌봄 ICT 기술 검증 · 실증 결과의 공공 확산 연계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9C8B77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3. SOLUTION · 실증 시나리오 · 성과지표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0232" cy="4201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73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무엇을 검증하고, </a:t>
            </a:r>
            <a:r>
              <a:rPr lang="ko-KR" altLang="en-US" sz="2730" b="0" dirty="0">
                <a:solidFill>
                  <a:srgbClr val="F57265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어떻게 측정</a:t>
            </a:r>
            <a:r>
              <a:rPr lang="ko-KR" altLang="en-US" sz="273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할 것인가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11000232" cy="2431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 dirty="0">
                <a:solidFill>
                  <a:srgbClr val="6C5D4C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어르신이 도움 없이 혼자 3분 루틴을 끝내고, 매일 다시 찾는지를 확인합니다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Haru by 보편교육연구소 · 실증 시나리오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408454" y="6364224"/>
            <a:ext cx="18915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altLang="ko-KR" sz="1200" b="0" dirty="0">
                <a:solidFill>
                  <a:srgbClr val="9C8B77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12</a:t>
            </a:r>
            <a:endParaRPr lang="ko-KR" altLang="en-US" sz="1200" b="0" dirty="0">
              <a:solidFill>
                <a:srgbClr val="9C8B77"/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나눔스퀘어라운드 Bold" panose="020B0600000101010101" pitchFamily="50" charset="-127"/>
            </a:endParaRPr>
          </a:p>
        </p:txBody>
      </p:sp>
      <p:pic>
        <p:nvPicPr>
          <p:cNvPr id="66" name="Picture 6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sp>
        <p:nvSpPr>
          <p:cNvPr id="67" name="Rounded Rectangle 66"/>
          <p:cNvSpPr/>
          <p:nvPr/>
        </p:nvSpPr>
        <p:spPr>
          <a:xfrm>
            <a:off x="594360" y="1691640"/>
            <a:ext cx="5394960" cy="28803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22960" y="1828800"/>
            <a:ext cx="4937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성과지표 (안)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22960" y="2240280"/>
            <a:ext cx="17373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단독 완료율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606040" y="2240280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도움 없이 6문항 완료 세션 비율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892040" y="2267712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BE0D3"/>
          </a:solidFill>
          <a:ln>
            <a:noFill/>
          </a:ln>
          <a:effectLst/>
        </p:spPr>
        <p:txBody>
          <a:bodyPr lIns="73152" tIns="0" rIns="73152" bIns="0" rtlCol="0" anchor="ctr"/>
          <a:lstStyle/>
          <a:p>
            <a:pPr algn="ctr"/>
            <a:r>
              <a:rPr sz="1150">
                <a:solidFill>
                  <a:srgbClr val="C8410E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≥ 90%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22960" y="2624328"/>
            <a:ext cx="4937760" cy="10972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822960" y="2679192"/>
            <a:ext cx="17373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1회 소요시간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606040" y="2679192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카드 태깅 ~ 종료 인사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892040" y="2706624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BE0D3"/>
          </a:solidFill>
          <a:ln>
            <a:noFill/>
          </a:ln>
          <a:effectLst/>
        </p:spPr>
        <p:txBody>
          <a:bodyPr lIns="73152" tIns="0" rIns="73152" bIns="0" rtlCol="0" anchor="ctr"/>
          <a:lstStyle/>
          <a:p>
            <a:pPr algn="ctr"/>
            <a:r>
              <a:rPr sz="1150">
                <a:solidFill>
                  <a:srgbClr val="C8410E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3 ~ 5분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22960" y="3063240"/>
            <a:ext cx="4937760" cy="10972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22960" y="3118104"/>
            <a:ext cx="17373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음성 인식 성공률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606040" y="3118104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재시도 없이 인식된 발화 문항 비율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892040" y="3145536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BE0D3"/>
          </a:solidFill>
          <a:ln>
            <a:noFill/>
          </a:ln>
          <a:effectLst/>
        </p:spPr>
        <p:txBody>
          <a:bodyPr lIns="73152" tIns="0" rIns="73152" bIns="0" rtlCol="0" anchor="ctr"/>
          <a:lstStyle/>
          <a:p>
            <a:pPr algn="ctr"/>
            <a:r>
              <a:rPr sz="1150">
                <a:solidFill>
                  <a:srgbClr val="C8410E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≥ 85%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22960" y="3502152"/>
            <a:ext cx="4937760" cy="10972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822960" y="3557016"/>
            <a:ext cx="17373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재참여 의향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2606040" y="3557016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체험 후 인터뷰 · 5점 척도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4892040" y="3584448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BE0D3"/>
          </a:solidFill>
          <a:ln>
            <a:noFill/>
          </a:ln>
          <a:effectLst/>
        </p:spPr>
        <p:txBody>
          <a:bodyPr lIns="73152" tIns="0" rIns="73152" bIns="0" rtlCol="0" anchor="ctr"/>
          <a:lstStyle/>
          <a:p>
            <a:pPr algn="ctr"/>
            <a:r>
              <a:rPr sz="1150">
                <a:solidFill>
                  <a:srgbClr val="C8410E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≥ 4.0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22960" y="3941064"/>
            <a:ext cx="4937760" cy="10972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822960" y="3995928"/>
            <a:ext cx="17373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리포트 유용성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606040" y="3995928"/>
            <a:ext cx="21945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종사자 · 보호자 평가 · 5점 척도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892040" y="402336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FBE0D3"/>
          </a:solidFill>
          <a:ln>
            <a:noFill/>
          </a:ln>
          <a:effectLst/>
        </p:spPr>
        <p:txBody>
          <a:bodyPr lIns="73152" tIns="0" rIns="73152" bIns="0" rtlCol="0" anchor="ctr"/>
          <a:lstStyle/>
          <a:p>
            <a:pPr algn="ctr"/>
            <a:r>
              <a:rPr sz="1150">
                <a:solidFill>
                  <a:srgbClr val="C8410E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≥ 4.0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199632" y="1691640"/>
            <a:ext cx="5394960" cy="28803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6428232" y="1828800"/>
            <a:ext cx="4937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실증 절차 · 5단계</a:t>
            </a:r>
          </a:p>
        </p:txBody>
      </p:sp>
      <p:sp>
        <p:nvSpPr>
          <p:cNvPr id="90" name="Oval 89"/>
          <p:cNvSpPr/>
          <p:nvPr/>
        </p:nvSpPr>
        <p:spPr>
          <a:xfrm>
            <a:off x="6428232" y="2276856"/>
            <a:ext cx="274320" cy="274320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sz="1100">
                <a:solidFill>
                  <a:srgbClr val="FFFFFF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812280" y="2240280"/>
            <a:ext cx="17373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요구사항 분석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549640" y="2240280"/>
            <a:ext cx="28803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실증처 환경 · 대상자 특성 · 문항 검수</a:t>
            </a:r>
          </a:p>
        </p:txBody>
      </p:sp>
      <p:sp>
        <p:nvSpPr>
          <p:cNvPr id="93" name="Oval 92"/>
          <p:cNvSpPr/>
          <p:nvPr/>
        </p:nvSpPr>
        <p:spPr>
          <a:xfrm>
            <a:off x="6428232" y="2715768"/>
            <a:ext cx="274320" cy="274320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sz="1100">
                <a:solidFill>
                  <a:srgbClr val="FFFFFF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2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812280" y="2679192"/>
            <a:ext cx="17373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세팅 · 호환성 점검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8549640" y="2679192"/>
            <a:ext cx="28803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전원 · Wi-Fi · 일본어 UI · NFC 카드</a:t>
            </a:r>
          </a:p>
        </p:txBody>
      </p:sp>
      <p:sp>
        <p:nvSpPr>
          <p:cNvPr id="96" name="Oval 95"/>
          <p:cNvSpPr/>
          <p:nvPr/>
        </p:nvSpPr>
        <p:spPr>
          <a:xfrm>
            <a:off x="6428232" y="3154680"/>
            <a:ext cx="274320" cy="274320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sz="1100">
                <a:solidFill>
                  <a:srgbClr val="FFFFFF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3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812280" y="3118104"/>
            <a:ext cx="17373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사용법 교육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8549640" y="3118104"/>
            <a:ext cx="28803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종사자 30분 교육 → 어르신 단독 사용</a:t>
            </a:r>
          </a:p>
        </p:txBody>
      </p:sp>
      <p:sp>
        <p:nvSpPr>
          <p:cNvPr id="99" name="Oval 98"/>
          <p:cNvSpPr/>
          <p:nvPr/>
        </p:nvSpPr>
        <p:spPr>
          <a:xfrm>
            <a:off x="6428232" y="3593592"/>
            <a:ext cx="274320" cy="274320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sz="1100">
                <a:solidFill>
                  <a:srgbClr val="FFFFFF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4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812280" y="3557016"/>
            <a:ext cx="17373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체험 · 모니터링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549640" y="3557016"/>
            <a:ext cx="28803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1일 1회 · 시범적용 활동일지 작성</a:t>
            </a:r>
          </a:p>
        </p:txBody>
      </p:sp>
      <p:sp>
        <p:nvSpPr>
          <p:cNvPr id="102" name="Oval 101"/>
          <p:cNvSpPr/>
          <p:nvPr/>
        </p:nvSpPr>
        <p:spPr>
          <a:xfrm>
            <a:off x="6428232" y="4032504"/>
            <a:ext cx="274320" cy="274320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sz="1100">
                <a:solidFill>
                  <a:srgbClr val="FFFFFF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5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812280" y="3995928"/>
            <a:ext cx="17373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인터뷰 · 결과 분석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549640" y="3995928"/>
            <a:ext cx="2880360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참여자 인터뷰 · 지표 분석 → 시제품 반영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594360" y="4754880"/>
            <a:ext cx="11000232" cy="1463040"/>
          </a:xfrm>
          <a:prstGeom prst="roundRect">
            <a:avLst>
              <a:gd name="adj" fmla="val 5500"/>
            </a:avLst>
          </a:prstGeom>
          <a:solidFill>
            <a:srgbClr val="F5ECD8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822960" y="486460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실증 조건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822960" y="5212079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F57265"/>
          </a:solidFill>
          <a:ln>
            <a:noFill/>
          </a:ln>
          <a:effectLst/>
        </p:spPr>
        <p:txBody>
          <a:bodyPr lIns="73152" tIns="0" rIns="73152" bIns="0" rtlCol="0" anchor="ctr"/>
          <a:lstStyle/>
          <a:p>
            <a:pPr algn="ctr"/>
            <a:r>
              <a:rPr sz="1000">
                <a:solidFill>
                  <a:srgbClr val="FFFFFF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대상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463040" y="5193792"/>
            <a:ext cx="42062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2A2018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65세 이상 어르신 · 일본 20명 / 국내 10~20명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822960" y="5541264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F57265"/>
          </a:solidFill>
          <a:ln>
            <a:noFill/>
          </a:ln>
          <a:effectLst/>
        </p:spPr>
        <p:txBody>
          <a:bodyPr lIns="73152" tIns="0" rIns="73152" bIns="0" rtlCol="0" anchor="ctr"/>
          <a:lstStyle/>
          <a:p>
            <a:pPr algn="ctr"/>
            <a:r>
              <a:rPr sz="1000">
                <a:solidFill>
                  <a:srgbClr val="FFFFFF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환경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463040" y="5522976"/>
            <a:ext cx="42062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2A2018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키오스크 1대 · 전원 · Wi-Fi · 공사 불필요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822960" y="5870447"/>
            <a:ext cx="548640" cy="256032"/>
          </a:xfrm>
          <a:prstGeom prst="roundRect">
            <a:avLst>
              <a:gd name="adj" fmla="val 50000"/>
            </a:avLst>
          </a:prstGeom>
          <a:solidFill>
            <a:srgbClr val="F57265"/>
          </a:solidFill>
          <a:ln>
            <a:noFill/>
          </a:ln>
          <a:effectLst/>
        </p:spPr>
        <p:txBody>
          <a:bodyPr lIns="73152" tIns="0" rIns="73152" bIns="0" rtlCol="0" anchor="ctr"/>
          <a:lstStyle/>
          <a:p>
            <a:pPr algn="ctr"/>
            <a:r>
              <a:rPr sz="1000">
                <a:solidFill>
                  <a:srgbClr val="FFFFFF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기간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463040" y="5852159"/>
            <a:ext cx="420624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2A2018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1주일 · 1일 1회 · 회당 3~5분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035040" y="486460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참여 인력 · 역할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6035040" y="5212079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F57265"/>
          </a:solidFill>
          <a:ln>
            <a:noFill/>
          </a:ln>
          <a:effectLst/>
        </p:spPr>
        <p:txBody>
          <a:bodyPr lIns="73152" tIns="0" rIns="73152" bIns="0" rtlCol="0" anchor="ctr"/>
          <a:lstStyle/>
          <a:p>
            <a:pPr algn="ctr"/>
            <a:r>
              <a:rPr sz="1000">
                <a:solidFill>
                  <a:srgbClr val="FFFFFF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김현준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858000" y="5193792"/>
            <a:ext cx="44805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2A2018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시스템 운영 · 데이터 · 지표 분석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6035040" y="5541264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F57265"/>
          </a:solidFill>
          <a:ln>
            <a:noFill/>
          </a:ln>
          <a:effectLst/>
        </p:spPr>
        <p:txBody>
          <a:bodyPr lIns="73152" tIns="0" rIns="73152" bIns="0" rtlCol="0" anchor="ctr"/>
          <a:lstStyle/>
          <a:p>
            <a:pPr algn="ctr"/>
            <a:r>
              <a:rPr sz="1000">
                <a:solidFill>
                  <a:srgbClr val="FFFFFF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이재우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858000" y="5522976"/>
            <a:ext cx="44805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2A2018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안전 · 동의 · IRB · 인터뷰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6035040" y="5870447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F57265"/>
          </a:solidFill>
          <a:ln>
            <a:noFill/>
          </a:ln>
          <a:effectLst/>
        </p:spPr>
        <p:txBody>
          <a:bodyPr lIns="73152" tIns="0" rIns="73152" bIns="0" rtlCol="0" anchor="ctr"/>
          <a:lstStyle/>
          <a:p>
            <a:pPr algn="ctr"/>
            <a:r>
              <a:rPr sz="1000">
                <a:solidFill>
                  <a:srgbClr val="FFFFFF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나현우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858000" y="5852159"/>
            <a:ext cx="44805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>
                <a:solidFill>
                  <a:srgbClr val="2A2018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일본어 통역 · 현지 운영 · 문항 검수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F57265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3. SOLUTION · 사업화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7213513" cy="4847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315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기관이 </a:t>
            </a:r>
            <a:r>
              <a:rPr lang="ko-KR" altLang="en-US" sz="3150" dirty="0">
                <a:solidFill>
                  <a:srgbClr val="F57265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바로 도입</a:t>
            </a:r>
            <a:r>
              <a:rPr lang="ko-KR" altLang="en-US" sz="315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할 수 있는 운영 모델입니다</a:t>
            </a:r>
            <a:endParaRPr lang="ko-KR" altLang="en-US" sz="3150" b="0" dirty="0">
              <a:solidFill>
                <a:srgbClr val="2A2018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  <a:cs typeface="나눔스퀘어라운드 ExtraBold" panose="020B0600000101010101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6182783" cy="2431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1580" b="0" dirty="0">
                <a:solidFill>
                  <a:srgbClr val="6C5D4C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B2B </a:t>
            </a:r>
            <a:r>
              <a:rPr lang="en-US" altLang="ko-KR" sz="1580" b="0" dirty="0">
                <a:solidFill>
                  <a:srgbClr val="6C5D4C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&amp;</a:t>
            </a:r>
            <a:r>
              <a:rPr lang="ko-KR" altLang="en-US" sz="1580" dirty="0">
                <a:solidFill>
                  <a:srgbClr val="6C5D4C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 </a:t>
            </a:r>
            <a:r>
              <a:rPr lang="ko-KR" altLang="en-US" sz="1580" b="0" dirty="0">
                <a:solidFill>
                  <a:srgbClr val="6C5D4C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B2G · 전 과정 자체 개발 </a:t>
            </a:r>
            <a:r>
              <a:rPr lang="en-US" altLang="ko-KR" sz="1580" b="0" dirty="0">
                <a:solidFill>
                  <a:srgbClr val="6C5D4C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(</a:t>
            </a:r>
            <a:r>
              <a:rPr lang="ko-KR" altLang="en-US" sz="1580" dirty="0">
                <a:solidFill>
                  <a:srgbClr val="6C5D4C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설치형 키오스크 </a:t>
            </a:r>
            <a:r>
              <a:rPr lang="en-US" altLang="ko-KR" sz="1580" dirty="0">
                <a:solidFill>
                  <a:srgbClr val="6C5D4C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+ </a:t>
            </a:r>
            <a:r>
              <a:rPr lang="ko-KR" altLang="en-US" sz="1580" dirty="0">
                <a:solidFill>
                  <a:srgbClr val="6C5D4C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운영 리포트 구독 모델</a:t>
            </a:r>
            <a:r>
              <a:rPr lang="en-US" altLang="ko-KR" sz="1580" b="0" dirty="0">
                <a:solidFill>
                  <a:srgbClr val="6C5D4C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)</a:t>
            </a:r>
            <a:endParaRPr lang="ko-KR" altLang="en-US" sz="1580" b="0" dirty="0">
              <a:solidFill>
                <a:srgbClr val="6C5D4C"/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나눔스퀘어라운드 Bold" panose="020B0600000101010101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36407" y="1790431"/>
            <a:ext cx="1463040" cy="2795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2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초기 고객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20240" y="1772143"/>
            <a:ext cx="900000" cy="329184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300" b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요양병원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50240" y="1772143"/>
            <a:ext cx="1500000" cy="329184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300" b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요양원 · 요양시설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80240" y="1772143"/>
            <a:ext cx="1350000" cy="329184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300" b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주야간보호센터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60240" y="1772143"/>
            <a:ext cx="1800000" cy="329184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300" b="0" dirty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복지관 · 치매안심센터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407" y="2363722"/>
            <a:ext cx="1463040" cy="27952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20" b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운영 흐름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928217" y="2256597"/>
            <a:ext cx="1353223" cy="4937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088945" y="2411152"/>
            <a:ext cx="1022716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00" b="0" dirty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기관 등록 · 동의</a:t>
            </a:r>
          </a:p>
        </p:txBody>
      </p:sp>
      <p:sp>
        <p:nvSpPr>
          <p:cNvPr id="13" name="Isosceles Triangle 12"/>
          <p:cNvSpPr/>
          <p:nvPr/>
        </p:nvSpPr>
        <p:spPr>
          <a:xfrm rot="5400000">
            <a:off x="3491843" y="2425761"/>
            <a:ext cx="155448" cy="155448"/>
          </a:xfrm>
          <a:prstGeom prst="triangl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866745" y="2256597"/>
            <a:ext cx="1353223" cy="4937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38080" y="2411152"/>
            <a:ext cx="801501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NFC 가명 ID</a:t>
            </a:r>
          </a:p>
        </p:txBody>
      </p:sp>
      <p:sp>
        <p:nvSpPr>
          <p:cNvPr id="16" name="Isosceles Triangle 15"/>
          <p:cNvSpPr/>
          <p:nvPr/>
        </p:nvSpPr>
        <p:spPr>
          <a:xfrm rot="5400000">
            <a:off x="5430371" y="2425761"/>
            <a:ext cx="155448" cy="155448"/>
          </a:xfrm>
          <a:prstGeom prst="triangl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5805273" y="2256597"/>
            <a:ext cx="1353223" cy="4937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79200" y="2411152"/>
            <a:ext cx="596317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하루 루틴</a:t>
            </a:r>
          </a:p>
        </p:txBody>
      </p:sp>
      <p:sp>
        <p:nvSpPr>
          <p:cNvPr id="19" name="Isosceles Triangle 18"/>
          <p:cNvSpPr/>
          <p:nvPr/>
        </p:nvSpPr>
        <p:spPr>
          <a:xfrm rot="5400000">
            <a:off x="7368898" y="2425761"/>
            <a:ext cx="155448" cy="155448"/>
          </a:xfrm>
          <a:prstGeom prst="triangl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743801" y="2256597"/>
            <a:ext cx="1353223" cy="4937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78267" y="2411152"/>
            <a:ext cx="875240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역할별 리포트</a:t>
            </a:r>
          </a:p>
        </p:txBody>
      </p:sp>
      <p:sp>
        <p:nvSpPr>
          <p:cNvPr id="22" name="Isosceles Triangle 21"/>
          <p:cNvSpPr/>
          <p:nvPr/>
        </p:nvSpPr>
        <p:spPr>
          <a:xfrm rot="5400000">
            <a:off x="9307427" y="2425761"/>
            <a:ext cx="155448" cy="155448"/>
          </a:xfrm>
          <a:prstGeom prst="triangl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682329" y="2256597"/>
            <a:ext cx="1353223" cy="49377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897559" y="2411152"/>
            <a:ext cx="913712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전문 상담 연계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" y="2987756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594360" y="3134060"/>
            <a:ext cx="3502152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94360" y="3371804"/>
            <a:ext cx="50292" cy="658368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795528" y="3262076"/>
            <a:ext cx="428244" cy="219456"/>
          </a:xfrm>
          <a:prstGeom prst="roundRect">
            <a:avLst>
              <a:gd name="adj" fmla="val 50000"/>
            </a:avLst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FFFFFF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07234" y="3255878"/>
            <a:ext cx="897682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b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수익 구조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9304" y="3579386"/>
            <a:ext cx="1014701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9C8B7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무엇으로 버는가</a:t>
            </a:r>
          </a:p>
        </p:txBody>
      </p:sp>
      <p:sp>
        <p:nvSpPr>
          <p:cNvPr id="31" name="Oval 30"/>
          <p:cNvSpPr/>
          <p:nvPr/>
        </p:nvSpPr>
        <p:spPr>
          <a:xfrm>
            <a:off x="1091363" y="3956125"/>
            <a:ext cx="109728" cy="109728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329106" y="3936180"/>
            <a:ext cx="1301638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기기 설치 · 유지보수</a:t>
            </a:r>
          </a:p>
        </p:txBody>
      </p:sp>
      <p:sp>
        <p:nvSpPr>
          <p:cNvPr id="33" name="Oval 32"/>
          <p:cNvSpPr/>
          <p:nvPr/>
        </p:nvSpPr>
        <p:spPr>
          <a:xfrm>
            <a:off x="1091363" y="4303597"/>
            <a:ext cx="109728" cy="109728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329106" y="4283652"/>
            <a:ext cx="1192634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구독형 서비스 제공</a:t>
            </a:r>
          </a:p>
        </p:txBody>
      </p:sp>
      <p:sp>
        <p:nvSpPr>
          <p:cNvPr id="35" name="Oval 34"/>
          <p:cNvSpPr/>
          <p:nvPr/>
        </p:nvSpPr>
        <p:spPr>
          <a:xfrm>
            <a:off x="1091363" y="4651069"/>
            <a:ext cx="109728" cy="109728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329106" y="4631124"/>
            <a:ext cx="1649491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기관 사용자 관리 라이선스</a:t>
            </a:r>
          </a:p>
        </p:txBody>
      </p:sp>
      <p:sp>
        <p:nvSpPr>
          <p:cNvPr id="37" name="Oval 36"/>
          <p:cNvSpPr/>
          <p:nvPr/>
        </p:nvSpPr>
        <p:spPr>
          <a:xfrm>
            <a:off x="1091363" y="4998541"/>
            <a:ext cx="109728" cy="109728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329106" y="4978596"/>
            <a:ext cx="1441100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보호자 · 전문가 리포트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43400" y="3134060"/>
            <a:ext cx="3502152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343400" y="3371804"/>
            <a:ext cx="50292" cy="658368"/>
          </a:xfrm>
          <a:prstGeom prst="rect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4544568" y="3262076"/>
            <a:ext cx="428244" cy="219456"/>
          </a:xfrm>
          <a:prstGeom prst="roundRect">
            <a:avLst>
              <a:gd name="adj" fmla="val 50000"/>
            </a:avLst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FFFFFF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56274" y="3255878"/>
            <a:ext cx="2016578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직접 개발 · 원가 절감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38344" y="3579386"/>
            <a:ext cx="1548501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왜 싸게 공급할 수 있는가</a:t>
            </a:r>
          </a:p>
        </p:txBody>
      </p:sp>
      <p:sp>
        <p:nvSpPr>
          <p:cNvPr id="44" name="Oval 43"/>
          <p:cNvSpPr/>
          <p:nvPr/>
        </p:nvSpPr>
        <p:spPr>
          <a:xfrm>
            <a:off x="4840403" y="3956125"/>
            <a:ext cx="109728" cy="109728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078147" y="3936180"/>
            <a:ext cx="2649764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하드웨어 · 앱 · 음성 · 기억 전부 자체 개발</a:t>
            </a:r>
          </a:p>
        </p:txBody>
      </p:sp>
      <p:sp>
        <p:nvSpPr>
          <p:cNvPr id="46" name="Oval 45"/>
          <p:cNvSpPr/>
          <p:nvPr/>
        </p:nvSpPr>
        <p:spPr>
          <a:xfrm>
            <a:off x="4840403" y="4303597"/>
            <a:ext cx="109728" cy="109728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78147" y="4283652"/>
            <a:ext cx="2106346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외주 개발비 없이 시제품까지 제작</a:t>
            </a:r>
          </a:p>
        </p:txBody>
      </p:sp>
      <p:sp>
        <p:nvSpPr>
          <p:cNvPr id="48" name="Oval 47"/>
          <p:cNvSpPr/>
          <p:nvPr/>
        </p:nvSpPr>
        <p:spPr>
          <a:xfrm>
            <a:off x="4840403" y="4651069"/>
            <a:ext cx="109728" cy="109728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078147" y="4631124"/>
            <a:ext cx="2284280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설치 단가를 낮춰 기관 진입장벽 완화</a:t>
            </a:r>
          </a:p>
        </p:txBody>
      </p:sp>
      <p:sp>
        <p:nvSpPr>
          <p:cNvPr id="50" name="Oval 49"/>
          <p:cNvSpPr/>
          <p:nvPr/>
        </p:nvSpPr>
        <p:spPr>
          <a:xfrm>
            <a:off x="4840403" y="4998541"/>
            <a:ext cx="109728" cy="109728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078147" y="4978596"/>
            <a:ext cx="1687963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현장 요구를 팀이 직접 반영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92440" y="3134060"/>
            <a:ext cx="3502152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8092440" y="3371804"/>
            <a:ext cx="50292" cy="658368"/>
          </a:xfrm>
          <a:prstGeom prst="rect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8293608" y="3262076"/>
            <a:ext cx="428244" cy="219456"/>
          </a:xfrm>
          <a:prstGeom prst="roundRect">
            <a:avLst>
              <a:gd name="adj" fmla="val 50000"/>
            </a:avLst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FFFFFF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03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05314" y="3255878"/>
            <a:ext cx="1527662" cy="276999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사회적기업 운영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787384" y="3579386"/>
            <a:ext cx="1154162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9C8B7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무엇을 우선하는가</a:t>
            </a:r>
          </a:p>
        </p:txBody>
      </p:sp>
      <p:sp>
        <p:nvSpPr>
          <p:cNvPr id="57" name="Oval 56"/>
          <p:cNvSpPr/>
          <p:nvPr/>
        </p:nvSpPr>
        <p:spPr>
          <a:xfrm>
            <a:off x="8589442" y="3956125"/>
            <a:ext cx="109728" cy="109728"/>
          </a:xfrm>
          <a:prstGeom prst="ellips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827187" y="3936180"/>
            <a:ext cx="1966885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이익 극대화가 아닌 접근성 우선</a:t>
            </a:r>
          </a:p>
        </p:txBody>
      </p:sp>
      <p:sp>
        <p:nvSpPr>
          <p:cNvPr id="59" name="Oval 58"/>
          <p:cNvSpPr/>
          <p:nvPr/>
        </p:nvSpPr>
        <p:spPr>
          <a:xfrm>
            <a:off x="8589442" y="4303597"/>
            <a:ext cx="109728" cy="109728"/>
          </a:xfrm>
          <a:prstGeom prst="ellips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827187" y="4283652"/>
            <a:ext cx="1758495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복지관 · 지자체 예산과 연계</a:t>
            </a:r>
          </a:p>
        </p:txBody>
      </p:sp>
      <p:sp>
        <p:nvSpPr>
          <p:cNvPr id="61" name="Oval 60"/>
          <p:cNvSpPr/>
          <p:nvPr/>
        </p:nvSpPr>
        <p:spPr>
          <a:xfrm>
            <a:off x="8589442" y="4651069"/>
            <a:ext cx="109728" cy="109728"/>
          </a:xfrm>
          <a:prstGeom prst="ellips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827187" y="4631124"/>
            <a:ext cx="1687963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돌봄 인력 부족 현장에 우선 배치</a:t>
            </a:r>
          </a:p>
        </p:txBody>
      </p:sp>
      <p:sp>
        <p:nvSpPr>
          <p:cNvPr id="63" name="Oval 62"/>
          <p:cNvSpPr/>
          <p:nvPr/>
        </p:nvSpPr>
        <p:spPr>
          <a:xfrm>
            <a:off x="8589442" y="4998541"/>
            <a:ext cx="109728" cy="109728"/>
          </a:xfrm>
          <a:prstGeom prst="ellips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8827187" y="4978596"/>
            <a:ext cx="1510029" cy="184666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충청권 지역과 함께 운영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94360" y="5556684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594360" y="5791919"/>
            <a:ext cx="1218282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기관 협력 현황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377440" y="5810207"/>
            <a:ext cx="2194560" cy="2092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360" b="0" dirty="0">
                <a:solidFill>
                  <a:srgbClr val="C8410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10+ 복지관과 협업 논의 중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Haru by 보편교육연구소 · 사업화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13</a:t>
            </a:r>
          </a:p>
        </p:txBody>
      </p:sp>
      <p:pic>
        <p:nvPicPr>
          <p:cNvPr id="75" name="Picture 74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sp>
        <p:nvSpPr>
          <p:cNvPr id="77" name="Oval 6">
            <a:extLst>
              <a:ext uri="{FF2B5EF4-FFF2-40B4-BE49-F238E27FC236}">
                <a16:creationId xmlns:a16="http://schemas.microsoft.com/office/drawing/2014/main" id="{204D6864-31D1-5FD3-0C89-C62129DC25FA}"/>
              </a:ext>
            </a:extLst>
          </p:cNvPr>
          <p:cNvSpPr/>
          <p:nvPr/>
        </p:nvSpPr>
        <p:spPr>
          <a:xfrm>
            <a:off x="603504" y="1854439"/>
            <a:ext cx="82296" cy="82296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79" name="Oval 6">
            <a:extLst>
              <a:ext uri="{FF2B5EF4-FFF2-40B4-BE49-F238E27FC236}">
                <a16:creationId xmlns:a16="http://schemas.microsoft.com/office/drawing/2014/main" id="{7A9BBDB9-CCE2-B9DD-3001-54E1FE38AF5B}"/>
              </a:ext>
            </a:extLst>
          </p:cNvPr>
          <p:cNvSpPr/>
          <p:nvPr/>
        </p:nvSpPr>
        <p:spPr>
          <a:xfrm>
            <a:off x="603504" y="2462337"/>
            <a:ext cx="82296" cy="82296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4E5D255-0B96-0BBC-1EA4-60407F1AF818}"/>
              </a:ext>
            </a:extLst>
          </p:cNvPr>
          <p:cNvSpPr txBox="1"/>
          <p:nvPr/>
        </p:nvSpPr>
        <p:spPr>
          <a:xfrm>
            <a:off x="4824847" y="5807056"/>
            <a:ext cx="2699499" cy="2092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en-US" sz="1360" dirty="0" err="1">
                <a:solidFill>
                  <a:srgbClr val="C8410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분당차병원</a:t>
            </a:r>
            <a:r>
              <a:rPr lang="ko-KR" altLang="en-US" sz="1360" dirty="0">
                <a:solidFill>
                  <a:srgbClr val="C8410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 정신건강의학과 자문협력</a:t>
            </a:r>
            <a:endParaRPr lang="ko-KR" altLang="en-US" sz="1360" b="0" dirty="0">
              <a:solidFill>
                <a:srgbClr val="C8410E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  <a:cs typeface="나눔스퀘어라운드 ExtraBold" panose="020B0600000101010101" pitchFamily="50" charset="-127"/>
            </a:endParaRP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8592A997-4ED8-4755-F8D3-6B33D8F775FD}"/>
              </a:ext>
            </a:extLst>
          </p:cNvPr>
          <p:cNvSpPr txBox="1"/>
          <p:nvPr/>
        </p:nvSpPr>
        <p:spPr>
          <a:xfrm>
            <a:off x="7969002" y="5813366"/>
            <a:ext cx="3084480" cy="2092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ko-KR" altLang="en-US" sz="1360" dirty="0">
                <a:solidFill>
                  <a:srgbClr val="C8410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육군사관학교 연구센터 협력연구 진행 중</a:t>
            </a:r>
            <a:endParaRPr lang="ko-KR" altLang="en-US" sz="1360" b="0" dirty="0">
              <a:solidFill>
                <a:srgbClr val="C8410E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  <a:cs typeface="나눔스퀘어라운드 ExtraBold" panose="020B0600000101010101" pitchFamily="50" charset="-127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81191-B236-5B6C-F35F-CA584E7E8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74" descr="logo.png">
            <a:extLst>
              <a:ext uri="{FF2B5EF4-FFF2-40B4-BE49-F238E27FC236}">
                <a16:creationId xmlns:a16="http://schemas.microsoft.com/office/drawing/2014/main" id="{6E81A082-475F-5371-CFA2-0D94A44C18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sp>
        <p:nvSpPr>
          <p:cNvPr id="1005" name="TextBox 1005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dirty="0">
                <a:solidFill>
                  <a:srgbClr val="F57265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3. SOLUTION · 시장 분석</a:t>
            </a:r>
          </a:p>
        </p:txBody>
      </p:sp>
      <p:sp>
        <p:nvSpPr>
          <p:cNvPr id="1006" name="TextBox 1006"/>
          <p:cNvSpPr txBox="1"/>
          <p:nvPr/>
        </p:nvSpPr>
        <p:spPr>
          <a:xfrm>
            <a:off x="594360" y="694944"/>
            <a:ext cx="11003249" cy="484748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15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한·일 핵심 기관 </a:t>
            </a:r>
            <a:r>
              <a:rPr lang="ko-KR" altLang="en-US" sz="3150" b="0" dirty="0">
                <a:solidFill>
                  <a:srgbClr val="F57265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3.9만 곳 중 500곳</a:t>
            </a:r>
            <a:r>
              <a:rPr lang="ko-KR" altLang="en-US" sz="315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을 확보합니다</a:t>
            </a:r>
          </a:p>
        </p:txBody>
      </p:sp>
      <p:sp>
        <p:nvSpPr>
          <p:cNvPr id="1007" name="TextBox 1007"/>
          <p:cNvSpPr txBox="1"/>
          <p:nvPr/>
        </p:nvSpPr>
        <p:spPr>
          <a:xfrm>
            <a:off x="594360" y="1220724"/>
            <a:ext cx="11003249" cy="243143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 dirty="0">
                <a:solidFill>
                  <a:srgbClr val="6C5D4C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치매 · 경도인지장애(MCI) 돌봄 기관 기준 TAM · SAM · SOM</a:t>
            </a:r>
          </a:p>
        </p:txBody>
      </p:sp>
      <p:sp>
        <p:nvSpPr>
          <p:cNvPr id="1008" name="Shape 1008"/>
          <p:cNvSpPr/>
          <p:nvPr/>
        </p:nvSpPr>
        <p:spPr>
          <a:xfrm>
            <a:off x="594359" y="1768965"/>
            <a:ext cx="6927029" cy="4226881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10" name="Shape 1010"/>
          <p:cNvSpPr/>
          <p:nvPr/>
        </p:nvSpPr>
        <p:spPr>
          <a:xfrm>
            <a:off x="7860526" y="2088235"/>
            <a:ext cx="3641193" cy="1052835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11" name="Shape 1011"/>
          <p:cNvSpPr/>
          <p:nvPr/>
        </p:nvSpPr>
        <p:spPr>
          <a:xfrm>
            <a:off x="7860526" y="2208236"/>
            <a:ext cx="45719" cy="560000"/>
          </a:xfrm>
          <a:prstGeom prst="rect">
            <a:avLst/>
          </a:prstGeom>
          <a:solidFill>
            <a:srgbClr val="4A7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12" name="TextBox 1012"/>
          <p:cNvSpPr txBox="1"/>
          <p:nvPr/>
        </p:nvSpPr>
        <p:spPr>
          <a:xfrm>
            <a:off x="8071387" y="2220677"/>
            <a:ext cx="3381309" cy="474393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00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한국</a:t>
            </a:r>
            <a:r>
              <a:rPr lang="ko-KR" altLang="en-US" sz="1000" b="0" dirty="0">
                <a:solidFill>
                  <a:srgbClr val="9C8B77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   </a:t>
            </a:r>
            <a:r>
              <a:rPr lang="ko-KR" altLang="en-US" sz="1200" b="0" dirty="0">
                <a:solidFill>
                  <a:srgbClr val="9C8B77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KOREA</a:t>
            </a:r>
            <a:endParaRPr lang="ko-KR" altLang="en-US" sz="1000" b="0" dirty="0">
              <a:solidFill>
                <a:srgbClr val="9C8B77"/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나눔스퀘어라운드 Bold" panose="020B0600000101010101" pitchFamily="50" charset="-127"/>
            </a:endParaRPr>
          </a:p>
        </p:txBody>
      </p:sp>
      <p:sp>
        <p:nvSpPr>
          <p:cNvPr id="1013" name="TextBox 1013"/>
          <p:cNvSpPr txBox="1"/>
          <p:nvPr/>
        </p:nvSpPr>
        <p:spPr>
          <a:xfrm>
            <a:off x="8080526" y="2592711"/>
            <a:ext cx="3381309" cy="190000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치매 101만 명 · MCI 314만 명</a:t>
            </a:r>
          </a:p>
        </p:txBody>
      </p:sp>
      <p:sp>
        <p:nvSpPr>
          <p:cNvPr id="1014" name="TextBox 1014"/>
          <p:cNvSpPr txBox="1"/>
          <p:nvPr/>
        </p:nvSpPr>
        <p:spPr>
          <a:xfrm>
            <a:off x="8080526" y="2864426"/>
            <a:ext cx="3381309" cy="190000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10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정부 치매관리예산 1,849억원</a:t>
            </a:r>
          </a:p>
        </p:txBody>
      </p:sp>
      <p:sp>
        <p:nvSpPr>
          <p:cNvPr id="1015" name="Shape 1015"/>
          <p:cNvSpPr/>
          <p:nvPr/>
        </p:nvSpPr>
        <p:spPr>
          <a:xfrm>
            <a:off x="7860526" y="3284077"/>
            <a:ext cx="3641193" cy="105391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16" name="Shape 1016"/>
          <p:cNvSpPr/>
          <p:nvPr/>
        </p:nvSpPr>
        <p:spPr>
          <a:xfrm>
            <a:off x="7860526" y="3404077"/>
            <a:ext cx="45719" cy="560000"/>
          </a:xfrm>
          <a:prstGeom prst="rect">
            <a:avLst/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17" name="TextBox 1017"/>
          <p:cNvSpPr txBox="1"/>
          <p:nvPr/>
        </p:nvSpPr>
        <p:spPr>
          <a:xfrm>
            <a:off x="8071388" y="3384731"/>
            <a:ext cx="3381309" cy="388124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00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일본</a:t>
            </a:r>
            <a:r>
              <a:rPr lang="ko-KR" altLang="en-US" sz="1000" b="0" dirty="0">
                <a:solidFill>
                  <a:srgbClr val="9C8B77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   </a:t>
            </a:r>
            <a:r>
              <a:rPr lang="ko-KR" altLang="en-US" sz="1200" b="0" dirty="0">
                <a:solidFill>
                  <a:srgbClr val="9C8B77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JAPAN</a:t>
            </a:r>
          </a:p>
        </p:txBody>
      </p:sp>
      <p:sp>
        <p:nvSpPr>
          <p:cNvPr id="1018" name="TextBox 1018"/>
          <p:cNvSpPr txBox="1"/>
          <p:nvPr/>
        </p:nvSpPr>
        <p:spPr>
          <a:xfrm>
            <a:off x="8080526" y="3788552"/>
            <a:ext cx="3381309" cy="190000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치매 472만 명 · MCI 564만 명</a:t>
            </a:r>
          </a:p>
        </p:txBody>
      </p:sp>
      <p:sp>
        <p:nvSpPr>
          <p:cNvPr id="1019" name="TextBox 1019"/>
          <p:cNvSpPr txBox="1"/>
          <p:nvPr/>
        </p:nvSpPr>
        <p:spPr>
          <a:xfrm>
            <a:off x="8080526" y="4060267"/>
            <a:ext cx="3381309" cy="190000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10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정부 치매정책예산 125억 엔 (약 1,085억원)</a:t>
            </a:r>
          </a:p>
        </p:txBody>
      </p:sp>
      <p:sp>
        <p:nvSpPr>
          <p:cNvPr id="1020" name="Shape 1020"/>
          <p:cNvSpPr/>
          <p:nvPr/>
        </p:nvSpPr>
        <p:spPr>
          <a:xfrm>
            <a:off x="7860526" y="4811604"/>
            <a:ext cx="3641193" cy="868783"/>
          </a:xfrm>
          <a:prstGeom prst="roundRect">
            <a:avLst>
              <a:gd name="adj" fmla="val 5500"/>
            </a:avLst>
          </a:prstGeom>
          <a:solidFill>
            <a:srgbClr val="F5ECD8"/>
          </a:solidFill>
          <a:ln>
            <a:solidFill>
              <a:srgbClr val="A896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dirty="0"/>
          </a:p>
        </p:txBody>
      </p:sp>
      <p:sp>
        <p:nvSpPr>
          <p:cNvPr id="1022" name="TextBox 1022"/>
          <p:cNvSpPr txBox="1"/>
          <p:nvPr/>
        </p:nvSpPr>
        <p:spPr>
          <a:xfrm>
            <a:off x="8080527" y="4877138"/>
            <a:ext cx="2716996" cy="731961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r>
              <a:rPr lang="ko-KR" altLang="en-US" sz="12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한</a:t>
            </a:r>
            <a:r>
              <a:rPr lang="en-US" altLang="ko-KR" sz="12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·</a:t>
            </a:r>
            <a:r>
              <a:rPr lang="ko-KR" altLang="en-US" sz="12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일 정부 치매정책 관련 공공 재원</a:t>
            </a:r>
            <a:endParaRPr lang="ko-KR" altLang="en-US" sz="1200" b="0" dirty="0">
              <a:solidFill>
                <a:srgbClr val="6C5D4C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  <a:cs typeface="나눔스퀘어라운드 Regular" panose="020B0600000101010101" pitchFamily="50" charset="-127"/>
            </a:endParaRPr>
          </a:p>
          <a:p>
            <a:pPr algn="l">
              <a:lnSpc>
                <a:spcPct val="150000"/>
              </a:lnSpc>
              <a:spcBef>
                <a:spcPts val="200"/>
              </a:spcBef>
            </a:pPr>
            <a:r>
              <a:rPr lang="ko-KR" altLang="en-US" b="0" dirty="0">
                <a:solidFill>
                  <a:srgbClr val="F57265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약 2,934억원</a:t>
            </a:r>
            <a:r>
              <a:rPr lang="ko-KR" altLang="en-US" sz="1200" b="0" dirty="0">
                <a:solidFill>
                  <a:srgbClr val="F57265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 </a:t>
            </a:r>
            <a:r>
              <a:rPr lang="ko-KR" altLang="en-US" sz="120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규모의 시장</a:t>
            </a:r>
          </a:p>
        </p:txBody>
      </p:sp>
      <p:sp>
        <p:nvSpPr>
          <p:cNvPr id="1033" name="Shape 1033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34" name="TextBox 1034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9C8B7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Haru by 보편교육연구소 · 시장 분석</a:t>
            </a:r>
          </a:p>
        </p:txBody>
      </p:sp>
      <p:sp>
        <p:nvSpPr>
          <p:cNvPr id="1035" name="TextBox 1035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 dirty="0">
                <a:solidFill>
                  <a:srgbClr val="9C8B77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14</a:t>
            </a:r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1563EB5F-1728-8135-E092-499E8D4CCB2A}"/>
              </a:ext>
            </a:extLst>
          </p:cNvPr>
          <p:cNvGrpSpPr/>
          <p:nvPr/>
        </p:nvGrpSpPr>
        <p:grpSpPr>
          <a:xfrm>
            <a:off x="1017925" y="1975928"/>
            <a:ext cx="6071582" cy="3805921"/>
            <a:chOff x="838631" y="1966963"/>
            <a:chExt cx="6071582" cy="3805921"/>
          </a:xfrm>
        </p:grpSpPr>
        <p:sp>
          <p:nvSpPr>
            <p:cNvPr id="1001" name="Shape 1001"/>
            <p:cNvSpPr/>
            <p:nvPr/>
          </p:nvSpPr>
          <p:spPr>
            <a:xfrm>
              <a:off x="845138" y="1966963"/>
              <a:ext cx="1147335" cy="285083"/>
            </a:xfrm>
            <a:prstGeom prst="roundRect">
              <a:avLst>
                <a:gd name="adj" fmla="val 50000"/>
              </a:avLst>
            </a:prstGeom>
            <a:solidFill>
              <a:srgbClr val="4A77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 dirty="0">
                  <a:solidFill>
                    <a:srgbClr val="FFFFFF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한국  KOREA</a:t>
              </a:r>
            </a:p>
          </p:txBody>
        </p:sp>
        <p:sp>
          <p:nvSpPr>
            <p:cNvPr id="1002" name="Shape 1002"/>
            <p:cNvSpPr/>
            <p:nvPr/>
          </p:nvSpPr>
          <p:spPr>
            <a:xfrm>
              <a:off x="5642316" y="1966963"/>
              <a:ext cx="1147335" cy="285083"/>
            </a:xfrm>
            <a:prstGeom prst="roundRect">
              <a:avLst>
                <a:gd name="adj" fmla="val 50000"/>
              </a:avLst>
            </a:prstGeom>
            <a:solidFill>
              <a:srgbClr val="C8410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 dirty="0">
                  <a:solidFill>
                    <a:srgbClr val="FFFFFF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일본  JAPAN</a:t>
              </a:r>
            </a:p>
          </p:txBody>
        </p:sp>
        <p:sp>
          <p:nvSpPr>
            <p:cNvPr id="1003" name="Tier 1003"/>
            <p:cNvSpPr/>
            <p:nvPr/>
          </p:nvSpPr>
          <p:spPr>
            <a:xfrm>
              <a:off x="2896978" y="2371166"/>
              <a:ext cx="1850000" cy="1080000"/>
            </a:xfrm>
            <a:prstGeom prst="trapezoid">
              <a:avLst>
                <a:gd name="adj" fmla="val 20833"/>
              </a:avLst>
            </a:prstGeom>
            <a:solidFill>
              <a:srgbClr val="F7EEE0"/>
            </a:solidFill>
            <a:ln w="9525">
              <a:solidFill>
                <a:srgbClr val="E0D4C1"/>
              </a:solidFill>
            </a:ln>
            <a:effectLst>
              <a:outerShdw blurRad="50800" dist="25400" dir="5400000" algn="t" rotWithShape="0">
                <a:srgbClr val="7A5A3C">
                  <a:alpha val="1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004" name="Shape 1004"/>
            <p:cNvSpPr/>
            <p:nvPr/>
          </p:nvSpPr>
          <p:spPr>
            <a:xfrm>
              <a:off x="3221978" y="2441166"/>
              <a:ext cx="1200000" cy="220000"/>
            </a:xfrm>
            <a:prstGeom prst="roundRect">
              <a:avLst>
                <a:gd name="adj" fmla="val 50000"/>
              </a:avLst>
            </a:prstGeom>
            <a:solidFill>
              <a:srgbClr val="9C8B7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000" b="0" dirty="0">
                  <a:solidFill>
                    <a:srgbClr val="FFFFFF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TAM</a:t>
              </a:r>
            </a:p>
          </p:txBody>
        </p:sp>
        <p:sp>
          <p:nvSpPr>
            <p:cNvPr id="2" name="TextBox 1005"/>
            <p:cNvSpPr txBox="1"/>
            <p:nvPr/>
          </p:nvSpPr>
          <p:spPr>
            <a:xfrm>
              <a:off x="2821978" y="2701166"/>
              <a:ext cx="2000000" cy="20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050" b="0" dirty="0">
                  <a:solidFill>
                    <a:srgbClr val="6C5D4C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나눔스퀘어라운드 Regular" panose="020B0600000101010101" pitchFamily="50" charset="-127"/>
                </a:rPr>
                <a:t>전체 설치 가능 기관</a:t>
              </a:r>
            </a:p>
          </p:txBody>
        </p:sp>
        <p:sp>
          <p:nvSpPr>
            <p:cNvPr id="3" name="TextBox 1006"/>
            <p:cNvSpPr txBox="1"/>
            <p:nvPr/>
          </p:nvSpPr>
          <p:spPr>
            <a:xfrm>
              <a:off x="2621978" y="2891166"/>
              <a:ext cx="2400000" cy="33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 lnSpcReduction="10000"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200" b="0" dirty="0">
                  <a:solidFill>
                    <a:srgbClr val="2A2018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나눔스퀘어라운드 ExtraBold" panose="020B0600000101010101" pitchFamily="50" charset="-127"/>
                </a:rPr>
                <a:t>73,383</a:t>
              </a:r>
              <a:r>
                <a:rPr lang="ko-KR" altLang="en-US" sz="1300" b="0" dirty="0">
                  <a:solidFill>
                    <a:srgbClr val="2A2018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나눔스퀘어라운드 ExtraBold" panose="020B0600000101010101" pitchFamily="50" charset="-127"/>
                </a:rPr>
                <a:t>개 기관</a:t>
              </a:r>
            </a:p>
          </p:txBody>
        </p:sp>
        <p:sp>
          <p:nvSpPr>
            <p:cNvPr id="4" name="TextBox 1007"/>
            <p:cNvSpPr txBox="1"/>
            <p:nvPr/>
          </p:nvSpPr>
          <p:spPr>
            <a:xfrm>
              <a:off x="2821978" y="3231166"/>
              <a:ext cx="2000000" cy="20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 dirty="0">
                  <a:solidFill>
                    <a:srgbClr val="9C8B77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약 3,062억원</a:t>
              </a:r>
            </a:p>
          </p:txBody>
        </p:sp>
        <p:sp>
          <p:nvSpPr>
            <p:cNvPr id="5" name="TextBox 1008"/>
            <p:cNvSpPr txBox="1"/>
            <p:nvPr/>
          </p:nvSpPr>
          <p:spPr>
            <a:xfrm>
              <a:off x="838631" y="2642201"/>
              <a:ext cx="1250000" cy="3300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000" b="0" dirty="0">
                  <a:solidFill>
                    <a:srgbClr val="9C8B77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나눔스퀘어라운드 ExtraBold" panose="020B0600000101010101" pitchFamily="50" charset="-127"/>
                </a:rPr>
                <a:t>12,669</a:t>
              </a:r>
              <a:r>
                <a:rPr lang="ko-KR" altLang="en-US" sz="1050" b="0" dirty="0">
                  <a:solidFill>
                    <a:srgbClr val="6C5D4C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 개 기관</a:t>
              </a:r>
            </a:p>
          </p:txBody>
        </p:sp>
        <p:sp>
          <p:nvSpPr>
            <p:cNvPr id="1009" name="TextBox 1009"/>
            <p:cNvSpPr txBox="1"/>
            <p:nvPr/>
          </p:nvSpPr>
          <p:spPr>
            <a:xfrm>
              <a:off x="838631" y="2971166"/>
              <a:ext cx="1250000" cy="20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 dirty="0">
                  <a:solidFill>
                    <a:srgbClr val="6C5D4C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나눔스퀘어라운드 Regular" panose="020B0600000101010101" pitchFamily="50" charset="-127"/>
                </a:rPr>
                <a:t>약 532억원</a:t>
              </a:r>
            </a:p>
          </p:txBody>
        </p:sp>
        <p:cxnSp>
          <p:nvCxnSpPr>
            <p:cNvPr id="6" name="Dotted 1010"/>
            <p:cNvCxnSpPr>
              <a:cxnSpLocks/>
              <a:endCxn id="7" idx="6"/>
            </p:cNvCxnSpPr>
            <p:nvPr/>
          </p:nvCxnSpPr>
          <p:spPr>
            <a:xfrm>
              <a:off x="2092771" y="2911166"/>
              <a:ext cx="926707" cy="0"/>
            </a:xfrm>
            <a:prstGeom prst="line">
              <a:avLst/>
            </a:prstGeom>
            <a:ln w="19050">
              <a:solidFill>
                <a:srgbClr val="9C8B77"/>
              </a:solidFill>
              <a:prstDash val="sysDot"/>
              <a:round/>
            </a:ln>
          </p:spPr>
        </p:cxnSp>
        <p:sp>
          <p:nvSpPr>
            <p:cNvPr id="7" name="Shape 1011"/>
            <p:cNvSpPr/>
            <p:nvPr/>
          </p:nvSpPr>
          <p:spPr>
            <a:xfrm>
              <a:off x="2919478" y="2861166"/>
              <a:ext cx="100000" cy="100000"/>
            </a:xfrm>
            <a:prstGeom prst="ellipse">
              <a:avLst/>
            </a:prstGeom>
            <a:solidFill>
              <a:srgbClr val="9C8B7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8" name="TextBox 1012"/>
            <p:cNvSpPr txBox="1"/>
            <p:nvPr/>
          </p:nvSpPr>
          <p:spPr>
            <a:xfrm>
              <a:off x="5660213" y="2642201"/>
              <a:ext cx="1250000" cy="3300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000" b="0" dirty="0">
                  <a:solidFill>
                    <a:srgbClr val="9C8B77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나눔스퀘어라운드 ExtraBold" panose="020B0600000101010101" pitchFamily="50" charset="-127"/>
                </a:rPr>
                <a:t>60,714</a:t>
              </a:r>
              <a:r>
                <a:rPr lang="ko-KR" altLang="en-US" sz="1050" b="0" dirty="0">
                  <a:solidFill>
                    <a:srgbClr val="6C5D4C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 개 기관</a:t>
              </a:r>
            </a:p>
          </p:txBody>
        </p:sp>
        <p:sp>
          <p:nvSpPr>
            <p:cNvPr id="9" name="TextBox 1013"/>
            <p:cNvSpPr txBox="1"/>
            <p:nvPr/>
          </p:nvSpPr>
          <p:spPr>
            <a:xfrm>
              <a:off x="5660213" y="2971166"/>
              <a:ext cx="1250000" cy="20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 dirty="0">
                  <a:solidFill>
                    <a:srgbClr val="6C5D4C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나눔스퀘어라운드 Regular" panose="020B0600000101010101" pitchFamily="50" charset="-127"/>
                </a:rPr>
                <a:t>약 2,530억원</a:t>
              </a:r>
            </a:p>
          </p:txBody>
        </p:sp>
        <p:sp>
          <p:nvSpPr>
            <p:cNvPr id="11" name="Shape 1015"/>
            <p:cNvSpPr/>
            <p:nvPr/>
          </p:nvSpPr>
          <p:spPr>
            <a:xfrm>
              <a:off x="4624478" y="2861166"/>
              <a:ext cx="100000" cy="100000"/>
            </a:xfrm>
            <a:prstGeom prst="ellipse">
              <a:avLst/>
            </a:prstGeom>
            <a:solidFill>
              <a:srgbClr val="9C8B7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2" name="Tier 1016"/>
            <p:cNvSpPr/>
            <p:nvPr/>
          </p:nvSpPr>
          <p:spPr>
            <a:xfrm>
              <a:off x="2671978" y="3532026"/>
              <a:ext cx="2300000" cy="1080000"/>
            </a:xfrm>
            <a:prstGeom prst="trapezoid">
              <a:avLst>
                <a:gd name="adj" fmla="val 20833"/>
              </a:avLst>
            </a:prstGeom>
            <a:solidFill>
              <a:srgbClr val="E8F2E6"/>
            </a:solidFill>
            <a:ln w="9525">
              <a:solidFill>
                <a:srgbClr val="E0D4C1"/>
              </a:solidFill>
            </a:ln>
            <a:effectLst>
              <a:outerShdw blurRad="50800" dist="25400" dir="5400000" algn="t" rotWithShape="0">
                <a:srgbClr val="7A5A3C">
                  <a:alpha val="1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3" name="Shape 1017"/>
            <p:cNvSpPr/>
            <p:nvPr/>
          </p:nvSpPr>
          <p:spPr>
            <a:xfrm>
              <a:off x="3221978" y="3602026"/>
              <a:ext cx="1200000" cy="220000"/>
            </a:xfrm>
            <a:prstGeom prst="roundRect">
              <a:avLst>
                <a:gd name="adj" fmla="val 50000"/>
              </a:avLst>
            </a:prstGeom>
            <a:solidFill>
              <a:srgbClr val="5E9A6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000" b="0" dirty="0">
                  <a:solidFill>
                    <a:srgbClr val="FFFFFF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SAM</a:t>
              </a:r>
            </a:p>
          </p:txBody>
        </p:sp>
        <p:sp>
          <p:nvSpPr>
            <p:cNvPr id="14" name="TextBox 1018"/>
            <p:cNvSpPr txBox="1"/>
            <p:nvPr/>
          </p:nvSpPr>
          <p:spPr>
            <a:xfrm>
              <a:off x="2821978" y="3862026"/>
              <a:ext cx="2000000" cy="20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050" b="0" dirty="0">
                  <a:solidFill>
                    <a:srgbClr val="6C5D4C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나눔스퀘어라운드 Regular" panose="020B0600000101010101" pitchFamily="50" charset="-127"/>
                </a:rPr>
                <a:t>초기 공략 핵심 기관</a:t>
              </a:r>
            </a:p>
          </p:txBody>
        </p:sp>
        <p:sp>
          <p:nvSpPr>
            <p:cNvPr id="15" name="TextBox 1019"/>
            <p:cNvSpPr txBox="1"/>
            <p:nvPr/>
          </p:nvSpPr>
          <p:spPr>
            <a:xfrm>
              <a:off x="2621978" y="4052026"/>
              <a:ext cx="2400000" cy="33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 lnSpcReduction="10000"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200" b="0" dirty="0">
                  <a:solidFill>
                    <a:srgbClr val="2A2018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나눔스퀘어라운드 ExtraBold" panose="020B0600000101010101" pitchFamily="50" charset="-127"/>
                </a:rPr>
                <a:t>39,037</a:t>
              </a:r>
              <a:r>
                <a:rPr lang="ko-KR" altLang="en-US" sz="1300" b="0" dirty="0">
                  <a:solidFill>
                    <a:srgbClr val="2A2018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나눔스퀘어라운드 ExtraBold" panose="020B0600000101010101" pitchFamily="50" charset="-127"/>
                </a:rPr>
                <a:t>개 기관</a:t>
              </a:r>
            </a:p>
          </p:txBody>
        </p:sp>
        <p:sp>
          <p:nvSpPr>
            <p:cNvPr id="16" name="TextBox 1020"/>
            <p:cNvSpPr txBox="1"/>
            <p:nvPr/>
          </p:nvSpPr>
          <p:spPr>
            <a:xfrm>
              <a:off x="2821978" y="4392026"/>
              <a:ext cx="2000000" cy="20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 dirty="0">
                  <a:solidFill>
                    <a:srgbClr val="5E9A6A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약 1,629억원</a:t>
              </a:r>
            </a:p>
          </p:txBody>
        </p:sp>
        <p:sp>
          <p:nvSpPr>
            <p:cNvPr id="17" name="TextBox 1021"/>
            <p:cNvSpPr txBox="1"/>
            <p:nvPr/>
          </p:nvSpPr>
          <p:spPr>
            <a:xfrm>
              <a:off x="838631" y="3803061"/>
              <a:ext cx="1250000" cy="3300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000" b="0" dirty="0">
                  <a:solidFill>
                    <a:srgbClr val="5E9A6A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나눔스퀘어라운드 ExtraBold" panose="020B0600000101010101" pitchFamily="50" charset="-127"/>
                </a:rPr>
                <a:t>6,308</a:t>
              </a:r>
              <a:r>
                <a:rPr lang="ko-KR" altLang="en-US" sz="1050" b="0" dirty="0">
                  <a:solidFill>
                    <a:srgbClr val="6C5D4C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 개 기관</a:t>
              </a:r>
            </a:p>
          </p:txBody>
        </p:sp>
        <p:sp>
          <p:nvSpPr>
            <p:cNvPr id="18" name="TextBox 1022"/>
            <p:cNvSpPr txBox="1"/>
            <p:nvPr/>
          </p:nvSpPr>
          <p:spPr>
            <a:xfrm>
              <a:off x="838631" y="4132026"/>
              <a:ext cx="1250000" cy="20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 dirty="0">
                  <a:solidFill>
                    <a:srgbClr val="6C5D4C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나눔스퀘어라운드 Regular" panose="020B0600000101010101" pitchFamily="50" charset="-127"/>
                </a:rPr>
                <a:t>약 265억원</a:t>
              </a:r>
            </a:p>
          </p:txBody>
        </p:sp>
        <p:cxnSp>
          <p:nvCxnSpPr>
            <p:cNvPr id="19" name="Dotted 1023"/>
            <p:cNvCxnSpPr>
              <a:cxnSpLocks/>
              <a:endCxn id="20" idx="2"/>
            </p:cNvCxnSpPr>
            <p:nvPr/>
          </p:nvCxnSpPr>
          <p:spPr>
            <a:xfrm>
              <a:off x="2092771" y="4072026"/>
              <a:ext cx="601707" cy="0"/>
            </a:xfrm>
            <a:prstGeom prst="line">
              <a:avLst/>
            </a:prstGeom>
            <a:ln w="19050">
              <a:solidFill>
                <a:srgbClr val="5E9A6A"/>
              </a:solidFill>
              <a:prstDash val="sysDot"/>
              <a:round/>
            </a:ln>
          </p:spPr>
        </p:cxnSp>
        <p:sp>
          <p:nvSpPr>
            <p:cNvPr id="20" name="Shape 1024"/>
            <p:cNvSpPr/>
            <p:nvPr/>
          </p:nvSpPr>
          <p:spPr>
            <a:xfrm>
              <a:off x="2694478" y="4022026"/>
              <a:ext cx="100000" cy="100000"/>
            </a:xfrm>
            <a:prstGeom prst="ellipse">
              <a:avLst/>
            </a:prstGeom>
            <a:solidFill>
              <a:srgbClr val="5E9A6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21" name="TextBox 1025"/>
            <p:cNvSpPr txBox="1"/>
            <p:nvPr/>
          </p:nvSpPr>
          <p:spPr>
            <a:xfrm>
              <a:off x="5660213" y="3803061"/>
              <a:ext cx="1250000" cy="3300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000" b="0" dirty="0">
                  <a:solidFill>
                    <a:srgbClr val="5E9A6A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나눔스퀘어라운드 ExtraBold" panose="020B0600000101010101" pitchFamily="50" charset="-127"/>
                </a:rPr>
                <a:t>32,729</a:t>
              </a:r>
              <a:r>
                <a:rPr lang="ko-KR" altLang="en-US" sz="1050" b="0" dirty="0">
                  <a:solidFill>
                    <a:srgbClr val="6C5D4C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 개 기관</a:t>
              </a:r>
            </a:p>
          </p:txBody>
        </p:sp>
        <p:sp>
          <p:nvSpPr>
            <p:cNvPr id="22" name="TextBox 1026"/>
            <p:cNvSpPr txBox="1"/>
            <p:nvPr/>
          </p:nvSpPr>
          <p:spPr>
            <a:xfrm>
              <a:off x="5660213" y="4132026"/>
              <a:ext cx="1250000" cy="20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 dirty="0">
                  <a:solidFill>
                    <a:srgbClr val="6C5D4C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나눔스퀘어라운드 Regular" panose="020B0600000101010101" pitchFamily="50" charset="-127"/>
                </a:rPr>
                <a:t>약 1,364억원</a:t>
              </a:r>
            </a:p>
          </p:txBody>
        </p:sp>
        <p:sp>
          <p:nvSpPr>
            <p:cNvPr id="24" name="Shape 1028"/>
            <p:cNvSpPr/>
            <p:nvPr/>
          </p:nvSpPr>
          <p:spPr>
            <a:xfrm>
              <a:off x="4849478" y="4022026"/>
              <a:ext cx="100000" cy="100000"/>
            </a:xfrm>
            <a:prstGeom prst="ellipse">
              <a:avLst/>
            </a:prstGeom>
            <a:solidFill>
              <a:srgbClr val="5E9A6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25" name="Tier 1029"/>
            <p:cNvSpPr/>
            <p:nvPr/>
          </p:nvSpPr>
          <p:spPr>
            <a:xfrm>
              <a:off x="2446978" y="4692885"/>
              <a:ext cx="2750000" cy="1079999"/>
            </a:xfrm>
            <a:prstGeom prst="trapezoid">
              <a:avLst>
                <a:gd name="adj" fmla="val 20833"/>
              </a:avLst>
            </a:prstGeom>
            <a:solidFill>
              <a:srgbClr val="FDE4DC"/>
            </a:solidFill>
            <a:ln w="9525">
              <a:solidFill>
                <a:srgbClr val="E0D4C1"/>
              </a:solidFill>
            </a:ln>
            <a:effectLst>
              <a:outerShdw blurRad="50800" dist="25400" dir="5400000" algn="t" rotWithShape="0">
                <a:srgbClr val="7A5A3C">
                  <a:alpha val="1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26" name="Shape 1030"/>
            <p:cNvSpPr/>
            <p:nvPr/>
          </p:nvSpPr>
          <p:spPr>
            <a:xfrm>
              <a:off x="3221978" y="4762886"/>
              <a:ext cx="1200000" cy="220000"/>
            </a:xfrm>
            <a:prstGeom prst="roundRect">
              <a:avLst>
                <a:gd name="adj" fmla="val 50000"/>
              </a:avLst>
            </a:prstGeom>
            <a:solidFill>
              <a:srgbClr val="F5726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000" b="0" dirty="0">
                  <a:solidFill>
                    <a:srgbClr val="FFFFFF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SOM · 3년 목표</a:t>
              </a:r>
            </a:p>
          </p:txBody>
        </p:sp>
        <p:sp>
          <p:nvSpPr>
            <p:cNvPr id="27" name="TextBox 1031"/>
            <p:cNvSpPr txBox="1"/>
            <p:nvPr/>
          </p:nvSpPr>
          <p:spPr>
            <a:xfrm>
              <a:off x="2821978" y="5022886"/>
              <a:ext cx="2000000" cy="20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050" b="0" dirty="0">
                  <a:solidFill>
                    <a:srgbClr val="6C5D4C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나눔스퀘어라운드 Regular" panose="020B0600000101010101" pitchFamily="50" charset="-127"/>
                </a:rPr>
                <a:t>3년 내 확보 목표</a:t>
              </a:r>
            </a:p>
          </p:txBody>
        </p:sp>
        <p:sp>
          <p:nvSpPr>
            <p:cNvPr id="28" name="TextBox 1032"/>
            <p:cNvSpPr txBox="1"/>
            <p:nvPr/>
          </p:nvSpPr>
          <p:spPr>
            <a:xfrm>
              <a:off x="2621978" y="5212886"/>
              <a:ext cx="2400000" cy="33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 lnSpcReduction="10000"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200" b="0" dirty="0">
                  <a:solidFill>
                    <a:srgbClr val="F57265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나눔스퀘어라운드 ExtraBold" panose="020B0600000101010101" pitchFamily="50" charset="-127"/>
                </a:rPr>
                <a:t>500</a:t>
              </a:r>
              <a:r>
                <a:rPr lang="ko-KR" altLang="en-US" sz="1300" b="0" dirty="0">
                  <a:solidFill>
                    <a:srgbClr val="F57265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나눔스퀘어라운드 ExtraBold" panose="020B0600000101010101" pitchFamily="50" charset="-127"/>
                </a:rPr>
                <a:t>개 기관</a:t>
              </a:r>
            </a:p>
          </p:txBody>
        </p:sp>
        <p:sp>
          <p:nvSpPr>
            <p:cNvPr id="29" name="TextBox 1033"/>
            <p:cNvSpPr txBox="1"/>
            <p:nvPr/>
          </p:nvSpPr>
          <p:spPr>
            <a:xfrm>
              <a:off x="2821978" y="5552886"/>
              <a:ext cx="2000000" cy="20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 dirty="0">
                  <a:solidFill>
                    <a:srgbClr val="F57265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SAM의 약 1.3%</a:t>
              </a:r>
            </a:p>
          </p:txBody>
        </p:sp>
        <p:sp>
          <p:nvSpPr>
            <p:cNvPr id="30" name="TextBox 1034"/>
            <p:cNvSpPr txBox="1"/>
            <p:nvPr/>
          </p:nvSpPr>
          <p:spPr>
            <a:xfrm>
              <a:off x="838631" y="4963921"/>
              <a:ext cx="1250000" cy="3300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000" b="0" dirty="0">
                  <a:solidFill>
                    <a:srgbClr val="F57265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나눔스퀘어라운드 ExtraBold" panose="020B0600000101010101" pitchFamily="50" charset="-127"/>
                </a:rPr>
                <a:t>200</a:t>
              </a:r>
              <a:r>
                <a:rPr lang="ko-KR" altLang="en-US" sz="1050" b="0" dirty="0">
                  <a:solidFill>
                    <a:srgbClr val="6C5D4C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 개 기관</a:t>
              </a:r>
            </a:p>
          </p:txBody>
        </p:sp>
        <p:sp>
          <p:nvSpPr>
            <p:cNvPr id="31" name="TextBox 1035"/>
            <p:cNvSpPr txBox="1"/>
            <p:nvPr/>
          </p:nvSpPr>
          <p:spPr>
            <a:xfrm>
              <a:off x="838631" y="5292886"/>
              <a:ext cx="1250000" cy="20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 dirty="0">
                  <a:solidFill>
                    <a:srgbClr val="6C5D4C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나눔스퀘어라운드 Regular" panose="020B0600000101010101" pitchFamily="50" charset="-127"/>
                </a:rPr>
                <a:t>약 8.4억원</a:t>
              </a:r>
            </a:p>
          </p:txBody>
        </p:sp>
        <p:cxnSp>
          <p:nvCxnSpPr>
            <p:cNvPr id="1036" name="Dotted 1036"/>
            <p:cNvCxnSpPr>
              <a:cxnSpLocks/>
              <a:endCxn id="1037" idx="6"/>
            </p:cNvCxnSpPr>
            <p:nvPr/>
          </p:nvCxnSpPr>
          <p:spPr>
            <a:xfrm>
              <a:off x="2088631" y="5232886"/>
              <a:ext cx="480847" cy="0"/>
            </a:xfrm>
            <a:prstGeom prst="line">
              <a:avLst/>
            </a:prstGeom>
            <a:ln w="19050">
              <a:solidFill>
                <a:srgbClr val="F57265"/>
              </a:solidFill>
              <a:prstDash val="sysDot"/>
              <a:round/>
            </a:ln>
          </p:spPr>
        </p:cxnSp>
        <p:sp>
          <p:nvSpPr>
            <p:cNvPr id="1037" name="Shape 1037"/>
            <p:cNvSpPr/>
            <p:nvPr/>
          </p:nvSpPr>
          <p:spPr>
            <a:xfrm>
              <a:off x="2469478" y="5182886"/>
              <a:ext cx="100000" cy="100000"/>
            </a:xfrm>
            <a:prstGeom prst="ellipse">
              <a:avLst/>
            </a:prstGeom>
            <a:solidFill>
              <a:srgbClr val="F5726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038" name="TextBox 1038"/>
            <p:cNvSpPr txBox="1"/>
            <p:nvPr/>
          </p:nvSpPr>
          <p:spPr>
            <a:xfrm>
              <a:off x="5660213" y="4963921"/>
              <a:ext cx="1250000" cy="330000"/>
            </a:xfrm>
            <a:prstGeom prst="rect">
              <a:avLst/>
            </a:prstGeom>
            <a:noFill/>
          </p:spPr>
          <p:txBody>
            <a:bodyPr wrap="none" lIns="0" tIns="0" rIns="0" bIns="0" anchor="t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2000" b="0" dirty="0">
                  <a:solidFill>
                    <a:srgbClr val="F57265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나눔스퀘어라운드 ExtraBold" panose="020B0600000101010101" pitchFamily="50" charset="-127"/>
                </a:rPr>
                <a:t>300</a:t>
              </a:r>
              <a:r>
                <a:rPr lang="ko-KR" altLang="en-US" sz="1050" b="0" dirty="0">
                  <a:solidFill>
                    <a:srgbClr val="6C5D4C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 개 기관</a:t>
              </a:r>
            </a:p>
          </p:txBody>
        </p:sp>
        <p:sp>
          <p:nvSpPr>
            <p:cNvPr id="1039" name="TextBox 1039"/>
            <p:cNvSpPr txBox="1"/>
            <p:nvPr/>
          </p:nvSpPr>
          <p:spPr>
            <a:xfrm>
              <a:off x="5660213" y="5292886"/>
              <a:ext cx="1250000" cy="200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rmAutofit/>
            </a:bodyPr>
            <a:lstStyle/>
            <a:p>
              <a:pPr algn="ctr">
                <a:lnSpc>
                  <a:spcPct val="100000"/>
                </a:lnSpc>
              </a:pPr>
              <a:r>
                <a:rPr lang="ko-KR" altLang="en-US" sz="1200" b="0" dirty="0">
                  <a:solidFill>
                    <a:srgbClr val="6C5D4C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나눔스퀘어라운드 Regular" panose="020B0600000101010101" pitchFamily="50" charset="-127"/>
                </a:rPr>
                <a:t>약 12.6억원</a:t>
              </a:r>
            </a:p>
          </p:txBody>
        </p:sp>
        <p:cxnSp>
          <p:nvCxnSpPr>
            <p:cNvPr id="1040" name="Dotted 1040"/>
            <p:cNvCxnSpPr/>
            <p:nvPr/>
          </p:nvCxnSpPr>
          <p:spPr>
            <a:xfrm>
              <a:off x="5124478" y="5232886"/>
              <a:ext cx="47500" cy="0"/>
            </a:xfrm>
            <a:prstGeom prst="line">
              <a:avLst/>
            </a:prstGeom>
            <a:ln w="19050">
              <a:solidFill>
                <a:srgbClr val="F57265"/>
              </a:solidFill>
              <a:prstDash val="sysDot"/>
              <a:round/>
            </a:ln>
          </p:spPr>
        </p:cxnSp>
        <p:sp>
          <p:nvSpPr>
            <p:cNvPr id="1041" name="Shape 1041"/>
            <p:cNvSpPr/>
            <p:nvPr/>
          </p:nvSpPr>
          <p:spPr>
            <a:xfrm>
              <a:off x="5074478" y="5182886"/>
              <a:ext cx="100000" cy="100000"/>
            </a:xfrm>
            <a:prstGeom prst="ellipse">
              <a:avLst/>
            </a:prstGeom>
            <a:solidFill>
              <a:srgbClr val="F5726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cxnSp>
          <p:nvCxnSpPr>
            <p:cNvPr id="39" name="Dotted 1036">
              <a:extLst>
                <a:ext uri="{FF2B5EF4-FFF2-40B4-BE49-F238E27FC236}">
                  <a16:creationId xmlns:a16="http://schemas.microsoft.com/office/drawing/2014/main" id="{CF99DCB8-838E-3C34-C37F-2CAC7E33F16D}"/>
                </a:ext>
              </a:extLst>
            </p:cNvPr>
            <p:cNvCxnSpPr>
              <a:cxnSpLocks/>
            </p:cNvCxnSpPr>
            <p:nvPr/>
          </p:nvCxnSpPr>
          <p:spPr>
            <a:xfrm>
              <a:off x="5074478" y="5232886"/>
              <a:ext cx="585735" cy="0"/>
            </a:xfrm>
            <a:prstGeom prst="line">
              <a:avLst/>
            </a:prstGeom>
            <a:ln w="19050">
              <a:solidFill>
                <a:srgbClr val="F57265"/>
              </a:solidFill>
              <a:prstDash val="sysDot"/>
              <a:round/>
            </a:ln>
          </p:spPr>
        </p:cxnSp>
        <p:cxnSp>
          <p:nvCxnSpPr>
            <p:cNvPr id="40" name="Dotted 1023">
              <a:extLst>
                <a:ext uri="{FF2B5EF4-FFF2-40B4-BE49-F238E27FC236}">
                  <a16:creationId xmlns:a16="http://schemas.microsoft.com/office/drawing/2014/main" id="{DC21464A-D75D-CAEF-2699-24897F99473A}"/>
                </a:ext>
              </a:extLst>
            </p:cNvPr>
            <p:cNvCxnSpPr>
              <a:cxnSpLocks/>
            </p:cNvCxnSpPr>
            <p:nvPr/>
          </p:nvCxnSpPr>
          <p:spPr>
            <a:xfrm>
              <a:off x="4949478" y="4072026"/>
              <a:ext cx="601707" cy="0"/>
            </a:xfrm>
            <a:prstGeom prst="line">
              <a:avLst/>
            </a:prstGeom>
            <a:ln w="19050">
              <a:solidFill>
                <a:srgbClr val="5E9A6A"/>
              </a:solidFill>
              <a:prstDash val="sysDot"/>
              <a:round/>
            </a:ln>
          </p:spPr>
        </p:cxnSp>
        <p:cxnSp>
          <p:nvCxnSpPr>
            <p:cNvPr id="41" name="Dotted 1010">
              <a:extLst>
                <a:ext uri="{FF2B5EF4-FFF2-40B4-BE49-F238E27FC236}">
                  <a16:creationId xmlns:a16="http://schemas.microsoft.com/office/drawing/2014/main" id="{84924E00-C74F-8758-476B-718B6E374C2E}"/>
                </a:ext>
              </a:extLst>
            </p:cNvPr>
            <p:cNvCxnSpPr>
              <a:cxnSpLocks/>
            </p:cNvCxnSpPr>
            <p:nvPr/>
          </p:nvCxnSpPr>
          <p:spPr>
            <a:xfrm>
              <a:off x="4661124" y="2911166"/>
              <a:ext cx="926707" cy="0"/>
            </a:xfrm>
            <a:prstGeom prst="line">
              <a:avLst/>
            </a:prstGeom>
            <a:ln w="19050">
              <a:solidFill>
                <a:srgbClr val="9C8B77"/>
              </a:solidFill>
              <a:prstDash val="sysDot"/>
              <a:round/>
            </a:ln>
          </p:spPr>
        </p:cxnSp>
      </p:grpSp>
      <p:sp>
        <p:nvSpPr>
          <p:cNvPr id="46" name="이등변 삼각형 45">
            <a:extLst>
              <a:ext uri="{FF2B5EF4-FFF2-40B4-BE49-F238E27FC236}">
                <a16:creationId xmlns:a16="http://schemas.microsoft.com/office/drawing/2014/main" id="{09F8D5ED-9D34-91B1-5C03-E3C179D65AB6}"/>
              </a:ext>
            </a:extLst>
          </p:cNvPr>
          <p:cNvSpPr/>
          <p:nvPr/>
        </p:nvSpPr>
        <p:spPr>
          <a:xfrm rot="10800000">
            <a:off x="9556988" y="4420900"/>
            <a:ext cx="248268" cy="138635"/>
          </a:xfrm>
          <a:prstGeom prst="triangle">
            <a:avLst/>
          </a:prstGeom>
          <a:solidFill>
            <a:srgbClr val="F572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1145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81191-B236-5B6C-F35F-CA584E7E8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74" descr="logo.png">
            <a:extLst>
              <a:ext uri="{FF2B5EF4-FFF2-40B4-BE49-F238E27FC236}">
                <a16:creationId xmlns:a16="http://schemas.microsoft.com/office/drawing/2014/main" id="{6E81A082-475F-5371-CFA2-0D94A44C18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sp>
        <p:nvSpPr>
          <p:cNvPr id="1036" name="TextBox 1036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dirty="0">
                <a:solidFill>
                  <a:srgbClr val="F57265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3. SOLUTION · 예산 및 사업화</a:t>
            </a:r>
          </a:p>
        </p:txBody>
      </p:sp>
      <p:sp>
        <p:nvSpPr>
          <p:cNvPr id="1037" name="TextBox 1037"/>
          <p:cNvSpPr txBox="1"/>
          <p:nvPr/>
        </p:nvSpPr>
        <p:spPr>
          <a:xfrm>
            <a:off x="594360" y="694944"/>
            <a:ext cx="11003249" cy="484748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15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초기 자금 </a:t>
            </a:r>
            <a:r>
              <a:rPr lang="ko-KR" altLang="en-US" sz="3150" b="0" dirty="0">
                <a:solidFill>
                  <a:srgbClr val="F57265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2,000만원</a:t>
            </a:r>
            <a:r>
              <a:rPr lang="ko-KR" altLang="en-US" sz="315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으로 시제품 10대까지 완성합니다</a:t>
            </a:r>
          </a:p>
        </p:txBody>
      </p:sp>
      <p:sp>
        <p:nvSpPr>
          <p:cNvPr id="1038" name="TextBox 1038"/>
          <p:cNvSpPr txBox="1"/>
          <p:nvPr/>
        </p:nvSpPr>
        <p:spPr>
          <a:xfrm>
            <a:off x="594360" y="1220724"/>
            <a:ext cx="11003249" cy="243143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 dirty="0">
                <a:solidFill>
                  <a:srgbClr val="6C5D4C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군적금 · 대회 상금으로 자체 조달 · 대회 상금 재투자 완료 · 전 과정 자체 제작</a:t>
            </a:r>
          </a:p>
        </p:txBody>
      </p:sp>
      <p:sp>
        <p:nvSpPr>
          <p:cNvPr id="1039" name="Shape 1039"/>
          <p:cNvSpPr/>
          <p:nvPr/>
        </p:nvSpPr>
        <p:spPr>
          <a:xfrm>
            <a:off x="594360" y="1675859"/>
            <a:ext cx="6560000" cy="3050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40" name="Shape 1040"/>
          <p:cNvSpPr/>
          <p:nvPr/>
        </p:nvSpPr>
        <p:spPr>
          <a:xfrm>
            <a:off x="594360" y="1915859"/>
            <a:ext cx="50292" cy="658368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41" name="Shape 1041"/>
          <p:cNvSpPr/>
          <p:nvPr/>
        </p:nvSpPr>
        <p:spPr>
          <a:xfrm>
            <a:off x="795528" y="1805859"/>
            <a:ext cx="428244" cy="219456"/>
          </a:xfrm>
          <a:prstGeom prst="roundRect">
            <a:avLst>
              <a:gd name="adj" fmla="val 50000"/>
            </a:avLst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000" b="0" dirty="0">
                <a:solidFill>
                  <a:srgbClr val="FFFFFF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01</a:t>
            </a:r>
          </a:p>
        </p:txBody>
      </p:sp>
      <p:sp>
        <p:nvSpPr>
          <p:cNvPr id="1042" name="TextBox 1042"/>
          <p:cNvSpPr txBox="1"/>
          <p:nvPr/>
        </p:nvSpPr>
        <p:spPr>
          <a:xfrm>
            <a:off x="1307234" y="1799859"/>
            <a:ext cx="2600000" cy="276999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자금 소요 계획</a:t>
            </a:r>
          </a:p>
        </p:txBody>
      </p:sp>
      <p:sp>
        <p:nvSpPr>
          <p:cNvPr id="1043" name="TextBox 1043"/>
          <p:cNvSpPr txBox="1"/>
          <p:nvPr/>
        </p:nvSpPr>
        <p:spPr>
          <a:xfrm>
            <a:off x="1289304" y="2122859"/>
            <a:ext cx="2600000" cy="184666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100" b="0" dirty="0">
                <a:solidFill>
                  <a:srgbClr val="9C8B7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총 2,000만원 · 어디에 쓰는가</a:t>
            </a:r>
          </a:p>
        </p:txBody>
      </p:sp>
      <p:sp>
        <p:nvSpPr>
          <p:cNvPr id="1044" name="TextBox 1044"/>
          <p:cNvSpPr txBox="1"/>
          <p:nvPr/>
        </p:nvSpPr>
        <p:spPr>
          <a:xfrm>
            <a:off x="4768855" y="1777929"/>
            <a:ext cx="2100000" cy="520000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3000" b="0" dirty="0">
                <a:solidFill>
                  <a:srgbClr val="F57265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2,000 </a:t>
            </a:r>
            <a:r>
              <a:rPr lang="ko-KR" altLang="en-US" sz="140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만원</a:t>
            </a:r>
          </a:p>
        </p:txBody>
      </p:sp>
      <p:sp>
        <p:nvSpPr>
          <p:cNvPr id="1045" name="TextBox 1045"/>
          <p:cNvSpPr txBox="1"/>
          <p:nvPr/>
        </p:nvSpPr>
        <p:spPr>
          <a:xfrm>
            <a:off x="4777820" y="2297929"/>
            <a:ext cx="2100000" cy="200000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 dirty="0">
                <a:solidFill>
                  <a:srgbClr val="9C8B7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총 소요 자금</a:t>
            </a:r>
          </a:p>
        </p:txBody>
      </p:sp>
      <p:sp>
        <p:nvSpPr>
          <p:cNvPr id="1046" name="Shape 1046"/>
          <p:cNvSpPr/>
          <p:nvPr/>
        </p:nvSpPr>
        <p:spPr>
          <a:xfrm>
            <a:off x="844360" y="2552423"/>
            <a:ext cx="3030000" cy="2600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47" name="TextBox 1047"/>
          <p:cNvSpPr txBox="1"/>
          <p:nvPr/>
        </p:nvSpPr>
        <p:spPr>
          <a:xfrm>
            <a:off x="844360" y="2592423"/>
            <a:ext cx="3030000" cy="18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050" b="0" dirty="0">
                <a:solidFill>
                  <a:srgbClr val="FFFFFF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1,000만원</a:t>
            </a:r>
          </a:p>
        </p:txBody>
      </p:sp>
      <p:sp>
        <p:nvSpPr>
          <p:cNvPr id="1048" name="Shape 1048"/>
          <p:cNvSpPr/>
          <p:nvPr/>
        </p:nvSpPr>
        <p:spPr>
          <a:xfrm>
            <a:off x="3874360" y="2552423"/>
            <a:ext cx="303000" cy="260000"/>
          </a:xfrm>
          <a:prstGeom prst="rect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49" name="Shape 1049"/>
          <p:cNvSpPr/>
          <p:nvPr/>
        </p:nvSpPr>
        <p:spPr>
          <a:xfrm>
            <a:off x="4177360" y="2552423"/>
            <a:ext cx="1060500" cy="260000"/>
          </a:xfrm>
          <a:prstGeom prst="rect">
            <a:avLst/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50" name="TextBox 1050"/>
          <p:cNvSpPr txBox="1"/>
          <p:nvPr/>
        </p:nvSpPr>
        <p:spPr>
          <a:xfrm>
            <a:off x="4177360" y="2592423"/>
            <a:ext cx="1060500" cy="18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050" b="0" dirty="0">
                <a:solidFill>
                  <a:srgbClr val="FFFFFF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350만원</a:t>
            </a:r>
          </a:p>
        </p:txBody>
      </p:sp>
      <p:sp>
        <p:nvSpPr>
          <p:cNvPr id="1051" name="Shape 1051"/>
          <p:cNvSpPr/>
          <p:nvPr/>
        </p:nvSpPr>
        <p:spPr>
          <a:xfrm>
            <a:off x="5237860" y="2552423"/>
            <a:ext cx="909000" cy="260000"/>
          </a:xfrm>
          <a:prstGeom prst="rect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52" name="TextBox 1052"/>
          <p:cNvSpPr txBox="1"/>
          <p:nvPr/>
        </p:nvSpPr>
        <p:spPr>
          <a:xfrm>
            <a:off x="5237860" y="2592423"/>
            <a:ext cx="909000" cy="18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050" b="0" dirty="0">
                <a:solidFill>
                  <a:srgbClr val="FFFFFF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300만원</a:t>
            </a:r>
          </a:p>
        </p:txBody>
      </p:sp>
      <p:sp>
        <p:nvSpPr>
          <p:cNvPr id="1053" name="Shape 1053"/>
          <p:cNvSpPr/>
          <p:nvPr/>
        </p:nvSpPr>
        <p:spPr>
          <a:xfrm>
            <a:off x="6146860" y="2552423"/>
            <a:ext cx="757500" cy="260000"/>
          </a:xfrm>
          <a:prstGeom prst="rect">
            <a:avLst/>
          </a:prstGeom>
          <a:solidFill>
            <a:srgbClr val="4A7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54" name="TextBox 1054"/>
          <p:cNvSpPr txBox="1"/>
          <p:nvPr/>
        </p:nvSpPr>
        <p:spPr>
          <a:xfrm>
            <a:off x="6146860" y="2592423"/>
            <a:ext cx="757500" cy="18000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050" b="0" dirty="0">
                <a:solidFill>
                  <a:srgbClr val="FFFFFF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250만원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881C8E4A-32AE-0512-59CC-B06BAACB7CC3}"/>
              </a:ext>
            </a:extLst>
          </p:cNvPr>
          <p:cNvGrpSpPr/>
          <p:nvPr/>
        </p:nvGrpSpPr>
        <p:grpSpPr>
          <a:xfrm>
            <a:off x="960901" y="2970349"/>
            <a:ext cx="6060000" cy="230000"/>
            <a:chOff x="844360" y="3060000"/>
            <a:chExt cx="6060000" cy="230000"/>
          </a:xfrm>
        </p:grpSpPr>
        <p:sp>
          <p:nvSpPr>
            <p:cNvPr id="1055" name="Shape 1055"/>
            <p:cNvSpPr/>
            <p:nvPr/>
          </p:nvSpPr>
          <p:spPr>
            <a:xfrm>
              <a:off x="844360" y="3115000"/>
              <a:ext cx="120000" cy="120000"/>
            </a:xfrm>
            <a:prstGeom prst="roundRect">
              <a:avLst>
                <a:gd name="adj" fmla="val 25000"/>
              </a:avLst>
            </a:prstGeom>
            <a:solidFill>
              <a:srgbClr val="F5726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056" name="TextBox 1056"/>
            <p:cNvSpPr txBox="1"/>
            <p:nvPr/>
          </p:nvSpPr>
          <p:spPr>
            <a:xfrm>
              <a:off x="1044360" y="3060000"/>
              <a:ext cx="2000000" cy="23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rm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100" b="0" dirty="0">
                  <a:solidFill>
                    <a:srgbClr val="2A2018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시제품 10대 완성</a:t>
              </a:r>
            </a:p>
          </p:txBody>
        </p:sp>
        <p:sp>
          <p:nvSpPr>
            <p:cNvPr id="1057" name="TextBox 1057"/>
            <p:cNvSpPr txBox="1"/>
            <p:nvPr/>
          </p:nvSpPr>
          <p:spPr>
            <a:xfrm>
              <a:off x="3044360" y="3060000"/>
              <a:ext cx="900000" cy="23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rm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100" b="0" dirty="0">
                  <a:solidFill>
                    <a:srgbClr val="F57265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나눔스퀘어라운드 ExtraBold" panose="020B0600000101010101" pitchFamily="50" charset="-127"/>
                </a:rPr>
                <a:t>1,000만원</a:t>
              </a:r>
            </a:p>
          </p:txBody>
        </p:sp>
        <p:sp>
          <p:nvSpPr>
            <p:cNvPr id="1058" name="TextBox 1058"/>
            <p:cNvSpPr txBox="1"/>
            <p:nvPr/>
          </p:nvSpPr>
          <p:spPr>
            <a:xfrm>
              <a:off x="3894360" y="3060000"/>
              <a:ext cx="3010000" cy="23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rm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050" b="0" dirty="0">
                  <a:solidFill>
                    <a:srgbClr val="6C5D4C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나눔스퀘어라운드 Regular" panose="020B0600000101010101" pitchFamily="50" charset="-127"/>
                </a:rPr>
                <a:t>1대당 50~100만원 · 팀이 전량 자체 개발 · 제작</a:t>
              </a:r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006BF60C-27E9-4BA1-93B3-162DE8C30D0E}"/>
              </a:ext>
            </a:extLst>
          </p:cNvPr>
          <p:cNvGrpSpPr/>
          <p:nvPr/>
        </p:nvGrpSpPr>
        <p:grpSpPr>
          <a:xfrm>
            <a:off x="960901" y="3320691"/>
            <a:ext cx="6060000" cy="230000"/>
            <a:chOff x="844360" y="3370000"/>
            <a:chExt cx="6060000" cy="230000"/>
          </a:xfrm>
        </p:grpSpPr>
        <p:sp>
          <p:nvSpPr>
            <p:cNvPr id="1059" name="Shape 1059"/>
            <p:cNvSpPr/>
            <p:nvPr/>
          </p:nvSpPr>
          <p:spPr>
            <a:xfrm>
              <a:off x="844360" y="3425000"/>
              <a:ext cx="120000" cy="120000"/>
            </a:xfrm>
            <a:prstGeom prst="roundRect">
              <a:avLst>
                <a:gd name="adj" fmla="val 25000"/>
              </a:avLst>
            </a:prstGeom>
            <a:solidFill>
              <a:srgbClr val="F4A81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060" name="TextBox 1060"/>
            <p:cNvSpPr txBox="1"/>
            <p:nvPr/>
          </p:nvSpPr>
          <p:spPr>
            <a:xfrm>
              <a:off x="1044360" y="3370000"/>
              <a:ext cx="2000000" cy="23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rm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100" b="0" dirty="0">
                  <a:solidFill>
                    <a:srgbClr val="2A2018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초기 목업 제작</a:t>
              </a:r>
            </a:p>
          </p:txBody>
        </p:sp>
        <p:sp>
          <p:nvSpPr>
            <p:cNvPr id="1061" name="TextBox 1061"/>
            <p:cNvSpPr txBox="1"/>
            <p:nvPr/>
          </p:nvSpPr>
          <p:spPr>
            <a:xfrm>
              <a:off x="3044360" y="3370000"/>
              <a:ext cx="900000" cy="23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rm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100" b="0" dirty="0">
                  <a:solidFill>
                    <a:srgbClr val="F4A81D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나눔스퀘어라운드 ExtraBold" panose="020B0600000101010101" pitchFamily="50" charset="-127"/>
                </a:rPr>
                <a:t>100만원</a:t>
              </a:r>
            </a:p>
          </p:txBody>
        </p:sp>
        <p:sp>
          <p:nvSpPr>
            <p:cNvPr id="1062" name="TextBox 1062"/>
            <p:cNvSpPr txBox="1"/>
            <p:nvPr/>
          </p:nvSpPr>
          <p:spPr>
            <a:xfrm>
              <a:off x="3894360" y="3370000"/>
              <a:ext cx="3010000" cy="23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rm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050" b="0" dirty="0">
                  <a:solidFill>
                    <a:srgbClr val="6C5D4C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나눔스퀘어라운드 Regular" panose="020B0600000101010101" pitchFamily="50" charset="-127"/>
                </a:rPr>
                <a:t>실증용 목업 1차 제작 (완료분 재투자 포함)</a:t>
              </a: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812A420A-3BCB-4A39-1C71-A147BD3E1EC1}"/>
              </a:ext>
            </a:extLst>
          </p:cNvPr>
          <p:cNvGrpSpPr/>
          <p:nvPr/>
        </p:nvGrpSpPr>
        <p:grpSpPr>
          <a:xfrm>
            <a:off x="960901" y="3671033"/>
            <a:ext cx="6060000" cy="230000"/>
            <a:chOff x="844360" y="3680000"/>
            <a:chExt cx="6060000" cy="230000"/>
          </a:xfrm>
        </p:grpSpPr>
        <p:sp>
          <p:nvSpPr>
            <p:cNvPr id="1063" name="Shape 1063"/>
            <p:cNvSpPr/>
            <p:nvPr/>
          </p:nvSpPr>
          <p:spPr>
            <a:xfrm>
              <a:off x="844360" y="3735000"/>
              <a:ext cx="120000" cy="120000"/>
            </a:xfrm>
            <a:prstGeom prst="roundRect">
              <a:avLst>
                <a:gd name="adj" fmla="val 25000"/>
              </a:avLst>
            </a:prstGeom>
            <a:solidFill>
              <a:srgbClr val="C8410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064" name="TextBox 1064"/>
            <p:cNvSpPr txBox="1"/>
            <p:nvPr/>
          </p:nvSpPr>
          <p:spPr>
            <a:xfrm>
              <a:off x="1044360" y="3680000"/>
              <a:ext cx="2000000" cy="23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rm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100" b="0" dirty="0">
                  <a:solidFill>
                    <a:srgbClr val="2A2018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지식재산권 · 법무</a:t>
              </a:r>
            </a:p>
          </p:txBody>
        </p:sp>
        <p:sp>
          <p:nvSpPr>
            <p:cNvPr id="1065" name="TextBox 1065"/>
            <p:cNvSpPr txBox="1"/>
            <p:nvPr/>
          </p:nvSpPr>
          <p:spPr>
            <a:xfrm>
              <a:off x="3044360" y="3680000"/>
              <a:ext cx="900000" cy="23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rm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100" b="0" dirty="0">
                  <a:solidFill>
                    <a:srgbClr val="C8410E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나눔스퀘어라운드 ExtraBold" panose="020B0600000101010101" pitchFamily="50" charset="-127"/>
                </a:rPr>
                <a:t>350만원</a:t>
              </a:r>
            </a:p>
          </p:txBody>
        </p:sp>
        <p:sp>
          <p:nvSpPr>
            <p:cNvPr id="1066" name="TextBox 1066"/>
            <p:cNvSpPr txBox="1"/>
            <p:nvPr/>
          </p:nvSpPr>
          <p:spPr>
            <a:xfrm>
              <a:off x="3894360" y="3680000"/>
              <a:ext cx="3010000" cy="23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rm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050" b="0" dirty="0">
                  <a:solidFill>
                    <a:srgbClr val="6C5D4C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나눔스퀘어라운드 Regular" panose="020B0600000101010101" pitchFamily="50" charset="-127"/>
                </a:rPr>
                <a:t>특허 출원 · 개인정보 동의 체계 법률 검토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9A523E6E-6BF9-D1FC-91A2-EB7CFEC3F41E}"/>
              </a:ext>
            </a:extLst>
          </p:cNvPr>
          <p:cNvGrpSpPr/>
          <p:nvPr/>
        </p:nvGrpSpPr>
        <p:grpSpPr>
          <a:xfrm>
            <a:off x="960901" y="4021375"/>
            <a:ext cx="6060000" cy="230000"/>
            <a:chOff x="844360" y="3990000"/>
            <a:chExt cx="6060000" cy="230000"/>
          </a:xfrm>
        </p:grpSpPr>
        <p:sp>
          <p:nvSpPr>
            <p:cNvPr id="1067" name="Shape 1067"/>
            <p:cNvSpPr/>
            <p:nvPr/>
          </p:nvSpPr>
          <p:spPr>
            <a:xfrm>
              <a:off x="844360" y="4045000"/>
              <a:ext cx="120000" cy="120000"/>
            </a:xfrm>
            <a:prstGeom prst="roundRect">
              <a:avLst>
                <a:gd name="adj" fmla="val 25000"/>
              </a:avLst>
            </a:prstGeom>
            <a:solidFill>
              <a:srgbClr val="5E9A6A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068" name="TextBox 1068"/>
            <p:cNvSpPr txBox="1"/>
            <p:nvPr/>
          </p:nvSpPr>
          <p:spPr>
            <a:xfrm>
              <a:off x="1044360" y="3990000"/>
              <a:ext cx="2000000" cy="23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rm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100" b="0" dirty="0">
                  <a:solidFill>
                    <a:srgbClr val="2A2018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마케팅 · 실증 운영</a:t>
              </a:r>
            </a:p>
          </p:txBody>
        </p:sp>
        <p:sp>
          <p:nvSpPr>
            <p:cNvPr id="1069" name="TextBox 1069"/>
            <p:cNvSpPr txBox="1"/>
            <p:nvPr/>
          </p:nvSpPr>
          <p:spPr>
            <a:xfrm>
              <a:off x="3044360" y="3990000"/>
              <a:ext cx="900000" cy="23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rm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100" b="0" dirty="0">
                  <a:solidFill>
                    <a:srgbClr val="5E9A6A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나눔스퀘어라운드 ExtraBold" panose="020B0600000101010101" pitchFamily="50" charset="-127"/>
                </a:rPr>
                <a:t>300만원</a:t>
              </a:r>
            </a:p>
          </p:txBody>
        </p:sp>
        <p:sp>
          <p:nvSpPr>
            <p:cNvPr id="1070" name="TextBox 1070"/>
            <p:cNvSpPr txBox="1"/>
            <p:nvPr/>
          </p:nvSpPr>
          <p:spPr>
            <a:xfrm>
              <a:off x="3894360" y="3990000"/>
              <a:ext cx="3010000" cy="23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rm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050" b="0" dirty="0">
                  <a:solidFill>
                    <a:srgbClr val="6C5D4C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나눔스퀘어라운드 Regular" panose="020B0600000101010101" pitchFamily="50" charset="-127"/>
                </a:rPr>
                <a:t>기관 데모 · 한일 실증 현장 운영비</a:t>
              </a:r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C63E5529-7DAD-F9A5-7AD9-B0D8558676EF}"/>
              </a:ext>
            </a:extLst>
          </p:cNvPr>
          <p:cNvGrpSpPr/>
          <p:nvPr/>
        </p:nvGrpSpPr>
        <p:grpSpPr>
          <a:xfrm>
            <a:off x="960901" y="4371719"/>
            <a:ext cx="6060000" cy="230000"/>
            <a:chOff x="844360" y="4300000"/>
            <a:chExt cx="6060000" cy="230000"/>
          </a:xfrm>
        </p:grpSpPr>
        <p:sp>
          <p:nvSpPr>
            <p:cNvPr id="1071" name="Shape 1071"/>
            <p:cNvSpPr/>
            <p:nvPr/>
          </p:nvSpPr>
          <p:spPr>
            <a:xfrm>
              <a:off x="844360" y="4355000"/>
              <a:ext cx="120000" cy="120000"/>
            </a:xfrm>
            <a:prstGeom prst="roundRect">
              <a:avLst>
                <a:gd name="adj" fmla="val 25000"/>
              </a:avLst>
            </a:prstGeom>
            <a:solidFill>
              <a:srgbClr val="4A77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072" name="TextBox 1072"/>
            <p:cNvSpPr txBox="1"/>
            <p:nvPr/>
          </p:nvSpPr>
          <p:spPr>
            <a:xfrm>
              <a:off x="1044360" y="4300000"/>
              <a:ext cx="2000000" cy="23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rm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100" b="0" dirty="0">
                  <a:solidFill>
                    <a:srgbClr val="2A2018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서버 · 데이터베이스 유지</a:t>
              </a:r>
            </a:p>
          </p:txBody>
        </p:sp>
        <p:sp>
          <p:nvSpPr>
            <p:cNvPr id="1073" name="TextBox 1073"/>
            <p:cNvSpPr txBox="1"/>
            <p:nvPr/>
          </p:nvSpPr>
          <p:spPr>
            <a:xfrm>
              <a:off x="3044360" y="4300000"/>
              <a:ext cx="900000" cy="23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rm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100" b="0" dirty="0">
                  <a:solidFill>
                    <a:srgbClr val="4A779B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나눔스퀘어라운드 ExtraBold" panose="020B0600000101010101" pitchFamily="50" charset="-127"/>
                </a:rPr>
                <a:t>250만원</a:t>
              </a:r>
            </a:p>
          </p:txBody>
        </p:sp>
        <p:sp>
          <p:nvSpPr>
            <p:cNvPr id="1074" name="TextBox 1074"/>
            <p:cNvSpPr txBox="1"/>
            <p:nvPr/>
          </p:nvSpPr>
          <p:spPr>
            <a:xfrm>
              <a:off x="3894360" y="4300000"/>
              <a:ext cx="3010000" cy="23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rm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050" b="0" dirty="0">
                  <a:solidFill>
                    <a:srgbClr val="6C5D4C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나눔스퀘어라운드 Regular" panose="020B0600000101010101" pitchFamily="50" charset="-127"/>
                </a:rPr>
                <a:t>음성 기록 · 리포트 서버 및 DB 운영</a:t>
              </a:r>
            </a:p>
          </p:txBody>
        </p:sp>
      </p:grpSp>
      <p:sp>
        <p:nvSpPr>
          <p:cNvPr id="1075" name="Shape 1075"/>
          <p:cNvSpPr/>
          <p:nvPr/>
        </p:nvSpPr>
        <p:spPr>
          <a:xfrm>
            <a:off x="7394360" y="1675859"/>
            <a:ext cx="4203249" cy="1450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76" name="Shape 1076"/>
          <p:cNvSpPr/>
          <p:nvPr/>
        </p:nvSpPr>
        <p:spPr>
          <a:xfrm>
            <a:off x="7394360" y="1915859"/>
            <a:ext cx="50292" cy="658368"/>
          </a:xfrm>
          <a:prstGeom prst="rect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77" name="Shape 1077"/>
          <p:cNvSpPr/>
          <p:nvPr/>
        </p:nvSpPr>
        <p:spPr>
          <a:xfrm>
            <a:off x="7595528" y="1805859"/>
            <a:ext cx="428244" cy="219456"/>
          </a:xfrm>
          <a:prstGeom prst="roundRect">
            <a:avLst>
              <a:gd name="adj" fmla="val 50000"/>
            </a:avLst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000" b="0" dirty="0">
                <a:solidFill>
                  <a:srgbClr val="FFFFFF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02</a:t>
            </a:r>
          </a:p>
        </p:txBody>
      </p:sp>
      <p:sp>
        <p:nvSpPr>
          <p:cNvPr id="1078" name="TextBox 1078"/>
          <p:cNvSpPr txBox="1"/>
          <p:nvPr/>
        </p:nvSpPr>
        <p:spPr>
          <a:xfrm>
            <a:off x="8107234" y="1799859"/>
            <a:ext cx="3303249" cy="276999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자금 조달</a:t>
            </a:r>
          </a:p>
        </p:txBody>
      </p:sp>
      <p:sp>
        <p:nvSpPr>
          <p:cNvPr id="1079" name="TextBox 1079"/>
          <p:cNvSpPr txBox="1"/>
          <p:nvPr/>
        </p:nvSpPr>
        <p:spPr>
          <a:xfrm>
            <a:off x="8089304" y="2122859"/>
            <a:ext cx="3303249" cy="184666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100" b="0" dirty="0">
                <a:solidFill>
                  <a:srgbClr val="9C8B7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어디서 마련하는가</a:t>
            </a:r>
          </a:p>
        </p:txBody>
      </p:sp>
      <p:sp>
        <p:nvSpPr>
          <p:cNvPr id="1080" name="Shape 1080"/>
          <p:cNvSpPr/>
          <p:nvPr/>
        </p:nvSpPr>
        <p:spPr>
          <a:xfrm>
            <a:off x="7694360" y="2476719"/>
            <a:ext cx="91440" cy="91440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81" name="TextBox 1081"/>
          <p:cNvSpPr txBox="1"/>
          <p:nvPr/>
        </p:nvSpPr>
        <p:spPr>
          <a:xfrm>
            <a:off x="7884360" y="2440684"/>
            <a:ext cx="3613249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10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군적금 + 창업대회 상금으로 전액 자체 조달</a:t>
            </a:r>
          </a:p>
        </p:txBody>
      </p:sp>
      <p:sp>
        <p:nvSpPr>
          <p:cNvPr id="1082" name="Shape 1082"/>
          <p:cNvSpPr/>
          <p:nvPr/>
        </p:nvSpPr>
        <p:spPr>
          <a:xfrm>
            <a:off x="7694360" y="2776719"/>
            <a:ext cx="91440" cy="91440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83" name="TextBox 1083"/>
          <p:cNvSpPr txBox="1"/>
          <p:nvPr/>
        </p:nvSpPr>
        <p:spPr>
          <a:xfrm>
            <a:off x="7884360" y="2740684"/>
            <a:ext cx="3613249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r>
              <a:rPr lang="ko-KR" altLang="en-US" sz="110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충청권 대회 상금 → 목업 · </a:t>
            </a:r>
            <a:r>
              <a:rPr lang="ko-KR" altLang="en-US" sz="1100" dirty="0" err="1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포맥스</a:t>
            </a:r>
            <a:r>
              <a:rPr lang="ko-KR" altLang="en-US" sz="11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 </a:t>
            </a:r>
            <a:r>
              <a:rPr lang="ko-KR" altLang="en-US" sz="110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 마감 재투자 완료</a:t>
            </a:r>
          </a:p>
        </p:txBody>
      </p:sp>
      <p:sp>
        <p:nvSpPr>
          <p:cNvPr id="1084" name="Shape 1084"/>
          <p:cNvSpPr/>
          <p:nvPr/>
        </p:nvSpPr>
        <p:spPr>
          <a:xfrm>
            <a:off x="7394360" y="3275859"/>
            <a:ext cx="4203249" cy="14500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85" name="Shape 1085"/>
          <p:cNvSpPr/>
          <p:nvPr/>
        </p:nvSpPr>
        <p:spPr>
          <a:xfrm>
            <a:off x="7394360" y="3515859"/>
            <a:ext cx="50292" cy="658368"/>
          </a:xfrm>
          <a:prstGeom prst="rect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86" name="Shape 1086"/>
          <p:cNvSpPr/>
          <p:nvPr/>
        </p:nvSpPr>
        <p:spPr>
          <a:xfrm>
            <a:off x="7595528" y="3405859"/>
            <a:ext cx="428244" cy="219456"/>
          </a:xfrm>
          <a:prstGeom prst="roundRect">
            <a:avLst>
              <a:gd name="adj" fmla="val 50000"/>
            </a:avLst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000" b="0" dirty="0">
                <a:solidFill>
                  <a:srgbClr val="FFFFFF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03</a:t>
            </a:r>
          </a:p>
        </p:txBody>
      </p:sp>
      <p:sp>
        <p:nvSpPr>
          <p:cNvPr id="1087" name="TextBox 1087"/>
          <p:cNvSpPr txBox="1"/>
          <p:nvPr/>
        </p:nvSpPr>
        <p:spPr>
          <a:xfrm>
            <a:off x="8107234" y="3399859"/>
            <a:ext cx="3303249" cy="276999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시제품 단가 구조</a:t>
            </a:r>
          </a:p>
        </p:txBody>
      </p:sp>
      <p:sp>
        <p:nvSpPr>
          <p:cNvPr id="1088" name="TextBox 1088"/>
          <p:cNvSpPr txBox="1"/>
          <p:nvPr/>
        </p:nvSpPr>
        <p:spPr>
          <a:xfrm>
            <a:off x="8089304" y="3722859"/>
            <a:ext cx="3303249" cy="184666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100" b="0" dirty="0">
                <a:solidFill>
                  <a:srgbClr val="9C8B7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왜 2,000만원으로 가능한가</a:t>
            </a:r>
          </a:p>
        </p:txBody>
      </p:sp>
      <p:sp>
        <p:nvSpPr>
          <p:cNvPr id="1089" name="Shape 1089"/>
          <p:cNvSpPr/>
          <p:nvPr/>
        </p:nvSpPr>
        <p:spPr>
          <a:xfrm>
            <a:off x="7694360" y="4076719"/>
            <a:ext cx="91440" cy="91440"/>
          </a:xfrm>
          <a:prstGeom prst="ellips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90" name="TextBox 1090"/>
          <p:cNvSpPr txBox="1"/>
          <p:nvPr/>
        </p:nvSpPr>
        <p:spPr>
          <a:xfrm>
            <a:off x="7884360" y="4040684"/>
            <a:ext cx="3613249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10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하드웨어 · 앱 · 음성 · AI 문항 전부 팀 내부 개발</a:t>
            </a:r>
          </a:p>
        </p:txBody>
      </p:sp>
      <p:sp>
        <p:nvSpPr>
          <p:cNvPr id="1091" name="Shape 1091"/>
          <p:cNvSpPr/>
          <p:nvPr/>
        </p:nvSpPr>
        <p:spPr>
          <a:xfrm>
            <a:off x="7694360" y="4376719"/>
            <a:ext cx="91440" cy="91440"/>
          </a:xfrm>
          <a:prstGeom prst="ellips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92" name="TextBox 1092"/>
          <p:cNvSpPr txBox="1"/>
          <p:nvPr/>
        </p:nvSpPr>
        <p:spPr>
          <a:xfrm>
            <a:off x="7884360" y="4340684"/>
            <a:ext cx="3613249" cy="3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10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외주 개발비 없이 목업 → 시제품 10대까지 직접 제작</a:t>
            </a:r>
          </a:p>
        </p:txBody>
      </p:sp>
      <p:sp>
        <p:nvSpPr>
          <p:cNvPr id="1093" name="Shape 1093"/>
          <p:cNvSpPr/>
          <p:nvPr/>
        </p:nvSpPr>
        <p:spPr>
          <a:xfrm>
            <a:off x="594360" y="5030329"/>
            <a:ext cx="11003249" cy="1137512"/>
          </a:xfrm>
          <a:prstGeom prst="roundRect">
            <a:avLst>
              <a:gd name="adj" fmla="val 55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94" name="TextBox 1094"/>
          <p:cNvSpPr txBox="1"/>
          <p:nvPr/>
        </p:nvSpPr>
        <p:spPr>
          <a:xfrm>
            <a:off x="777813" y="5238998"/>
            <a:ext cx="1500000" cy="720174"/>
          </a:xfrm>
          <a:prstGeom prst="rect">
            <a:avLst/>
          </a:prstGeom>
          <a:noFill/>
        </p:spPr>
        <p:txBody>
          <a:bodyPr wrap="none" lIns="0" tIns="0" rIns="0" bIns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40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초기 자금 이후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D7F9ECD7-7F59-2532-A3F1-4F5AF575A6F9}"/>
              </a:ext>
            </a:extLst>
          </p:cNvPr>
          <p:cNvGrpSpPr/>
          <p:nvPr/>
        </p:nvGrpSpPr>
        <p:grpSpPr>
          <a:xfrm>
            <a:off x="2421255" y="5162770"/>
            <a:ext cx="1843933" cy="872631"/>
            <a:chOff x="2394360" y="5050682"/>
            <a:chExt cx="1843933" cy="872631"/>
          </a:xfrm>
        </p:grpSpPr>
        <p:sp>
          <p:nvSpPr>
            <p:cNvPr id="1095" name="Shape 1095"/>
            <p:cNvSpPr/>
            <p:nvPr/>
          </p:nvSpPr>
          <p:spPr>
            <a:xfrm>
              <a:off x="2394360" y="5050682"/>
              <a:ext cx="1843933" cy="872631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E0D4C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096" name="TextBox 1096"/>
            <p:cNvSpPr txBox="1"/>
            <p:nvPr/>
          </p:nvSpPr>
          <p:spPr>
            <a:xfrm>
              <a:off x="2544360" y="5149294"/>
              <a:ext cx="1604286" cy="66727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rm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000" b="0" dirty="0">
                  <a:solidFill>
                    <a:srgbClr val="F57265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나눔스퀘어라운드 ExtraBold" panose="020B0600000101010101" pitchFamily="50" charset="-127"/>
                </a:rPr>
                <a:t>2026.12</a:t>
              </a:r>
            </a:p>
            <a:p>
              <a:pPr algn="l">
                <a:lnSpc>
                  <a:spcPct val="100000"/>
                </a:lnSpc>
                <a:spcBef>
                  <a:spcPts val="300"/>
                </a:spcBef>
              </a:pPr>
              <a:r>
                <a:rPr lang="ko-KR" altLang="en-US" sz="1200" b="0" dirty="0">
                  <a:solidFill>
                    <a:srgbClr val="2A2018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협의 중인 10개 기관</a:t>
              </a:r>
            </a:p>
            <a:p>
              <a:pPr algn="l">
                <a:lnSpc>
                  <a:spcPct val="100000"/>
                </a:lnSpc>
                <a:spcBef>
                  <a:spcPts val="100"/>
                </a:spcBef>
              </a:pPr>
              <a:r>
                <a:rPr lang="ko-KR" altLang="en-US" sz="1000" b="0" dirty="0">
                  <a:solidFill>
                    <a:srgbClr val="6C5D4C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나눔스퀘어라운드 Regular" panose="020B0600000101010101" pitchFamily="50" charset="-127"/>
                </a:rPr>
                <a:t>초기 저가 공급</a:t>
              </a:r>
            </a:p>
          </p:txBody>
        </p:sp>
      </p:grpSp>
      <p:sp>
        <p:nvSpPr>
          <p:cNvPr id="1097" name="Shape 1097"/>
          <p:cNvSpPr/>
          <p:nvPr/>
        </p:nvSpPr>
        <p:spPr>
          <a:xfrm rot="5400000">
            <a:off x="4408627" y="5539085"/>
            <a:ext cx="120000" cy="120000"/>
          </a:xfrm>
          <a:prstGeom prst="triangl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A3469DA6-E106-4F33-C85C-3E293FD51F96}"/>
              </a:ext>
            </a:extLst>
          </p:cNvPr>
          <p:cNvGrpSpPr/>
          <p:nvPr/>
        </p:nvGrpSpPr>
        <p:grpSpPr>
          <a:xfrm>
            <a:off x="4672066" y="5162770"/>
            <a:ext cx="1843933" cy="872631"/>
            <a:chOff x="4645172" y="5050682"/>
            <a:chExt cx="1843933" cy="872631"/>
          </a:xfrm>
        </p:grpSpPr>
        <p:sp>
          <p:nvSpPr>
            <p:cNvPr id="1098" name="Shape 1098"/>
            <p:cNvSpPr/>
            <p:nvPr/>
          </p:nvSpPr>
          <p:spPr>
            <a:xfrm>
              <a:off x="4645172" y="5050682"/>
              <a:ext cx="1843933" cy="872631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E0D4C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099" name="TextBox 1099"/>
            <p:cNvSpPr txBox="1"/>
            <p:nvPr/>
          </p:nvSpPr>
          <p:spPr>
            <a:xfrm>
              <a:off x="4795172" y="5149294"/>
              <a:ext cx="1604286" cy="66727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rmAutofit fontScale="92500" lnSpcReduction="10000"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000" b="0" dirty="0">
                  <a:solidFill>
                    <a:srgbClr val="F57265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나눔스퀘어라운드 ExtraBold" panose="020B0600000101010101" pitchFamily="50" charset="-127"/>
                </a:rPr>
                <a:t>2027</a:t>
              </a:r>
            </a:p>
            <a:p>
              <a:pPr algn="l">
                <a:lnSpc>
                  <a:spcPct val="100000"/>
                </a:lnSpc>
                <a:spcBef>
                  <a:spcPts val="300"/>
                </a:spcBef>
              </a:pPr>
              <a:r>
                <a:rPr lang="ko-KR" altLang="en-US" sz="1200" b="0" dirty="0">
                  <a:solidFill>
                    <a:srgbClr val="2A2018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실증 데이터로 </a:t>
              </a:r>
              <a:endParaRPr lang="en-US" altLang="ko-KR" sz="1200" b="0" dirty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endParaRPr>
            </a:p>
            <a:p>
              <a:pPr algn="l">
                <a:lnSpc>
                  <a:spcPct val="100000"/>
                </a:lnSpc>
                <a:spcBef>
                  <a:spcPts val="300"/>
                </a:spcBef>
              </a:pPr>
              <a:r>
                <a:rPr lang="ko-KR" altLang="en-US" sz="1200" b="0" dirty="0">
                  <a:solidFill>
                    <a:srgbClr val="2A2018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국가 예산 확보</a:t>
              </a:r>
            </a:p>
            <a:p>
              <a:pPr algn="l">
                <a:lnSpc>
                  <a:spcPct val="100000"/>
                </a:lnSpc>
                <a:spcBef>
                  <a:spcPts val="100"/>
                </a:spcBef>
              </a:pPr>
              <a:r>
                <a:rPr lang="ko-KR" altLang="en-US" sz="1100" b="0" dirty="0">
                  <a:solidFill>
                    <a:srgbClr val="6C5D4C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나눔스퀘어라운드 Regular" panose="020B0600000101010101" pitchFamily="50" charset="-127"/>
                </a:rPr>
                <a:t>(치매안심센터 · 지자체 B2G)</a:t>
              </a:r>
            </a:p>
          </p:txBody>
        </p:sp>
      </p:grpSp>
      <p:sp>
        <p:nvSpPr>
          <p:cNvPr id="1100" name="Shape 1100"/>
          <p:cNvSpPr/>
          <p:nvPr/>
        </p:nvSpPr>
        <p:spPr>
          <a:xfrm rot="5400000">
            <a:off x="6659438" y="5539085"/>
            <a:ext cx="120000" cy="120000"/>
          </a:xfrm>
          <a:prstGeom prst="triangl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08DAD3FF-E3B8-6DF1-C8F3-DEEDE479EE77}"/>
              </a:ext>
            </a:extLst>
          </p:cNvPr>
          <p:cNvGrpSpPr/>
          <p:nvPr/>
        </p:nvGrpSpPr>
        <p:grpSpPr>
          <a:xfrm>
            <a:off x="6922877" y="5162770"/>
            <a:ext cx="1843933" cy="872631"/>
            <a:chOff x="6895984" y="5050682"/>
            <a:chExt cx="1843933" cy="872631"/>
          </a:xfrm>
        </p:grpSpPr>
        <p:sp>
          <p:nvSpPr>
            <p:cNvPr id="1101" name="Shape 1101"/>
            <p:cNvSpPr/>
            <p:nvPr/>
          </p:nvSpPr>
          <p:spPr>
            <a:xfrm>
              <a:off x="6895984" y="5050682"/>
              <a:ext cx="1843933" cy="872631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E0D4C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102" name="TextBox 1102"/>
            <p:cNvSpPr txBox="1"/>
            <p:nvPr/>
          </p:nvSpPr>
          <p:spPr>
            <a:xfrm>
              <a:off x="7045984" y="5149294"/>
              <a:ext cx="1604286" cy="66727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rm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000" b="0" dirty="0">
                  <a:solidFill>
                    <a:srgbClr val="F57265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나눔스퀘어라운드 ExtraBold" panose="020B0600000101010101" pitchFamily="50" charset="-127"/>
                </a:rPr>
                <a:t>2027~</a:t>
              </a:r>
            </a:p>
            <a:p>
              <a:pPr algn="l">
                <a:lnSpc>
                  <a:spcPct val="100000"/>
                </a:lnSpc>
                <a:spcBef>
                  <a:spcPts val="300"/>
                </a:spcBef>
              </a:pPr>
              <a:r>
                <a:rPr lang="ko-KR" altLang="en-US" sz="1200" b="0" dirty="0">
                  <a:solidFill>
                    <a:srgbClr val="2A2018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일본 시장 진출</a:t>
              </a:r>
            </a:p>
            <a:p>
              <a:pPr algn="l">
                <a:lnSpc>
                  <a:spcPct val="100000"/>
                </a:lnSpc>
                <a:spcBef>
                  <a:spcPts val="100"/>
                </a:spcBef>
              </a:pPr>
              <a:r>
                <a:rPr lang="ko-KR" altLang="en-US" sz="1000" b="0" dirty="0">
                  <a:solidFill>
                    <a:srgbClr val="6C5D4C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나눔스퀘어라운드 Regular" panose="020B0600000101010101" pitchFamily="50" charset="-127"/>
                </a:rPr>
                <a:t>(홋카이도대 엑셀러레이팅)</a:t>
              </a:r>
            </a:p>
          </p:txBody>
        </p:sp>
      </p:grpSp>
      <p:sp>
        <p:nvSpPr>
          <p:cNvPr id="1103" name="Shape 1103"/>
          <p:cNvSpPr/>
          <p:nvPr/>
        </p:nvSpPr>
        <p:spPr>
          <a:xfrm rot="5400000">
            <a:off x="8910249" y="5539085"/>
            <a:ext cx="120000" cy="120000"/>
          </a:xfrm>
          <a:prstGeom prst="triangl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EF9E59CD-2068-8C8D-6973-C0DFB6BE723D}"/>
              </a:ext>
            </a:extLst>
          </p:cNvPr>
          <p:cNvGrpSpPr/>
          <p:nvPr/>
        </p:nvGrpSpPr>
        <p:grpSpPr>
          <a:xfrm>
            <a:off x="9173691" y="5162770"/>
            <a:ext cx="1843933" cy="872631"/>
            <a:chOff x="9146796" y="5050682"/>
            <a:chExt cx="1843933" cy="872631"/>
          </a:xfrm>
        </p:grpSpPr>
        <p:sp>
          <p:nvSpPr>
            <p:cNvPr id="1104" name="Shape 1104"/>
            <p:cNvSpPr/>
            <p:nvPr/>
          </p:nvSpPr>
          <p:spPr>
            <a:xfrm>
              <a:off x="9146796" y="5050682"/>
              <a:ext cx="1843933" cy="872631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E0D4C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105" name="TextBox 1105"/>
            <p:cNvSpPr txBox="1"/>
            <p:nvPr/>
          </p:nvSpPr>
          <p:spPr>
            <a:xfrm>
              <a:off x="9296796" y="5149294"/>
              <a:ext cx="1604286" cy="667276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rm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000" b="0" dirty="0">
                  <a:solidFill>
                    <a:srgbClr val="F57265"/>
                  </a:solidFill>
                  <a:latin typeface="나눔스퀘어라운드 ExtraBold" panose="020B0600000101010101" pitchFamily="50" charset="-127"/>
                  <a:ea typeface="나눔스퀘어라운드 ExtraBold" panose="020B0600000101010101" pitchFamily="50" charset="-127"/>
                  <a:cs typeface="나눔스퀘어라운드 ExtraBold" panose="020B0600000101010101" pitchFamily="50" charset="-127"/>
                </a:rPr>
                <a:t>3년 내</a:t>
              </a:r>
            </a:p>
            <a:p>
              <a:pPr algn="l">
                <a:lnSpc>
                  <a:spcPct val="100000"/>
                </a:lnSpc>
                <a:spcBef>
                  <a:spcPts val="300"/>
                </a:spcBef>
              </a:pPr>
              <a:r>
                <a:rPr lang="ko-KR" altLang="en-US" sz="1200" b="0" dirty="0">
                  <a:solidFill>
                    <a:srgbClr val="2A2018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한 · 일 500개 기관 확보</a:t>
              </a:r>
            </a:p>
            <a:p>
              <a:pPr algn="l">
                <a:lnSpc>
                  <a:spcPct val="100000"/>
                </a:lnSpc>
                <a:spcBef>
                  <a:spcPts val="100"/>
                </a:spcBef>
              </a:pPr>
              <a:r>
                <a:rPr lang="ko-KR" altLang="en-US" sz="1000" b="0" dirty="0">
                  <a:solidFill>
                    <a:srgbClr val="6C5D4C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나눔스퀘어라운드 Regular" panose="020B0600000101010101" pitchFamily="50" charset="-127"/>
                </a:rPr>
                <a:t>SAM의 1.3% · 약 21억원</a:t>
              </a:r>
            </a:p>
          </p:txBody>
        </p:sp>
      </p:grpSp>
      <p:sp>
        <p:nvSpPr>
          <p:cNvPr id="1106" name="Shape 1106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07" name="TextBox 1107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9C8B7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Haru by 보편교육연구소 · 예산 및 사업화</a:t>
            </a:r>
          </a:p>
        </p:txBody>
      </p:sp>
      <p:sp>
        <p:nvSpPr>
          <p:cNvPr id="1108" name="TextBox 1108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 dirty="0">
                <a:solidFill>
                  <a:srgbClr val="9C8B77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061145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73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sp>
        <p:nvSpPr>
          <p:cNvPr id="1109" name="TextBox 1109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dirty="0">
                <a:solidFill>
                  <a:srgbClr val="F57265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3. SOLUTION · 로드맵</a:t>
            </a:r>
          </a:p>
        </p:txBody>
      </p:sp>
      <p:sp>
        <p:nvSpPr>
          <p:cNvPr id="1110" name="TextBox 1110"/>
          <p:cNvSpPr txBox="1"/>
          <p:nvPr/>
        </p:nvSpPr>
        <p:spPr>
          <a:xfrm>
            <a:off x="594360" y="694944"/>
            <a:ext cx="11003249" cy="484748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15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실증 → 초기 공급 → </a:t>
            </a:r>
            <a:r>
              <a:rPr lang="ko-KR" altLang="en-US" sz="3150" b="0" dirty="0">
                <a:solidFill>
                  <a:srgbClr val="F57265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국가 예산 · 일본 진출</a:t>
            </a:r>
          </a:p>
        </p:txBody>
      </p:sp>
      <p:sp>
        <p:nvSpPr>
          <p:cNvPr id="1111" name="TextBox 1111"/>
          <p:cNvSpPr txBox="1"/>
          <p:nvPr/>
        </p:nvSpPr>
        <p:spPr>
          <a:xfrm>
            <a:off x="594360" y="1220724"/>
            <a:ext cx="11003249" cy="243143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 dirty="0">
                <a:solidFill>
                  <a:srgbClr val="6C5D4C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10~11월 한 · 일 양국 실증 후 최종 시제품 완성 · 협의 중인 10개 기관 초기 공급을 발판으로 확장</a:t>
            </a:r>
          </a:p>
        </p:txBody>
      </p:sp>
      <p:sp>
        <p:nvSpPr>
          <p:cNvPr id="1112" name="Shape 1112"/>
          <p:cNvSpPr/>
          <p:nvPr/>
        </p:nvSpPr>
        <p:spPr>
          <a:xfrm>
            <a:off x="794360" y="2200000"/>
            <a:ext cx="10603249" cy="60000"/>
          </a:xfrm>
          <a:prstGeom prst="rect">
            <a:avLst/>
          </a:prstGeom>
          <a:solidFill>
            <a:srgbClr val="E8DC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13" name="Shape 1113"/>
          <p:cNvSpPr/>
          <p:nvPr/>
        </p:nvSpPr>
        <p:spPr>
          <a:xfrm>
            <a:off x="1177964" y="1710000"/>
            <a:ext cx="1000000" cy="270000"/>
          </a:xfrm>
          <a:prstGeom prst="roundRect">
            <a:avLst>
              <a:gd name="adj" fmla="val 50000"/>
            </a:avLst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050" b="0" dirty="0">
                <a:solidFill>
                  <a:srgbClr val="FFFFFF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2026.08</a:t>
            </a:r>
          </a:p>
        </p:txBody>
      </p:sp>
      <p:sp>
        <p:nvSpPr>
          <p:cNvPr id="1114" name="Shape 1114"/>
          <p:cNvSpPr/>
          <p:nvPr/>
        </p:nvSpPr>
        <p:spPr>
          <a:xfrm>
            <a:off x="1547964" y="2100000"/>
            <a:ext cx="260000" cy="2600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572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15" name="Shape 1115"/>
          <p:cNvSpPr/>
          <p:nvPr/>
        </p:nvSpPr>
        <p:spPr>
          <a:xfrm>
            <a:off x="1622964" y="2175000"/>
            <a:ext cx="110000" cy="110000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16" name="Shape 1116"/>
          <p:cNvSpPr/>
          <p:nvPr/>
        </p:nvSpPr>
        <p:spPr>
          <a:xfrm rot="5400000">
            <a:off x="2491568" y="2150000"/>
            <a:ext cx="140000" cy="160000"/>
          </a:xfrm>
          <a:prstGeom prst="triangle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17" name="TextBox 1117"/>
          <p:cNvSpPr txBox="1"/>
          <p:nvPr/>
        </p:nvSpPr>
        <p:spPr>
          <a:xfrm>
            <a:off x="794360" y="2490000"/>
            <a:ext cx="1767208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50" b="0" dirty="0">
                <a:solidFill>
                  <a:srgbClr val="F57265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마무리 개발</a:t>
            </a:r>
          </a:p>
        </p:txBody>
      </p:sp>
      <p:sp>
        <p:nvSpPr>
          <p:cNvPr id="1118" name="TextBox 1118"/>
          <p:cNvSpPr txBox="1"/>
          <p:nvPr/>
        </p:nvSpPr>
        <p:spPr>
          <a:xfrm>
            <a:off x="834360" y="2790000"/>
            <a:ext cx="1687208" cy="7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95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키오스크 · 음성 · 리포트 완성</a:t>
            </a:r>
          </a:p>
          <a:p>
            <a:pPr algn="ctr">
              <a:lnSpc>
                <a:spcPct val="150000"/>
              </a:lnSpc>
              <a:spcBef>
                <a:spcPts val="150"/>
              </a:spcBef>
            </a:pPr>
            <a:r>
              <a:rPr lang="ko-KR" altLang="en-US" sz="95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현장형 연결과 안정화</a:t>
            </a:r>
          </a:p>
          <a:p>
            <a:pPr algn="ctr">
              <a:lnSpc>
                <a:spcPct val="150000"/>
              </a:lnSpc>
              <a:spcBef>
                <a:spcPts val="150"/>
              </a:spcBef>
            </a:pPr>
            <a:r>
              <a:rPr lang="ko-KR" altLang="en-US" sz="95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특허 출원 · IRB 승인 목표</a:t>
            </a:r>
          </a:p>
        </p:txBody>
      </p:sp>
      <p:sp>
        <p:nvSpPr>
          <p:cNvPr id="1119" name="Shape 1119"/>
          <p:cNvSpPr/>
          <p:nvPr/>
        </p:nvSpPr>
        <p:spPr>
          <a:xfrm>
            <a:off x="2945172" y="1710000"/>
            <a:ext cx="1000000" cy="270000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050" dirty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2026.09</a:t>
            </a:r>
          </a:p>
        </p:txBody>
      </p:sp>
      <p:sp>
        <p:nvSpPr>
          <p:cNvPr id="1120" name="Shape 1120"/>
          <p:cNvSpPr/>
          <p:nvPr/>
        </p:nvSpPr>
        <p:spPr>
          <a:xfrm>
            <a:off x="3315172" y="2100000"/>
            <a:ext cx="260000" cy="2600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4A8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21" name="Shape 1121"/>
          <p:cNvSpPr/>
          <p:nvPr/>
        </p:nvSpPr>
        <p:spPr>
          <a:xfrm>
            <a:off x="3390172" y="2175000"/>
            <a:ext cx="110000" cy="110000"/>
          </a:xfrm>
          <a:prstGeom prst="ellips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22" name="Shape 1122"/>
          <p:cNvSpPr/>
          <p:nvPr/>
        </p:nvSpPr>
        <p:spPr>
          <a:xfrm rot="5400000">
            <a:off x="4258776" y="2150000"/>
            <a:ext cx="140000" cy="160000"/>
          </a:xfrm>
          <a:prstGeom prst="triangle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23" name="TextBox 1123"/>
          <p:cNvSpPr txBox="1"/>
          <p:nvPr/>
        </p:nvSpPr>
        <p:spPr>
          <a:xfrm>
            <a:off x="2561568" y="2490000"/>
            <a:ext cx="1767208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5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실증 준비</a:t>
            </a:r>
          </a:p>
        </p:txBody>
      </p:sp>
      <p:sp>
        <p:nvSpPr>
          <p:cNvPr id="1124" name="TextBox 1124"/>
          <p:cNvSpPr txBox="1"/>
          <p:nvPr/>
        </p:nvSpPr>
        <p:spPr>
          <a:xfrm>
            <a:off x="2601568" y="2790000"/>
            <a:ext cx="1687208" cy="7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95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IRB 승인 후 참여자 모집</a:t>
            </a:r>
          </a:p>
          <a:p>
            <a:pPr algn="ctr">
              <a:lnSpc>
                <a:spcPct val="150000"/>
              </a:lnSpc>
              <a:spcBef>
                <a:spcPts val="150"/>
              </a:spcBef>
            </a:pPr>
            <a:r>
              <a:rPr lang="ko-KR" altLang="en-US" sz="95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협력 기관 설치 · 동의 절차</a:t>
            </a:r>
          </a:p>
          <a:p>
            <a:pPr algn="ctr">
              <a:lnSpc>
                <a:spcPct val="150000"/>
              </a:lnSpc>
              <a:spcBef>
                <a:spcPts val="150"/>
              </a:spcBef>
            </a:pPr>
            <a:r>
              <a:rPr lang="ko-KR" altLang="en-US" sz="95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일본어 · 경어 문항 조정</a:t>
            </a:r>
          </a:p>
        </p:txBody>
      </p:sp>
      <p:sp>
        <p:nvSpPr>
          <p:cNvPr id="1125" name="Shape 1125"/>
          <p:cNvSpPr/>
          <p:nvPr/>
        </p:nvSpPr>
        <p:spPr>
          <a:xfrm>
            <a:off x="4712380" y="1710000"/>
            <a:ext cx="1000000" cy="270000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050" b="0" dirty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2026.10~11</a:t>
            </a:r>
          </a:p>
        </p:txBody>
      </p:sp>
      <p:sp>
        <p:nvSpPr>
          <p:cNvPr id="1126" name="Shape 1126"/>
          <p:cNvSpPr/>
          <p:nvPr/>
        </p:nvSpPr>
        <p:spPr>
          <a:xfrm>
            <a:off x="5082380" y="2100000"/>
            <a:ext cx="260000" cy="2600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5E9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27" name="Shape 1127"/>
          <p:cNvSpPr/>
          <p:nvPr/>
        </p:nvSpPr>
        <p:spPr>
          <a:xfrm>
            <a:off x="5157380" y="2175000"/>
            <a:ext cx="110000" cy="110000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28" name="Shape 1128"/>
          <p:cNvSpPr/>
          <p:nvPr/>
        </p:nvSpPr>
        <p:spPr>
          <a:xfrm rot="5400000">
            <a:off x="6025984" y="2150000"/>
            <a:ext cx="140000" cy="160000"/>
          </a:xfrm>
          <a:prstGeom prst="triangl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29" name="TextBox 1129"/>
          <p:cNvSpPr txBox="1"/>
          <p:nvPr/>
        </p:nvSpPr>
        <p:spPr>
          <a:xfrm>
            <a:off x="4328776" y="2490000"/>
            <a:ext cx="1767208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5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한 · 일 양국 실증</a:t>
            </a:r>
          </a:p>
        </p:txBody>
      </p:sp>
      <p:sp>
        <p:nvSpPr>
          <p:cNvPr id="1130" name="TextBox 1130"/>
          <p:cNvSpPr txBox="1"/>
          <p:nvPr/>
        </p:nvSpPr>
        <p:spPr>
          <a:xfrm>
            <a:off x="4368776" y="2790000"/>
            <a:ext cx="1687208" cy="7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95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국내 기관 버튼 사용성 검증</a:t>
            </a:r>
          </a:p>
          <a:p>
            <a:pPr algn="ctr">
              <a:lnSpc>
                <a:spcPct val="150000"/>
              </a:lnSpc>
              <a:spcBef>
                <a:spcPts val="150"/>
              </a:spcBef>
            </a:pPr>
            <a:r>
              <a:rPr lang="ko-KR" altLang="en-US" sz="95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일본 현지 기관 사용성 확인</a:t>
            </a:r>
          </a:p>
          <a:p>
            <a:pPr algn="ctr">
              <a:lnSpc>
                <a:spcPct val="150000"/>
              </a:lnSpc>
              <a:spcBef>
                <a:spcPts val="150"/>
              </a:spcBef>
            </a:pPr>
            <a:r>
              <a:rPr lang="ko-KR" altLang="en-US" sz="95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일본어 음성인식 정확도 확인</a:t>
            </a:r>
          </a:p>
        </p:txBody>
      </p:sp>
      <p:sp>
        <p:nvSpPr>
          <p:cNvPr id="1131" name="Shape 1131"/>
          <p:cNvSpPr/>
          <p:nvPr/>
        </p:nvSpPr>
        <p:spPr>
          <a:xfrm>
            <a:off x="6479588" y="1710000"/>
            <a:ext cx="1000000" cy="270000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050" b="0" dirty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2026.12</a:t>
            </a:r>
          </a:p>
        </p:txBody>
      </p:sp>
      <p:sp>
        <p:nvSpPr>
          <p:cNvPr id="1132" name="Shape 1132"/>
          <p:cNvSpPr/>
          <p:nvPr/>
        </p:nvSpPr>
        <p:spPr>
          <a:xfrm>
            <a:off x="6849588" y="2100000"/>
            <a:ext cx="260000" cy="2600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C841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33" name="Shape 1133"/>
          <p:cNvSpPr/>
          <p:nvPr/>
        </p:nvSpPr>
        <p:spPr>
          <a:xfrm>
            <a:off x="6924588" y="2175000"/>
            <a:ext cx="110000" cy="110000"/>
          </a:xfrm>
          <a:prstGeom prst="ellipse">
            <a:avLst/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34" name="Shape 1134"/>
          <p:cNvSpPr/>
          <p:nvPr/>
        </p:nvSpPr>
        <p:spPr>
          <a:xfrm rot="5400000">
            <a:off x="7793192" y="2150000"/>
            <a:ext cx="140000" cy="160000"/>
          </a:xfrm>
          <a:prstGeom prst="triangle">
            <a:avLst/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35" name="TextBox 1135"/>
          <p:cNvSpPr txBox="1"/>
          <p:nvPr/>
        </p:nvSpPr>
        <p:spPr>
          <a:xfrm>
            <a:off x="6095984" y="2490000"/>
            <a:ext cx="1767208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5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최종 시제품 · 초기 공급</a:t>
            </a:r>
          </a:p>
        </p:txBody>
      </p:sp>
      <p:sp>
        <p:nvSpPr>
          <p:cNvPr id="1136" name="TextBox 1136"/>
          <p:cNvSpPr txBox="1"/>
          <p:nvPr/>
        </p:nvSpPr>
        <p:spPr>
          <a:xfrm>
            <a:off x="6135984" y="2790000"/>
            <a:ext cx="1687208" cy="7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95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실증 데이터 반영 세부 조정</a:t>
            </a:r>
          </a:p>
          <a:p>
            <a:pPr algn="ctr">
              <a:lnSpc>
                <a:spcPct val="150000"/>
              </a:lnSpc>
              <a:spcBef>
                <a:spcPts val="150"/>
              </a:spcBef>
            </a:pPr>
            <a:r>
              <a:rPr lang="ko-KR" altLang="en-US" sz="95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최종 시제품 10대 완성</a:t>
            </a:r>
          </a:p>
          <a:p>
            <a:pPr algn="ctr">
              <a:lnSpc>
                <a:spcPct val="150000"/>
              </a:lnSpc>
              <a:spcBef>
                <a:spcPts val="150"/>
              </a:spcBef>
            </a:pPr>
            <a:r>
              <a:rPr lang="ko-KR" altLang="en-US" sz="95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협의 중 10개 기관 저가 공급</a:t>
            </a:r>
          </a:p>
        </p:txBody>
      </p:sp>
      <p:sp>
        <p:nvSpPr>
          <p:cNvPr id="1137" name="Shape 1137"/>
          <p:cNvSpPr/>
          <p:nvPr/>
        </p:nvSpPr>
        <p:spPr>
          <a:xfrm>
            <a:off x="8246796" y="1710000"/>
            <a:ext cx="1000000" cy="270000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050" b="0" dirty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2027 상</a:t>
            </a:r>
          </a:p>
        </p:txBody>
      </p:sp>
      <p:sp>
        <p:nvSpPr>
          <p:cNvPr id="1138" name="Shape 1138"/>
          <p:cNvSpPr/>
          <p:nvPr/>
        </p:nvSpPr>
        <p:spPr>
          <a:xfrm>
            <a:off x="8616796" y="2100000"/>
            <a:ext cx="260000" cy="2600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4A77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39" name="Shape 1139"/>
          <p:cNvSpPr/>
          <p:nvPr/>
        </p:nvSpPr>
        <p:spPr>
          <a:xfrm>
            <a:off x="8691796" y="2175000"/>
            <a:ext cx="110000" cy="110000"/>
          </a:xfrm>
          <a:prstGeom prst="ellipse">
            <a:avLst/>
          </a:prstGeom>
          <a:solidFill>
            <a:srgbClr val="4A7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40" name="Shape 1140"/>
          <p:cNvSpPr/>
          <p:nvPr/>
        </p:nvSpPr>
        <p:spPr>
          <a:xfrm rot="5400000">
            <a:off x="9560400" y="2150000"/>
            <a:ext cx="140000" cy="160000"/>
          </a:xfrm>
          <a:prstGeom prst="triangle">
            <a:avLst/>
          </a:prstGeom>
          <a:solidFill>
            <a:srgbClr val="4A7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41" name="TextBox 1141"/>
          <p:cNvSpPr txBox="1"/>
          <p:nvPr/>
        </p:nvSpPr>
        <p:spPr>
          <a:xfrm>
            <a:off x="7863192" y="2490000"/>
            <a:ext cx="1767208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5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국가 예산 확보</a:t>
            </a:r>
          </a:p>
        </p:txBody>
      </p:sp>
      <p:sp>
        <p:nvSpPr>
          <p:cNvPr id="1142" name="TextBox 1142"/>
          <p:cNvSpPr txBox="1"/>
          <p:nvPr/>
        </p:nvSpPr>
        <p:spPr>
          <a:xfrm>
            <a:off x="7903192" y="2790000"/>
            <a:ext cx="1687208" cy="7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95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초기 공급 성과 데이터 축적</a:t>
            </a:r>
          </a:p>
          <a:p>
            <a:pPr algn="ctr">
              <a:lnSpc>
                <a:spcPct val="150000"/>
              </a:lnSpc>
              <a:spcBef>
                <a:spcPts val="150"/>
              </a:spcBef>
            </a:pPr>
            <a:r>
              <a:rPr lang="ko-KR" altLang="en-US" sz="95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지자체 · 치매안심센터 B2G 제안</a:t>
            </a:r>
          </a:p>
          <a:p>
            <a:pPr algn="ctr">
              <a:lnSpc>
                <a:spcPct val="150000"/>
              </a:lnSpc>
              <a:spcBef>
                <a:spcPts val="150"/>
              </a:spcBef>
            </a:pPr>
            <a:r>
              <a:rPr lang="ko-KR" altLang="en-US" sz="95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정부 시범사업 · 예산 연계</a:t>
            </a:r>
          </a:p>
        </p:txBody>
      </p:sp>
      <p:sp>
        <p:nvSpPr>
          <p:cNvPr id="1143" name="Shape 1143"/>
          <p:cNvSpPr/>
          <p:nvPr/>
        </p:nvSpPr>
        <p:spPr>
          <a:xfrm>
            <a:off x="10014004" y="1710000"/>
            <a:ext cx="1000000" cy="270000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050" b="0" dirty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2027 하</a:t>
            </a:r>
          </a:p>
        </p:txBody>
      </p:sp>
      <p:sp>
        <p:nvSpPr>
          <p:cNvPr id="1144" name="Shape 1144"/>
          <p:cNvSpPr/>
          <p:nvPr/>
        </p:nvSpPr>
        <p:spPr>
          <a:xfrm>
            <a:off x="10384004" y="2100000"/>
            <a:ext cx="260000" cy="2600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7A5C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45" name="Shape 1145"/>
          <p:cNvSpPr/>
          <p:nvPr/>
        </p:nvSpPr>
        <p:spPr>
          <a:xfrm>
            <a:off x="10459004" y="2175000"/>
            <a:ext cx="110000" cy="110000"/>
          </a:xfrm>
          <a:prstGeom prst="ellipse">
            <a:avLst/>
          </a:prstGeom>
          <a:solidFill>
            <a:srgbClr val="7A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46" name="TextBox 1146"/>
          <p:cNvSpPr txBox="1"/>
          <p:nvPr/>
        </p:nvSpPr>
        <p:spPr>
          <a:xfrm>
            <a:off x="9630400" y="2490000"/>
            <a:ext cx="1767208" cy="26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25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일본 시장 진출</a:t>
            </a:r>
          </a:p>
        </p:txBody>
      </p:sp>
      <p:sp>
        <p:nvSpPr>
          <p:cNvPr id="1147" name="TextBox 1147"/>
          <p:cNvSpPr txBox="1"/>
          <p:nvPr/>
        </p:nvSpPr>
        <p:spPr>
          <a:xfrm>
            <a:off x="9670400" y="2790000"/>
            <a:ext cx="1687208" cy="7000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95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나현우 팀원 전역 후 일본 합류</a:t>
            </a:r>
          </a:p>
          <a:p>
            <a:pPr algn="ctr">
              <a:lnSpc>
                <a:spcPct val="150000"/>
              </a:lnSpc>
              <a:spcBef>
                <a:spcPts val="150"/>
              </a:spcBef>
            </a:pPr>
            <a:r>
              <a:rPr lang="ko-KR" altLang="en-US" sz="95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홋카이도대 엑셀러레이팅 참여</a:t>
            </a:r>
          </a:p>
          <a:p>
            <a:pPr algn="ctr">
              <a:lnSpc>
                <a:spcPct val="150000"/>
              </a:lnSpc>
              <a:spcBef>
                <a:spcPts val="150"/>
              </a:spcBef>
            </a:pPr>
            <a:r>
              <a:rPr lang="ko-KR" altLang="en-US" sz="95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일본 파트너와 현지 사업화</a:t>
            </a:r>
          </a:p>
        </p:txBody>
      </p:sp>
      <p:sp>
        <p:nvSpPr>
          <p:cNvPr id="1148" name="Shape 1148"/>
          <p:cNvSpPr/>
          <p:nvPr/>
        </p:nvSpPr>
        <p:spPr>
          <a:xfrm>
            <a:off x="594360" y="3770000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49" name="Shape 1149"/>
          <p:cNvSpPr/>
          <p:nvPr/>
        </p:nvSpPr>
        <p:spPr>
          <a:xfrm>
            <a:off x="594360" y="3880000"/>
            <a:ext cx="3521083" cy="22810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50" name="Shape 1150"/>
          <p:cNvSpPr/>
          <p:nvPr/>
        </p:nvSpPr>
        <p:spPr>
          <a:xfrm>
            <a:off x="594360" y="4120000"/>
            <a:ext cx="50292" cy="658368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51" name="Shape 1151"/>
          <p:cNvSpPr/>
          <p:nvPr/>
        </p:nvSpPr>
        <p:spPr>
          <a:xfrm>
            <a:off x="795528" y="4010000"/>
            <a:ext cx="428244" cy="219456"/>
          </a:xfrm>
          <a:prstGeom prst="roundRect">
            <a:avLst>
              <a:gd name="adj" fmla="val 50000"/>
            </a:avLst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000" b="0" dirty="0">
                <a:solidFill>
                  <a:srgbClr val="FFFFFF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01</a:t>
            </a:r>
          </a:p>
        </p:txBody>
      </p:sp>
      <p:sp>
        <p:nvSpPr>
          <p:cNvPr id="1152" name="TextBox 1152"/>
          <p:cNvSpPr txBox="1"/>
          <p:nvPr/>
        </p:nvSpPr>
        <p:spPr>
          <a:xfrm>
            <a:off x="1307234" y="4004000"/>
            <a:ext cx="2621083" cy="276999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최종 시제품 · 초기 공급</a:t>
            </a:r>
          </a:p>
        </p:txBody>
      </p:sp>
      <p:sp>
        <p:nvSpPr>
          <p:cNvPr id="1153" name="TextBox 1153"/>
          <p:cNvSpPr txBox="1"/>
          <p:nvPr/>
        </p:nvSpPr>
        <p:spPr>
          <a:xfrm>
            <a:off x="1289304" y="4327000"/>
            <a:ext cx="2621083" cy="184666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100" b="0" dirty="0">
                <a:solidFill>
                  <a:srgbClr val="9C8B7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2026.12 · 실증 결과 반영</a:t>
            </a:r>
          </a:p>
        </p:txBody>
      </p:sp>
      <p:sp>
        <p:nvSpPr>
          <p:cNvPr id="1160" name="Shape 1160"/>
          <p:cNvSpPr/>
          <p:nvPr/>
        </p:nvSpPr>
        <p:spPr>
          <a:xfrm>
            <a:off x="4335443" y="3880000"/>
            <a:ext cx="3521083" cy="22810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61" name="Shape 1161"/>
          <p:cNvSpPr/>
          <p:nvPr/>
        </p:nvSpPr>
        <p:spPr>
          <a:xfrm>
            <a:off x="4335443" y="4120000"/>
            <a:ext cx="50292" cy="658368"/>
          </a:xfrm>
          <a:prstGeom prst="rect">
            <a:avLst/>
          </a:prstGeom>
          <a:solidFill>
            <a:srgbClr val="4A7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62" name="Shape 1162"/>
          <p:cNvSpPr/>
          <p:nvPr/>
        </p:nvSpPr>
        <p:spPr>
          <a:xfrm>
            <a:off x="4536611" y="4010000"/>
            <a:ext cx="428244" cy="219456"/>
          </a:xfrm>
          <a:prstGeom prst="roundRect">
            <a:avLst>
              <a:gd name="adj" fmla="val 50000"/>
            </a:avLst>
          </a:prstGeom>
          <a:solidFill>
            <a:srgbClr val="4A77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000" b="0" dirty="0">
                <a:solidFill>
                  <a:srgbClr val="FFFFFF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02</a:t>
            </a:r>
          </a:p>
        </p:txBody>
      </p:sp>
      <p:sp>
        <p:nvSpPr>
          <p:cNvPr id="1163" name="TextBox 1163"/>
          <p:cNvSpPr txBox="1"/>
          <p:nvPr/>
        </p:nvSpPr>
        <p:spPr>
          <a:xfrm>
            <a:off x="5048317" y="4004000"/>
            <a:ext cx="2621083" cy="276999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국가 예산 확보 (B2G)</a:t>
            </a:r>
          </a:p>
        </p:txBody>
      </p:sp>
      <p:sp>
        <p:nvSpPr>
          <p:cNvPr id="1164" name="TextBox 1164"/>
          <p:cNvSpPr txBox="1"/>
          <p:nvPr/>
        </p:nvSpPr>
        <p:spPr>
          <a:xfrm>
            <a:off x="5030387" y="4327000"/>
            <a:ext cx="2621083" cy="184666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100" b="0" dirty="0">
                <a:solidFill>
                  <a:srgbClr val="9C8B7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2027 상 · 초기 공급 성과 기반</a:t>
            </a:r>
          </a:p>
        </p:txBody>
      </p:sp>
      <p:sp>
        <p:nvSpPr>
          <p:cNvPr id="1171" name="Shape 1171"/>
          <p:cNvSpPr/>
          <p:nvPr/>
        </p:nvSpPr>
        <p:spPr>
          <a:xfrm>
            <a:off x="8076526" y="3880000"/>
            <a:ext cx="3521083" cy="228107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72" name="Shape 1172"/>
          <p:cNvSpPr/>
          <p:nvPr/>
        </p:nvSpPr>
        <p:spPr>
          <a:xfrm>
            <a:off x="8076526" y="4120000"/>
            <a:ext cx="50292" cy="658368"/>
          </a:xfrm>
          <a:prstGeom prst="rect">
            <a:avLst/>
          </a:prstGeom>
          <a:solidFill>
            <a:srgbClr val="7A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73" name="Shape 1173"/>
          <p:cNvSpPr/>
          <p:nvPr/>
        </p:nvSpPr>
        <p:spPr>
          <a:xfrm>
            <a:off x="8277694" y="4010000"/>
            <a:ext cx="428244" cy="219456"/>
          </a:xfrm>
          <a:prstGeom prst="roundRect">
            <a:avLst>
              <a:gd name="adj" fmla="val 50000"/>
            </a:avLst>
          </a:prstGeom>
          <a:solidFill>
            <a:srgbClr val="7A5C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000" b="0" dirty="0">
                <a:solidFill>
                  <a:srgbClr val="FFFFFF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03</a:t>
            </a:r>
          </a:p>
        </p:txBody>
      </p:sp>
      <p:sp>
        <p:nvSpPr>
          <p:cNvPr id="1174" name="TextBox 1174"/>
          <p:cNvSpPr txBox="1"/>
          <p:nvPr/>
        </p:nvSpPr>
        <p:spPr>
          <a:xfrm>
            <a:off x="8789400" y="4004000"/>
            <a:ext cx="2621083" cy="276999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일본 시장 진출</a:t>
            </a:r>
          </a:p>
        </p:txBody>
      </p:sp>
      <p:sp>
        <p:nvSpPr>
          <p:cNvPr id="1175" name="TextBox 1175"/>
          <p:cNvSpPr txBox="1"/>
          <p:nvPr/>
        </p:nvSpPr>
        <p:spPr>
          <a:xfrm>
            <a:off x="8771470" y="4327000"/>
            <a:ext cx="2621083" cy="184666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100" b="0" dirty="0">
                <a:solidFill>
                  <a:srgbClr val="9C8B7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2027 하 · 현지 파트너와 사업화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5FE3970C-EDC4-D29F-055F-4B06CC5FCDEB}"/>
              </a:ext>
            </a:extLst>
          </p:cNvPr>
          <p:cNvGrpSpPr/>
          <p:nvPr/>
        </p:nvGrpSpPr>
        <p:grpSpPr>
          <a:xfrm>
            <a:off x="894360" y="4640000"/>
            <a:ext cx="10583249" cy="400000"/>
            <a:chOff x="894360" y="4640000"/>
            <a:chExt cx="10583249" cy="400000"/>
          </a:xfrm>
        </p:grpSpPr>
        <p:sp>
          <p:nvSpPr>
            <p:cNvPr id="1154" name="Shape 1154"/>
            <p:cNvSpPr/>
            <p:nvPr/>
          </p:nvSpPr>
          <p:spPr>
            <a:xfrm>
              <a:off x="894360" y="4685000"/>
              <a:ext cx="91440" cy="91440"/>
            </a:xfrm>
            <a:prstGeom prst="ellipse">
              <a:avLst/>
            </a:prstGeom>
            <a:solidFill>
              <a:srgbClr val="F5726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155" name="TextBox 1155"/>
            <p:cNvSpPr txBox="1"/>
            <p:nvPr/>
          </p:nvSpPr>
          <p:spPr>
            <a:xfrm>
              <a:off x="1084360" y="4640000"/>
              <a:ext cx="2911083" cy="400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100" b="0" dirty="0">
                  <a:solidFill>
                    <a:srgbClr val="6C5D4C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나눔스퀘어라운드 Regular" panose="020B0600000101010101" pitchFamily="50" charset="-127"/>
                </a:rPr>
                <a:t>한 · 일 실증 피드백을 반영한 최종 시제품 10대 자체 제작</a:t>
              </a:r>
            </a:p>
          </p:txBody>
        </p:sp>
        <p:sp>
          <p:nvSpPr>
            <p:cNvPr id="1165" name="Shape 1165"/>
            <p:cNvSpPr/>
            <p:nvPr/>
          </p:nvSpPr>
          <p:spPr>
            <a:xfrm>
              <a:off x="4635443" y="4685000"/>
              <a:ext cx="91440" cy="91440"/>
            </a:xfrm>
            <a:prstGeom prst="ellipse">
              <a:avLst/>
            </a:prstGeom>
            <a:solidFill>
              <a:srgbClr val="4A77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166" name="TextBox 1166"/>
            <p:cNvSpPr txBox="1"/>
            <p:nvPr/>
          </p:nvSpPr>
          <p:spPr>
            <a:xfrm>
              <a:off x="4825443" y="4640000"/>
              <a:ext cx="2911083" cy="400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100" b="0" dirty="0">
                  <a:solidFill>
                    <a:srgbClr val="6C5D4C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나눔스퀘어라운드 Regular" panose="020B0600000101010101" pitchFamily="50" charset="-127"/>
                </a:rPr>
                <a:t>기관 운영 리포트 · 참여율 데이터로 정부 투자 유인을 입증</a:t>
              </a:r>
            </a:p>
          </p:txBody>
        </p:sp>
        <p:sp>
          <p:nvSpPr>
            <p:cNvPr id="1176" name="Shape 1176"/>
            <p:cNvSpPr/>
            <p:nvPr/>
          </p:nvSpPr>
          <p:spPr>
            <a:xfrm>
              <a:off x="8376526" y="4685000"/>
              <a:ext cx="91440" cy="91440"/>
            </a:xfrm>
            <a:prstGeom prst="ellipse">
              <a:avLst/>
            </a:prstGeom>
            <a:solidFill>
              <a:srgbClr val="7A5C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177" name="TextBox 1177"/>
            <p:cNvSpPr txBox="1"/>
            <p:nvPr/>
          </p:nvSpPr>
          <p:spPr>
            <a:xfrm>
              <a:off x="8566526" y="4640000"/>
              <a:ext cx="2911083" cy="400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100" b="0" dirty="0">
                  <a:solidFill>
                    <a:srgbClr val="6C5D4C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나눔스퀘어라운드 Regular" panose="020B0600000101010101" pitchFamily="50" charset="-127"/>
                </a:rPr>
                <a:t>홋카이도대 나현우 팀원이 내년 전역 후 일본 대학 엑셀러레이팅 참여</a:t>
              </a: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C9630033-047F-7199-B41F-CAD55FAC6B59}"/>
              </a:ext>
            </a:extLst>
          </p:cNvPr>
          <p:cNvGrpSpPr/>
          <p:nvPr/>
        </p:nvGrpSpPr>
        <p:grpSpPr>
          <a:xfrm>
            <a:off x="894360" y="5143094"/>
            <a:ext cx="10583249" cy="400000"/>
            <a:chOff x="894360" y="5040000"/>
            <a:chExt cx="10583249" cy="400000"/>
          </a:xfrm>
        </p:grpSpPr>
        <p:sp>
          <p:nvSpPr>
            <p:cNvPr id="1156" name="Shape 1156"/>
            <p:cNvSpPr/>
            <p:nvPr/>
          </p:nvSpPr>
          <p:spPr>
            <a:xfrm>
              <a:off x="894360" y="5085000"/>
              <a:ext cx="91440" cy="91440"/>
            </a:xfrm>
            <a:prstGeom prst="ellipse">
              <a:avLst/>
            </a:prstGeom>
            <a:solidFill>
              <a:srgbClr val="F5726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157" name="TextBox 1157"/>
            <p:cNvSpPr txBox="1"/>
            <p:nvPr/>
          </p:nvSpPr>
          <p:spPr>
            <a:xfrm>
              <a:off x="1084360" y="5040000"/>
              <a:ext cx="2911083" cy="400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100" b="0" dirty="0">
                  <a:solidFill>
                    <a:srgbClr val="6C5D4C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나눔스퀘어라운드 Regular" panose="020B0600000101010101" pitchFamily="50" charset="-127"/>
                </a:rPr>
                <a:t>협의 중인 10개 기관(요양병원 · 복지관 등)에 저렴한 초기 공급가로 설치</a:t>
              </a:r>
            </a:p>
          </p:txBody>
        </p:sp>
        <p:sp>
          <p:nvSpPr>
            <p:cNvPr id="1167" name="Shape 1167"/>
            <p:cNvSpPr/>
            <p:nvPr/>
          </p:nvSpPr>
          <p:spPr>
            <a:xfrm>
              <a:off x="4635443" y="5085000"/>
              <a:ext cx="91440" cy="91440"/>
            </a:xfrm>
            <a:prstGeom prst="ellipse">
              <a:avLst/>
            </a:prstGeom>
            <a:solidFill>
              <a:srgbClr val="4A77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168" name="TextBox 1168"/>
            <p:cNvSpPr txBox="1"/>
            <p:nvPr/>
          </p:nvSpPr>
          <p:spPr>
            <a:xfrm>
              <a:off x="4825443" y="5040000"/>
              <a:ext cx="2911083" cy="400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100" b="0" dirty="0">
                  <a:solidFill>
                    <a:srgbClr val="6C5D4C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나눔스퀘어라운드 Regular" panose="020B0600000101010101" pitchFamily="50" charset="-127"/>
                </a:rPr>
                <a:t>치매안심센터 · 지자체 치매관리 예산과 연계한 시범사업 제안</a:t>
              </a:r>
            </a:p>
          </p:txBody>
        </p:sp>
        <p:sp>
          <p:nvSpPr>
            <p:cNvPr id="1178" name="Shape 1178"/>
            <p:cNvSpPr/>
            <p:nvPr/>
          </p:nvSpPr>
          <p:spPr>
            <a:xfrm>
              <a:off x="8376526" y="5085000"/>
              <a:ext cx="91440" cy="91440"/>
            </a:xfrm>
            <a:prstGeom prst="ellipse">
              <a:avLst/>
            </a:prstGeom>
            <a:solidFill>
              <a:srgbClr val="7A5C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179" name="TextBox 1179"/>
            <p:cNvSpPr txBox="1"/>
            <p:nvPr/>
          </p:nvSpPr>
          <p:spPr>
            <a:xfrm>
              <a:off x="8566526" y="5040000"/>
              <a:ext cx="2911083" cy="400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100" b="0" dirty="0">
                  <a:solidFill>
                    <a:srgbClr val="6C5D4C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나눔스퀘어라운드 Regular" panose="020B0600000101010101" pitchFamily="50" charset="-127"/>
                </a:rPr>
                <a:t>10~11월 일본 실증 파트너 기관과 현지 공급 · 운영 협의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5127D1E6-8589-06E9-FCCA-3E4C249EEF1D}"/>
              </a:ext>
            </a:extLst>
          </p:cNvPr>
          <p:cNvGrpSpPr/>
          <p:nvPr/>
        </p:nvGrpSpPr>
        <p:grpSpPr>
          <a:xfrm>
            <a:off x="894360" y="5646188"/>
            <a:ext cx="10583249" cy="400000"/>
            <a:chOff x="894360" y="5440000"/>
            <a:chExt cx="10583249" cy="400000"/>
          </a:xfrm>
        </p:grpSpPr>
        <p:sp>
          <p:nvSpPr>
            <p:cNvPr id="1158" name="Shape 1158"/>
            <p:cNvSpPr/>
            <p:nvPr/>
          </p:nvSpPr>
          <p:spPr>
            <a:xfrm>
              <a:off x="894360" y="5485000"/>
              <a:ext cx="91440" cy="91440"/>
            </a:xfrm>
            <a:prstGeom prst="ellipse">
              <a:avLst/>
            </a:prstGeom>
            <a:solidFill>
              <a:srgbClr val="F5726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159" name="TextBox 1159"/>
            <p:cNvSpPr txBox="1"/>
            <p:nvPr/>
          </p:nvSpPr>
          <p:spPr>
            <a:xfrm>
              <a:off x="1084360" y="5440000"/>
              <a:ext cx="2911083" cy="400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100" b="0" dirty="0">
                  <a:solidFill>
                    <a:srgbClr val="6C5D4C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나눔스퀘어라운드 Regular" panose="020B0600000101010101" pitchFamily="50" charset="-127"/>
                </a:rPr>
                <a:t>설치 기관의 운영 데이터가 다음 단계의 근거 자료가 됩니다</a:t>
              </a:r>
            </a:p>
          </p:txBody>
        </p:sp>
        <p:sp>
          <p:nvSpPr>
            <p:cNvPr id="1169" name="Shape 1169"/>
            <p:cNvSpPr/>
            <p:nvPr/>
          </p:nvSpPr>
          <p:spPr>
            <a:xfrm>
              <a:off x="4635443" y="5485000"/>
              <a:ext cx="91440" cy="91440"/>
            </a:xfrm>
            <a:prstGeom prst="ellipse">
              <a:avLst/>
            </a:prstGeom>
            <a:solidFill>
              <a:srgbClr val="4A779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170" name="TextBox 1170"/>
            <p:cNvSpPr txBox="1"/>
            <p:nvPr/>
          </p:nvSpPr>
          <p:spPr>
            <a:xfrm>
              <a:off x="4825443" y="5440000"/>
              <a:ext cx="2911083" cy="400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100" b="0" dirty="0">
                  <a:solidFill>
                    <a:srgbClr val="6C5D4C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나눔스퀘어라운드 Regular" panose="020B0600000101010101" pitchFamily="50" charset="-127"/>
                </a:rPr>
                <a:t>국내 치매관리예산 1,849억원 시장에서 기관 단위로 확대</a:t>
              </a:r>
            </a:p>
          </p:txBody>
        </p:sp>
        <p:sp>
          <p:nvSpPr>
            <p:cNvPr id="1180" name="Shape 1180"/>
            <p:cNvSpPr/>
            <p:nvPr/>
          </p:nvSpPr>
          <p:spPr>
            <a:xfrm>
              <a:off x="8376526" y="5485000"/>
              <a:ext cx="91440" cy="91440"/>
            </a:xfrm>
            <a:prstGeom prst="ellipse">
              <a:avLst/>
            </a:prstGeom>
            <a:solidFill>
              <a:srgbClr val="7A5C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/>
            </a:p>
          </p:txBody>
        </p:sp>
        <p:sp>
          <p:nvSpPr>
            <p:cNvPr id="1181" name="TextBox 1181"/>
            <p:cNvSpPr txBox="1"/>
            <p:nvPr/>
          </p:nvSpPr>
          <p:spPr>
            <a:xfrm>
              <a:off x="8566526" y="5440000"/>
              <a:ext cx="2911083" cy="4000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/>
              <a:r>
                <a:rPr lang="ko-KR" altLang="en-US" sz="1100" b="0" dirty="0">
                  <a:solidFill>
                    <a:srgbClr val="6C5D4C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나눔스퀘어라운드 Regular" panose="020B0600000101010101" pitchFamily="50" charset="-127"/>
                </a:rPr>
                <a:t>일본 치매정책예산 125억 엔 · 핵심 기관 3.3만 곳 대상 확장</a:t>
              </a:r>
            </a:p>
          </p:txBody>
        </p:sp>
      </p:grpSp>
      <p:sp>
        <p:nvSpPr>
          <p:cNvPr id="1182" name="Shape 1182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183" name="TextBox 1183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9C8B7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Haru by 보편교육연구소 · 로드맵</a:t>
            </a:r>
          </a:p>
        </p:txBody>
      </p:sp>
      <p:sp>
        <p:nvSpPr>
          <p:cNvPr id="1184" name="TextBox 1184"/>
          <p:cNvSpPr txBox="1"/>
          <p:nvPr/>
        </p:nvSpPr>
        <p:spPr>
          <a:xfrm>
            <a:off x="10500329" y="6364224"/>
            <a:ext cx="1097280" cy="236219"/>
          </a:xfrm>
          <a:prstGeom prst="rect">
            <a:avLst/>
          </a:prstGeom>
          <a:noFill/>
        </p:spPr>
        <p:txBody>
          <a:bodyPr wrap="none" lIns="0" tIns="0" rIns="0" bIns="0" anchor="t">
            <a:norm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 dirty="0">
                <a:solidFill>
                  <a:srgbClr val="9C8B77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9C8B77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4. TEAM · 팀 소개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0232" cy="4201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730" b="0" dirty="0">
                <a:solidFill>
                  <a:srgbClr val="F57265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각자의 수상</a:t>
            </a:r>
            <a:r>
              <a:rPr lang="ko-KR" altLang="en-US" sz="273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에서 출발해, </a:t>
            </a:r>
            <a:r>
              <a:rPr lang="ko-KR" altLang="en-US" sz="2730" b="0" dirty="0">
                <a:solidFill>
                  <a:srgbClr val="F57265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한 몸처럼 만드는 팀</a:t>
            </a:r>
            <a:r>
              <a:rPr lang="ko-KR" altLang="en-US" sz="273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이 되었습니다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11000232" cy="2431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 dirty="0">
                <a:solidFill>
                  <a:srgbClr val="6C5D4C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국방기술 창업경진대회에서 각자 수상한 세 사람이, 한 팀이 되어 Haru를 키워 왔습니다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Haru by 보편교육연구소 · 팀 소개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408454" y="6364224"/>
            <a:ext cx="18915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altLang="ko-KR" sz="1200" b="0" dirty="0">
                <a:solidFill>
                  <a:srgbClr val="9C8B77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17</a:t>
            </a:r>
            <a:endParaRPr lang="ko-KR" altLang="en-US" sz="1200" b="0" dirty="0">
              <a:solidFill>
                <a:srgbClr val="9C8B77"/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나눔스퀘어라운드 Bold" panose="020B0600000101010101" pitchFamily="50" charset="-127"/>
            </a:endParaRPr>
          </a:p>
        </p:txBody>
      </p:sp>
      <p:pic>
        <p:nvPicPr>
          <p:cNvPr id="66" name="Picture 6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pic>
        <p:nvPicPr>
          <p:cNvPr id="67" name="Picture 66" descr="team_defense.jpg"/>
          <p:cNvPicPr>
            <a:picLocks noChangeAspect="1"/>
          </p:cNvPicPr>
          <p:nvPr/>
        </p:nvPicPr>
        <p:blipFill>
          <a:blip r:embed="rId3"/>
          <a:srcRect l="6624" r="6624"/>
          <a:stretch>
            <a:fillRect/>
          </a:stretch>
        </p:blipFill>
        <p:spPr>
          <a:xfrm>
            <a:off x="594360" y="1691640"/>
            <a:ext cx="2606040" cy="1691640"/>
          </a:xfrm>
          <a:prstGeom prst="rect">
            <a:avLst/>
          </a:prstGeom>
        </p:spPr>
      </p:pic>
      <p:sp>
        <p:nvSpPr>
          <p:cNvPr id="68" name="Oval 67"/>
          <p:cNvSpPr/>
          <p:nvPr/>
        </p:nvSpPr>
        <p:spPr>
          <a:xfrm>
            <a:off x="594360" y="3520440"/>
            <a:ext cx="310896" cy="310896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sz="1200">
                <a:solidFill>
                  <a:srgbClr val="FFFFFF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78408" y="3520440"/>
            <a:ext cx="22402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국방기술 창업경진대회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94360" y="3886200"/>
            <a:ext cx="2606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>
                <a:solidFill>
                  <a:srgbClr val="C8410E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각자의 아이템으로 금 · 은 · 동상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94360" y="4160520"/>
            <a:ext cx="26060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세 사람이 서로 다른 아이템으로 나란히 금 · 은 · 동상을 받았습니다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200400" y="3502152"/>
            <a:ext cx="192024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>
                <a:solidFill>
                  <a:srgbClr val="F57265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▶</a:t>
            </a:r>
          </a:p>
        </p:txBody>
      </p:sp>
      <p:pic>
        <p:nvPicPr>
          <p:cNvPr id="73" name="Picture 72" descr="team_chungcheong.jpg"/>
          <p:cNvPicPr>
            <a:picLocks noChangeAspect="1"/>
          </p:cNvPicPr>
          <p:nvPr/>
        </p:nvPicPr>
        <p:blipFill>
          <a:blip r:embed="rId4"/>
          <a:srcRect t="1331" b="1331"/>
          <a:stretch>
            <a:fillRect/>
          </a:stretch>
        </p:blipFill>
        <p:spPr>
          <a:xfrm>
            <a:off x="3392424" y="1691640"/>
            <a:ext cx="2606040" cy="1691640"/>
          </a:xfrm>
          <a:prstGeom prst="rect">
            <a:avLst/>
          </a:prstGeom>
        </p:spPr>
      </p:pic>
      <p:sp>
        <p:nvSpPr>
          <p:cNvPr id="74" name="Oval 73"/>
          <p:cNvSpPr/>
          <p:nvPr/>
        </p:nvSpPr>
        <p:spPr>
          <a:xfrm>
            <a:off x="3392424" y="3520440"/>
            <a:ext cx="310896" cy="310896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sz="1200">
                <a:solidFill>
                  <a:srgbClr val="FFFFFF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776472" y="3520440"/>
            <a:ext cx="22402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글로벌 피우다 충청권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392424" y="3886200"/>
            <a:ext cx="2606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>
                <a:solidFill>
                  <a:srgbClr val="C8410E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Haru로 첫 도전 · 최우수상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392424" y="4160520"/>
            <a:ext cx="26060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"같이 하면 더 멀리 가겠다" — 이 자리를 계기로 한 팀으로 창업을 논의하기 시작했습니다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998464" y="3502152"/>
            <a:ext cx="192024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>
                <a:solidFill>
                  <a:srgbClr val="F57265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▶</a:t>
            </a:r>
          </a:p>
        </p:txBody>
      </p:sp>
      <p:pic>
        <p:nvPicPr>
          <p:cNvPr id="79" name="Picture 78" descr="team_final.jpg"/>
          <p:cNvPicPr>
            <a:picLocks noChangeAspect="1"/>
          </p:cNvPicPr>
          <p:nvPr/>
        </p:nvPicPr>
        <p:blipFill>
          <a:blip r:embed="rId5"/>
          <a:srcRect t="6725" b="6725"/>
          <a:stretch>
            <a:fillRect/>
          </a:stretch>
        </p:blipFill>
        <p:spPr>
          <a:xfrm>
            <a:off x="6190488" y="1691640"/>
            <a:ext cx="2606040" cy="1691640"/>
          </a:xfrm>
          <a:prstGeom prst="rect">
            <a:avLst/>
          </a:prstGeom>
        </p:spPr>
      </p:pic>
      <p:sp>
        <p:nvSpPr>
          <p:cNvPr id="80" name="Oval 79"/>
          <p:cNvSpPr/>
          <p:nvPr/>
        </p:nvSpPr>
        <p:spPr>
          <a:xfrm>
            <a:off x="6190488" y="3520440"/>
            <a:ext cx="310896" cy="310896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sz="1200">
                <a:solidFill>
                  <a:srgbClr val="FFFFFF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3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574536" y="3520440"/>
            <a:ext cx="22402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글로벌 피우다 왕중왕전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90488" y="3886200"/>
            <a:ext cx="2606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>
                <a:solidFill>
                  <a:srgbClr val="C8410E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최우수상 · 과기정통부장관상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190488" y="4160520"/>
            <a:ext cx="26060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어르신 두뇌운동 키오스크 Haru로 방향을 잡고 충청권 1위, 왕중왕전 장관상까지 검증받았습니다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796528" y="3502152"/>
            <a:ext cx="192024" cy="34747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>
                <a:solidFill>
                  <a:srgbClr val="F57265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▶</a:t>
            </a:r>
          </a:p>
        </p:txBody>
      </p:sp>
      <p:pic>
        <p:nvPicPr>
          <p:cNvPr id="85" name="Picture 84" descr="team_wecare.jpg"/>
          <p:cNvPicPr>
            <a:picLocks noChangeAspect="1"/>
          </p:cNvPicPr>
          <p:nvPr/>
        </p:nvPicPr>
        <p:blipFill>
          <a:blip r:embed="rId6"/>
          <a:srcRect t="25658" b="25658"/>
          <a:stretch>
            <a:fillRect/>
          </a:stretch>
        </p:blipFill>
        <p:spPr>
          <a:xfrm>
            <a:off x="8988552" y="1691640"/>
            <a:ext cx="2606040" cy="1691640"/>
          </a:xfrm>
          <a:prstGeom prst="rect">
            <a:avLst/>
          </a:prstGeom>
        </p:spPr>
      </p:pic>
      <p:sp>
        <p:nvSpPr>
          <p:cNvPr id="86" name="Oval 85"/>
          <p:cNvSpPr/>
          <p:nvPr/>
        </p:nvSpPr>
        <p:spPr>
          <a:xfrm>
            <a:off x="8988552" y="3520440"/>
            <a:ext cx="310896" cy="310896"/>
          </a:xfrm>
          <a:prstGeom prst="ellipse">
            <a:avLst/>
          </a:prstGeom>
          <a:solidFill>
            <a:srgbClr val="F57265"/>
          </a:solidFill>
          <a:ln>
            <a:noFill/>
          </a:ln>
          <a:effectLst/>
        </p:spPr>
        <p:txBody>
          <a:bodyPr lIns="0" tIns="0" rIns="0" bIns="0" rtlCol="0" anchor="ctr"/>
          <a:lstStyle/>
          <a:p>
            <a:pPr algn="ctr"/>
            <a:r>
              <a:rPr sz="1200">
                <a:solidFill>
                  <a:srgbClr val="FFFFFF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4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372600" y="3520440"/>
            <a:ext cx="224028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한화생명 WE CARE MEMORY+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988552" y="3886200"/>
            <a:ext cx="26060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>
                <a:solidFill>
                  <a:srgbClr val="C8410E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아이디어 부문 최우수상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988552" y="4160520"/>
            <a:ext cx="26060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보험 · 돌봄 업계에서도 아이디어를 인정받으며, 지금은 E5와 한 · 일 실증을 준비 중입니다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94360" y="4937760"/>
            <a:ext cx="11000232" cy="10972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91" name="Rounded Rectangle 90"/>
          <p:cNvSpPr/>
          <p:nvPr/>
        </p:nvSpPr>
        <p:spPr>
          <a:xfrm>
            <a:off x="594360" y="5074920"/>
            <a:ext cx="11000232" cy="1143000"/>
          </a:xfrm>
          <a:prstGeom prst="roundRect">
            <a:avLst>
              <a:gd name="adj" fmla="val 5500"/>
            </a:avLst>
          </a:prstGeom>
          <a:solidFill>
            <a:srgbClr val="F5ECD8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pic>
        <p:nvPicPr>
          <p:cNvPr id="92" name="Picture 91" descr="inst_log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5285232"/>
            <a:ext cx="1234440" cy="713232"/>
          </a:xfrm>
          <a:prstGeom prst="rect">
            <a:avLst/>
          </a:prstGeom>
        </p:spPr>
      </p:pic>
      <p:sp>
        <p:nvSpPr>
          <p:cNvPr id="93" name="TextBox 92"/>
          <p:cNvSpPr txBox="1"/>
          <p:nvPr/>
        </p:nvSpPr>
        <p:spPr>
          <a:xfrm>
            <a:off x="2240280" y="5166360"/>
            <a:ext cx="923544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보편교육연구소  </a:t>
            </a:r>
            <a:r>
              <a:rPr sz="1400">
                <a:solidFill>
                  <a:srgbClr val="C8410E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누구나 배우고, 누구나 쓸 수 있는 보편적 기술을 만듭니다</a:t>
            </a:r>
          </a:p>
          <a:p>
            <a:pPr algn="l">
              <a:lnSpc>
                <a:spcPct val="120000"/>
              </a:lnSpc>
            </a:pPr>
            <a:r>
              <a:rPr sz="120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스마트폰이 없어도, 글자가 잘 안 보여도, 디지털이 낯설어도 쓸 수 있는 것 — 첫 제품 Haru는 '디지털 소외계층이 없는 기술'이라는 우리의 출발점입니다.</a:t>
            </a:r>
          </a:p>
          <a:p>
            <a:pPr algn="l">
              <a:lnSpc>
                <a:spcPct val="120000"/>
              </a:lnSpc>
            </a:pPr>
            <a:r>
              <a:rPr sz="120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같은 공간에서 24시간을 함께하며 전원이 개발 · 기획 · 실증 · 발표에 참여합니다.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/>
          <p:cNvSpPr/>
          <p:nvPr/>
        </p:nvSpPr>
        <p:spPr>
          <a:xfrm>
            <a:off x="4325112" y="1645920"/>
            <a:ext cx="3538728" cy="379183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8055864" y="1645920"/>
            <a:ext cx="3538728" cy="379183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594360" y="1645920"/>
            <a:ext cx="3538728" cy="379183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3BDD6872-7F44-D50F-7CA7-81CCFCEF268A}"/>
              </a:ext>
            </a:extLst>
          </p:cNvPr>
          <p:cNvSpPr/>
          <p:nvPr/>
        </p:nvSpPr>
        <p:spPr>
          <a:xfrm>
            <a:off x="9237623" y="1765539"/>
            <a:ext cx="1192736" cy="1192736"/>
          </a:xfrm>
          <a:prstGeom prst="ellipse">
            <a:avLst/>
          </a:prstGeom>
          <a:solidFill>
            <a:srgbClr val="F5ECD8"/>
          </a:solidFill>
          <a:ln w="28575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타원 74">
            <a:extLst>
              <a:ext uri="{FF2B5EF4-FFF2-40B4-BE49-F238E27FC236}">
                <a16:creationId xmlns:a16="http://schemas.microsoft.com/office/drawing/2014/main" id="{BE8726FA-BB2C-2993-7150-B320F984C55A}"/>
              </a:ext>
            </a:extLst>
          </p:cNvPr>
          <p:cNvSpPr/>
          <p:nvPr/>
        </p:nvSpPr>
        <p:spPr>
          <a:xfrm>
            <a:off x="1767354" y="1765539"/>
            <a:ext cx="1192736" cy="1192736"/>
          </a:xfrm>
          <a:prstGeom prst="ellipse">
            <a:avLst/>
          </a:prstGeom>
          <a:solidFill>
            <a:srgbClr val="F5ECD8"/>
          </a:solidFill>
          <a:ln w="28575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F57265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4. TEAM · 팀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49" cy="600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3150" b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역할이 분명한 </a:t>
            </a:r>
            <a:r>
              <a:rPr lang="ko-KR" altLang="en-US" sz="3150" b="0">
                <a:solidFill>
                  <a:srgbClr val="F57265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3인</a:t>
            </a:r>
            <a:r>
              <a:rPr lang="ko-KR" altLang="en-US" sz="3150" b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이 전주기로 함께합니다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11003249" cy="3110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>
                <a:solidFill>
                  <a:srgbClr val="6C5D4C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AI 연구 · 의학 · 기계설계 · 일본 현지 경험 — 개발 · 현지화 · 사업화가 팀 내부에서 완결됩니다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71416" y="1755648"/>
            <a:ext cx="596646" cy="237744"/>
          </a:xfrm>
          <a:prstGeom prst="roundRect">
            <a:avLst>
              <a:gd name="adj" fmla="val 50000"/>
            </a:avLst>
          </a:prstGeom>
          <a:solidFill>
            <a:srgbClr val="FBE0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C8410E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팀원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5112" y="3054096"/>
            <a:ext cx="3538728" cy="3641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850" b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김현준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16552" y="3383280"/>
            <a:ext cx="3355848" cy="4562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lang="ko-KR" altLang="en-US" sz="1200" b="0" dirty="0">
                <a:solidFill>
                  <a:srgbClr val="F57265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KAIST 전산학부 재학</a:t>
            </a:r>
          </a:p>
          <a:p>
            <a:pPr algn="ctr">
              <a:lnSpc>
                <a:spcPct val="128000"/>
              </a:lnSpc>
            </a:pPr>
            <a:r>
              <a:rPr lang="ko-KR" altLang="en-US" sz="1200" b="0" dirty="0">
                <a:solidFill>
                  <a:srgbClr val="F57265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육군사관학교 AI 연구원 (군 복무)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17236" y="3913632"/>
            <a:ext cx="1554480" cy="274320"/>
          </a:xfrm>
          <a:prstGeom prst="roundRect">
            <a:avLst>
              <a:gd name="adj" fmla="val 50000"/>
            </a:avLst>
          </a:prstGeom>
          <a:solidFill>
            <a:srgbClr val="FBE0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altLang="ko-KR" sz="1200" dirty="0">
                <a:solidFill>
                  <a:srgbClr val="F57265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AI 총괄 및 개발</a:t>
            </a:r>
            <a:endParaRPr lang="ko-KR" altLang="en-US" sz="1200" b="0" dirty="0">
              <a:solidFill>
                <a:srgbClr val="F57265"/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나눔스퀘어라운드 Bold" panose="020B0600000101010101" pitchFamily="50" charset="-127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568696" y="4279392"/>
            <a:ext cx="1051560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16552" y="4368664"/>
            <a:ext cx="3355848" cy="956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2000"/>
              </a:lnSpc>
            </a:pPr>
            <a:r>
              <a:rPr lang="en-US" altLang="ko-KR" sz="12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AI 문항 생성 파이프라인 직접 구현</a:t>
            </a:r>
          </a:p>
          <a:p>
            <a:pPr algn="ctr">
              <a:lnSpc>
                <a:spcPct val="132000"/>
              </a:lnSpc>
            </a:pPr>
            <a:r>
              <a:rPr lang="en-US" altLang="ko-KR" sz="12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KAIST · EPFL · Georgia Tech 연구</a:t>
            </a:r>
          </a:p>
          <a:p>
            <a:pPr algn="ctr">
              <a:lnSpc>
                <a:spcPct val="132000"/>
              </a:lnSpc>
            </a:pPr>
            <a:r>
              <a:rPr lang="en-US" altLang="ko-KR" sz="12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연구 인용 768회 · AgentBeats 세계 3위</a:t>
            </a:r>
          </a:p>
          <a:p>
            <a:pPr algn="ctr">
              <a:lnSpc>
                <a:spcPct val="132000"/>
              </a:lnSpc>
            </a:pPr>
            <a:r>
              <a:rPr lang="en-US" altLang="ko-KR" sz="12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국방기술 창업대회 금상 · 피우다 최우수상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02168" y="1755648"/>
            <a:ext cx="596646" cy="237744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팀원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5864" y="3054096"/>
            <a:ext cx="3538728" cy="3641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850" b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이재우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47304" y="3383280"/>
            <a:ext cx="3355848" cy="4562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lang="ko-KR" altLang="en-US" sz="1200" b="0" dirty="0">
                <a:solidFill>
                  <a:schemeClr val="accent6">
                    <a:lumMod val="75000"/>
                  </a:schemeClr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서울대 기계공학 학사(최우등)</a:t>
            </a:r>
          </a:p>
          <a:p>
            <a:pPr algn="ctr">
              <a:lnSpc>
                <a:spcPct val="128000"/>
              </a:lnSpc>
            </a:pPr>
            <a:r>
              <a:rPr lang="ko-KR" altLang="en-US" sz="1200" b="0" dirty="0">
                <a:solidFill>
                  <a:schemeClr val="accent6">
                    <a:lumMod val="75000"/>
                  </a:schemeClr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차의과학대 의전원 본4 · 육사 AI 연구원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0828" y="3913632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FBE6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dirty="0" err="1">
                <a:solidFill>
                  <a:schemeClr val="accent6">
                    <a:lumMod val="75000"/>
                  </a:schemeClr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의공학 · 하드웨어 총괄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99447" y="4279392"/>
            <a:ext cx="1051560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47304" y="4368664"/>
            <a:ext cx="3355848" cy="956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2000"/>
              </a:lnSpc>
            </a:pPr>
            <a:r>
              <a:rPr lang="ko-KR" altLang="en-US" sz="12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기구 설계 · 시제품 제작 (삼성 기구설계 인턴)</a:t>
            </a:r>
            <a:endParaRPr lang="en-US" altLang="ko-KR" sz="1200" dirty="0">
              <a:solidFill>
                <a:srgbClr val="6C5D4C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  <a:cs typeface="나눔스퀘어라운드 Regular" panose="020B0600000101010101" pitchFamily="50" charset="-127"/>
            </a:endParaRPr>
          </a:p>
          <a:p>
            <a:pPr algn="ctr">
              <a:lnSpc>
                <a:spcPct val="132000"/>
              </a:lnSpc>
            </a:pPr>
            <a:r>
              <a:rPr lang="ko-KR" altLang="en-US" sz="12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의학연구 참여 · IRB 심의 경험</a:t>
            </a:r>
            <a:endParaRPr lang="en-US" altLang="ko-KR" sz="1200" dirty="0">
              <a:solidFill>
                <a:srgbClr val="6C5D4C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  <a:cs typeface="나눔스퀘어라운드 Regular" panose="020B0600000101010101" pitchFamily="50" charset="-127"/>
            </a:endParaRPr>
          </a:p>
          <a:p>
            <a:pPr algn="ctr">
              <a:lnSpc>
                <a:spcPct val="132000"/>
              </a:lnSpc>
            </a:pPr>
            <a:r>
              <a:rPr lang="ko-KR" altLang="en-US" sz="12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국방 AI 경진대회 1위 국방부장관상</a:t>
            </a:r>
            <a:endParaRPr lang="en-US" altLang="ko-KR" sz="1200" dirty="0">
              <a:solidFill>
                <a:srgbClr val="6C5D4C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  <a:cs typeface="나눔스퀘어라운드 Regular" panose="020B0600000101010101" pitchFamily="50" charset="-127"/>
            </a:endParaRPr>
          </a:p>
          <a:p>
            <a:pPr algn="ctr">
              <a:lnSpc>
                <a:spcPct val="132000"/>
              </a:lnSpc>
            </a:pPr>
            <a:r>
              <a:rPr lang="ko-KR" altLang="en-US" sz="12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K-Startup 2025 예비창업자</a:t>
            </a:r>
            <a:endParaRPr lang="en-US" altLang="ko-KR" sz="1200" dirty="0">
              <a:solidFill>
                <a:srgbClr val="6C5D4C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  <a:cs typeface="나눔스퀘어라운드 Regular" panose="020B0600000101010101" pitchFamily="50" charset="-127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740664" y="1755648"/>
            <a:ext cx="596646" cy="237744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팀장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3054096"/>
            <a:ext cx="3538728" cy="3641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ko-KR" altLang="en-US" sz="1850" b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나현우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799" y="3383280"/>
            <a:ext cx="3355848" cy="4450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8000"/>
              </a:lnSpc>
            </a:pPr>
            <a:r>
              <a:rPr lang="ko-KR" altLang="en-US" sz="1200" b="0" dirty="0">
                <a:solidFill>
                  <a:srgbClr val="C8410E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홋카이도대 기계우주공학 박사과정</a:t>
            </a:r>
          </a:p>
          <a:p>
            <a:pPr algn="ctr">
              <a:lnSpc>
                <a:spcPct val="128000"/>
              </a:lnSpc>
            </a:pPr>
            <a:r>
              <a:rPr lang="ko-KR" altLang="en-US" sz="1200" b="0" dirty="0">
                <a:solidFill>
                  <a:srgbClr val="C8410E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(</a:t>
            </a:r>
            <a:r>
              <a:rPr lang="ko-KR" altLang="en-US" sz="1200" b="0" dirty="0" err="1">
                <a:solidFill>
                  <a:srgbClr val="C8410E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병역휴학</a:t>
            </a:r>
            <a:r>
              <a:rPr lang="ko-KR" altLang="en-US" sz="1200" b="0" dirty="0">
                <a:solidFill>
                  <a:srgbClr val="C8410E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 중 · 2027.04 복학 예정)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175004" y="3913632"/>
            <a:ext cx="2377440" cy="274320"/>
          </a:xfrm>
          <a:prstGeom prst="roundRect">
            <a:avLst>
              <a:gd name="adj" fmla="val 50000"/>
            </a:avLst>
          </a:prstGeom>
          <a:solidFill>
            <a:srgbClr val="F7E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ko-KR" altLang="en-US" sz="1200" dirty="0">
                <a:solidFill>
                  <a:srgbClr val="C8410E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팀장 · 제품설계 · 사업화 · 일본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837943" y="4279392"/>
            <a:ext cx="1051560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85799" y="4368664"/>
            <a:ext cx="3355848" cy="9568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2000"/>
              </a:lnSpc>
            </a:pPr>
            <a:r>
              <a:rPr lang="ko-KR" altLang="en-US" sz="12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일본 현지 체류 10년 차 · 일본어 능통</a:t>
            </a:r>
            <a:endParaRPr lang="en-US" altLang="ko-KR" sz="1200" dirty="0">
              <a:solidFill>
                <a:srgbClr val="6C5D4C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  <a:cs typeface="나눔스퀘어라운드 Regular" panose="020B0600000101010101" pitchFamily="50" charset="-127"/>
            </a:endParaRPr>
          </a:p>
          <a:p>
            <a:pPr algn="ctr">
              <a:lnSpc>
                <a:spcPct val="132000"/>
              </a:lnSpc>
            </a:pPr>
            <a:r>
              <a:rPr lang="ko-KR" altLang="en-US" sz="12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홋카이도대 학 · 석 · 박 · SCI 논문 다수</a:t>
            </a:r>
            <a:endParaRPr lang="en-US" altLang="ko-KR" sz="1200" dirty="0">
              <a:solidFill>
                <a:srgbClr val="6C5D4C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  <a:cs typeface="나눔스퀘어라운드 Regular" panose="020B0600000101010101" pitchFamily="50" charset="-127"/>
            </a:endParaRPr>
          </a:p>
          <a:p>
            <a:pPr algn="ctr">
              <a:lnSpc>
                <a:spcPct val="132000"/>
              </a:lnSpc>
            </a:pPr>
            <a:r>
              <a:rPr lang="ko-KR" altLang="en-US" sz="12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Tech Garage 창업프로그램 3기수</a:t>
            </a:r>
            <a:endParaRPr lang="en-US" altLang="ko-KR" sz="1200" dirty="0">
              <a:solidFill>
                <a:srgbClr val="6C5D4C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  <a:cs typeface="나눔스퀘어라운드 Regular" panose="020B0600000101010101" pitchFamily="50" charset="-127"/>
            </a:endParaRPr>
          </a:p>
          <a:p>
            <a:pPr algn="ctr">
              <a:lnSpc>
                <a:spcPct val="132000"/>
              </a:lnSpc>
            </a:pPr>
            <a:r>
              <a:rPr lang="ko-KR" altLang="en-US" sz="12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일본 실증 · 현지 파트너십 직접 수행</a:t>
            </a:r>
            <a:endParaRPr lang="en-US" altLang="ko-KR" sz="1200" dirty="0">
              <a:solidFill>
                <a:srgbClr val="6C5D4C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  <a:cs typeface="나눔스퀘어라운드 Regular" panose="020B0600000101010101" pitchFamily="50" charset="-127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594360" y="5570671"/>
            <a:ext cx="11003249" cy="512064"/>
          </a:xfrm>
          <a:prstGeom prst="roundRect">
            <a:avLst>
              <a:gd name="adj" fmla="val 27258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766560" y="5718981"/>
            <a:ext cx="4663440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400" b="0" dirty="0">
                <a:solidFill>
                  <a:srgbClr val="6C5D4C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창업 경험 · 법인 설립 이력 없음 (예비창업 단계)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5489" y="5718981"/>
            <a:ext cx="4853312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lang="ko-KR" altLang="en-US" sz="1400" dirty="0">
                <a:solidFill>
                  <a:srgbClr val="C8410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네 개의 버튼으로</a:t>
            </a:r>
            <a:r>
              <a:rPr lang="en-US" altLang="ko-KR" sz="1400" dirty="0">
                <a:solidFill>
                  <a:srgbClr val="C8410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, </a:t>
            </a:r>
            <a:r>
              <a:rPr lang="ko-KR" altLang="en-US" sz="1400" dirty="0">
                <a:solidFill>
                  <a:srgbClr val="C8410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노인의 하루를 기록하겠습니다</a:t>
            </a:r>
            <a:r>
              <a:rPr lang="en-US" altLang="ko-KR" sz="1400" dirty="0">
                <a:solidFill>
                  <a:srgbClr val="C8410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.</a:t>
            </a:r>
            <a:endParaRPr lang="ko-KR" altLang="en-US" sz="1400" b="0" dirty="0">
              <a:solidFill>
                <a:srgbClr val="C8410E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  <a:cs typeface="나눔스퀘어라운드 ExtraBold" panose="020B0600000101010101" pitchFamily="50" charset="-127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Haru by 보편교육연구소 · 팀 실행력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408454" y="6364224"/>
            <a:ext cx="18915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altLang="ko-KR" sz="1200" b="0" dirty="0">
                <a:solidFill>
                  <a:srgbClr val="9C8B77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18</a:t>
            </a:r>
            <a:endParaRPr lang="ko-KR" altLang="en-US" sz="1200" b="0" dirty="0">
              <a:solidFill>
                <a:srgbClr val="9C8B77"/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나눔스퀘어라운드 Bold" panose="020B0600000101010101" pitchFamily="50" charset="-127"/>
            </a:endParaRPr>
          </a:p>
        </p:txBody>
      </p:sp>
      <p:pic>
        <p:nvPicPr>
          <p:cNvPr id="52" name="Picture 5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pic>
        <p:nvPicPr>
          <p:cNvPr id="64" name="Picture 2" descr="제29회 화랑문예전 소설 부문 우수상 &lt; 화랑문예전 &lt; 육사광장 &lt; 기사본문 - 육사신보">
            <a:extLst>
              <a:ext uri="{FF2B5EF4-FFF2-40B4-BE49-F238E27FC236}">
                <a16:creationId xmlns:a16="http://schemas.microsoft.com/office/drawing/2014/main" id="{C59CFA7B-C30E-771E-86F5-AF094C8CE3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/>
          <a:srcRect l="17437" r="15897"/>
          <a:stretch>
            <a:fillRect/>
          </a:stretch>
        </p:blipFill>
        <p:spPr bwMode="auto">
          <a:xfrm>
            <a:off x="9243848" y="1768884"/>
            <a:ext cx="1181101" cy="1194912"/>
          </a:xfrm>
          <a:prstGeom prst="ellipse">
            <a:avLst/>
          </a:prstGeom>
          <a:noFill/>
          <a:ln w="285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9" name="타원 68">
            <a:extLst>
              <a:ext uri="{FF2B5EF4-FFF2-40B4-BE49-F238E27FC236}">
                <a16:creationId xmlns:a16="http://schemas.microsoft.com/office/drawing/2014/main" id="{A34A5D25-097F-70B4-62B5-41F3FCE06C6B}"/>
              </a:ext>
            </a:extLst>
          </p:cNvPr>
          <p:cNvSpPr/>
          <p:nvPr/>
        </p:nvSpPr>
        <p:spPr>
          <a:xfrm>
            <a:off x="5486907" y="1765539"/>
            <a:ext cx="1192736" cy="1192736"/>
          </a:xfrm>
          <a:prstGeom prst="ellipse">
            <a:avLst/>
          </a:prstGeom>
          <a:solidFill>
            <a:srgbClr val="F5ECD8"/>
          </a:solidFill>
          <a:ln w="28575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8" name="Picture 2" descr="제29회 화랑문예전 소설 부문 장려상 &lt; 화랑문예전 &lt; 육사광장 &lt; 기사본문 - 육사신보">
            <a:extLst>
              <a:ext uri="{FF2B5EF4-FFF2-40B4-BE49-F238E27FC236}">
                <a16:creationId xmlns:a16="http://schemas.microsoft.com/office/drawing/2014/main" id="{18BC023D-CB47-2941-AA73-A3A0AE0C9D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/>
          <a:srcRect l="16667" r="16667"/>
          <a:stretch>
            <a:fillRect/>
          </a:stretch>
        </p:blipFill>
        <p:spPr bwMode="auto">
          <a:xfrm>
            <a:off x="1773116" y="1788131"/>
            <a:ext cx="1185806" cy="1181100"/>
          </a:xfrm>
          <a:prstGeom prst="ellipse">
            <a:avLst/>
          </a:prstGeom>
          <a:noFill/>
          <a:ln w="28575">
            <a:noFill/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그림 53">
            <a:extLst>
              <a:ext uri="{FF2B5EF4-FFF2-40B4-BE49-F238E27FC236}">
                <a16:creationId xmlns:a16="http://schemas.microsoft.com/office/drawing/2014/main" id="{B65549EE-4E76-4B0A-0BB0-11757A99EC2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4125" t="9663" r="27188" b="25422"/>
          <a:stretch>
            <a:fillRect/>
          </a:stretch>
        </p:blipFill>
        <p:spPr>
          <a:xfrm>
            <a:off x="5486275" y="1788131"/>
            <a:ext cx="1193368" cy="1181101"/>
          </a:xfrm>
          <a:prstGeom prst="ellipse">
            <a:avLst/>
          </a:prstGeom>
          <a:ln w="28575">
            <a:noFill/>
            <a:prstDash val="dash"/>
          </a:ln>
        </p:spPr>
      </p:pic>
    </p:spTree>
  </p:cSld>
  <p:clrMapOvr>
    <a:masterClrMapping/>
  </p:clrMapOvr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lang="ko-KR" altLang="en-US" sz="1240" b="0" spc="14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4. TEAM · 팀장 · 제품설계 · 사업화 · 일본 총괄</a:t>
            </a:r>
            <a:endParaRPr lang="ko-KR" altLang="en-US" sz="1240" b="0" spc="140">
              <a:solidFill>
                <a:srgbClr val="9c8b77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0232" cy="4201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lang="ko-KR" altLang="en-US" sz="2730" b="0">
                <a:solidFill>
                  <a:srgbClr val="f57265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나현우</a:t>
            </a:r>
            <a:r>
              <a:rPr lang="ko-KR" altLang="en-US" sz="2730" b="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  ·  팀장 · 제품설계 · 사업화 · 일본 총괄</a:t>
            </a:r>
            <a:endParaRPr lang="ko-KR" altLang="en-US" sz="2730" b="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11000232" cy="2431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lang="ko-KR" altLang="en-US" sz="1580" b="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일본 현지 10년 차 공학 박사과정 — 연구를 제품과 사업으로 바꿉니다</a:t>
            </a:r>
            <a:endParaRPr lang="ko-KR" altLang="en-US" sz="1580" b="0">
              <a:solidFill>
                <a:srgbClr val="6c5d4c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  <a:defRPr/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Haru by 보편교육연구소 · 팀원 소개</a:t>
            </a:r>
            <a:endParaRPr lang="ko-KR" altLang="en-US" sz="1200" b="0">
              <a:solidFill>
                <a:srgbClr val="9c8b77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11408454" y="6364224"/>
            <a:ext cx="18915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  <a:defRPr/>
            </a:pPr>
            <a:r>
              <a:rPr lang="en-US" altLang="ko-KR" sz="1200" b="0">
                <a:solidFill>
                  <a:srgbClr val="9c8b77"/>
                </a:solidFill>
                <a:latin typeface="나눔스퀘어라운드 Bold"/>
                <a:ea typeface="나눔스퀘어라운드 Bold"/>
                <a:cs typeface="나눔스퀘어라운드 Bold"/>
              </a:rPr>
              <a:t>19</a:t>
            </a:r>
            <a:endParaRPr lang="ko-KR" altLang="en-US" sz="1200" b="0">
              <a:solidFill>
                <a:srgbClr val="9c8b77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pic>
        <p:nvPicPr>
          <p:cNvPr id="66" name="Picture 65" descr="logo.png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pic>
        <p:nvPicPr>
          <p:cNvPr id="67" name="Picture 66" descr="m_na.jpg"/>
          <p:cNvPicPr>
            <a:picLocks noChangeAspect="1"/>
          </p:cNvPicPr>
          <p:nvPr/>
        </p:nvPicPr>
        <p:blipFill rotWithShape="1">
          <a:blip r:embed="rId3"/>
          <a:srcRect l="16170" r="16170"/>
          <a:stretch>
            <a:fillRect/>
          </a:stretch>
        </p:blipFill>
        <p:spPr>
          <a:xfrm>
            <a:off x="594360" y="1691640"/>
            <a:ext cx="2926080" cy="2880360"/>
          </a:xfrm>
          <a:prstGeom prst="rect">
            <a:avLst/>
          </a:prstGeom>
        </p:spPr>
      </p:pic>
      <p:sp>
        <p:nvSpPr>
          <p:cNvPr id="68" name="Rounded Rectangle 67"/>
          <p:cNvSpPr/>
          <p:nvPr/>
        </p:nvSpPr>
        <p:spPr>
          <a:xfrm>
            <a:off x="594360" y="4681728"/>
            <a:ext cx="2926080" cy="1536192"/>
          </a:xfrm>
          <a:prstGeom prst="roundRect">
            <a:avLst>
              <a:gd name="adj" fmla="val 6000"/>
            </a:avLst>
          </a:prstGeom>
          <a:solidFill>
            <a:srgbClr val="3f8f5e"/>
          </a:solidFill>
          <a:ln>
            <a:noFill/>
          </a:ln>
          <a:effectLst/>
        </p:spPr>
        <p:txBody>
          <a:bodyPr anchor="ctr"/>
          <a:lstStyle/>
          <a:p>
            <a:pPr lvl="0">
              <a:defRPr/>
            </a:pPr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77240" y="4773168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200">
                <a:solidFill>
                  <a:srgbClr val="ffffff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팀 내 역할</a:t>
            </a:r>
            <a:endParaRPr sz="1200">
              <a:solidFill>
                <a:srgbClr val="ffffff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70" name="TextBox 69"/>
          <p:cNvSpPr txBox="1"/>
          <p:nvPr/>
        </p:nvSpPr>
        <p:spPr>
          <a:xfrm>
            <a:off x="777240" y="5047488"/>
            <a:ext cx="2606040" cy="963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defRPr/>
            </a:pPr>
            <a:r>
              <a:rPr sz="1100">
                <a:solidFill>
                  <a:srgbClr val="ffffff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팀 대표 · 사업계획 · 기술 차별화 전략</a:t>
            </a:r>
            <a:endParaRPr sz="1100">
              <a:solidFill>
                <a:srgbClr val="ffffff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  <a:p>
            <a:pPr algn="l">
              <a:lnSpc>
                <a:spcPct val="115000"/>
              </a:lnSpc>
              <a:defRPr/>
            </a:pPr>
            <a:r>
              <a:rPr sz="1100">
                <a:solidFill>
                  <a:srgbClr val="ffffff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핵심 솔루션 기술 구조 · 기술 로드맵, 3D 설계 · 센서 연동</a:t>
            </a:r>
            <a:endParaRPr sz="1100">
              <a:solidFill>
                <a:srgbClr val="ffffff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  <a:p>
            <a:pPr algn="l">
              <a:lnSpc>
                <a:spcPct val="115000"/>
              </a:lnSpc>
              <a:defRPr/>
            </a:pPr>
            <a:r>
              <a:rPr sz="1100">
                <a:solidFill>
                  <a:srgbClr val="ffffff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일본어 문항 검수 · 현지 기관 커뮤니케이션 · 일본 실증 운영</a:t>
            </a:r>
            <a:endParaRPr sz="1100">
              <a:solidFill>
                <a:srgbClr val="ffffff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</p:txBody>
      </p:sp>
      <p:sp>
        <p:nvSpPr>
          <p:cNvPr id="71" name="Rounded Rectangle 70"/>
          <p:cNvSpPr/>
          <p:nvPr/>
        </p:nvSpPr>
        <p:spPr>
          <a:xfrm>
            <a:off x="3749039" y="1691640"/>
            <a:ext cx="7845552" cy="412307"/>
          </a:xfrm>
          <a:prstGeom prst="roundRect">
            <a:avLst>
              <a:gd name="adj" fmla="val 5500"/>
            </a:avLst>
          </a:prstGeom>
          <a:solidFill>
            <a:srgbClr val="f5ecd8"/>
          </a:solidFill>
          <a:ln>
            <a:noFill/>
          </a:ln>
          <a:effectLst/>
        </p:spPr>
        <p:txBody>
          <a:bodyPr anchor="ctr"/>
          <a:lstStyle/>
          <a:p>
            <a:pPr lvl="0">
              <a:defRPr/>
            </a:pPr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3977639" y="178308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30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현재 소속</a:t>
            </a:r>
            <a:endParaRPr sz="130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5074920" y="1783080"/>
            <a:ext cx="6400800" cy="41428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defRPr/>
            </a:pPr>
            <a:r>
              <a:rPr lang="ko-KR" altLang="en-US" sz="120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홋카이도대학교 대학원 공학원 기계우주공학전공 박사후기과정 재학</a:t>
            </a:r>
            <a:endParaRPr lang="ko-KR" altLang="en-US" sz="1200">
              <a:solidFill>
                <a:srgbClr val="6c5d4c"/>
              </a:solidFill>
              <a:latin typeface="나눔스퀘어라운드 Bold"/>
              <a:ea typeface="나눔스퀘어라운드 Bold"/>
              <a:cs typeface="나눔스퀘어라운드 Bold"/>
            </a:endParaRPr>
          </a:p>
          <a:p>
            <a:pPr algn="l">
              <a:lnSpc>
                <a:spcPct val="115000"/>
              </a:lnSpc>
              <a:defRPr/>
            </a:pPr>
            <a:endParaRPr lang="en-US" altLang="ko-KR" sz="1200">
              <a:solidFill>
                <a:srgbClr val="6c5d4c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  <p:sp>
        <p:nvSpPr>
          <p:cNvPr id="74" name="Rounded Rectangle 73"/>
          <p:cNvSpPr/>
          <p:nvPr/>
        </p:nvSpPr>
        <p:spPr>
          <a:xfrm>
            <a:off x="3749039" y="2697480"/>
            <a:ext cx="3822191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txBody>
          <a:bodyPr anchor="ctr"/>
          <a:lstStyle/>
          <a:p>
            <a:pPr lvl="0">
              <a:defRPr/>
            </a:pPr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3977639" y="2807208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40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학력 · 경력</a:t>
            </a:r>
            <a:endParaRPr sz="140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3977639" y="3154680"/>
            <a:ext cx="342900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indent="-171450">
              <a:spcAft>
                <a:spcPts val="400"/>
              </a:spcAft>
              <a:buClr>
                <a:srgbClr val="f57265"/>
              </a:buClr>
              <a:buChar char="•"/>
              <a:defRPr/>
            </a:pPr>
            <a:r>
              <a:rPr sz="110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홋카이도대 기계지능공학 학사 · 기계우주공학 석사 졸업</a:t>
            </a:r>
            <a:endParaRPr sz="110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  <a:p>
            <a:pPr marL="171450" indent="-171450">
              <a:spcAft>
                <a:spcPts val="400"/>
              </a:spcAft>
              <a:buClr>
                <a:srgbClr val="f57265"/>
              </a:buClr>
              <a:buChar char="•"/>
              <a:defRPr/>
            </a:pPr>
            <a:r>
              <a:rPr sz="110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콜로이드 근적외 광산란 · 응집상태 정량화 연구 (분자동역학 · Mie 산란 · 방사전달 수치해석)</a:t>
            </a:r>
            <a:endParaRPr sz="110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  <a:p>
            <a:pPr marL="171450" indent="-171450">
              <a:spcAft>
                <a:spcPts val="400"/>
              </a:spcAft>
              <a:buClr>
                <a:srgbClr val="f57265"/>
              </a:buClr>
              <a:buChar char="•"/>
              <a:defRPr/>
            </a:pPr>
            <a:r>
              <a:rPr sz="110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Python · CUDA 기반 GPU 가속 연구 소프트웨어 개발</a:t>
            </a:r>
            <a:endParaRPr sz="110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  <a:p>
            <a:pPr marL="171450" indent="-171450">
              <a:spcAft>
                <a:spcPts val="400"/>
              </a:spcAft>
              <a:buClr>
                <a:srgbClr val="f57265"/>
              </a:buClr>
              <a:buChar char="•"/>
              <a:defRPr/>
            </a:pPr>
            <a:r>
              <a:rPr sz="110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Results in Physics 등 국제학술지 논문 다수 · 『한국군사학논집』 제1저자</a:t>
            </a:r>
            <a:endParaRPr sz="110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  <a:p>
            <a:pPr marL="171450" indent="-171450">
              <a:spcAft>
                <a:spcPts val="400"/>
              </a:spcAft>
              <a:buClr>
                <a:srgbClr val="f57265"/>
              </a:buClr>
              <a:buChar char="•"/>
              <a:defRPr/>
            </a:pPr>
            <a:r>
              <a:rPr sz="110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홋카이도대 Tech Garage 창업프로그램 SFP02–04 3개 기수 연속 참여</a:t>
            </a:r>
            <a:endParaRPr sz="110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</p:txBody>
      </p:sp>
      <p:sp>
        <p:nvSpPr>
          <p:cNvPr id="77" name="Rounded Rectangle 76"/>
          <p:cNvSpPr/>
          <p:nvPr/>
        </p:nvSpPr>
        <p:spPr>
          <a:xfrm>
            <a:off x="7772400" y="2697480"/>
            <a:ext cx="3822191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txBody>
          <a:bodyPr anchor="ctr"/>
          <a:lstStyle/>
          <a:p>
            <a:pPr lvl="0">
              <a:defRPr/>
            </a:pPr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8001000" y="2807208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40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역량 · 강점</a:t>
            </a:r>
            <a:endParaRPr sz="140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79" name="TextBox 78"/>
          <p:cNvSpPr txBox="1"/>
          <p:nvPr/>
        </p:nvSpPr>
        <p:spPr>
          <a:xfrm>
            <a:off x="8001000" y="3154680"/>
            <a:ext cx="342900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indent="-171450">
              <a:spcAft>
                <a:spcPts val="400"/>
              </a:spcAft>
              <a:buClr>
                <a:srgbClr val="f57265"/>
              </a:buClr>
              <a:buChar char="•"/>
              <a:defRPr/>
            </a:pPr>
            <a:r>
              <a:rPr sz="110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물리 모델링 → 소프트웨어 → 하드웨어 프로토타이핑을 직접 수행하는 융합형 역량</a:t>
            </a:r>
            <a:endParaRPr sz="110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  <a:p>
            <a:pPr marL="171450" indent="-171450">
              <a:spcAft>
                <a:spcPts val="400"/>
              </a:spcAft>
              <a:buClr>
                <a:srgbClr val="f57265"/>
              </a:buClr>
              <a:buChar char="•"/>
              <a:defRPr/>
            </a:pPr>
            <a:r>
              <a:rPr sz="110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연구기술을 MVP와 사업모델로 구체화 — 사용자 검증 · 3D 프로토타이핑 경험</a:t>
            </a:r>
            <a:endParaRPr sz="110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  <a:p>
            <a:pPr marL="171450" indent="-171450">
              <a:spcAft>
                <a:spcPts val="400"/>
              </a:spcAft>
              <a:buClr>
                <a:srgbClr val="f57265"/>
              </a:buClr>
              <a:buChar char="•"/>
              <a:defRPr/>
            </a:pPr>
            <a:r>
              <a:rPr sz="110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일본어 능통 · 일본 거주 10년 → 일본 실증 · 현지 파트너십을 실행으로</a:t>
            </a:r>
            <a:endParaRPr sz="110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  <a:p>
            <a:pPr marL="171450" indent="-171450">
              <a:spcAft>
                <a:spcPts val="400"/>
              </a:spcAft>
              <a:buClr>
                <a:srgbClr val="f57265"/>
              </a:buClr>
              <a:buChar char="•"/>
              <a:defRPr/>
            </a:pPr>
            <a:r>
              <a:rPr sz="110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연구자 · 의료인 · AI 개발자의 요구를 하나의 제품개발 계획으로 통합</a:t>
            </a:r>
            <a:endParaRPr sz="110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</p:txBody>
      </p:sp>
      <p:sp>
        <p:nvSpPr>
          <p:cNvPr id="80" name="Rounded Rectangle 79"/>
          <p:cNvSpPr/>
          <p:nvPr/>
        </p:nvSpPr>
        <p:spPr>
          <a:xfrm>
            <a:off x="3749039" y="5230368"/>
            <a:ext cx="7845552" cy="9875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txBody>
          <a:bodyPr anchor="ctr"/>
          <a:lstStyle/>
          <a:p>
            <a:pPr lvl="0">
              <a:defRPr/>
            </a:pPr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3977639" y="5285232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/>
            </a:pPr>
            <a:r>
              <a:rPr sz="1200">
                <a:solidFill>
                  <a:srgbClr val="c8410e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수상 · 장학</a:t>
            </a:r>
            <a:endParaRPr sz="1200">
              <a:solidFill>
                <a:srgbClr val="c8410e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82" name="TextBox 81"/>
          <p:cNvSpPr txBox="1"/>
          <p:nvPr/>
        </p:nvSpPr>
        <p:spPr>
          <a:xfrm>
            <a:off x="3977639" y="5513832"/>
            <a:ext cx="7406640" cy="67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  <a:defRPr/>
            </a:pPr>
            <a:r>
              <a:rPr sz="1000">
                <a:solidFill>
                  <a:srgbClr val="6c5d4c"/>
                </a:solidFill>
                <a:latin typeface="나눔스퀘어라운드 Regular"/>
                <a:ea typeface="나눔스퀘어라운드 Regular"/>
                <a:cs typeface="나눔스퀘어라운드 Regular"/>
              </a:rPr>
              <a:t>한일공동이공계학부유학생 국비장학생 · 로터리 요네야마 기념장학생 · 2023 일본기계학회 미우라상 · 2022 근적외 포럼 Student Travel Award · 글로벌 피우다 충청권 최우수상 · 왕중왕전 과학기술정보통신부장관상 · 국방기술 창업경진대회 금 · 은 · 동상 · 한화생명 WE CARE MEMORY+ 최우수상</a:t>
            </a:r>
            <a:endParaRPr sz="1000">
              <a:solidFill>
                <a:srgbClr val="6c5d4c"/>
              </a:solidFill>
              <a:latin typeface="나눔스퀘어라운드 Regular"/>
              <a:ea typeface="나눔스퀘어라운드 Regular"/>
              <a:cs typeface="나눔스퀘어라운드 Regular"/>
            </a:endParaRPr>
          </a:p>
        </p:txBody>
      </p:sp>
      <p:sp>
        <p:nvSpPr>
          <p:cNvPr id="6" name="Rounded Rectangle 70"/>
          <p:cNvSpPr/>
          <p:nvPr/>
        </p:nvSpPr>
        <p:spPr>
          <a:xfrm>
            <a:off x="3752057" y="2187506"/>
            <a:ext cx="7845552" cy="412307"/>
          </a:xfrm>
          <a:prstGeom prst="roundRect">
            <a:avLst>
              <a:gd name="adj" fmla="val 5500"/>
            </a:avLst>
          </a:prstGeom>
          <a:solidFill>
            <a:srgbClr val="f5ecd8"/>
          </a:solidFill>
          <a:ln>
            <a:noFill/>
          </a:ln>
          <a:effectLst/>
        </p:spPr>
        <p:txBody>
          <a:bodyPr anchor="ctr"/>
          <a:lstStyle/>
          <a:p>
            <a:pPr lvl="0">
              <a:defRPr/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980657" y="2278946"/>
            <a:ext cx="11887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>
              <a:defRPr/>
            </a:pPr>
            <a:r>
              <a:rPr lang="ko-KR" altLang="en-US" sz="1300">
                <a:solidFill>
                  <a:srgbClr val="2a2018"/>
                </a:solidFill>
                <a:latin typeface="나눔스퀘어라운드 ExtraBold"/>
                <a:ea typeface="나눔스퀘어라운드 ExtraBold"/>
                <a:cs typeface="나눔스퀘어라운드 ExtraBold"/>
              </a:rPr>
              <a:t>연락처</a:t>
            </a:r>
            <a:endParaRPr lang="ko-KR" altLang="en-US" sz="1300">
              <a:solidFill>
                <a:srgbClr val="2a2018"/>
              </a:solidFill>
              <a:latin typeface="나눔스퀘어라운드 ExtraBold"/>
              <a:ea typeface="나눔스퀘어라운드 ExtraBold"/>
              <a:cs typeface="나눔스퀘어라운드 ExtraBol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77938" y="2278946"/>
            <a:ext cx="6400800" cy="2070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  <a:defRPr/>
            </a:pPr>
            <a:r>
              <a:rPr lang="en-US" altLang="ko-KR" sz="1200">
                <a:solidFill>
                  <a:srgbClr val="6c5d4c"/>
                </a:solidFill>
                <a:latin typeface="나눔스퀘어라운드 Bold"/>
                <a:ea typeface="나눔스퀘어라운드 Bold"/>
                <a:cs typeface="나눔스퀘어라운드 Bold"/>
              </a:rPr>
              <a:t>hwna98@gmail.com 010-2831-4231</a:t>
            </a:r>
            <a:endParaRPr lang="en-US" altLang="ko-KR" sz="1200">
              <a:solidFill>
                <a:srgbClr val="6c5d4c"/>
              </a:solidFill>
              <a:latin typeface="나눔스퀘어라운드 Bold"/>
              <a:ea typeface="나눔스퀘어라운드 Bold"/>
              <a:cs typeface="나눔스퀘어라운드 Bold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9C8B77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4. TEAM · AI 총괄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0232" cy="4201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730" b="0" dirty="0">
                <a:solidFill>
                  <a:srgbClr val="F57265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김현준</a:t>
            </a:r>
            <a:r>
              <a:rPr lang="ko-KR" altLang="en-US" sz="273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  ·  AI 총괄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11000232" cy="2431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 dirty="0">
                <a:solidFill>
                  <a:srgbClr val="6C5D4C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KAIST 출신 AI 개발자 — 문항 자동생성 파이프라인을 직접 구현합니다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Haru by 보편교육연구소 · 팀원 소개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408454" y="6364224"/>
            <a:ext cx="18915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altLang="ko-KR" sz="1200" b="0" dirty="0">
                <a:solidFill>
                  <a:srgbClr val="9C8B77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20</a:t>
            </a:r>
            <a:endParaRPr lang="ko-KR" altLang="en-US" sz="1200" b="0" dirty="0">
              <a:solidFill>
                <a:srgbClr val="9C8B77"/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나눔스퀘어라운드 Bold" panose="020B0600000101010101" pitchFamily="50" charset="-127"/>
            </a:endParaRPr>
          </a:p>
        </p:txBody>
      </p:sp>
      <p:pic>
        <p:nvPicPr>
          <p:cNvPr id="66" name="Picture 6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pic>
        <p:nvPicPr>
          <p:cNvPr id="67" name="Picture 66" descr="m_kim.jpg"/>
          <p:cNvPicPr>
            <a:picLocks noChangeAspect="1"/>
          </p:cNvPicPr>
          <p:nvPr/>
        </p:nvPicPr>
        <p:blipFill>
          <a:blip r:embed="rId3"/>
          <a:srcRect t="781" b="781"/>
          <a:stretch>
            <a:fillRect/>
          </a:stretch>
        </p:blipFill>
        <p:spPr>
          <a:xfrm>
            <a:off x="594360" y="1691640"/>
            <a:ext cx="2926080" cy="2880360"/>
          </a:xfrm>
          <a:prstGeom prst="rect">
            <a:avLst/>
          </a:prstGeom>
        </p:spPr>
      </p:pic>
      <p:sp>
        <p:nvSpPr>
          <p:cNvPr id="68" name="Rounded Rectangle 67"/>
          <p:cNvSpPr/>
          <p:nvPr/>
        </p:nvSpPr>
        <p:spPr>
          <a:xfrm>
            <a:off x="594360" y="4681728"/>
            <a:ext cx="2926080" cy="1536192"/>
          </a:xfrm>
          <a:prstGeom prst="roundRect">
            <a:avLst>
              <a:gd name="adj" fmla="val 6000"/>
            </a:avLst>
          </a:prstGeom>
          <a:solidFill>
            <a:srgbClr val="F57265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77240" y="4773168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팀 내 역할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77240" y="5047488"/>
            <a:ext cx="260604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>
                <a:solidFill>
                  <a:srgbClr val="FFFFFF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AI 파이프라인(STT → 정보 추출 → KG → RAG → 문항 생성) 전체 설계 · 구현
서비스 · 백엔드 개발 총괄
기술 대외 협력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749039" y="1691640"/>
            <a:ext cx="7845552" cy="560000"/>
          </a:xfrm>
          <a:prstGeom prst="roundRect">
            <a:avLst>
              <a:gd name="adj" fmla="val 5500"/>
            </a:avLst>
          </a:prstGeom>
          <a:solidFill>
            <a:srgbClr val="F5ECD8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3977639" y="178308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현재 소속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074920" y="1783080"/>
            <a:ext cx="640080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>
                <a:solidFill>
                  <a:srgbClr val="6C5D4C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대한민국 육군 · 육군사관학교 AI 연구원 (군 복무, 2026.03~현재)
KAIST 전산학부 학사 재학 (2023.02~2028.07 졸업 예정)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749039" y="2697480"/>
            <a:ext cx="3822191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3977639" y="2807208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학력 · 경력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977639" y="3154680"/>
            <a:ext cx="342900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indent="-171450">
              <a:spcAft>
                <a:spcPts val="400"/>
              </a:spcAft>
              <a:buClr>
                <a:srgbClr val="F57265"/>
              </a:buClr>
              <a:buChar char="•"/>
            </a:pPr>
            <a:r>
              <a:rPr sz="110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EPFL(스위스) 컴퓨터과학 교환학생 · 연구 인턴 (2025.09~2026.02)</a:t>
            </a:r>
          </a:p>
          <a:p>
            <a:pPr marL="171450" indent="-171450">
              <a:spcAft>
                <a:spcPts val="400"/>
              </a:spcAft>
              <a:buClr>
                <a:srgbClr val="F57265"/>
              </a:buClr>
              <a:buChar char="•"/>
            </a:pPr>
            <a:r>
              <a:rPr sz="110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Georgia Tech 연구 인턴 (2025.08~10)</a:t>
            </a:r>
          </a:p>
          <a:p>
            <a:pPr marL="171450" indent="-171450">
              <a:spcAft>
                <a:spcPts val="400"/>
              </a:spcAft>
              <a:buClr>
                <a:srgbClr val="F57265"/>
              </a:buClr>
              <a:buChar char="•"/>
            </a:pPr>
            <a:r>
              <a:rPr sz="110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KAIST AI대학원 MLAI 연구실 인턴 (2025.03~08)</a:t>
            </a:r>
          </a:p>
          <a:p>
            <a:pPr marL="171450" indent="-171450">
              <a:spcAft>
                <a:spcPts val="400"/>
              </a:spcAft>
              <a:buClr>
                <a:srgbClr val="F57265"/>
              </a:buClr>
              <a:buChar char="•"/>
            </a:pPr>
            <a:r>
              <a:rPr sz="110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AIM Intelligence AI 레드팀 연구원 (2024.10~2025.02)</a:t>
            </a:r>
          </a:p>
          <a:p>
            <a:pPr marL="171450" indent="-171450">
              <a:spcAft>
                <a:spcPts val="400"/>
              </a:spcAft>
              <a:buClr>
                <a:srgbClr val="F57265"/>
              </a:buClr>
              <a:buChar char="•"/>
            </a:pPr>
            <a:r>
              <a:rPr sz="110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호주 애들레이드대 CREST 연구 인턴 (2024.04~2025.02)</a:t>
            </a:r>
          </a:p>
          <a:p>
            <a:pPr marL="171450" indent="-171450">
              <a:spcAft>
                <a:spcPts val="400"/>
              </a:spcAft>
              <a:buClr>
                <a:srgbClr val="F57265"/>
              </a:buClr>
              <a:buChar char="•"/>
            </a:pPr>
            <a:r>
              <a:rPr sz="110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KAIST CS101 프로그래밍 기초 교육조교 (2024.02~2025.06)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772400" y="2697480"/>
            <a:ext cx="3822191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8001000" y="2807208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역량 · 강점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01000" y="3154680"/>
            <a:ext cx="342900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indent="-171450">
              <a:spcAft>
                <a:spcPts val="400"/>
              </a:spcAft>
              <a:buClr>
                <a:srgbClr val="F57265"/>
              </a:buClr>
              <a:buChar char="•"/>
            </a:pPr>
            <a:r>
              <a:rPr sz="110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LLM · RAG · 음성 처리 연구를 서비스로 옮기는 구현력 — 외주 없이 즉시 반영</a:t>
            </a:r>
          </a:p>
          <a:p>
            <a:pPr marL="171450" indent="-171450">
              <a:spcAft>
                <a:spcPts val="400"/>
              </a:spcAft>
              <a:buClr>
                <a:srgbClr val="F57265"/>
              </a:buClr>
              <a:buChar char="•"/>
            </a:pPr>
            <a:r>
              <a:rPr sz="110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AI 레드팀 경험 → 개인정보 · 오용 리스크를 설계 단계에서 반영</a:t>
            </a:r>
          </a:p>
          <a:p>
            <a:pPr marL="171450" indent="-171450">
              <a:spcAft>
                <a:spcPts val="400"/>
              </a:spcAft>
              <a:buClr>
                <a:srgbClr val="F57265"/>
              </a:buClr>
              <a:buChar char="•"/>
            </a:pPr>
            <a:r>
              <a:rPr sz="110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연구 인용 768회 · AgentBeats Computer Use Agent 부문 세계 3위 (2026.02)</a:t>
            </a:r>
          </a:p>
          <a:p>
            <a:pPr marL="171450" indent="-171450">
              <a:spcAft>
                <a:spcPts val="400"/>
              </a:spcAft>
              <a:buClr>
                <a:srgbClr val="F57265"/>
              </a:buClr>
              <a:buChar char="•"/>
            </a:pPr>
            <a:r>
              <a:rPr sz="110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4개국 연구실 협업 · 영어 기반 국제 파트너 커뮤니케이션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749039" y="5230368"/>
            <a:ext cx="7845552" cy="98755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3977639" y="5285232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>
                <a:solidFill>
                  <a:srgbClr val="C8410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수상 · 장학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977639" y="5513832"/>
            <a:ext cx="7406640" cy="67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KAIST 4년 </a:t>
            </a:r>
            <a:r>
              <a:rPr sz="1000" dirty="0" err="1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이공계</a:t>
            </a:r>
            <a:r>
              <a:rPr sz="10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 </a:t>
            </a:r>
            <a:r>
              <a:rPr sz="1000" dirty="0" err="1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국가우수장학금</a:t>
            </a:r>
            <a:r>
              <a:rPr sz="10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 (2023~2028) · </a:t>
            </a:r>
            <a:r>
              <a:rPr sz="1000" dirty="0" err="1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글로벌</a:t>
            </a:r>
            <a:r>
              <a:rPr sz="10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 </a:t>
            </a:r>
            <a:r>
              <a:rPr sz="1000" dirty="0" err="1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피우다</a:t>
            </a:r>
            <a:r>
              <a:rPr sz="10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 </a:t>
            </a:r>
            <a:r>
              <a:rPr sz="1000" dirty="0" err="1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충청권</a:t>
            </a:r>
            <a:r>
              <a:rPr sz="10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 · </a:t>
            </a:r>
            <a:r>
              <a:rPr sz="1000" dirty="0" err="1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왕중왕전</a:t>
            </a:r>
            <a:r>
              <a:rPr sz="10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 </a:t>
            </a:r>
            <a:r>
              <a:rPr sz="1000" dirty="0" err="1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최우수상</a:t>
            </a:r>
            <a:r>
              <a:rPr sz="10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 · </a:t>
            </a:r>
            <a:r>
              <a:rPr sz="1000" dirty="0" err="1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국방기술</a:t>
            </a:r>
            <a:r>
              <a:rPr sz="10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 </a:t>
            </a:r>
            <a:r>
              <a:rPr sz="1000" dirty="0" err="1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창업경진대회</a:t>
            </a:r>
            <a:r>
              <a:rPr sz="10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 금 · 은 · </a:t>
            </a:r>
            <a:r>
              <a:rPr sz="1000" dirty="0" err="1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동상</a:t>
            </a:r>
            <a:r>
              <a:rPr sz="10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(</a:t>
            </a:r>
            <a:r>
              <a:rPr sz="1000" dirty="0" err="1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방위사업청장상</a:t>
            </a:r>
            <a:r>
              <a:rPr sz="10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) · </a:t>
            </a:r>
            <a:r>
              <a:rPr sz="1000" dirty="0" err="1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한화생명</a:t>
            </a:r>
            <a:r>
              <a:rPr sz="10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 WE CARE MEMORY+ </a:t>
            </a:r>
            <a:r>
              <a:rPr sz="1000" dirty="0" err="1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최우수상</a:t>
            </a:r>
            <a:r>
              <a:rPr sz="10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 · </a:t>
            </a:r>
            <a:r>
              <a:rPr sz="1000" dirty="0" err="1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천안문화재단</a:t>
            </a:r>
            <a:r>
              <a:rPr sz="10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 </a:t>
            </a:r>
            <a:r>
              <a:rPr sz="1000" dirty="0" err="1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문화예술</a:t>
            </a:r>
            <a:r>
              <a:rPr sz="10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 </a:t>
            </a:r>
            <a:r>
              <a:rPr sz="1000" dirty="0" err="1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아이디어</a:t>
            </a:r>
            <a:r>
              <a:rPr sz="10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 </a:t>
            </a:r>
            <a:r>
              <a:rPr sz="1000" dirty="0" err="1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공모전</a:t>
            </a:r>
            <a:r>
              <a:rPr sz="10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 </a:t>
            </a:r>
            <a:r>
              <a:rPr sz="1000" dirty="0" err="1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우수상</a:t>
            </a:r>
            <a:r>
              <a:rPr sz="10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 · UNIST-KAIST-POSTECH </a:t>
            </a:r>
            <a:r>
              <a:rPr sz="1000" dirty="0" err="1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데이터사이언스</a:t>
            </a:r>
            <a:r>
              <a:rPr sz="10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 </a:t>
            </a:r>
            <a:r>
              <a:rPr sz="1000" dirty="0" err="1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경진대회</a:t>
            </a:r>
            <a:r>
              <a:rPr sz="10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 </a:t>
            </a:r>
            <a:r>
              <a:rPr sz="1000" dirty="0" err="1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금상</a:t>
            </a:r>
            <a:r>
              <a:rPr sz="10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 · KAIST </a:t>
            </a:r>
            <a:r>
              <a:rPr sz="1000" dirty="0" err="1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공과대학</a:t>
            </a:r>
            <a:r>
              <a:rPr sz="10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 </a:t>
            </a:r>
            <a:r>
              <a:rPr sz="1000" dirty="0" err="1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CoE</a:t>
            </a:r>
            <a:r>
              <a:rPr sz="10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 </a:t>
            </a:r>
            <a:r>
              <a:rPr sz="1000" dirty="0" err="1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리더십상</a:t>
            </a:r>
            <a:r>
              <a:rPr sz="10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 · Dean's List</a:t>
            </a:r>
          </a:p>
        </p:txBody>
      </p:sp>
      <p:sp>
        <p:nvSpPr>
          <p:cNvPr id="200" name="Rounded Rectangle 199"/>
          <p:cNvSpPr/>
          <p:nvPr/>
        </p:nvSpPr>
        <p:spPr>
          <a:xfrm>
            <a:off x="3749039" y="2320000"/>
            <a:ext cx="7845552" cy="290000"/>
          </a:xfrm>
          <a:prstGeom prst="roundRect">
            <a:avLst>
              <a:gd name="adj" fmla="val 5500"/>
            </a:avLst>
          </a:prstGeom>
          <a:solidFill>
            <a:srgbClr val="F5ECD8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01" name="TextBox 200"/>
          <p:cNvSpPr txBox="1"/>
          <p:nvPr/>
        </p:nvSpPr>
        <p:spPr>
          <a:xfrm>
            <a:off x="3977639" y="2364972"/>
            <a:ext cx="11887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0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연락처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5074920" y="2364972"/>
            <a:ext cx="64008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en-US" sz="1200" dirty="0">
                <a:solidFill>
                  <a:srgbClr val="6C5D4C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hyunjun1121@kaist.ac.kr  ·  010-9417-1845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9C8B77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4. TEAM · 의공학 · 하드웨어 총괄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0232" cy="4201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730" b="0" dirty="0">
                <a:solidFill>
                  <a:srgbClr val="F57265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이재우</a:t>
            </a:r>
            <a:r>
              <a:rPr lang="ko-KR" altLang="en-US" sz="273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  ·  의공학 · 하드웨어 총괄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11000232" cy="2431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 dirty="0">
                <a:solidFill>
                  <a:srgbClr val="6C5D4C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의학을 아는 공학도 — 기구 설계와 의료적 안전 범위를 함께 봅니다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Haru by 보편교육연구소 · 팀원 소개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408454" y="6364224"/>
            <a:ext cx="18915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altLang="ko-KR" sz="1200" b="0" dirty="0">
                <a:solidFill>
                  <a:srgbClr val="9C8B77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21</a:t>
            </a:r>
            <a:endParaRPr lang="ko-KR" altLang="en-US" sz="1200" b="0" dirty="0">
              <a:solidFill>
                <a:srgbClr val="9C8B77"/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나눔스퀘어라운드 Bold" panose="020B0600000101010101" pitchFamily="50" charset="-127"/>
            </a:endParaRPr>
          </a:p>
        </p:txBody>
      </p:sp>
      <p:pic>
        <p:nvPicPr>
          <p:cNvPr id="66" name="Picture 6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pic>
        <p:nvPicPr>
          <p:cNvPr id="67" name="Picture 66" descr="m_lee.jpg"/>
          <p:cNvPicPr>
            <a:picLocks noChangeAspect="1"/>
          </p:cNvPicPr>
          <p:nvPr/>
        </p:nvPicPr>
        <p:blipFill>
          <a:blip r:embed="rId3"/>
          <a:srcRect t="781" b="781"/>
          <a:stretch>
            <a:fillRect/>
          </a:stretch>
        </p:blipFill>
        <p:spPr>
          <a:xfrm>
            <a:off x="594360" y="1691640"/>
            <a:ext cx="2926080" cy="2880360"/>
          </a:xfrm>
          <a:prstGeom prst="rect">
            <a:avLst/>
          </a:prstGeom>
        </p:spPr>
      </p:pic>
      <p:sp>
        <p:nvSpPr>
          <p:cNvPr id="68" name="Rounded Rectangle 67"/>
          <p:cNvSpPr/>
          <p:nvPr/>
        </p:nvSpPr>
        <p:spPr>
          <a:xfrm>
            <a:off x="594360" y="4681728"/>
            <a:ext cx="2926080" cy="1536192"/>
          </a:xfrm>
          <a:prstGeom prst="roundRect">
            <a:avLst>
              <a:gd name="adj" fmla="val 6000"/>
            </a:avLst>
          </a:prstGeom>
          <a:solidFill>
            <a:srgbClr val="2B3A55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777240" y="4773168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팀 내 역할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77240" y="5047488"/>
            <a:ext cx="2606040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dirty="0" err="1">
                <a:solidFill>
                  <a:srgbClr val="FFFFFF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키오스크</a:t>
            </a:r>
            <a:r>
              <a:rPr sz="1100" dirty="0">
                <a:solidFill>
                  <a:srgbClr val="FFFFFF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기구</a:t>
            </a:r>
            <a:r>
              <a:rPr sz="1100" dirty="0">
                <a:solidFill>
                  <a:srgbClr val="FFFFFF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설계</a:t>
            </a:r>
            <a:r>
              <a:rPr sz="1100" dirty="0">
                <a:solidFill>
                  <a:srgbClr val="FFFFFF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 · </a:t>
            </a:r>
            <a:r>
              <a:rPr sz="1100" dirty="0" err="1">
                <a:solidFill>
                  <a:srgbClr val="FFFFFF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실물</a:t>
            </a:r>
            <a:r>
              <a:rPr sz="1100" dirty="0">
                <a:solidFill>
                  <a:srgbClr val="FFFFFF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시제품</a:t>
            </a:r>
            <a:r>
              <a:rPr sz="1100" dirty="0">
                <a:solidFill>
                  <a:srgbClr val="FFFFFF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제작</a:t>
            </a:r>
            <a:r>
              <a:rPr sz="1100" dirty="0">
                <a:solidFill>
                  <a:srgbClr val="FFFFFF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
</a:t>
            </a:r>
            <a:r>
              <a:rPr sz="1100" dirty="0" err="1">
                <a:solidFill>
                  <a:srgbClr val="FFFFFF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의료적</a:t>
            </a:r>
            <a:r>
              <a:rPr sz="1100" dirty="0">
                <a:solidFill>
                  <a:srgbClr val="FFFFFF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표현</a:t>
            </a:r>
            <a:r>
              <a:rPr sz="1100" dirty="0">
                <a:solidFill>
                  <a:srgbClr val="FFFFFF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 · </a:t>
            </a:r>
            <a:r>
              <a:rPr sz="1100" dirty="0" err="1">
                <a:solidFill>
                  <a:srgbClr val="FFFFFF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안전</a:t>
            </a:r>
            <a:r>
              <a:rPr sz="1100" dirty="0">
                <a:solidFill>
                  <a:srgbClr val="FFFFFF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범위</a:t>
            </a:r>
            <a:r>
              <a:rPr sz="1100" dirty="0">
                <a:solidFill>
                  <a:srgbClr val="FFFFFF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검토로</a:t>
            </a:r>
            <a:r>
              <a:rPr sz="1100" dirty="0">
                <a:solidFill>
                  <a:srgbClr val="FFFFFF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진단</a:t>
            </a:r>
            <a:r>
              <a:rPr sz="1100" dirty="0">
                <a:solidFill>
                  <a:srgbClr val="FFFFFF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오인</a:t>
            </a:r>
            <a:r>
              <a:rPr sz="1100" dirty="0">
                <a:solidFill>
                  <a:srgbClr val="FFFFFF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리스크</a:t>
            </a:r>
            <a:r>
              <a:rPr sz="1100" dirty="0">
                <a:solidFill>
                  <a:srgbClr val="FFFFFF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사전</a:t>
            </a:r>
            <a:r>
              <a:rPr sz="1100" dirty="0">
                <a:solidFill>
                  <a:srgbClr val="FFFFFF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차단</a:t>
            </a:r>
            <a:r>
              <a:rPr sz="1100" dirty="0">
                <a:solidFill>
                  <a:srgbClr val="FFFFFF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
IRB </a:t>
            </a:r>
            <a:r>
              <a:rPr sz="1100" dirty="0" err="1">
                <a:solidFill>
                  <a:srgbClr val="FFFFFF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심의</a:t>
            </a:r>
            <a:r>
              <a:rPr sz="1100" dirty="0">
                <a:solidFill>
                  <a:srgbClr val="FFFFFF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신청</a:t>
            </a:r>
            <a:r>
              <a:rPr sz="1100" dirty="0">
                <a:solidFill>
                  <a:srgbClr val="FFFFFF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 · </a:t>
            </a:r>
            <a:r>
              <a:rPr sz="1100" dirty="0" err="1">
                <a:solidFill>
                  <a:srgbClr val="FFFFFF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임상</a:t>
            </a:r>
            <a:r>
              <a:rPr sz="1100" dirty="0">
                <a:solidFill>
                  <a:srgbClr val="FFFFFF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 </a:t>
            </a:r>
            <a:r>
              <a:rPr sz="1100" dirty="0" err="1">
                <a:solidFill>
                  <a:srgbClr val="FFFFFF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협력기관</a:t>
            </a:r>
            <a:r>
              <a:rPr sz="1100" dirty="0">
                <a:solidFill>
                  <a:srgbClr val="FFFFFF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(</a:t>
            </a:r>
            <a:r>
              <a:rPr sz="1100" dirty="0" err="1">
                <a:solidFill>
                  <a:srgbClr val="FFFFFF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분당차병원</a:t>
            </a:r>
            <a:r>
              <a:rPr sz="1100" dirty="0">
                <a:solidFill>
                  <a:srgbClr val="FFFFFF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) </a:t>
            </a:r>
            <a:r>
              <a:rPr sz="1100" dirty="0" err="1">
                <a:solidFill>
                  <a:srgbClr val="FFFFFF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커뮤니케이션</a:t>
            </a:r>
            <a:endParaRPr sz="1100" dirty="0">
              <a:solidFill>
                <a:srgbClr val="FFFFFF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  <a:cs typeface="나눔스퀘어라운드 Regular" panose="020B0600000101010101" pitchFamily="50" charset="-127"/>
            </a:endParaRPr>
          </a:p>
        </p:txBody>
      </p:sp>
      <p:sp>
        <p:nvSpPr>
          <p:cNvPr id="71" name="Rounded Rectangle 70"/>
          <p:cNvSpPr/>
          <p:nvPr/>
        </p:nvSpPr>
        <p:spPr>
          <a:xfrm>
            <a:off x="3749039" y="1691640"/>
            <a:ext cx="7845552" cy="620000"/>
          </a:xfrm>
          <a:prstGeom prst="roundRect">
            <a:avLst>
              <a:gd name="adj" fmla="val 5500"/>
            </a:avLst>
          </a:prstGeom>
          <a:solidFill>
            <a:srgbClr val="F5ECD8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3977639" y="178308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현재 소속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074920" y="1752600"/>
            <a:ext cx="6400800" cy="7132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>
                <a:solidFill>
                  <a:srgbClr val="6C5D4C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육군사관학교 장병가치문화연구센터 AI 연구원 (2025.05~현재)
차의과학대학교 정형외과교실 의료데이터분석 연구원 (2024.03~현재)
차의과학대학교 의학전문대학원 본과 4학년 (휴학)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749039" y="2697480"/>
            <a:ext cx="3822191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3977639" y="2807208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학력 · 경력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977639" y="3154680"/>
            <a:ext cx="342900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indent="-171450">
              <a:spcAft>
                <a:spcPts val="400"/>
              </a:spcAft>
              <a:buClr>
                <a:srgbClr val="F57265"/>
              </a:buClr>
              <a:buChar char="•"/>
            </a:pPr>
            <a:r>
              <a:rPr sz="110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서울대학교 바이오시스템공학 · 기계공학 학사 졸업 (최우등)</a:t>
            </a:r>
          </a:p>
          <a:p>
            <a:pPr marL="171450" indent="-171450">
              <a:spcAft>
                <a:spcPts val="400"/>
              </a:spcAft>
              <a:buClr>
                <a:srgbClr val="F57265"/>
              </a:buClr>
              <a:buChar char="•"/>
            </a:pPr>
            <a:r>
              <a:rPr sz="110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삼성전자 기구설계 인턴 (2019)</a:t>
            </a:r>
          </a:p>
          <a:p>
            <a:pPr marL="171450" indent="-171450">
              <a:spcAft>
                <a:spcPts val="400"/>
              </a:spcAft>
              <a:buClr>
                <a:srgbClr val="F57265"/>
              </a:buClr>
              <a:buChar char="•"/>
            </a:pPr>
            <a:r>
              <a:rPr sz="110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서울대 ORED 연구실 인턴 (2020.03~2021.02)</a:t>
            </a:r>
          </a:p>
          <a:p>
            <a:pPr marL="171450" indent="-171450">
              <a:spcAft>
                <a:spcPts val="400"/>
              </a:spcAft>
              <a:buClr>
                <a:srgbClr val="F57265"/>
              </a:buClr>
              <a:buChar char="•"/>
            </a:pPr>
            <a:r>
              <a:rPr sz="110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차의과학대 생리학교실 연구원 (2021.07~2022.12)</a:t>
            </a:r>
          </a:p>
          <a:p>
            <a:pPr marL="171450" indent="-171450">
              <a:spcAft>
                <a:spcPts val="400"/>
              </a:spcAft>
              <a:buClr>
                <a:srgbClr val="F57265"/>
              </a:buClr>
              <a:buChar char="•"/>
            </a:pPr>
            <a:r>
              <a:rPr sz="110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차의과학대 정형외과교실 의료데이터분석 연구원 (2024.03~현재)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7772400" y="2697480"/>
            <a:ext cx="3822191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8001000" y="2807208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역량 · 강점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001000" y="3154680"/>
            <a:ext cx="342900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171450" indent="-171450">
              <a:spcAft>
                <a:spcPts val="400"/>
              </a:spcAft>
              <a:buClr>
                <a:srgbClr val="F57265"/>
              </a:buClr>
              <a:buChar char="•"/>
            </a:pPr>
            <a:r>
              <a:rPr sz="110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기계공학 + 의학 — 하드웨어 설계와 인지 · 의료 검증을 한 사람이 연결</a:t>
            </a:r>
          </a:p>
          <a:p>
            <a:pPr marL="171450" indent="-171450">
              <a:spcAft>
                <a:spcPts val="400"/>
              </a:spcAft>
              <a:buClr>
                <a:srgbClr val="F57265"/>
              </a:buClr>
              <a:buChar char="•"/>
            </a:pPr>
            <a:r>
              <a:rPr sz="110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의학연구 참여 · IRB 심의 경험 → 실증 연구 설계와 윤리 절차를 직접 수행</a:t>
            </a:r>
          </a:p>
          <a:p>
            <a:pPr marL="171450" indent="-171450">
              <a:spcAft>
                <a:spcPts val="400"/>
              </a:spcAft>
              <a:buClr>
                <a:srgbClr val="F57265"/>
              </a:buClr>
              <a:buChar char="•"/>
            </a:pPr>
            <a:r>
              <a:rPr sz="110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의료데이터 분석 경험 → 리포트 지표(응답시간 · 반복오류) 설계</a:t>
            </a:r>
          </a:p>
          <a:p>
            <a:pPr marL="171450" indent="-171450">
              <a:spcAft>
                <a:spcPts val="400"/>
              </a:spcAft>
              <a:buClr>
                <a:srgbClr val="F57265"/>
              </a:buClr>
              <a:buChar char="•"/>
            </a:pPr>
            <a:r>
              <a:rPr sz="110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2025 국방 AI 경진대회 국방부장관상(1위) · K-Startup 2025 예비창업자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3749039" y="5230367"/>
            <a:ext cx="7845552" cy="987551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3977639" y="5285232"/>
            <a:ext cx="18288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>
                <a:solidFill>
                  <a:srgbClr val="C8410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수상 · 장학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977639" y="5513832"/>
            <a:ext cx="7406640" cy="67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2025 </a:t>
            </a:r>
            <a:r>
              <a:rPr sz="1000" dirty="0" err="1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국방</a:t>
            </a:r>
            <a:r>
              <a:rPr sz="10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 AI </a:t>
            </a:r>
            <a:r>
              <a:rPr sz="1000" dirty="0" err="1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경진대회</a:t>
            </a:r>
            <a:r>
              <a:rPr sz="10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 </a:t>
            </a:r>
            <a:r>
              <a:rPr sz="1000" dirty="0" err="1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국방부장관상</a:t>
            </a:r>
            <a:r>
              <a:rPr sz="10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(1위) · </a:t>
            </a:r>
            <a:r>
              <a:rPr sz="1000" dirty="0" err="1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육군사관학교</a:t>
            </a:r>
            <a:r>
              <a:rPr sz="10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 </a:t>
            </a:r>
            <a:r>
              <a:rPr sz="1000" dirty="0" err="1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학교장</a:t>
            </a:r>
            <a:r>
              <a:rPr sz="10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 </a:t>
            </a:r>
            <a:r>
              <a:rPr sz="1000" dirty="0" err="1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연구</a:t>
            </a:r>
            <a:r>
              <a:rPr sz="10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 </a:t>
            </a:r>
            <a:r>
              <a:rPr sz="1000" dirty="0" err="1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우수</a:t>
            </a:r>
            <a:r>
              <a:rPr sz="10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 </a:t>
            </a:r>
            <a:r>
              <a:rPr sz="1000" dirty="0" err="1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표창</a:t>
            </a:r>
            <a:r>
              <a:rPr sz="10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 · </a:t>
            </a:r>
            <a:r>
              <a:rPr sz="1000" dirty="0" err="1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글로벌</a:t>
            </a:r>
            <a:r>
              <a:rPr sz="10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 </a:t>
            </a:r>
            <a:r>
              <a:rPr sz="1000" dirty="0" err="1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피우다</a:t>
            </a:r>
            <a:r>
              <a:rPr sz="10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 </a:t>
            </a:r>
            <a:r>
              <a:rPr sz="1000" dirty="0" err="1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충청권</a:t>
            </a:r>
            <a:r>
              <a:rPr sz="10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 · </a:t>
            </a:r>
            <a:r>
              <a:rPr sz="1000" dirty="0" err="1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왕중왕전</a:t>
            </a:r>
            <a:r>
              <a:rPr sz="10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 </a:t>
            </a:r>
            <a:r>
              <a:rPr sz="1000" dirty="0" err="1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최우수상</a:t>
            </a:r>
            <a:r>
              <a:rPr sz="10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 · </a:t>
            </a:r>
            <a:r>
              <a:rPr sz="1000" dirty="0" err="1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국방기술</a:t>
            </a:r>
            <a:r>
              <a:rPr sz="10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 </a:t>
            </a:r>
            <a:r>
              <a:rPr sz="1000" dirty="0" err="1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창업경진대회</a:t>
            </a:r>
            <a:r>
              <a:rPr sz="10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 금 · 은 · </a:t>
            </a:r>
            <a:r>
              <a:rPr sz="1000" dirty="0" err="1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동상</a:t>
            </a:r>
            <a:r>
              <a:rPr sz="10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(</a:t>
            </a:r>
            <a:r>
              <a:rPr sz="1000" dirty="0" err="1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방위사업청장상</a:t>
            </a:r>
            <a:r>
              <a:rPr sz="10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) · </a:t>
            </a:r>
            <a:r>
              <a:rPr sz="1000" dirty="0" err="1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한화생명</a:t>
            </a:r>
            <a:r>
              <a:rPr sz="10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 WE CARE MEMORY+ </a:t>
            </a:r>
            <a:r>
              <a:rPr sz="1000" dirty="0" err="1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최우수상</a:t>
            </a:r>
            <a:r>
              <a:rPr sz="10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 · 2026 </a:t>
            </a:r>
            <a:r>
              <a:rPr sz="1000" dirty="0" err="1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문화예술</a:t>
            </a:r>
            <a:r>
              <a:rPr sz="10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 </a:t>
            </a:r>
            <a:r>
              <a:rPr sz="1000" dirty="0" err="1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아이디어</a:t>
            </a:r>
            <a:r>
              <a:rPr sz="10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 </a:t>
            </a:r>
            <a:r>
              <a:rPr sz="1000" dirty="0" err="1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공모전</a:t>
            </a:r>
            <a:r>
              <a:rPr sz="10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 </a:t>
            </a:r>
            <a:r>
              <a:rPr sz="1000" dirty="0" err="1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우수상</a:t>
            </a:r>
            <a:r>
              <a:rPr sz="10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 · </a:t>
            </a:r>
            <a:r>
              <a:rPr sz="1000" dirty="0" err="1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서울대</a:t>
            </a:r>
            <a:r>
              <a:rPr sz="10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 Dean's List 2회 · </a:t>
            </a:r>
            <a:r>
              <a:rPr sz="1000" dirty="0" err="1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이공계</a:t>
            </a:r>
            <a:r>
              <a:rPr sz="10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 </a:t>
            </a:r>
            <a:r>
              <a:rPr sz="1000" dirty="0" err="1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국가우수장학금</a:t>
            </a:r>
            <a:endParaRPr sz="1000" dirty="0">
              <a:solidFill>
                <a:srgbClr val="6C5D4C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  <a:cs typeface="나눔스퀘어라운드 Regular" panose="020B0600000101010101" pitchFamily="50" charset="-127"/>
            </a:endParaRPr>
          </a:p>
        </p:txBody>
      </p:sp>
      <p:sp>
        <p:nvSpPr>
          <p:cNvPr id="200" name="Rounded Rectangle 199"/>
          <p:cNvSpPr/>
          <p:nvPr/>
        </p:nvSpPr>
        <p:spPr>
          <a:xfrm>
            <a:off x="3749039" y="2370000"/>
            <a:ext cx="7845552" cy="240000"/>
          </a:xfrm>
          <a:prstGeom prst="roundRect">
            <a:avLst>
              <a:gd name="adj" fmla="val 5500"/>
            </a:avLst>
          </a:prstGeom>
          <a:solidFill>
            <a:srgbClr val="F5ECD8"/>
          </a:solidFill>
          <a:ln>
            <a:noFill/>
          </a:ln>
          <a:effectLst/>
        </p:spPr>
        <p:txBody>
          <a:bodyPr rtlCol="0" anchor="ctr"/>
          <a:lstStyle/>
          <a:p>
            <a:endParaRPr/>
          </a:p>
        </p:txBody>
      </p:sp>
      <p:sp>
        <p:nvSpPr>
          <p:cNvPr id="201" name="TextBox 200"/>
          <p:cNvSpPr txBox="1"/>
          <p:nvPr/>
        </p:nvSpPr>
        <p:spPr>
          <a:xfrm>
            <a:off x="3977639" y="2389972"/>
            <a:ext cx="1188720" cy="2000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130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연락처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5074920" y="2389972"/>
            <a:ext cx="6400800" cy="2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en-US" sz="1200" dirty="0">
                <a:solidFill>
                  <a:srgbClr val="6C5D4C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ljw980905@gmail.com  ·  010-6631-2011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9C8B77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APPENDIX A01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4180632" cy="4201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273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한일 노인 음성인식 기술 구현</a:t>
            </a:r>
            <a:endParaRPr lang="ko-KR" altLang="en-US" sz="2730" b="0" dirty="0">
              <a:solidFill>
                <a:srgbClr val="F57265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  <a:cs typeface="나눔스퀘어라운드 ExtraBold" panose="020B0600000101010101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5405326" cy="2431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1580" dirty="0">
                <a:solidFill>
                  <a:srgbClr val="6C5D4C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노인 음성인식이</a:t>
            </a:r>
            <a:r>
              <a:rPr lang="ko-KR" altLang="en-US" sz="1580" b="0" dirty="0">
                <a:solidFill>
                  <a:srgbClr val="6C5D4C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 어려움 </a:t>
            </a:r>
            <a:r>
              <a:rPr lang="ko-KR" altLang="en-US" sz="1580" dirty="0">
                <a:solidFill>
                  <a:srgbClr val="6C5D4C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→ 음성인식의 어려움을 기술적으로 해결</a:t>
            </a:r>
            <a:endParaRPr lang="ko-KR" altLang="en-US" sz="1580" b="0" dirty="0">
              <a:solidFill>
                <a:srgbClr val="6C5D4C"/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나눔스퀘어라운드 Bold" panose="020B0600000101010101" pitchFamily="50" charset="-127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94360" y="1737359"/>
            <a:ext cx="5541264" cy="4416171"/>
          </a:xfrm>
          <a:prstGeom prst="roundRect">
            <a:avLst>
              <a:gd name="adj" fmla="val 3024"/>
            </a:avLst>
          </a:prstGeom>
          <a:solidFill>
            <a:srgbClr val="FFFFFF"/>
          </a:solidFill>
          <a:ln w="12700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309360" y="880109"/>
            <a:ext cx="5288249" cy="2948713"/>
          </a:xfrm>
          <a:prstGeom prst="roundRect">
            <a:avLst>
              <a:gd name="adj" fmla="val 6690"/>
            </a:avLst>
          </a:prstGeom>
          <a:solidFill>
            <a:srgbClr val="FFFFFF"/>
          </a:solidFill>
          <a:ln w="12700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309360" y="3920264"/>
            <a:ext cx="5288249" cy="2228850"/>
          </a:xfrm>
          <a:prstGeom prst="roundRect">
            <a:avLst>
              <a:gd name="adj" fmla="val 6831"/>
            </a:avLst>
          </a:prstGeom>
          <a:solidFill>
            <a:srgbClr val="FFFFFF"/>
          </a:solidFill>
          <a:ln w="12700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2500685" cy="2800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182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① </a:t>
            </a:r>
            <a:r>
              <a:rPr lang="ko-KR" altLang="en-US" sz="182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노인 음성인식의</a:t>
            </a:r>
            <a:r>
              <a:rPr lang="ko-KR" altLang="en-US" sz="182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 어려움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179320"/>
            <a:ext cx="5222584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집 안 소음 · 겹쳐 말하기 · 멀리서 말하기 · 느린 말속도와 긴 쉼</a:t>
            </a:r>
          </a:p>
        </p:txBody>
      </p:sp>
      <p:pic>
        <p:nvPicPr>
          <p:cNvPr id="10" name="Picture 9" descr="ap_stt_realenv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881" y="2517702"/>
            <a:ext cx="4718896" cy="3539172"/>
          </a:xfrm>
          <a:prstGeom prst="rect">
            <a:avLst/>
          </a:prstGeom>
          <a:effectLst/>
        </p:spPr>
      </p:pic>
      <p:sp>
        <p:nvSpPr>
          <p:cNvPr id="11" name="TextBox 10"/>
          <p:cNvSpPr txBox="1"/>
          <p:nvPr/>
        </p:nvSpPr>
        <p:spPr>
          <a:xfrm>
            <a:off x="6537960" y="971550"/>
            <a:ext cx="2518062" cy="2800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182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② </a:t>
            </a:r>
            <a:r>
              <a:rPr lang="it-IT" altLang="ko-KR" sz="182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Audio to Text </a:t>
            </a:r>
            <a:r>
              <a:rPr lang="en-US" altLang="ko-KR" sz="182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AI </a:t>
            </a:r>
            <a:r>
              <a:rPr lang="ko-KR" altLang="en-US" sz="182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모델</a:t>
            </a:r>
            <a:endParaRPr lang="ko-KR" altLang="en-US" sz="1820" b="0" dirty="0">
              <a:solidFill>
                <a:srgbClr val="2A2018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  <a:cs typeface="나눔스퀘어라운드 ExtraBold" panose="020B0600000101010101" pitchFamily="50" charset="-127"/>
            </a:endParaRPr>
          </a:p>
        </p:txBody>
      </p:sp>
      <p:pic>
        <p:nvPicPr>
          <p:cNvPr id="12" name="Picture 11" descr="ap_stt_system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8709" y="1282445"/>
            <a:ext cx="4403015" cy="2477835"/>
          </a:xfrm>
          <a:prstGeom prst="rect">
            <a:avLst/>
          </a:prstGeom>
          <a:effectLst/>
        </p:spPr>
      </p:pic>
      <p:sp>
        <p:nvSpPr>
          <p:cNvPr id="13" name="TextBox 12"/>
          <p:cNvSpPr txBox="1"/>
          <p:nvPr/>
        </p:nvSpPr>
        <p:spPr>
          <a:xfrm>
            <a:off x="6546922" y="4055427"/>
            <a:ext cx="4669548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③ 받아쓰기 100글자 중 틀린 글자 수로 엔진 선정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94360" y="6364224"/>
            <a:ext cx="335912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 err="1">
                <a:solidFill>
                  <a:srgbClr val="9C8B7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Haru by 보편교육연구소 · Appendix · 노인 음성 인식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08454" y="6364224"/>
            <a:ext cx="18915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altLang="ko-KR" sz="1200" b="0" dirty="0">
                <a:solidFill>
                  <a:srgbClr val="9C8B77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22</a:t>
            </a:r>
            <a:endParaRPr lang="ko-KR" altLang="en-US" sz="1200" b="0" dirty="0">
              <a:solidFill>
                <a:srgbClr val="9C8B77"/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나눔스퀘어라운드 Bold" panose="020B0600000101010101" pitchFamily="50" charset="-127"/>
            </a:endParaRPr>
          </a:p>
        </p:txBody>
      </p:sp>
      <p:pic>
        <p:nvPicPr>
          <p:cNvPr id="36" name="Picture 35" descr="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grpSp>
        <p:nvGrpSpPr>
          <p:cNvPr id="97" name="그룹 96">
            <a:extLst>
              <a:ext uri="{FF2B5EF4-FFF2-40B4-BE49-F238E27FC236}">
                <a16:creationId xmlns:a16="http://schemas.microsoft.com/office/drawing/2014/main" id="{2307D703-9D83-F0B4-7EFE-210D51BE5C07}"/>
              </a:ext>
            </a:extLst>
          </p:cNvPr>
          <p:cNvGrpSpPr/>
          <p:nvPr/>
        </p:nvGrpSpPr>
        <p:grpSpPr>
          <a:xfrm>
            <a:off x="7481146" y="4542544"/>
            <a:ext cx="2781300" cy="545339"/>
            <a:chOff x="7481146" y="4456972"/>
            <a:chExt cx="2781300" cy="545339"/>
          </a:xfrm>
        </p:grpSpPr>
        <p:grpSp>
          <p:nvGrpSpPr>
            <p:cNvPr id="94" name="그룹 93">
              <a:extLst>
                <a:ext uri="{FF2B5EF4-FFF2-40B4-BE49-F238E27FC236}">
                  <a16:creationId xmlns:a16="http://schemas.microsoft.com/office/drawing/2014/main" id="{A009ADBE-DABF-7A76-A6A8-615A5AC159BF}"/>
                </a:ext>
              </a:extLst>
            </p:cNvPr>
            <p:cNvGrpSpPr/>
            <p:nvPr/>
          </p:nvGrpSpPr>
          <p:grpSpPr>
            <a:xfrm>
              <a:off x="7481146" y="4456972"/>
              <a:ext cx="2781300" cy="545339"/>
              <a:chOff x="7481146" y="4456972"/>
              <a:chExt cx="2781300" cy="545339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AF58331F-2433-644F-6FFA-F2E886A9E95A}"/>
                  </a:ext>
                </a:extLst>
              </p:cNvPr>
              <p:cNvSpPr txBox="1"/>
              <p:nvPr/>
            </p:nvSpPr>
            <p:spPr>
              <a:xfrm>
                <a:off x="7481146" y="4456972"/>
                <a:ext cx="713337" cy="307777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/>
                <a:r>
                  <a:rPr sz="1000" b="1" dirty="0">
                    <a:solidFill>
                      <a:srgbClr val="2F2A24"/>
                    </a:solidFill>
                    <a:latin typeface="나눔스퀘어라운드 Bold" panose="020B0600000101010101" pitchFamily="50" charset="-127"/>
                    <a:ea typeface="나눔스퀘어라운드 Bold" panose="020B0600000101010101" pitchFamily="50" charset="-127"/>
                    <a:cs typeface="나눔스퀘어라운드 Bold" panose="020B0600000101010101" pitchFamily="50" charset="-127"/>
                  </a:rPr>
                  <a:t>Qwen3-ASR </a:t>
                </a:r>
                <a:endParaRPr lang="en-US" sz="1000" b="1" dirty="0">
                  <a:solidFill>
                    <a:srgbClr val="2F2A24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endParaRPr>
              </a:p>
              <a:p>
                <a:pPr algn="l"/>
                <a:r>
                  <a:rPr lang="en-US" sz="1000" b="1" dirty="0">
                    <a:solidFill>
                      <a:srgbClr val="2F2A24"/>
                    </a:solidFill>
                    <a:latin typeface="나눔스퀘어라운드 Bold" panose="020B0600000101010101" pitchFamily="50" charset="-127"/>
                    <a:ea typeface="나눔스퀘어라운드 Bold" panose="020B0600000101010101" pitchFamily="50" charset="-127"/>
                    <a:cs typeface="나눔스퀘어라운드 Bold" panose="020B0600000101010101" pitchFamily="50" charset="-127"/>
                  </a:rPr>
                  <a:t>(Our model)</a:t>
                </a:r>
                <a:endParaRPr sz="1000" b="1" dirty="0">
                  <a:solidFill>
                    <a:srgbClr val="2F2A24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endParaRP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373C3E3-729A-488B-BA97-E2AA6CA34B22}"/>
                  </a:ext>
                </a:extLst>
              </p:cNvPr>
              <p:cNvSpPr txBox="1"/>
              <p:nvPr/>
            </p:nvSpPr>
            <p:spPr>
              <a:xfrm>
                <a:off x="9622366" y="4461508"/>
                <a:ext cx="640080" cy="237744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r"/>
                <a:r>
                  <a:rPr sz="1150" b="1" dirty="0">
                    <a:solidFill>
                      <a:srgbClr val="F96653"/>
                    </a:solidFill>
                    <a:latin typeface="나눔스퀘어라운드 Bold" panose="020B0600000101010101" pitchFamily="50" charset="-127"/>
                    <a:ea typeface="나눔스퀘어라운드 Bold" panose="020B0600000101010101" pitchFamily="50" charset="-127"/>
                    <a:cs typeface="나눔스퀘어라운드 Bold" panose="020B0600000101010101" pitchFamily="50" charset="-127"/>
                  </a:rPr>
                  <a:t>2.96%</a:t>
                </a:r>
              </a:p>
            </p:txBody>
          </p:sp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93FBB6B0-0CD3-DB11-F554-A2A3F57F3BFC}"/>
                  </a:ext>
                </a:extLst>
              </p:cNvPr>
              <p:cNvSpPr txBox="1"/>
              <p:nvPr/>
            </p:nvSpPr>
            <p:spPr>
              <a:xfrm>
                <a:off x="7481146" y="4799093"/>
                <a:ext cx="931345" cy="153888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l"/>
                <a:r>
                  <a:rPr sz="1000" b="0" dirty="0">
                    <a:solidFill>
                      <a:srgbClr val="75604C"/>
                    </a:solidFill>
                    <a:latin typeface="나눔스퀘어라운드 Regular" panose="020B0600000101010101" pitchFamily="50" charset="-127"/>
                    <a:ea typeface="나눔스퀘어라운드 Regular" panose="020B0600000101010101" pitchFamily="50" charset="-127"/>
                    <a:cs typeface="나눔스퀘어라운드 Regular" panose="020B0600000101010101" pitchFamily="50" charset="-127"/>
                  </a:rPr>
                  <a:t>Whisper large-v3</a:t>
                </a:r>
              </a:p>
            </p:txBody>
          </p:sp>
          <p:sp>
            <p:nvSpPr>
              <p:cNvPr id="31" name="Rounded Rectangle 11">
                <a:extLst>
                  <a:ext uri="{FF2B5EF4-FFF2-40B4-BE49-F238E27FC236}">
                    <a16:creationId xmlns:a16="http://schemas.microsoft.com/office/drawing/2014/main" id="{BD48A56B-4CF6-23D8-1921-FB6CA1D37E67}"/>
                  </a:ext>
                </a:extLst>
              </p:cNvPr>
              <p:cNvSpPr/>
              <p:nvPr/>
            </p:nvSpPr>
            <p:spPr>
              <a:xfrm>
                <a:off x="8590618" y="4516372"/>
                <a:ext cx="1117262" cy="128016"/>
              </a:xfrm>
              <a:prstGeom prst="roundRect">
                <a:avLst/>
              </a:prstGeom>
              <a:solidFill>
                <a:srgbClr val="E5DDD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Rounded Rectangle 19">
                <a:extLst>
                  <a:ext uri="{FF2B5EF4-FFF2-40B4-BE49-F238E27FC236}">
                    <a16:creationId xmlns:a16="http://schemas.microsoft.com/office/drawing/2014/main" id="{4AC98143-1509-C171-AEB8-1E33C93CBCB8}"/>
                  </a:ext>
                </a:extLst>
              </p:cNvPr>
              <p:cNvSpPr/>
              <p:nvPr/>
            </p:nvSpPr>
            <p:spPr>
              <a:xfrm>
                <a:off x="8590618" y="4812029"/>
                <a:ext cx="1117262" cy="128016"/>
              </a:xfrm>
              <a:prstGeom prst="roundRect">
                <a:avLst/>
              </a:prstGeom>
              <a:solidFill>
                <a:srgbClr val="E5DDD0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Rounded Rectangle 20">
                <a:extLst>
                  <a:ext uri="{FF2B5EF4-FFF2-40B4-BE49-F238E27FC236}">
                    <a16:creationId xmlns:a16="http://schemas.microsoft.com/office/drawing/2014/main" id="{C590A8AC-7D60-C462-EA23-5AB3EA164EC2}"/>
                  </a:ext>
                </a:extLst>
              </p:cNvPr>
              <p:cNvSpPr/>
              <p:nvPr/>
            </p:nvSpPr>
            <p:spPr>
              <a:xfrm>
                <a:off x="8590618" y="4812029"/>
                <a:ext cx="794365" cy="128016"/>
              </a:xfrm>
              <a:prstGeom prst="roundRect">
                <a:avLst/>
              </a:prstGeom>
              <a:solidFill>
                <a:srgbClr val="A8967E"/>
              </a:solidFill>
              <a:ln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dirty="0"/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4FDA9E9-8139-72E6-17F3-B49122275D40}"/>
                  </a:ext>
                </a:extLst>
              </p:cNvPr>
              <p:cNvSpPr txBox="1"/>
              <p:nvPr/>
            </p:nvSpPr>
            <p:spPr>
              <a:xfrm>
                <a:off x="9622366" y="4764567"/>
                <a:ext cx="640080" cy="237744"/>
              </a:xfrm>
              <a:prstGeom prst="rect">
                <a:avLst/>
              </a:prstGeom>
              <a:noFill/>
            </p:spPr>
            <p:txBody>
              <a:bodyPr wrap="none" lIns="0" tIns="0" rIns="0" bIns="0" anchor="ctr">
                <a:spAutoFit/>
              </a:bodyPr>
              <a:lstStyle/>
              <a:p>
                <a:pPr algn="r"/>
                <a:r>
                  <a:rPr sz="1150" b="0" dirty="0">
                    <a:solidFill>
                      <a:srgbClr val="75604C"/>
                    </a:solidFill>
                    <a:latin typeface="나눔스퀘어라운드 Regular" panose="020B0600000101010101" pitchFamily="50" charset="-127"/>
                    <a:ea typeface="나눔스퀘어라운드 Regular" panose="020B0600000101010101" pitchFamily="50" charset="-127"/>
                    <a:cs typeface="나눔스퀘어라운드 Regular" panose="020B0600000101010101" pitchFamily="50" charset="-127"/>
                  </a:rPr>
                  <a:t>3.01%</a:t>
                </a:r>
              </a:p>
            </p:txBody>
          </p:sp>
        </p:grpSp>
        <p:sp>
          <p:nvSpPr>
            <p:cNvPr id="37" name="Rounded Rectangle 12">
              <a:extLst>
                <a:ext uri="{FF2B5EF4-FFF2-40B4-BE49-F238E27FC236}">
                  <a16:creationId xmlns:a16="http://schemas.microsoft.com/office/drawing/2014/main" id="{30DA6F42-5EBC-1999-A86C-469FEC28CC3C}"/>
                </a:ext>
              </a:extLst>
            </p:cNvPr>
            <p:cNvSpPr/>
            <p:nvPr/>
          </p:nvSpPr>
          <p:spPr>
            <a:xfrm>
              <a:off x="8590618" y="4516372"/>
              <a:ext cx="737215" cy="128016"/>
            </a:xfrm>
            <a:prstGeom prst="roundRect">
              <a:avLst/>
            </a:prstGeom>
            <a:solidFill>
              <a:srgbClr val="F9665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4C2289B5-F417-7C4C-6319-4F8BFF229D63}"/>
              </a:ext>
            </a:extLst>
          </p:cNvPr>
          <p:cNvGrpSpPr/>
          <p:nvPr/>
        </p:nvGrpSpPr>
        <p:grpSpPr>
          <a:xfrm>
            <a:off x="7481146" y="5429680"/>
            <a:ext cx="2781300" cy="510732"/>
            <a:chOff x="7481146" y="5290752"/>
            <a:chExt cx="2781300" cy="510732"/>
          </a:xfrm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5D01A44-5697-2253-B20A-5A572C4E479C}"/>
                </a:ext>
              </a:extLst>
            </p:cNvPr>
            <p:cNvSpPr txBox="1"/>
            <p:nvPr/>
          </p:nvSpPr>
          <p:spPr>
            <a:xfrm>
              <a:off x="7481146" y="5290752"/>
              <a:ext cx="713337" cy="307777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1000" b="1" dirty="0">
                  <a:solidFill>
                    <a:srgbClr val="2F2A24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Qwen3-ASR </a:t>
              </a:r>
              <a:endParaRPr lang="en-US" sz="1000" b="1" dirty="0">
                <a:solidFill>
                  <a:srgbClr val="2F2A24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endParaRPr>
            </a:p>
            <a:p>
              <a:pPr algn="l"/>
              <a:r>
                <a:rPr lang="en-US" sz="1000" b="1" dirty="0">
                  <a:solidFill>
                    <a:srgbClr val="2F2A24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(Our model)</a:t>
              </a:r>
              <a:endParaRPr sz="1000" b="1" dirty="0">
                <a:solidFill>
                  <a:srgbClr val="2F2A24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endParaRP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D716BC24-1A2B-973C-013F-518996E15E75}"/>
                </a:ext>
              </a:extLst>
            </p:cNvPr>
            <p:cNvSpPr txBox="1"/>
            <p:nvPr/>
          </p:nvSpPr>
          <p:spPr>
            <a:xfrm>
              <a:off x="9858489" y="5325674"/>
              <a:ext cx="403957" cy="1769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lang="en-US" altLang="ko-KR" sz="1150" b="1" dirty="0">
                  <a:solidFill>
                    <a:srgbClr val="F96653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5.28%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080DB74A-3F7A-BB38-7231-D7079A88909E}"/>
                </a:ext>
              </a:extLst>
            </p:cNvPr>
            <p:cNvSpPr txBox="1"/>
            <p:nvPr/>
          </p:nvSpPr>
          <p:spPr>
            <a:xfrm>
              <a:off x="7481146" y="5632873"/>
              <a:ext cx="931345" cy="153888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1000" b="0" dirty="0">
                  <a:solidFill>
                    <a:srgbClr val="75604C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나눔스퀘어라운드 Regular" panose="020B0600000101010101" pitchFamily="50" charset="-127"/>
                </a:rPr>
                <a:t>Whisper large-v3</a:t>
              </a:r>
            </a:p>
          </p:txBody>
        </p:sp>
        <p:sp>
          <p:nvSpPr>
            <p:cNvPr id="68" name="Rounded Rectangle 11">
              <a:extLst>
                <a:ext uri="{FF2B5EF4-FFF2-40B4-BE49-F238E27FC236}">
                  <a16:creationId xmlns:a16="http://schemas.microsoft.com/office/drawing/2014/main" id="{DC4B9890-FF11-57C1-F832-06A7A1AF5ED4}"/>
                </a:ext>
              </a:extLst>
            </p:cNvPr>
            <p:cNvSpPr/>
            <p:nvPr/>
          </p:nvSpPr>
          <p:spPr>
            <a:xfrm>
              <a:off x="8590618" y="5350152"/>
              <a:ext cx="1117262" cy="128016"/>
            </a:xfrm>
            <a:prstGeom prst="roundRect">
              <a:avLst/>
            </a:prstGeom>
            <a:solidFill>
              <a:srgbClr val="E5DDD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0" name="Rounded Rectangle 12">
              <a:extLst>
                <a:ext uri="{FF2B5EF4-FFF2-40B4-BE49-F238E27FC236}">
                  <a16:creationId xmlns:a16="http://schemas.microsoft.com/office/drawing/2014/main" id="{16719FBE-B60A-D221-DA3E-CB09053B9012}"/>
                </a:ext>
              </a:extLst>
            </p:cNvPr>
            <p:cNvSpPr/>
            <p:nvPr/>
          </p:nvSpPr>
          <p:spPr>
            <a:xfrm>
              <a:off x="8590618" y="5350152"/>
              <a:ext cx="935048" cy="128016"/>
            </a:xfrm>
            <a:prstGeom prst="roundRect">
              <a:avLst/>
            </a:prstGeom>
            <a:solidFill>
              <a:srgbClr val="F9665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2" name="Rounded Rectangle 19">
              <a:extLst>
                <a:ext uri="{FF2B5EF4-FFF2-40B4-BE49-F238E27FC236}">
                  <a16:creationId xmlns:a16="http://schemas.microsoft.com/office/drawing/2014/main" id="{EA962459-5EE7-26B4-C50B-14E538CCB3E8}"/>
                </a:ext>
              </a:extLst>
            </p:cNvPr>
            <p:cNvSpPr/>
            <p:nvPr/>
          </p:nvSpPr>
          <p:spPr>
            <a:xfrm>
              <a:off x="8590618" y="5645809"/>
              <a:ext cx="1117262" cy="128016"/>
            </a:xfrm>
            <a:prstGeom prst="roundRect">
              <a:avLst/>
            </a:prstGeom>
            <a:solidFill>
              <a:srgbClr val="E5DDD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4" name="Rounded Rectangle 20">
              <a:extLst>
                <a:ext uri="{FF2B5EF4-FFF2-40B4-BE49-F238E27FC236}">
                  <a16:creationId xmlns:a16="http://schemas.microsoft.com/office/drawing/2014/main" id="{B6F5935F-D76E-4405-A213-4CBAF4EFFEBE}"/>
                </a:ext>
              </a:extLst>
            </p:cNvPr>
            <p:cNvSpPr/>
            <p:nvPr/>
          </p:nvSpPr>
          <p:spPr>
            <a:xfrm>
              <a:off x="8590618" y="5645809"/>
              <a:ext cx="1011057" cy="128016"/>
            </a:xfrm>
            <a:prstGeom prst="roundRect">
              <a:avLst/>
            </a:prstGeom>
            <a:solidFill>
              <a:srgbClr val="A8967E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E22C103E-9056-B8E0-AAAF-152C0BE8E530}"/>
                </a:ext>
              </a:extLst>
            </p:cNvPr>
            <p:cNvSpPr txBox="1"/>
            <p:nvPr/>
          </p:nvSpPr>
          <p:spPr>
            <a:xfrm>
              <a:off x="9863298" y="5624512"/>
              <a:ext cx="399148" cy="176972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r"/>
              <a:r>
                <a:rPr lang="en-US" altLang="ko-KR" sz="1150" dirty="0">
                  <a:solidFill>
                    <a:srgbClr val="75604C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나눔스퀘어라운드 Regular" panose="020B0600000101010101" pitchFamily="50" charset="-127"/>
                </a:rPr>
                <a:t>5.56%</a:t>
              </a:r>
            </a:p>
          </p:txBody>
        </p:sp>
      </p:grp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E9D9A9D6-47AB-B548-78B7-79EA72709064}"/>
              </a:ext>
            </a:extLst>
          </p:cNvPr>
          <p:cNvGrpSpPr/>
          <p:nvPr/>
        </p:nvGrpSpPr>
        <p:grpSpPr>
          <a:xfrm>
            <a:off x="6431221" y="4610615"/>
            <a:ext cx="811119" cy="416891"/>
            <a:chOff x="6431221" y="4538415"/>
            <a:chExt cx="811119" cy="416891"/>
          </a:xfrm>
        </p:grpSpPr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E22401F-2594-7DC6-4881-7047D6F79118}"/>
                </a:ext>
              </a:extLst>
            </p:cNvPr>
            <p:cNvSpPr txBox="1"/>
            <p:nvPr/>
          </p:nvSpPr>
          <p:spPr>
            <a:xfrm>
              <a:off x="6479284" y="4538415"/>
              <a:ext cx="714993" cy="246221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1600" b="1" dirty="0" err="1">
                  <a:solidFill>
                    <a:srgbClr val="2F2A24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한국어</a:t>
              </a:r>
              <a:endParaRPr sz="1600" b="1" dirty="0">
                <a:solidFill>
                  <a:srgbClr val="2F2A24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0F008FB7-83F0-5F80-2F7B-C91233A6D35E}"/>
                </a:ext>
              </a:extLst>
            </p:cNvPr>
            <p:cNvSpPr txBox="1"/>
            <p:nvPr/>
          </p:nvSpPr>
          <p:spPr>
            <a:xfrm>
              <a:off x="6431221" y="4801418"/>
              <a:ext cx="811119" cy="153888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1000" b="0" dirty="0">
                  <a:solidFill>
                    <a:srgbClr val="A3917C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나눔스퀘어라운드 Regular" panose="020B0600000101010101" pitchFamily="50" charset="-127"/>
                </a:rPr>
                <a:t>FLEURS  |  CER</a:t>
              </a:r>
            </a:p>
          </p:txBody>
        </p:sp>
      </p:grp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B471C316-77DE-0331-7E0E-2460E687C234}"/>
              </a:ext>
            </a:extLst>
          </p:cNvPr>
          <p:cNvGrpSpPr/>
          <p:nvPr/>
        </p:nvGrpSpPr>
        <p:grpSpPr>
          <a:xfrm>
            <a:off x="6431221" y="5480448"/>
            <a:ext cx="811119" cy="416891"/>
            <a:chOff x="6431221" y="5393159"/>
            <a:chExt cx="811119" cy="416891"/>
          </a:xfrm>
        </p:grpSpPr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E0CF03F4-83E5-28A2-82E9-A826C7D4AD23}"/>
                </a:ext>
              </a:extLst>
            </p:cNvPr>
            <p:cNvSpPr txBox="1"/>
            <p:nvPr/>
          </p:nvSpPr>
          <p:spPr>
            <a:xfrm>
              <a:off x="6479284" y="5393159"/>
              <a:ext cx="714993" cy="246221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lang="ko-KR" altLang="en-US" sz="1600" b="1" dirty="0">
                  <a:solidFill>
                    <a:srgbClr val="2F2A24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일본어</a:t>
              </a:r>
              <a:endParaRPr sz="1600" b="1" dirty="0">
                <a:solidFill>
                  <a:srgbClr val="2F2A24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endParaRP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55C9B8B7-D1D1-C4A9-6A7C-70E061B53B6D}"/>
                </a:ext>
              </a:extLst>
            </p:cNvPr>
            <p:cNvSpPr txBox="1"/>
            <p:nvPr/>
          </p:nvSpPr>
          <p:spPr>
            <a:xfrm>
              <a:off x="6431221" y="5656162"/>
              <a:ext cx="811119" cy="153888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1000" b="0" dirty="0">
                  <a:solidFill>
                    <a:srgbClr val="A3917C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나눔스퀘어라운드 Regular" panose="020B0600000101010101" pitchFamily="50" charset="-127"/>
                </a:rPr>
                <a:t>FLEURS  |  CER</a:t>
              </a:r>
            </a:p>
          </p:txBody>
        </p:sp>
      </p:grp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9A8D1F0C-8436-5A96-8D6D-E7DF75B639DF}"/>
              </a:ext>
            </a:extLst>
          </p:cNvPr>
          <p:cNvGrpSpPr/>
          <p:nvPr/>
        </p:nvGrpSpPr>
        <p:grpSpPr>
          <a:xfrm>
            <a:off x="10509198" y="5400935"/>
            <a:ext cx="934551" cy="577336"/>
            <a:chOff x="10509198" y="5404438"/>
            <a:chExt cx="934551" cy="577336"/>
          </a:xfrm>
        </p:grpSpPr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F9DABE57-DAAF-5ED9-8C49-BD550A788736}"/>
                </a:ext>
              </a:extLst>
            </p:cNvPr>
            <p:cNvSpPr txBox="1"/>
            <p:nvPr/>
          </p:nvSpPr>
          <p:spPr>
            <a:xfrm>
              <a:off x="10545265" y="5404438"/>
              <a:ext cx="862416" cy="276999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b="1" dirty="0">
                  <a:solidFill>
                    <a:srgbClr val="D2491B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약 </a:t>
              </a:r>
              <a:r>
                <a:rPr lang="en-US" b="1" dirty="0">
                  <a:solidFill>
                    <a:srgbClr val="D2491B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5</a:t>
              </a:r>
              <a:r>
                <a:rPr b="1" dirty="0">
                  <a:solidFill>
                    <a:srgbClr val="D2491B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글자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8840A5E9-18DF-5EF7-53AC-AF60A603B0C5}"/>
                </a:ext>
              </a:extLst>
            </p:cNvPr>
            <p:cNvSpPr txBox="1"/>
            <p:nvPr/>
          </p:nvSpPr>
          <p:spPr>
            <a:xfrm>
              <a:off x="10509198" y="5704775"/>
              <a:ext cx="934551" cy="276999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900" b="1" dirty="0">
                  <a:solidFill>
                    <a:srgbClr val="75604C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100글자 </a:t>
              </a:r>
              <a:r>
                <a:rPr sz="900" b="1" dirty="0" err="1">
                  <a:solidFill>
                    <a:srgbClr val="75604C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받아쓰면</a:t>
              </a:r>
              <a:r>
                <a:rPr sz="900" b="1" dirty="0">
                  <a:solidFill>
                    <a:srgbClr val="75604C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,
</a:t>
              </a:r>
              <a:r>
                <a:rPr lang="en-US" sz="900" b="1" dirty="0">
                  <a:solidFill>
                    <a:srgbClr val="75604C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5</a:t>
              </a:r>
              <a:r>
                <a:rPr sz="900" b="1" dirty="0">
                  <a:solidFill>
                    <a:srgbClr val="75604C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글자에서 </a:t>
              </a:r>
              <a:r>
                <a:rPr sz="900" b="1" dirty="0" err="1">
                  <a:solidFill>
                    <a:srgbClr val="75604C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오류</a:t>
              </a:r>
              <a:endParaRPr sz="900" b="1" dirty="0">
                <a:solidFill>
                  <a:srgbClr val="75604C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endParaRPr>
            </a:p>
          </p:txBody>
        </p:sp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4F4282A1-9F59-FD97-59EE-F291B921294D}"/>
              </a:ext>
            </a:extLst>
          </p:cNvPr>
          <p:cNvGrpSpPr/>
          <p:nvPr/>
        </p:nvGrpSpPr>
        <p:grpSpPr>
          <a:xfrm>
            <a:off x="10509198" y="4539041"/>
            <a:ext cx="934551" cy="561459"/>
            <a:chOff x="10509198" y="4447014"/>
            <a:chExt cx="934551" cy="561459"/>
          </a:xfrm>
        </p:grpSpPr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73EC7ED9-4340-2D77-59D1-B9DEBDC896F2}"/>
                </a:ext>
              </a:extLst>
            </p:cNvPr>
            <p:cNvSpPr txBox="1"/>
            <p:nvPr/>
          </p:nvSpPr>
          <p:spPr>
            <a:xfrm>
              <a:off x="10545265" y="4447014"/>
              <a:ext cx="862416" cy="276999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b="1" dirty="0">
                  <a:solidFill>
                    <a:srgbClr val="D2491B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약 3글자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5F0529B2-C31B-0F1C-999C-274891A37317}"/>
                </a:ext>
              </a:extLst>
            </p:cNvPr>
            <p:cNvSpPr txBox="1"/>
            <p:nvPr/>
          </p:nvSpPr>
          <p:spPr>
            <a:xfrm>
              <a:off x="10509198" y="4731474"/>
              <a:ext cx="934551" cy="276999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sz="900" b="1" dirty="0">
                  <a:solidFill>
                    <a:srgbClr val="75604C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100글자 </a:t>
              </a:r>
              <a:r>
                <a:rPr sz="900" b="1" dirty="0" err="1">
                  <a:solidFill>
                    <a:srgbClr val="75604C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받아쓰면</a:t>
              </a:r>
              <a:r>
                <a:rPr sz="900" b="1" dirty="0">
                  <a:solidFill>
                    <a:srgbClr val="75604C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,
3글자에서 </a:t>
              </a:r>
              <a:r>
                <a:rPr sz="900" b="1" dirty="0" err="1">
                  <a:solidFill>
                    <a:srgbClr val="75604C"/>
                  </a:solidFill>
                  <a:latin typeface="나눔스퀘어라운드 Bold" panose="020B0600000101010101" pitchFamily="50" charset="-127"/>
                  <a:ea typeface="나눔스퀘어라운드 Bold" panose="020B0600000101010101" pitchFamily="50" charset="-127"/>
                  <a:cs typeface="나눔스퀘어라운드 Bold" panose="020B0600000101010101" pitchFamily="50" charset="-127"/>
                </a:rPr>
                <a:t>오류</a:t>
              </a:r>
              <a:endParaRPr sz="900" b="1" dirty="0">
                <a:solidFill>
                  <a:srgbClr val="75604C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endParaRPr>
            </a:p>
          </p:txBody>
        </p:sp>
      </p:grp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50C21671-4588-7A93-2E79-E8BFB41587D1}"/>
              </a:ext>
            </a:extLst>
          </p:cNvPr>
          <p:cNvCxnSpPr/>
          <p:nvPr/>
        </p:nvCxnSpPr>
        <p:spPr>
          <a:xfrm>
            <a:off x="6479284" y="5257800"/>
            <a:ext cx="4928397" cy="0"/>
          </a:xfrm>
          <a:prstGeom prst="line">
            <a:avLst/>
          </a:prstGeom>
          <a:ln>
            <a:solidFill>
              <a:srgbClr val="E0D4C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이등변 삼각형 101">
            <a:extLst>
              <a:ext uri="{FF2B5EF4-FFF2-40B4-BE49-F238E27FC236}">
                <a16:creationId xmlns:a16="http://schemas.microsoft.com/office/drawing/2014/main" id="{EBA63E21-E1AE-AC0D-F435-D509E2100F5D}"/>
              </a:ext>
            </a:extLst>
          </p:cNvPr>
          <p:cNvSpPr/>
          <p:nvPr/>
        </p:nvSpPr>
        <p:spPr>
          <a:xfrm rot="5400000">
            <a:off x="7247886" y="5632966"/>
            <a:ext cx="177283" cy="78488"/>
          </a:xfrm>
          <a:prstGeom prst="triangle">
            <a:avLst/>
          </a:prstGeom>
          <a:solidFill>
            <a:srgbClr val="A89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4" name="이등변 삼각형 103">
            <a:extLst>
              <a:ext uri="{FF2B5EF4-FFF2-40B4-BE49-F238E27FC236}">
                <a16:creationId xmlns:a16="http://schemas.microsoft.com/office/drawing/2014/main" id="{64FD8427-57BE-6CAC-F890-E9A86F3D7B0A}"/>
              </a:ext>
            </a:extLst>
          </p:cNvPr>
          <p:cNvSpPr/>
          <p:nvPr/>
        </p:nvSpPr>
        <p:spPr>
          <a:xfrm rot="5400000">
            <a:off x="7247886" y="4741653"/>
            <a:ext cx="177283" cy="78488"/>
          </a:xfrm>
          <a:prstGeom prst="triangle">
            <a:avLst/>
          </a:prstGeom>
          <a:solidFill>
            <a:srgbClr val="A89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9C8B77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APPENDIX A02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11003249" cy="5200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730" b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AI 개인화가 </a:t>
            </a:r>
            <a:r>
              <a:rPr lang="ko-KR" altLang="en-US" sz="2730" b="0">
                <a:solidFill>
                  <a:srgbClr val="F57265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만들어지는 순서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7168629" cy="2431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 dirty="0">
                <a:solidFill>
                  <a:srgbClr val="6C5D4C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과거에 말한 개인의 이야기를 저장하고, 새 문항을 만들 때 관련 기억을 찾아 근거로 사용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2350008" cy="3865942"/>
          </a:xfrm>
          <a:prstGeom prst="roundRect">
            <a:avLst>
              <a:gd name="adj" fmla="val 16667"/>
            </a:avLst>
          </a:prstGeom>
          <a:solidFill>
            <a:srgbClr val="FFFCF6"/>
          </a:solidFill>
          <a:ln w="12700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58952" y="1883664"/>
            <a:ext cx="1218282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① 이야기 기록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217" y="2184961"/>
            <a:ext cx="2020824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문항에서 나온 개인 이야기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01568" y="1737360"/>
            <a:ext cx="2350008" cy="3865942"/>
          </a:xfrm>
          <a:prstGeom prst="roundRect">
            <a:avLst>
              <a:gd name="adj" fmla="val 16667"/>
            </a:avLst>
          </a:prstGeom>
          <a:solidFill>
            <a:srgbClr val="FFFCF6"/>
          </a:solidFill>
          <a:ln w="12700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566160" y="1883664"/>
            <a:ext cx="1455527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② 개인 기억 저장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425" y="2184961"/>
            <a:ext cx="2020824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날짜와 함께 쌓이는 기억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1737360"/>
            <a:ext cx="2350008" cy="3865942"/>
          </a:xfrm>
          <a:prstGeom prst="roundRect">
            <a:avLst>
              <a:gd name="adj" fmla="val 16667"/>
            </a:avLst>
          </a:prstGeom>
          <a:solidFill>
            <a:srgbClr val="FFFCF6"/>
          </a:solidFill>
          <a:ln w="20320">
            <a:solidFill>
              <a:srgbClr val="F572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73368" y="1883664"/>
            <a:ext cx="1455527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③ 관련 기억 검색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8633" y="2184961"/>
            <a:ext cx="2020824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C8410E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RAG Retrieval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15984" y="1737360"/>
            <a:ext cx="2350008" cy="3865942"/>
          </a:xfrm>
          <a:prstGeom prst="roundRect">
            <a:avLst>
              <a:gd name="adj" fmla="val 16667"/>
            </a:avLst>
          </a:prstGeom>
          <a:solidFill>
            <a:srgbClr val="FFFCF6"/>
          </a:solidFill>
          <a:ln w="12700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80576" y="1883664"/>
            <a:ext cx="1269578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④ 새 문항 생성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25841" y="2184961"/>
            <a:ext cx="2020824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검색된 기억을 근거로</a:t>
            </a:r>
          </a:p>
        </p:txBody>
      </p:sp>
      <p:sp>
        <p:nvSpPr>
          <p:cNvPr id="17" name="Chevron 16"/>
          <p:cNvSpPr/>
          <p:nvPr/>
        </p:nvSpPr>
        <p:spPr>
          <a:xfrm>
            <a:off x="3090672" y="3502152"/>
            <a:ext cx="256032" cy="438912"/>
          </a:xfrm>
          <a:prstGeom prst="chevron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8" name="Chevron 17"/>
          <p:cNvSpPr/>
          <p:nvPr/>
        </p:nvSpPr>
        <p:spPr>
          <a:xfrm>
            <a:off x="5897880" y="3502152"/>
            <a:ext cx="256032" cy="438912"/>
          </a:xfrm>
          <a:prstGeom prst="chevron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9" name="Chevron 18"/>
          <p:cNvSpPr/>
          <p:nvPr/>
        </p:nvSpPr>
        <p:spPr>
          <a:xfrm>
            <a:off x="8705088" y="3502152"/>
            <a:ext cx="256032" cy="438912"/>
          </a:xfrm>
          <a:prstGeom prst="chevron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77240" y="2505456"/>
            <a:ext cx="1984248" cy="621792"/>
          </a:xfrm>
          <a:prstGeom prst="roundRect">
            <a:avLst>
              <a:gd name="adj" fmla="val 16667"/>
            </a:avLst>
          </a:prstGeom>
          <a:solidFill>
            <a:srgbClr val="FEE7E0"/>
          </a:solidFill>
          <a:ln w="12700">
            <a:solidFill>
              <a:srgbClr val="F572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5256" y="2560320"/>
            <a:ext cx="1728216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"어제 딸이랑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2798064"/>
            <a:ext cx="1728216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외식했어요"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273552"/>
            <a:ext cx="1984248" cy="621792"/>
          </a:xfrm>
          <a:prstGeom prst="roundRect">
            <a:avLst>
              <a:gd name="adj" fmla="val 16667"/>
            </a:avLst>
          </a:prstGeom>
          <a:solidFill>
            <a:srgbClr val="F3ECDE"/>
          </a:solidFill>
          <a:ln w="12700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5256" y="3328416"/>
            <a:ext cx="1728216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"손자가 이번 주말에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" y="3566160"/>
            <a:ext cx="1728216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온대요"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4041648"/>
            <a:ext cx="1984248" cy="621792"/>
          </a:xfrm>
          <a:prstGeom prst="roundRect">
            <a:avLst>
              <a:gd name="adj" fmla="val 16667"/>
            </a:avLst>
          </a:prstGeom>
          <a:solidFill>
            <a:srgbClr val="F3ECDE"/>
          </a:solidFill>
          <a:ln w="12700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05256" y="4096511"/>
            <a:ext cx="1728216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"요즘 공원 산책을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334255"/>
            <a:ext cx="1728216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자주 해요"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956048"/>
            <a:ext cx="19842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말한 내용을 그대로 남기고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175504"/>
            <a:ext cx="19842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개인 기억의 재료로 사용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822191" y="2724912"/>
            <a:ext cx="1508760" cy="438912"/>
          </a:xfrm>
          <a:prstGeom prst="roundRect">
            <a:avLst>
              <a:gd name="adj" fmla="val 16667"/>
            </a:avLst>
          </a:prstGeom>
          <a:solidFill>
            <a:srgbClr val="FFFCF6"/>
          </a:solidFill>
          <a:ln w="12700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3566160" y="2724912"/>
            <a:ext cx="2020824" cy="530352"/>
          </a:xfrm>
          <a:prstGeom prst="roundRect">
            <a:avLst>
              <a:gd name="adj" fmla="val 16667"/>
            </a:avLst>
          </a:prstGeom>
          <a:solidFill>
            <a:srgbClr val="FEE7E0"/>
          </a:solidFill>
          <a:ln w="12700">
            <a:solidFill>
              <a:srgbClr val="F572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75887" y="2770632"/>
            <a:ext cx="4572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8/12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42232" y="2752344"/>
            <a:ext cx="1389888" cy="2381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1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딸 · 외식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42232" y="2980944"/>
            <a:ext cx="138988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본인이 말한 기록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566160" y="3383280"/>
            <a:ext cx="2020824" cy="530352"/>
          </a:xfrm>
          <a:prstGeom prst="roundRect">
            <a:avLst>
              <a:gd name="adj" fmla="val 16667"/>
            </a:avLst>
          </a:prstGeom>
          <a:solidFill>
            <a:srgbClr val="FFFCF6"/>
          </a:solidFill>
          <a:ln w="12700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675887" y="3429000"/>
            <a:ext cx="4572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8/14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42232" y="3410712"/>
            <a:ext cx="1389888" cy="2381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10" b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손자 · 방문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42232" y="3639312"/>
            <a:ext cx="138988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본인이 말한 기록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566160" y="4041648"/>
            <a:ext cx="2020824" cy="530352"/>
          </a:xfrm>
          <a:prstGeom prst="roundRect">
            <a:avLst>
              <a:gd name="adj" fmla="val 16667"/>
            </a:avLst>
          </a:prstGeom>
          <a:solidFill>
            <a:srgbClr val="FFFCF6"/>
          </a:solidFill>
          <a:ln w="12700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675887" y="4087368"/>
            <a:ext cx="4572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8/15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42232" y="4069080"/>
            <a:ext cx="1389888" cy="2381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10" b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공원 · 산책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42232" y="4297680"/>
            <a:ext cx="138988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본인이 말한 기록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584448" y="4956048"/>
            <a:ext cx="19842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뜻이 비슷한 것끼리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584448" y="5175504"/>
            <a:ext cx="19842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찾을 수 있게 정리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391656" y="2496312"/>
            <a:ext cx="1984248" cy="475488"/>
          </a:xfrm>
          <a:prstGeom prst="roundRect">
            <a:avLst>
              <a:gd name="adj" fmla="val 16667"/>
            </a:avLst>
          </a:prstGeom>
          <a:solidFill>
            <a:srgbClr val="FEE7E0"/>
          </a:solidFill>
          <a:ln w="13970">
            <a:solidFill>
              <a:srgbClr val="F572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492240" y="2542032"/>
            <a:ext cx="17830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C8410E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새 문항 주제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92240" y="2706624"/>
            <a:ext cx="17830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“최근 가족과 있었던 일”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28232" y="3136392"/>
            <a:ext cx="1911095" cy="347472"/>
          </a:xfrm>
          <a:prstGeom prst="roundRect">
            <a:avLst>
              <a:gd name="adj" fmla="val 16667"/>
            </a:avLst>
          </a:prstGeom>
          <a:solidFill>
            <a:srgbClr val="EAF3E4"/>
          </a:solidFill>
          <a:ln w="12700">
            <a:solidFill>
              <a:srgbClr val="5E9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6519672" y="3218688"/>
            <a:ext cx="256032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5E9A6A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48272" y="3218688"/>
            <a:ext cx="12984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딸과 외식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28232" y="3575304"/>
            <a:ext cx="1911095" cy="347472"/>
          </a:xfrm>
          <a:prstGeom prst="roundRect">
            <a:avLst>
              <a:gd name="adj" fmla="val 16667"/>
            </a:avLst>
          </a:prstGeom>
          <a:solidFill>
            <a:srgbClr val="EAF3E4"/>
          </a:solidFill>
          <a:ln w="12700">
            <a:solidFill>
              <a:srgbClr val="5E9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519672" y="3657600"/>
            <a:ext cx="256032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5E9A6A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48272" y="3657600"/>
            <a:ext cx="12984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손자 방문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428232" y="4014216"/>
            <a:ext cx="1911095" cy="347472"/>
          </a:xfrm>
          <a:prstGeom prst="roundRect">
            <a:avLst>
              <a:gd name="adj" fmla="val 16667"/>
            </a:avLst>
          </a:prstGeom>
          <a:solidFill>
            <a:srgbClr val="FFFCF6"/>
          </a:solidFill>
          <a:ln w="12700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519672" y="4096512"/>
            <a:ext cx="256032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·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748272" y="4096512"/>
            <a:ext cx="12984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공원 산책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428232" y="4453128"/>
            <a:ext cx="1911095" cy="347472"/>
          </a:xfrm>
          <a:prstGeom prst="roundRect">
            <a:avLst>
              <a:gd name="adj" fmla="val 16667"/>
            </a:avLst>
          </a:prstGeom>
          <a:solidFill>
            <a:srgbClr val="FFFCF6"/>
          </a:solidFill>
          <a:ln w="12700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519672" y="4535424"/>
            <a:ext cx="256032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·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48272" y="4535424"/>
            <a:ext cx="12984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병원 방문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91656" y="4956048"/>
            <a:ext cx="19842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C8410E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지금 만들 문항과 뜻이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91656" y="5175504"/>
            <a:ext cx="19842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C8410E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가까운 기록만 골라 옵니다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198864" y="2578608"/>
            <a:ext cx="1984248" cy="1993392"/>
          </a:xfrm>
          <a:prstGeom prst="roundRect">
            <a:avLst>
              <a:gd name="adj" fmla="val 16667"/>
            </a:avLst>
          </a:prstGeom>
          <a:solidFill>
            <a:srgbClr val="FFF7F2"/>
          </a:solidFill>
          <a:ln w="17780">
            <a:solidFill>
              <a:srgbClr val="F572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345168" y="2761488"/>
            <a:ext cx="169164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C8410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Haru 개인화 문항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308592" y="3127248"/>
            <a:ext cx="1801368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“지난번에 따님과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308592" y="3383280"/>
            <a:ext cx="1801368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외식하셨다고 했는데,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308592" y="3639312"/>
            <a:ext cx="1801368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무엇을 드셨는지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308592" y="3895344"/>
            <a:ext cx="1801368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기억나시나요?”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198864" y="4956048"/>
            <a:ext cx="19842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골라 온 과거 기록을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98864" y="5175504"/>
            <a:ext cx="19842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질문을 만드는 근거로 사용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94360" y="5852160"/>
            <a:ext cx="11003249" cy="365760"/>
          </a:xfrm>
          <a:prstGeom prst="roundRect">
            <a:avLst>
              <a:gd name="adj" fmla="val 16667"/>
            </a:avLst>
          </a:prstGeom>
          <a:solidFill>
            <a:srgbClr val="FEE7E0"/>
          </a:solidFill>
          <a:ln w="12700">
            <a:solidFill>
              <a:srgbClr val="F572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31520" y="5934456"/>
            <a:ext cx="4754880" cy="2677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360" b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과거의 이야기  →  관련 기억 검색  →  근거 있는 다음 질문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577840" y="5943600"/>
            <a:ext cx="58704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42개 활동 중 18개가 개인화 문항 · 기기와 한 몸으로 잇는 작업은 진행 중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Haru by 보편교육연구소 · Appendix · AI 개인화의 작동 방식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1408454" y="6364224"/>
            <a:ext cx="18915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altLang="ko-KR" sz="1200" b="0" dirty="0">
                <a:solidFill>
                  <a:srgbClr val="9C8B77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23</a:t>
            </a:r>
            <a:endParaRPr lang="ko-KR" altLang="en-US" sz="1200" b="0" dirty="0">
              <a:solidFill>
                <a:srgbClr val="9C8B77"/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나눔스퀘어라운드 Bold" panose="020B0600000101010101" pitchFamily="50" charset="-127"/>
            </a:endParaRPr>
          </a:p>
        </p:txBody>
      </p:sp>
      <p:pic>
        <p:nvPicPr>
          <p:cNvPr id="79" name="Picture 78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sp>
        <p:nvSpPr>
          <p:cNvPr id="80" name="Rounded Rectangle 72">
            <a:extLst>
              <a:ext uri="{FF2B5EF4-FFF2-40B4-BE49-F238E27FC236}">
                <a16:creationId xmlns:a16="http://schemas.microsoft.com/office/drawing/2014/main" id="{51AD226D-5CC1-6EB8-7567-E08486F33A85}"/>
              </a:ext>
            </a:extLst>
          </p:cNvPr>
          <p:cNvSpPr/>
          <p:nvPr/>
        </p:nvSpPr>
        <p:spPr>
          <a:xfrm>
            <a:off x="603504" y="5852160"/>
            <a:ext cx="11003249" cy="365760"/>
          </a:xfrm>
          <a:prstGeom prst="roundRect">
            <a:avLst>
              <a:gd name="adj" fmla="val 16667"/>
            </a:avLst>
          </a:prstGeom>
          <a:solidFill>
            <a:srgbClr val="FEE7E0"/>
          </a:solidFill>
          <a:ln w="12700">
            <a:solidFill>
              <a:srgbClr val="F572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sz="200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F90A9DB-58C0-5CBE-D7F5-798CACDF54C0}"/>
              </a:ext>
            </a:extLst>
          </p:cNvPr>
          <p:cNvSpPr txBox="1"/>
          <p:nvPr/>
        </p:nvSpPr>
        <p:spPr>
          <a:xfrm>
            <a:off x="740664" y="5934456"/>
            <a:ext cx="4203074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과거의 이야기  →  관련 기억 검색  →  근거 있는 다음 질문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3A1765D-9C70-79BB-835E-94BC51290544}"/>
              </a:ext>
            </a:extLst>
          </p:cNvPr>
          <p:cNvSpPr txBox="1"/>
          <p:nvPr/>
        </p:nvSpPr>
        <p:spPr>
          <a:xfrm>
            <a:off x="6476901" y="5943600"/>
            <a:ext cx="4980531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ko-KR" altLang="en-US" sz="1400" b="0" dirty="0">
                <a:solidFill>
                  <a:srgbClr val="6C5D4C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42개 활동 중 18개가 개인화 문항 · 기기와 한 몸으로 잇는 작업 완료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9C8B77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APPENDIX A03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3366306" cy="4201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273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기존 치매검사와 </a:t>
            </a:r>
            <a:r>
              <a:rPr lang="ko-KR" altLang="en-US" sz="2730" b="0" dirty="0" err="1">
                <a:solidFill>
                  <a:srgbClr val="F57265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다른점</a:t>
            </a:r>
            <a:endParaRPr lang="ko-KR" altLang="en-US" sz="2730" b="0" dirty="0">
              <a:solidFill>
                <a:srgbClr val="F57265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  <a:cs typeface="나눔스퀘어라운드 ExtraBold" panose="020B0600000101010101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11003249" cy="3110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 dirty="0">
                <a:solidFill>
                  <a:srgbClr val="6C5D4C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MMSE · </a:t>
            </a:r>
            <a:r>
              <a:rPr lang="ko-KR" altLang="en-US" sz="1580" b="0" dirty="0" err="1">
                <a:solidFill>
                  <a:srgbClr val="6C5D4C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CIST가</a:t>
            </a:r>
            <a:r>
              <a:rPr lang="ko-KR" altLang="en-US" sz="1580" b="0" dirty="0">
                <a:solidFill>
                  <a:srgbClr val="6C5D4C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 다루는 인지 영역을 일상 문항으로 변형 · 판정은 전문 기관의 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92095"/>
            <a:ext cx="2013372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160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기존 치매검사 문항 응용</a:t>
            </a:r>
            <a:endParaRPr lang="ko-KR" altLang="en-US" sz="1600" b="0" dirty="0">
              <a:solidFill>
                <a:srgbClr val="2A2018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  <a:cs typeface="나눔스퀘어라운드 ExtraBold" panose="020B0600000101010101" pitchFamily="50" charset="-127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94360" y="1972259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2290576"/>
            <a:ext cx="4937760" cy="12700"/>
          </a:xfrm>
          <a:prstGeom prst="rect">
            <a:avLst/>
          </a:prstGeom>
          <a:solidFill>
            <a:srgbClr val="6C5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9224" y="2354584"/>
            <a:ext cx="1470355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인지 영역 · 문항 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29307" y="2354584"/>
            <a:ext cx="1272844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원래 검사 방식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354584"/>
            <a:ext cx="186537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Haru 활동 문항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2601472"/>
            <a:ext cx="4937760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9224" y="2702056"/>
            <a:ext cx="1470355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시간 지남력 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29307" y="2702056"/>
            <a:ext cx="1272844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날짜 묻기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1880" y="2702056"/>
            <a:ext cx="186537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5E9A6A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무슨 요일인지 고르기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2985520"/>
            <a:ext cx="4937760" cy="384048"/>
          </a:xfrm>
          <a:prstGeom prst="rect">
            <a:avLst/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9224" y="3086104"/>
            <a:ext cx="1470355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회상 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29307" y="3086104"/>
            <a:ext cx="1272844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단어 지연 회상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3086104"/>
            <a:ext cx="186537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5E9A6A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어제 외식 메뉴 말하기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" y="3470152"/>
            <a:ext cx="1470355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주의 · 계산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29307" y="3470152"/>
            <a:ext cx="1272844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연속 빼기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3470152"/>
            <a:ext cx="186537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5E9A6A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남은 사과 개수 고르기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3753616"/>
            <a:ext cx="4937760" cy="384048"/>
          </a:xfrm>
          <a:prstGeom prst="rect">
            <a:avLst/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" y="3854200"/>
            <a:ext cx="1470355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시공간 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29307" y="3854200"/>
            <a:ext cx="1272844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도형 그리기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1880" y="3854200"/>
            <a:ext cx="186537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5E9A6A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따라 그리기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" y="4238248"/>
            <a:ext cx="1470355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언어 이해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29307" y="4238248"/>
            <a:ext cx="1272844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뜻 풀이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11880" y="4238248"/>
            <a:ext cx="186537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5E9A6A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속담 뜻 고르기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4521712"/>
            <a:ext cx="4937760" cy="384048"/>
          </a:xfrm>
          <a:prstGeom prst="rect">
            <a:avLst/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9224" y="4622296"/>
            <a:ext cx="1470355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순서 기억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29307" y="4622296"/>
            <a:ext cx="1272844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숫자 따라 외우기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11880" y="4622296"/>
            <a:ext cx="186537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5E9A6A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순서대로 다시 누르기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4905760"/>
            <a:ext cx="4937760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94360" y="5189981"/>
            <a:ext cx="3598742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나머지 18개는 감정 · 개인 기억을 묻는 대화 문항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5572761"/>
            <a:ext cx="4719241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42개 중 28개가 채점되지만 노인 화면에는 점수가 나오지 않음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5000" y="1692095"/>
            <a:ext cx="1404231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160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제공하지 않는 것</a:t>
            </a:r>
            <a:endParaRPr lang="ko-KR" altLang="en-US" sz="1600" b="0" dirty="0">
              <a:solidFill>
                <a:srgbClr val="2A2018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  <a:cs typeface="나눔스퀘어라운드 ExtraBold" panose="020B0600000101010101" pitchFamily="50" charset="-127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715000" y="1972259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5724144" y="2167331"/>
            <a:ext cx="91440" cy="91440"/>
          </a:xfrm>
          <a:prstGeom prst="ellipse">
            <a:avLst/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934456" y="2118563"/>
            <a:ext cx="698909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치매 진단</a:t>
            </a:r>
          </a:p>
        </p:txBody>
      </p:sp>
      <p:sp>
        <p:nvSpPr>
          <p:cNvPr id="40" name="Oval 39"/>
          <p:cNvSpPr/>
          <p:nvPr/>
        </p:nvSpPr>
        <p:spPr>
          <a:xfrm>
            <a:off x="5724144" y="2423363"/>
            <a:ext cx="91440" cy="91440"/>
          </a:xfrm>
          <a:prstGeom prst="ellipse">
            <a:avLst/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934456" y="2374595"/>
            <a:ext cx="862416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위험도 판정</a:t>
            </a:r>
          </a:p>
        </p:txBody>
      </p:sp>
      <p:sp>
        <p:nvSpPr>
          <p:cNvPr id="42" name="Oval 41"/>
          <p:cNvSpPr/>
          <p:nvPr/>
        </p:nvSpPr>
        <p:spPr>
          <a:xfrm>
            <a:off x="5724144" y="2679395"/>
            <a:ext cx="91440" cy="91440"/>
          </a:xfrm>
          <a:prstGeom prst="ellipse">
            <a:avLst/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934456" y="2630627"/>
            <a:ext cx="698909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점수 통보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15000" y="3025122"/>
            <a:ext cx="1606209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C8410E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판정은 전문 기관의 몫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15000" y="3662667"/>
            <a:ext cx="981038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제공</a:t>
            </a:r>
            <a:r>
              <a:rPr lang="ko-KR" altLang="en-US" sz="160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하는 것</a:t>
            </a:r>
          </a:p>
        </p:txBody>
      </p:sp>
      <p:sp>
        <p:nvSpPr>
          <p:cNvPr id="48" name="Oval 47"/>
          <p:cNvSpPr/>
          <p:nvPr/>
        </p:nvSpPr>
        <p:spPr>
          <a:xfrm>
            <a:off x="5724144" y="4137903"/>
            <a:ext cx="91440" cy="91440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934456" y="4089135"/>
            <a:ext cx="2096728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매일의 변화를 관찰 기록으로</a:t>
            </a:r>
          </a:p>
        </p:txBody>
      </p:sp>
      <p:sp>
        <p:nvSpPr>
          <p:cNvPr id="50" name="Oval 49"/>
          <p:cNvSpPr/>
          <p:nvPr/>
        </p:nvSpPr>
        <p:spPr>
          <a:xfrm>
            <a:off x="5724144" y="4393935"/>
            <a:ext cx="91440" cy="91440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934456" y="4345167"/>
            <a:ext cx="1687963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전문가 · 상담사가 참고</a:t>
            </a:r>
          </a:p>
        </p:txBody>
      </p:sp>
      <p:sp>
        <p:nvSpPr>
          <p:cNvPr id="52" name="Oval 51"/>
          <p:cNvSpPr/>
          <p:nvPr/>
        </p:nvSpPr>
        <p:spPr>
          <a:xfrm>
            <a:off x="5724144" y="4649967"/>
            <a:ext cx="91440" cy="91440"/>
          </a:xfrm>
          <a:prstGeom prst="ellipse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934456" y="4601199"/>
            <a:ext cx="1561325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보호자가 안부로 확인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95360" y="1692095"/>
            <a:ext cx="2148024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160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보호자에게 제공되는 정보</a:t>
            </a:r>
            <a:endParaRPr lang="ko-KR" altLang="en-US" sz="1600" b="0" dirty="0">
              <a:solidFill>
                <a:srgbClr val="2A2018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  <a:cs typeface="나눔스퀘어라운드 ExtraBold" panose="020B0600000101010101" pitchFamily="50" charset="-127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8595360" y="1972259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8595360" y="2103120"/>
            <a:ext cx="2999232" cy="969264"/>
          </a:xfrm>
          <a:prstGeom prst="roundRect">
            <a:avLst>
              <a:gd name="adj" fmla="val 8000"/>
            </a:avLst>
          </a:prstGeom>
          <a:solidFill>
            <a:srgbClr val="F3EC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759952" y="2258113"/>
            <a:ext cx="26700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“최근 '따라 </a:t>
            </a:r>
            <a:r>
              <a:rPr lang="ko-KR" altLang="en-US" sz="1200" b="0" dirty="0" err="1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말하기'에서</a:t>
            </a:r>
            <a:endParaRPr lang="ko-KR" altLang="en-US" sz="1200" b="0" dirty="0">
              <a:solidFill>
                <a:srgbClr val="2A2018"/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나눔스퀘어라운드 Bold" panose="020B0600000101010101" pitchFamily="50" charset="-127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8759952" y="2477569"/>
            <a:ext cx="26700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잠시 망설이는 모습이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759952" y="2697025"/>
            <a:ext cx="26700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늘었어요”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95360" y="3145536"/>
            <a:ext cx="2999232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9C8B7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점수가 아니라 변화를 문장으로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95360" y="3401568"/>
            <a:ext cx="1750479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보호자 화면 </a:t>
            </a:r>
            <a:r>
              <a:rPr lang="ko-KR" altLang="en-US" sz="1200" b="0" dirty="0" err="1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아래쪽</a:t>
            </a:r>
            <a:r>
              <a:rPr lang="ko-KR" altLang="en-US" sz="1200" dirty="0" err="1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（예시</a:t>
            </a:r>
            <a:r>
              <a:rPr lang="ko-KR" altLang="en-US" sz="120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）</a:t>
            </a:r>
            <a:endParaRPr lang="ko-KR" altLang="en-US" sz="1200" b="0" dirty="0">
              <a:solidFill>
                <a:srgbClr val="2A2018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  <a:cs typeface="나눔스퀘어라운드 ExtraBold" panose="020B0600000101010101" pitchFamily="50" charset="-127"/>
            </a:endParaRPr>
          </a:p>
        </p:txBody>
      </p:sp>
      <p:pic>
        <p:nvPicPr>
          <p:cNvPr id="67" name="Picture 66" descr="sc_caregiver_refer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5360" y="3639312"/>
            <a:ext cx="2999232" cy="2070898"/>
          </a:xfrm>
          <a:prstGeom prst="rect">
            <a:avLst/>
          </a:prstGeom>
          <a:ln w="12700">
            <a:solidFill>
              <a:srgbClr val="C2B4A0"/>
            </a:solidFill>
          </a:ln>
          <a:effectLst/>
        </p:spPr>
      </p:pic>
      <p:sp>
        <p:nvSpPr>
          <p:cNvPr id="69" name="Rectangle 68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Haru by 보편교육연구소 · Appendix · 치매 검사와의 차이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408454" y="6364224"/>
            <a:ext cx="18915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altLang="ko-KR" sz="1200" b="0" dirty="0">
                <a:solidFill>
                  <a:srgbClr val="9C8B77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24</a:t>
            </a:r>
            <a:endParaRPr lang="ko-KR" altLang="en-US" sz="1200" b="0" dirty="0">
              <a:solidFill>
                <a:srgbClr val="9C8B77"/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나눔스퀘어라운드 Bold" panose="020B0600000101010101" pitchFamily="50" charset="-127"/>
            </a:endParaRPr>
          </a:p>
        </p:txBody>
      </p:sp>
      <p:pic>
        <p:nvPicPr>
          <p:cNvPr id="72" name="Picture 71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sp>
        <p:nvSpPr>
          <p:cNvPr id="75" name="Rectangle 36">
            <a:extLst>
              <a:ext uri="{FF2B5EF4-FFF2-40B4-BE49-F238E27FC236}">
                <a16:creationId xmlns:a16="http://schemas.microsoft.com/office/drawing/2014/main" id="{A2573875-9B6E-9306-B059-7EBD9AE3C37F}"/>
              </a:ext>
            </a:extLst>
          </p:cNvPr>
          <p:cNvSpPr/>
          <p:nvPr/>
        </p:nvSpPr>
        <p:spPr>
          <a:xfrm>
            <a:off x="5715000" y="3971566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9C8B77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APPENDIX A04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4597412" cy="4201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ko-KR" sz="273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Haru </a:t>
            </a:r>
            <a:r>
              <a:rPr lang="ko-KR" altLang="en-US" sz="273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키오스크</a:t>
            </a:r>
            <a:r>
              <a:rPr lang="ko-KR" altLang="en-US" sz="273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의 </a:t>
            </a:r>
            <a:r>
              <a:rPr lang="ko-KR" altLang="en-US" sz="2730" b="0" dirty="0">
                <a:solidFill>
                  <a:srgbClr val="F57265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구조적 </a:t>
            </a:r>
            <a:r>
              <a:rPr lang="ko-KR" altLang="en-US" sz="2730" b="0" dirty="0" err="1">
                <a:solidFill>
                  <a:srgbClr val="F57265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차별점</a:t>
            </a:r>
            <a:endParaRPr lang="ko-KR" altLang="en-US" sz="2730" b="0" dirty="0">
              <a:solidFill>
                <a:srgbClr val="F57265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  <a:cs typeface="나눔스퀘어라운드 ExtraBold" panose="020B0600000101010101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5634556" cy="2431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 dirty="0">
                <a:solidFill>
                  <a:srgbClr val="6C5D4C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화면 자리와 버튼 자리를 맞춘 구조 · </a:t>
            </a:r>
            <a:r>
              <a:rPr lang="ko-KR" altLang="en-US" sz="1580" dirty="0">
                <a:solidFill>
                  <a:srgbClr val="6C5D4C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키오스크</a:t>
            </a:r>
            <a:r>
              <a:rPr lang="ko-KR" altLang="en-US" sz="1580" b="0" dirty="0">
                <a:solidFill>
                  <a:srgbClr val="6C5D4C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까지 직접 설계 및 제작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83042"/>
            <a:ext cx="795089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실물 </a:t>
            </a:r>
            <a:r>
              <a:rPr lang="ko-KR" altLang="en-US" sz="1600" b="0" dirty="0" err="1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목업</a:t>
            </a:r>
            <a:endParaRPr lang="ko-KR" altLang="en-US" sz="1600" b="0" dirty="0">
              <a:solidFill>
                <a:srgbClr val="2A2018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  <a:cs typeface="나눔스퀘어라운드 ExtraBold" panose="020B0600000101010101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1975104"/>
            <a:ext cx="239572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화면 자리 = 버튼 자리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8266" y="5449823"/>
            <a:ext cx="239572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네 개 버튼이 화면 네 자리와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8266" y="5669279"/>
            <a:ext cx="239572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같은 배치로 놓여 있음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1701148"/>
            <a:ext cx="1269578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다른 점 세 가지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46120" y="1972259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246120" y="2118563"/>
            <a:ext cx="4160520" cy="11704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46120" y="2283155"/>
            <a:ext cx="50292" cy="841248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65576" y="2228291"/>
            <a:ext cx="3840480" cy="2559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300" b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버튼에 뜻을 새기지 않음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65576" y="2520899"/>
            <a:ext cx="38404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은행 기계는 '확인' '</a:t>
            </a:r>
            <a:r>
              <a:rPr lang="ko-KR" altLang="en-US" sz="1200" b="0" dirty="0" err="1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취소'처럼</a:t>
            </a:r>
            <a:r>
              <a:rPr lang="ko-KR" altLang="en-US" sz="120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 버튼마다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65576" y="2740355"/>
            <a:ext cx="38404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뜻이 정해져 있어 외워야 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65576" y="2959811"/>
            <a:ext cx="38404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 err="1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Haru는</a:t>
            </a:r>
            <a:r>
              <a:rPr lang="ko-KR" altLang="en-US" sz="120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 보이는 자리를 그대로 누름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46120" y="3398723"/>
            <a:ext cx="4160520" cy="11704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246120" y="3563315"/>
            <a:ext cx="50292" cy="841248"/>
          </a:xfrm>
          <a:prstGeom prst="rect">
            <a:avLst/>
          </a:prstGeom>
          <a:solidFill>
            <a:srgbClr val="F4A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465576" y="3508451"/>
            <a:ext cx="3840480" cy="2559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300" b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같은 버튼을 한 번 더 눌러야 확정됨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65576" y="3801059"/>
            <a:ext cx="38404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잘못 눌러도 다른 자리를 누르면 옮겨짐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65576" y="4020515"/>
            <a:ext cx="38404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'취소' · '뒤로가기'를 배울 필요가 없음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65576" y="4239971"/>
            <a:ext cx="38404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확정 전에는 언제든 되돌릴 수 있음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46120" y="4678883"/>
            <a:ext cx="4160520" cy="11704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246120" y="4843475"/>
            <a:ext cx="50292" cy="841248"/>
          </a:xfrm>
          <a:prstGeom prst="rect">
            <a:avLst/>
          </a:prstGeom>
          <a:solidFill>
            <a:srgbClr val="5E9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465576" y="4788611"/>
            <a:ext cx="3840480" cy="25590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300" b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말하기도 같은 네 버튼으로 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65576" y="5081219"/>
            <a:ext cx="38404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말하기 활동에서는 A가 '다시 듣기',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65576" y="5300675"/>
            <a:ext cx="38404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B가 '말하기 시작'이 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65576" y="5520131"/>
            <a:ext cx="384048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새로 배울 조작이 늘지 않음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99831" y="1701148"/>
            <a:ext cx="1641475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직접 그린 기구 설계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799831" y="1972259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99831" y="2118563"/>
            <a:ext cx="379476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가로 300 × 세로 398 × 높이 610 mm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99831" y="2338019"/>
            <a:ext cx="379476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버튼은 USB 키보드와 같은 방식으로 붙어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99831" y="2557475"/>
            <a:ext cx="379476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기성 부품만으로 조립 가능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99831" y="2889504"/>
            <a:ext cx="379476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직접 그린 조립 도면 · 시제품 기준</a:t>
            </a:r>
          </a:p>
        </p:txBody>
      </p:sp>
      <p:pic>
        <p:nvPicPr>
          <p:cNvPr id="36" name="Picture 35" descr="dz_di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9831" y="3145536"/>
            <a:ext cx="3794760" cy="2629226"/>
          </a:xfrm>
          <a:prstGeom prst="rect">
            <a:avLst/>
          </a:prstGeom>
          <a:ln w="12700">
            <a:solidFill>
              <a:srgbClr val="C2B4A0"/>
            </a:solidFill>
          </a:ln>
          <a:effectLst/>
        </p:spPr>
      </p:pic>
      <p:sp>
        <p:nvSpPr>
          <p:cNvPr id="37" name="TextBox 36"/>
          <p:cNvSpPr txBox="1"/>
          <p:nvPr/>
        </p:nvSpPr>
        <p:spPr>
          <a:xfrm>
            <a:off x="7799831" y="5847914"/>
            <a:ext cx="379476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양산 도면이 아니라 시제품 제작용 도면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Haru by 보편교육연구소 · Appendix · 버튼 구조의 차이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08454" y="6364224"/>
            <a:ext cx="18915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altLang="ko-KR" sz="1200" b="0" dirty="0">
                <a:solidFill>
                  <a:srgbClr val="9C8B77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25</a:t>
            </a:r>
            <a:endParaRPr lang="ko-KR" altLang="en-US" sz="1200" b="0" dirty="0">
              <a:solidFill>
                <a:srgbClr val="9C8B77"/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나눔스퀘어라운드 Bold" panose="020B0600000101010101" pitchFamily="50" charset="-127"/>
            </a:endParaRPr>
          </a:p>
        </p:txBody>
      </p:sp>
      <p:pic>
        <p:nvPicPr>
          <p:cNvPr id="41" name="Picture 40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F0E82DA0-CF45-9BAF-55C5-7414BF2479A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975" t="8994" r="4275"/>
          <a:stretch>
            <a:fillRect/>
          </a:stretch>
        </p:blipFill>
        <p:spPr>
          <a:xfrm>
            <a:off x="594360" y="2198929"/>
            <a:ext cx="2290401" cy="316717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9C8B77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APPENDIX A05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4855496" cy="4201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73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베타테스트 결과 </a:t>
            </a:r>
            <a:r>
              <a:rPr lang="en-US" altLang="ko-KR" sz="273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– </a:t>
            </a:r>
            <a:r>
              <a:rPr lang="ko-KR" altLang="en-US" sz="2730" b="0" dirty="0">
                <a:solidFill>
                  <a:srgbClr val="F57265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노인 </a:t>
            </a:r>
            <a:r>
              <a:rPr lang="en-US" altLang="ko-KR" sz="2730" b="0" dirty="0">
                <a:solidFill>
                  <a:srgbClr val="F57265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20</a:t>
            </a:r>
            <a:r>
              <a:rPr lang="ko-KR" altLang="en-US" sz="2730" b="0" dirty="0">
                <a:solidFill>
                  <a:srgbClr val="F57265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명 대상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2734723" cy="2431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 dirty="0">
                <a:solidFill>
                  <a:srgbClr val="6C5D4C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데모 버전으로 진행한 베타테스트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42981"/>
            <a:ext cx="1032334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실제로 한 일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2041251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9E66AE0D-11F6-A650-0F8D-709FA15DA444}"/>
              </a:ext>
            </a:extLst>
          </p:cNvPr>
          <p:cNvGrpSpPr/>
          <p:nvPr/>
        </p:nvGrpSpPr>
        <p:grpSpPr>
          <a:xfrm>
            <a:off x="603503" y="2278089"/>
            <a:ext cx="2127505" cy="215444"/>
            <a:chOff x="603503" y="2187555"/>
            <a:chExt cx="2127505" cy="215444"/>
          </a:xfrm>
        </p:grpSpPr>
        <p:sp>
          <p:nvSpPr>
            <p:cNvPr id="9" name="Oval 8"/>
            <p:cNvSpPr/>
            <p:nvPr/>
          </p:nvSpPr>
          <p:spPr>
            <a:xfrm>
              <a:off x="603503" y="2236323"/>
              <a:ext cx="91440" cy="91440"/>
            </a:xfrm>
            <a:prstGeom prst="ellipse">
              <a:avLst/>
            </a:prstGeom>
            <a:solidFill>
              <a:srgbClr val="F5726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200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13816" y="2187555"/>
              <a:ext cx="1917192" cy="215444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altLang="ko-KR" sz="1400" b="0" dirty="0">
                  <a:solidFill>
                    <a:srgbClr val="6C5D4C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나눔스퀘어라운드 Regular" panose="020B0600000101010101" pitchFamily="50" charset="-127"/>
                </a:rPr>
                <a:t>65</a:t>
              </a:r>
              <a:r>
                <a:rPr lang="ko-KR" altLang="en-US" sz="1400" b="0" dirty="0">
                  <a:solidFill>
                    <a:srgbClr val="6C5D4C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나눔스퀘어라운드 Regular" panose="020B0600000101010101" pitchFamily="50" charset="-127"/>
                </a:rPr>
                <a:t>세 이상 노인 20명 섭외</a:t>
              </a:r>
            </a:p>
          </p:txBody>
        </p:sp>
      </p:grp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819B93C0-3C3A-F3FD-B07D-6833FC99FFF6}"/>
              </a:ext>
            </a:extLst>
          </p:cNvPr>
          <p:cNvGrpSpPr/>
          <p:nvPr/>
        </p:nvGrpSpPr>
        <p:grpSpPr>
          <a:xfrm>
            <a:off x="603503" y="2648168"/>
            <a:ext cx="2470547" cy="215444"/>
            <a:chOff x="603503" y="2498451"/>
            <a:chExt cx="2470547" cy="215444"/>
          </a:xfrm>
        </p:grpSpPr>
        <p:sp>
          <p:nvSpPr>
            <p:cNvPr id="11" name="Oval 10"/>
            <p:cNvSpPr/>
            <p:nvPr/>
          </p:nvSpPr>
          <p:spPr>
            <a:xfrm>
              <a:off x="603503" y="2547219"/>
              <a:ext cx="91440" cy="91440"/>
            </a:xfrm>
            <a:prstGeom prst="ellipse">
              <a:avLst/>
            </a:prstGeom>
            <a:solidFill>
              <a:srgbClr val="F5726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200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13816" y="2498451"/>
              <a:ext cx="2260234" cy="215444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400" b="0" dirty="0">
                  <a:solidFill>
                    <a:srgbClr val="6C5D4C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나눔스퀘어라운드 Regular" panose="020B0600000101010101" pitchFamily="50" charset="-127"/>
                </a:rPr>
                <a:t>각자 스마트폰으로 주소에 접속</a:t>
              </a: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39D63E09-CC96-2DA4-80BF-7E25409EFAD5}"/>
              </a:ext>
            </a:extLst>
          </p:cNvPr>
          <p:cNvGrpSpPr/>
          <p:nvPr/>
        </p:nvGrpSpPr>
        <p:grpSpPr>
          <a:xfrm>
            <a:off x="603503" y="3069800"/>
            <a:ext cx="2024912" cy="215444"/>
            <a:chOff x="603503" y="2809347"/>
            <a:chExt cx="2024912" cy="215444"/>
          </a:xfrm>
        </p:grpSpPr>
        <p:sp>
          <p:nvSpPr>
            <p:cNvPr id="13" name="Oval 12"/>
            <p:cNvSpPr/>
            <p:nvPr/>
          </p:nvSpPr>
          <p:spPr>
            <a:xfrm>
              <a:off x="603503" y="2858115"/>
              <a:ext cx="91440" cy="91440"/>
            </a:xfrm>
            <a:prstGeom prst="ellipse">
              <a:avLst/>
            </a:prstGeom>
            <a:solidFill>
              <a:srgbClr val="F5726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200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13816" y="2809347"/>
              <a:ext cx="1814599" cy="215444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ko-KR" altLang="en-US" sz="1400" b="0" dirty="0">
                  <a:solidFill>
                    <a:srgbClr val="6C5D4C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나눔스퀘어라운드 Regular" panose="020B0600000101010101" pitchFamily="50" charset="-127"/>
                </a:rPr>
                <a:t>여섯 개 활동을 직접 </a:t>
              </a:r>
              <a:r>
                <a:rPr lang="ko-KR" altLang="en-US" sz="1400" dirty="0">
                  <a:solidFill>
                    <a:srgbClr val="6C5D4C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나눔스퀘어라운드 Regular" panose="020B0600000101010101" pitchFamily="50" charset="-127"/>
                </a:rPr>
                <a:t>진행</a:t>
              </a:r>
              <a:endParaRPr lang="ko-KR" altLang="en-US" sz="140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endParaRPr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299B116B-6E38-AC4E-C10C-A005B5332903}"/>
              </a:ext>
            </a:extLst>
          </p:cNvPr>
          <p:cNvGrpSpPr/>
          <p:nvPr/>
        </p:nvGrpSpPr>
        <p:grpSpPr>
          <a:xfrm>
            <a:off x="603503" y="3491432"/>
            <a:ext cx="1763623" cy="215444"/>
            <a:chOff x="603503" y="3400898"/>
            <a:chExt cx="1763623" cy="215444"/>
          </a:xfrm>
        </p:grpSpPr>
        <p:sp>
          <p:nvSpPr>
            <p:cNvPr id="15" name="Oval 14"/>
            <p:cNvSpPr/>
            <p:nvPr/>
          </p:nvSpPr>
          <p:spPr>
            <a:xfrm>
              <a:off x="603503" y="3449666"/>
              <a:ext cx="91440" cy="91440"/>
            </a:xfrm>
            <a:prstGeom prst="ellipse">
              <a:avLst/>
            </a:prstGeom>
            <a:solidFill>
              <a:srgbClr val="F5726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sz="2000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813816" y="3400898"/>
              <a:ext cx="1553310" cy="215444"/>
            </a:xfrm>
            <a:prstGeom prst="rect">
              <a:avLst/>
            </a:prstGeom>
            <a:noFill/>
          </p:spPr>
          <p:txBody>
            <a:bodyPr wrap="none" lIns="0" tIns="0" rIns="0" bIns="0" anchor="t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lang="en-US" altLang="ko-KR" sz="1400" b="0" dirty="0">
                  <a:solidFill>
                    <a:srgbClr val="6C5D4C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나눔스퀘어라운드 Regular" panose="020B0600000101010101" pitchFamily="50" charset="-127"/>
                </a:rPr>
                <a:t>User data </a:t>
              </a:r>
              <a:r>
                <a:rPr lang="ko-KR" altLang="en-US" sz="1400" dirty="0">
                  <a:solidFill>
                    <a:srgbClr val="6C5D4C"/>
                  </a:solidFill>
                  <a:latin typeface="나눔스퀘어라운드 Regular" panose="020B0600000101010101" pitchFamily="50" charset="-127"/>
                  <a:ea typeface="나눔스퀘어라운드 Regular" panose="020B0600000101010101" pitchFamily="50" charset="-127"/>
                  <a:cs typeface="나눔스퀘어라운드 Regular" panose="020B0600000101010101" pitchFamily="50" charset="-127"/>
                </a:rPr>
                <a:t>모두 기록</a:t>
              </a:r>
              <a:endParaRPr lang="ko-KR" altLang="en-US" sz="1400" b="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endParaRPr>
            </a:p>
          </p:txBody>
        </p:sp>
      </p:grpSp>
      <p:sp>
        <p:nvSpPr>
          <p:cNvPr id="23" name="TextBox 22"/>
          <p:cNvSpPr txBox="1"/>
          <p:nvPr/>
        </p:nvSpPr>
        <p:spPr>
          <a:xfrm>
            <a:off x="4160520" y="1742981"/>
            <a:ext cx="1404231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관찰이 바꾼 설계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60520" y="2041251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160520" y="2187555"/>
            <a:ext cx="4160520" cy="12700"/>
          </a:xfrm>
          <a:prstGeom prst="rect">
            <a:avLst/>
          </a:prstGeom>
          <a:solidFill>
            <a:srgbClr val="6C5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215383" y="2251563"/>
            <a:ext cx="418384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 err="1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제한점</a:t>
            </a:r>
            <a:endParaRPr lang="ko-KR" altLang="en-US" sz="1200" b="0" dirty="0">
              <a:solidFill>
                <a:srgbClr val="2A2018"/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나눔스퀘어라운드 Bold" panose="020B0600000101010101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087618" y="2251563"/>
            <a:ext cx="217855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바뀐 것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60520" y="2498451"/>
            <a:ext cx="4160520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215383" y="2617323"/>
            <a:ext cx="1332096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스마트폰 화면이 작음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7618" y="2617323"/>
            <a:ext cx="1788951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C8410E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큰 화면의 키오스크 제품으로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60520" y="2919075"/>
            <a:ext cx="4160520" cy="420624"/>
          </a:xfrm>
          <a:prstGeom prst="rect">
            <a:avLst/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215383" y="3037947"/>
            <a:ext cx="105317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조작 어려움 느낌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7618" y="3037947"/>
            <a:ext cx="172643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C8410E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메뉴 없이 버튼 네 개로 작동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15383" y="3458571"/>
            <a:ext cx="105317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 err="1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햅틱</a:t>
            </a:r>
            <a:r>
              <a:rPr lang="ko-KR" altLang="en-US" sz="1200" b="0" dirty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 반응의 부재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87618" y="3458571"/>
            <a:ext cx="182742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C8410E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듣기 표시와 파형 시각화 제공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60520" y="3760323"/>
            <a:ext cx="4160520" cy="420624"/>
          </a:xfrm>
          <a:prstGeom prst="rect">
            <a:avLst/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215383" y="3879195"/>
            <a:ext cx="1192634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dirty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작동 안내가 부족함</a:t>
            </a:r>
            <a:endParaRPr lang="ko-KR" altLang="en-US" sz="1200" b="0" dirty="0">
              <a:solidFill>
                <a:srgbClr val="2A2018"/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나눔스퀘어라운드 Bold" panose="020B0600000101010101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087618" y="3879195"/>
            <a:ext cx="196688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C8410E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문항에 대한 설명을 충분히 제공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15383" y="4299819"/>
            <a:ext cx="1471557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dirty="0" err="1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폴더폰을</a:t>
            </a:r>
            <a:r>
              <a:rPr lang="ko-KR" altLang="en-US" sz="1200" dirty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 사용하는 경우</a:t>
            </a:r>
            <a:endParaRPr lang="ko-KR" altLang="en-US" sz="1200" b="0" dirty="0">
              <a:solidFill>
                <a:srgbClr val="2A2018"/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나눔스퀘어라운드 Bold" panose="020B0600000101010101" pitchFamily="50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087618" y="4299819"/>
            <a:ext cx="192841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C8410E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복지관에 두는 </a:t>
            </a:r>
            <a:r>
              <a:rPr lang="ko-KR" altLang="en-US" sz="1200" dirty="0">
                <a:solidFill>
                  <a:srgbClr val="C8410E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키오스크</a:t>
            </a:r>
            <a:r>
              <a:rPr lang="ko-KR" altLang="en-US" sz="1200" b="0" dirty="0">
                <a:solidFill>
                  <a:srgbClr val="C8410E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로 작동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60520" y="4601571"/>
            <a:ext cx="4160520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160520" y="4860448"/>
            <a:ext cx="3747821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다섯 가지 제한점을 확인하고 새롭게 설계했습니다</a:t>
            </a:r>
            <a:r>
              <a:rPr lang="en-US" altLang="ko-KR" sz="1400" b="0" dirty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. </a:t>
            </a:r>
            <a:endParaRPr lang="ko-KR" altLang="en-US" sz="1400" b="0" dirty="0">
              <a:solidFill>
                <a:srgbClr val="2A2018"/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나눔스퀘어라운드 Bold" panose="020B0600000101010101" pitchFamily="50" charset="-127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9046834" y="1742981"/>
            <a:ext cx="862416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60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10월 실증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046834" y="2041251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Haru by 보편교육연구소 · Appendix · 20명 베타테스트의 성격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408454" y="6364224"/>
            <a:ext cx="18915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altLang="ko-KR" sz="1200" b="0" dirty="0">
                <a:solidFill>
                  <a:srgbClr val="9C8B77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26</a:t>
            </a:r>
            <a:endParaRPr lang="ko-KR" altLang="en-US" sz="1200" b="0" dirty="0">
              <a:solidFill>
                <a:srgbClr val="9C8B77"/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나눔스퀘어라운드 Bold" panose="020B0600000101010101" pitchFamily="50" charset="-127"/>
            </a:endParaRPr>
          </a:p>
        </p:txBody>
      </p:sp>
      <p:pic>
        <p:nvPicPr>
          <p:cNvPr id="66" name="Picture 6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id="{A479F0F2-4ACE-50A8-429B-5865AEA2EB21}"/>
              </a:ext>
            </a:extLst>
          </p:cNvPr>
          <p:cNvSpPr txBox="1"/>
          <p:nvPr/>
        </p:nvSpPr>
        <p:spPr>
          <a:xfrm>
            <a:off x="9046834" y="2118255"/>
            <a:ext cx="3012382" cy="20964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4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2X2 </a:t>
            </a:r>
            <a:r>
              <a:rPr lang="ko-KR" altLang="en-US" sz="14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버튼 키오스크의 사용성 검증</a:t>
            </a:r>
          </a:p>
          <a:p>
            <a:pPr>
              <a:lnSpc>
                <a:spcPct val="200000"/>
              </a:lnSpc>
            </a:pPr>
            <a:r>
              <a:rPr lang="ko-KR" altLang="en-US" sz="14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사용자 맞춤형 문항 고도화</a:t>
            </a:r>
            <a:endParaRPr lang="en-US" altLang="ko-KR" sz="1400" dirty="0">
              <a:solidFill>
                <a:srgbClr val="6C5D4C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  <a:cs typeface="나눔스퀘어라운드 Regular" panose="020B0600000101010101" pitchFamily="50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14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음성인식 추가 검증</a:t>
            </a:r>
            <a:endParaRPr lang="en-US" altLang="ko-KR" sz="1400" dirty="0">
              <a:solidFill>
                <a:srgbClr val="6C5D4C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  <a:cs typeface="나눔스퀘어라운드 Regular" panose="020B0600000101010101" pitchFamily="50" charset="-127"/>
            </a:endParaRPr>
          </a:p>
          <a:p>
            <a:pPr>
              <a:lnSpc>
                <a:spcPct val="200000"/>
              </a:lnSpc>
            </a:pPr>
            <a:r>
              <a:rPr lang="ko-KR" altLang="en-US" sz="1400" dirty="0" err="1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백엔드</a:t>
            </a:r>
            <a:r>
              <a:rPr lang="ko-KR" altLang="en-US" sz="14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 구축 완료</a:t>
            </a:r>
          </a:p>
          <a:p>
            <a:pPr>
              <a:lnSpc>
                <a:spcPct val="200000"/>
              </a:lnSpc>
            </a:pPr>
            <a:r>
              <a:rPr lang="ko-KR" altLang="en-US" sz="14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국내기관과의 </a:t>
            </a:r>
            <a:r>
              <a:rPr lang="ko-KR" altLang="en-US" sz="1400" dirty="0" err="1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협업망</a:t>
            </a:r>
            <a:r>
              <a:rPr lang="ko-KR" altLang="en-US" sz="1400" dirty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 구축</a:t>
            </a:r>
            <a:endParaRPr lang="ko-KR" altLang="en-US" sz="1400" b="0" dirty="0">
              <a:solidFill>
                <a:srgbClr val="6C5D4C"/>
              </a:solidFill>
              <a:latin typeface="나눔스퀘어라운드 Regular" panose="020B0600000101010101" pitchFamily="50" charset="-127"/>
              <a:ea typeface="나눔스퀘어라운드 Regular" panose="020B0600000101010101" pitchFamily="50" charset="-127"/>
              <a:cs typeface="나눔스퀘어라운드 Regular" panose="020B0600000101010101" pitchFamily="50" charset="-127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420624"/>
            <a:ext cx="11003249" cy="2440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>
                <a:solidFill>
                  <a:srgbClr val="9C8B77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APPENDIX A06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94944"/>
            <a:ext cx="2002151" cy="4201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73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개인정보 취급</a:t>
            </a:r>
            <a:endParaRPr lang="ko-KR" altLang="en-US" sz="2730" b="0" dirty="0">
              <a:solidFill>
                <a:srgbClr val="F57265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  <a:cs typeface="나눔스퀘어라운드 ExtraBold" panose="020B0600000101010101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4360" y="1220724"/>
            <a:ext cx="4150175" cy="2431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 dirty="0">
                <a:solidFill>
                  <a:srgbClr val="6C5D4C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이름 대신 번호로 저장 · 역할마다 열람 범위 제한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719254"/>
            <a:ext cx="1352934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개인정보 처리경로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972259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94360" y="2118563"/>
            <a:ext cx="3429000" cy="310896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182571"/>
            <a:ext cx="31272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① 복지관에서 직원이 등록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484323"/>
            <a:ext cx="34290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2548331"/>
            <a:ext cx="31272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② 동의서는 복지관이 보관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850083"/>
            <a:ext cx="3429000" cy="310896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914091"/>
            <a:ext cx="31272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③ 카드에서 읽는 것은 카드 번호 하나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215843"/>
            <a:ext cx="342900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279851"/>
            <a:ext cx="186589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④ 그 번호를 노인 번호에 연결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581603"/>
            <a:ext cx="3429000" cy="310896"/>
          </a:xfrm>
          <a:prstGeom prst="roundRect">
            <a:avLst>
              <a:gd name="adj" fmla="val 50000"/>
            </a:avLst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3645611"/>
            <a:ext cx="312724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⑤ 카드를 대면 바로 시작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3986784"/>
            <a:ext cx="3429000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4286631"/>
            <a:ext cx="1352934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신상정보 보관방법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4360" y="4539636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3699" y="4685940"/>
            <a:ext cx="172002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이름 · 연락처는 복지관에만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99" y="4978548"/>
            <a:ext cx="1332096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기기에는 번호만 쌓임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699" y="5271156"/>
            <a:ext cx="182742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기기는 이름을 갖고 있지 않음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43400" y="1719254"/>
            <a:ext cx="1234312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역할별 열람 범위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1972259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343400" y="2118563"/>
            <a:ext cx="3246120" cy="12700"/>
          </a:xfrm>
          <a:prstGeom prst="rect">
            <a:avLst/>
          </a:prstGeom>
          <a:solidFill>
            <a:srgbClr val="6C5D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398264" y="2173427"/>
            <a:ext cx="86410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역할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72099" y="2173427"/>
            <a:ext cx="216255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볼 수 있는 것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2411171"/>
            <a:ext cx="3246120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398264" y="2475179"/>
            <a:ext cx="27892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노인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72099" y="2475179"/>
            <a:ext cx="216255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본인의 오늘 활동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43400" y="2722067"/>
            <a:ext cx="3246120" cy="310896"/>
          </a:xfrm>
          <a:prstGeom prst="rect">
            <a:avLst/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398264" y="2786075"/>
            <a:ext cx="86410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보호자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72099" y="2786075"/>
            <a:ext cx="216255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동의한 범위의 안부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98264" y="3096971"/>
            <a:ext cx="86410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전문가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72099" y="3096971"/>
            <a:ext cx="216255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동의한 관찰 기록 요약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43400" y="3343859"/>
            <a:ext cx="3246120" cy="310896"/>
          </a:xfrm>
          <a:prstGeom prst="rect">
            <a:avLst/>
          </a:prstGeom>
          <a:solidFill>
            <a:srgbClr val="F5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398264" y="3407867"/>
            <a:ext cx="864108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복지관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72099" y="3407867"/>
            <a:ext cx="216255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등록 · 동의 · 참여 여부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43400" y="3654755"/>
            <a:ext cx="3246120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343400" y="3685032"/>
            <a:ext cx="324612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전문가 = 상담사 · 의료 전문가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3886200"/>
            <a:ext cx="324612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복지관 = 등록과 사용법 안내 담당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343400" y="4169663"/>
            <a:ext cx="3246120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343400" y="4415193"/>
            <a:ext cx="1561325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무엇이 서버에 남는가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43400" y="4668198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343400" y="4814502"/>
            <a:ext cx="1994136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보관</a:t>
            </a:r>
            <a:r>
              <a:rPr lang="en-US" altLang="ko-KR" sz="1200" b="0" dirty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:</a:t>
            </a:r>
            <a:r>
              <a:rPr lang="ko-KR" altLang="en-US" sz="1200" b="0" dirty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 번호 · 활동 기록 · 전사 글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43400" y="5052246"/>
            <a:ext cx="128080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보관</a:t>
            </a:r>
            <a:r>
              <a:rPr lang="en-US" altLang="ko-KR" sz="1200" b="0" dirty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:</a:t>
            </a:r>
            <a:r>
              <a:rPr lang="ko-KR" altLang="en-US" sz="1200" b="0" dirty="0">
                <a:solidFill>
                  <a:srgbClr val="2A2018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 노인 음성 원본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43400" y="5289990"/>
            <a:ext cx="2106346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실험 단계에서는 자료를 모두 보관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43400" y="5527734"/>
            <a:ext cx="1389804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익명화</a:t>
            </a:r>
            <a:r>
              <a:rPr lang="en-US" altLang="ko-KR" sz="1200" b="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:</a:t>
            </a:r>
            <a:r>
              <a:rPr lang="ko-KR" altLang="en-US" sz="1200" b="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 이름 · 연락처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001000" y="1719254"/>
            <a:ext cx="1234312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이용중단 시 조치</a:t>
            </a:r>
            <a:endParaRPr lang="ko-KR" altLang="en-US" sz="1400" b="0" dirty="0">
              <a:solidFill>
                <a:srgbClr val="2A2018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  <a:cs typeface="나눔스퀘어라운드 ExtraBold" panose="020B0600000101010101" pitchFamily="50" charset="-127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8001000" y="1972259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8010144" y="2167331"/>
            <a:ext cx="91440" cy="91440"/>
          </a:xfrm>
          <a:prstGeom prst="ellipse">
            <a:avLst/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220456" y="2118563"/>
            <a:ext cx="337413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얼마나 보관하는지 미리 알림</a:t>
            </a:r>
          </a:p>
        </p:txBody>
      </p:sp>
      <p:sp>
        <p:nvSpPr>
          <p:cNvPr id="56" name="Oval 55"/>
          <p:cNvSpPr/>
          <p:nvPr/>
        </p:nvSpPr>
        <p:spPr>
          <a:xfrm>
            <a:off x="8010144" y="2459939"/>
            <a:ext cx="91440" cy="91440"/>
          </a:xfrm>
          <a:prstGeom prst="ellipse">
            <a:avLst/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220456" y="2411171"/>
            <a:ext cx="337413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동의를 거두면 그 자리에서 수집 중단</a:t>
            </a:r>
          </a:p>
        </p:txBody>
      </p:sp>
      <p:sp>
        <p:nvSpPr>
          <p:cNvPr id="58" name="Oval 57"/>
          <p:cNvSpPr/>
          <p:nvPr/>
        </p:nvSpPr>
        <p:spPr>
          <a:xfrm>
            <a:off x="8010144" y="2752547"/>
            <a:ext cx="91440" cy="91440"/>
          </a:xfrm>
          <a:prstGeom prst="ellipse">
            <a:avLst/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220456" y="2703779"/>
            <a:ext cx="337413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그때까지 쌓인 기록은 파기가 원칙</a:t>
            </a:r>
          </a:p>
        </p:txBody>
      </p:sp>
      <p:sp>
        <p:nvSpPr>
          <p:cNvPr id="60" name="Oval 59"/>
          <p:cNvSpPr/>
          <p:nvPr/>
        </p:nvSpPr>
        <p:spPr>
          <a:xfrm>
            <a:off x="8010144" y="3045155"/>
            <a:ext cx="91440" cy="91440"/>
          </a:xfrm>
          <a:prstGeom prst="ellipse">
            <a:avLst/>
          </a:prstGeom>
          <a:solidFill>
            <a:srgbClr val="C841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220456" y="2996387"/>
            <a:ext cx="3374136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지워졌는지 확인해 알려 줌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7891272" y="3255264"/>
            <a:ext cx="3703320" cy="841248"/>
          </a:xfrm>
          <a:prstGeom prst="roundRect">
            <a:avLst>
              <a:gd name="adj" fmla="val 5500"/>
            </a:avLst>
          </a:prstGeom>
          <a:solidFill>
            <a:srgbClr val="FFF7F2"/>
          </a:solidFill>
          <a:ln w="9525">
            <a:solidFill>
              <a:srgbClr val="E0D4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074152" y="3364992"/>
            <a:ext cx="55784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예외조항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74152" y="3584448"/>
            <a:ext cx="333756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이름을 지운 뒤 분석에 들어간 자료는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074152" y="3803904"/>
            <a:ext cx="333756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6C5D4C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되돌릴 수 없어 동의서에 미리 고지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001000" y="4233399"/>
            <a:ext cx="3593592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8001000" y="4469875"/>
            <a:ext cx="1070806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카드 </a:t>
            </a:r>
            <a:r>
              <a:rPr lang="ko-KR" altLang="en-US" sz="1400" b="0" dirty="0" err="1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태깅</a:t>
            </a:r>
            <a:r>
              <a:rPr lang="ko-KR" altLang="en-US" sz="140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 구현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001000" y="4722880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8001000" y="4869184"/>
            <a:ext cx="249267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구현완료</a:t>
            </a:r>
            <a:r>
              <a:rPr lang="en-US" altLang="ko-KR" sz="120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:</a:t>
            </a:r>
            <a:r>
              <a:rPr lang="ko-KR" altLang="en-US" sz="1200" b="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 NFC 카드 리더기로 카드 인식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001000" y="5106928"/>
            <a:ext cx="257442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구현완료</a:t>
            </a:r>
            <a:r>
              <a:rPr lang="en-US" altLang="ko-KR" sz="1200" b="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: </a:t>
            </a:r>
            <a:r>
              <a:rPr lang="ko-KR" altLang="en-US" sz="1200" b="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번호로만 저장하고 지우는 기능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001000" y="5344672"/>
            <a:ext cx="257442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구현예정</a:t>
            </a:r>
            <a:r>
              <a:rPr lang="en-US" altLang="ko-KR" sz="1200" b="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: </a:t>
            </a:r>
            <a:r>
              <a:rPr lang="ko-KR" altLang="en-US" sz="1200" b="0" dirty="0"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복지관 복지카드로 로그인 연동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Haru by 보편교육연구소 · Appendix · 개인정보를 다루는 방식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1408454" y="6364224"/>
            <a:ext cx="18915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altLang="ko-KR" sz="1200" b="0" dirty="0">
                <a:solidFill>
                  <a:srgbClr val="9C8B77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27</a:t>
            </a:r>
            <a:endParaRPr lang="ko-KR" altLang="en-US" sz="1200" b="0" dirty="0">
              <a:solidFill>
                <a:srgbClr val="9C8B77"/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나눔스퀘어라운드 Bold" panose="020B0600000101010101" pitchFamily="50" charset="-127"/>
            </a:endParaRPr>
          </a:p>
        </p:txBody>
      </p:sp>
      <p:pic>
        <p:nvPicPr>
          <p:cNvPr id="76" name="Picture 75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D08BF-EA1A-93FC-5D77-5FF026D65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9BED70-EEEA-ABC4-5207-8F7B395907CD}"/>
              </a:ext>
            </a:extLst>
          </p:cNvPr>
          <p:cNvSpPr txBox="1"/>
          <p:nvPr/>
        </p:nvSpPr>
        <p:spPr>
          <a:xfrm>
            <a:off x="594360" y="420624"/>
            <a:ext cx="1331134" cy="1908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40" b="0" spc="140" dirty="0">
                <a:solidFill>
                  <a:srgbClr val="9C8B77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APPENDIX A0</a:t>
            </a:r>
            <a:r>
              <a:rPr lang="en-US" altLang="ko-KR" sz="1240" b="0" spc="140" dirty="0">
                <a:solidFill>
                  <a:srgbClr val="9C8B77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7</a:t>
            </a:r>
            <a:endParaRPr lang="ko-KR" altLang="en-US" sz="1240" b="0" spc="140" dirty="0">
              <a:solidFill>
                <a:srgbClr val="9C8B77"/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나눔스퀘어라운드 Bold" panose="020B06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B342F6-261A-8040-8BE4-878EB6FD47A7}"/>
              </a:ext>
            </a:extLst>
          </p:cNvPr>
          <p:cNvSpPr txBox="1"/>
          <p:nvPr/>
        </p:nvSpPr>
        <p:spPr>
          <a:xfrm>
            <a:off x="594360" y="694944"/>
            <a:ext cx="2321148" cy="4201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273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개인정보 동의서</a:t>
            </a:r>
            <a:endParaRPr lang="ko-KR" altLang="en-US" sz="2730" b="0" dirty="0">
              <a:solidFill>
                <a:srgbClr val="F57265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  <a:cs typeface="나눔스퀘어라운드 ExtraBold" panose="020B060000010101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CABD53-9DE0-0926-829A-E2B29EB34A83}"/>
              </a:ext>
            </a:extLst>
          </p:cNvPr>
          <p:cNvSpPr txBox="1"/>
          <p:nvPr/>
        </p:nvSpPr>
        <p:spPr>
          <a:xfrm>
            <a:off x="594360" y="1220724"/>
            <a:ext cx="3994683" cy="2431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580" b="0" dirty="0">
                <a:solidFill>
                  <a:srgbClr val="6C5D4C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한일 양국에서 활용할 개인정보 동의서 제작 완료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16A9F9-655A-331D-5420-8A41AEA4B2EF}"/>
              </a:ext>
            </a:extLst>
          </p:cNvPr>
          <p:cNvSpPr txBox="1"/>
          <p:nvPr/>
        </p:nvSpPr>
        <p:spPr>
          <a:xfrm>
            <a:off x="594360" y="1719254"/>
            <a:ext cx="327013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한국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6E4396-555D-E88F-D491-FA91E422A4DF}"/>
              </a:ext>
            </a:extLst>
          </p:cNvPr>
          <p:cNvSpPr/>
          <p:nvPr/>
        </p:nvSpPr>
        <p:spPr>
          <a:xfrm>
            <a:off x="594360" y="1972259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8158E90-F8B2-C477-23BB-68D77AB61C01}"/>
              </a:ext>
            </a:extLst>
          </p:cNvPr>
          <p:cNvSpPr txBox="1"/>
          <p:nvPr/>
        </p:nvSpPr>
        <p:spPr>
          <a:xfrm>
            <a:off x="6045457" y="1719254"/>
            <a:ext cx="327013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400" b="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일본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B9FC7CC-81D4-D593-B090-171E61D0A8FD}"/>
              </a:ext>
            </a:extLst>
          </p:cNvPr>
          <p:cNvSpPr/>
          <p:nvPr/>
        </p:nvSpPr>
        <p:spPr>
          <a:xfrm>
            <a:off x="6045457" y="1972259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2EB5E8B2-A251-23D4-3222-A04AA9A1F080}"/>
              </a:ext>
            </a:extLst>
          </p:cNvPr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94CD055-2A99-23A6-00F5-FAE3ED5CEE91}"/>
              </a:ext>
            </a:extLst>
          </p:cNvPr>
          <p:cNvSpPr txBox="1"/>
          <p:nvPr/>
        </p:nvSpPr>
        <p:spPr>
          <a:xfrm>
            <a:off x="594360" y="6364224"/>
            <a:ext cx="6400800" cy="23621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ko-KR" altLang="en-US" sz="1200" b="0">
                <a:solidFill>
                  <a:srgbClr val="9C8B77"/>
                </a:solidFill>
                <a:latin typeface="나눔스퀘어라운드 Regular" panose="020B0600000101010101" pitchFamily="50" charset="-127"/>
                <a:ea typeface="나눔스퀘어라운드 Regular" panose="020B0600000101010101" pitchFamily="50" charset="-127"/>
                <a:cs typeface="나눔스퀘어라운드 Regular" panose="020B0600000101010101" pitchFamily="50" charset="-127"/>
              </a:rPr>
              <a:t>Haru by 보편교육연구소 · Appendix · 개인정보를 다루는 방식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42BE59C-C2A5-71DF-6929-04C839C9BC0D}"/>
              </a:ext>
            </a:extLst>
          </p:cNvPr>
          <p:cNvSpPr txBox="1"/>
          <p:nvPr/>
        </p:nvSpPr>
        <p:spPr>
          <a:xfrm>
            <a:off x="11408454" y="6364224"/>
            <a:ext cx="18915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altLang="ko-KR" sz="1200" b="0" dirty="0">
                <a:solidFill>
                  <a:srgbClr val="9C8B77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28</a:t>
            </a:r>
            <a:endParaRPr lang="ko-KR" altLang="en-US" sz="1200" b="0" dirty="0">
              <a:solidFill>
                <a:srgbClr val="9C8B77"/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나눔스퀘어라운드 Bold" panose="020B0600000101010101" pitchFamily="50" charset="-127"/>
            </a:endParaRPr>
          </a:p>
        </p:txBody>
      </p:sp>
      <p:pic>
        <p:nvPicPr>
          <p:cNvPr id="76" name="Picture 75" descr="logo.png">
            <a:extLst>
              <a:ext uri="{FF2B5EF4-FFF2-40B4-BE49-F238E27FC236}">
                <a16:creationId xmlns:a16="http://schemas.microsoft.com/office/drawing/2014/main" id="{275E2CCD-C77F-BA4D-DC93-932902053A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3778ED15-3E8E-D766-1F75-C993751142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6607405" y="1499337"/>
            <a:ext cx="3824682" cy="494857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B967825-7EC9-D355-1CDF-C2843E7B12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061286"/>
            <a:ext cx="4948578" cy="3822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1214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E3B56-C810-DA49-69C5-FCDC8AFE2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76ED278-1101-3159-845A-2AA3DB50EB4A}"/>
              </a:ext>
            </a:extLst>
          </p:cNvPr>
          <p:cNvSpPr txBox="1"/>
          <p:nvPr/>
        </p:nvSpPr>
        <p:spPr>
          <a:xfrm>
            <a:off x="594360" y="420624"/>
            <a:ext cx="1331134" cy="1908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ko-KR" altLang="en-US" sz="1240" b="0" spc="140" dirty="0">
                <a:solidFill>
                  <a:srgbClr val="9C8B77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APPENDIX </a:t>
            </a:r>
            <a:r>
              <a:rPr lang="ko-KR" altLang="en-US" sz="1240" b="0" spc="140" dirty="0" err="1">
                <a:solidFill>
                  <a:srgbClr val="9C8B77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A</a:t>
            </a:r>
            <a:r>
              <a:rPr lang="en-US" altLang="ko-KR" sz="1240" spc="140" dirty="0">
                <a:solidFill>
                  <a:srgbClr val="9C8B77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08</a:t>
            </a:r>
            <a:endParaRPr lang="ko-KR" altLang="en-US" sz="1240" b="0" spc="140" dirty="0">
              <a:solidFill>
                <a:srgbClr val="9C8B77"/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나눔스퀘어라운드 Bold" panose="020B0600000101010101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70D992-43A8-0BA9-26BB-659A8435B99D}"/>
              </a:ext>
            </a:extLst>
          </p:cNvPr>
          <p:cNvSpPr txBox="1"/>
          <p:nvPr/>
        </p:nvSpPr>
        <p:spPr>
          <a:xfrm>
            <a:off x="594360" y="694944"/>
            <a:ext cx="3657600" cy="4201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ko-KR" altLang="en-US" sz="273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한 · 일 실증 계획</a:t>
            </a:r>
            <a:endParaRPr lang="ko-KR" altLang="en-US" sz="2730" b="0" dirty="0">
              <a:solidFill>
                <a:srgbClr val="F57265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  <a:cs typeface="나눔스퀘어라운드 ExtraBold" panose="020B0600000101010101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C0E04B-8BAB-DABF-A4F5-2CB96E18520C}"/>
              </a:ext>
            </a:extLst>
          </p:cNvPr>
          <p:cNvSpPr txBox="1"/>
          <p:nvPr/>
        </p:nvSpPr>
        <p:spPr>
          <a:xfrm>
            <a:off x="594360" y="1220724"/>
            <a:ext cx="7315200" cy="2431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altLang="ko-KR" sz="1580" dirty="0">
                <a:solidFill>
                  <a:srgbClr val="6C5D4C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IRB 심의 신청 완료 · 일본 실증은 ATC 에이지리스센터와 협의 중</a:t>
            </a:r>
            <a:endParaRPr lang="ko-KR" altLang="en-US" sz="1580" b="0" dirty="0">
              <a:solidFill>
                <a:srgbClr val="6C5D4C"/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나눔스퀘어라운드 Bold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ADB69B-8E6C-8EC0-0F67-6FAD2DBA7236}"/>
              </a:ext>
            </a:extLst>
          </p:cNvPr>
          <p:cNvSpPr txBox="1"/>
          <p:nvPr/>
        </p:nvSpPr>
        <p:spPr>
          <a:xfrm>
            <a:off x="594360" y="1719254"/>
            <a:ext cx="1195840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altLang="ko-KR" sz="140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IRB </a:t>
            </a:r>
            <a:r>
              <a:rPr lang="ko-KR" altLang="en-US" sz="140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심의 신청서</a:t>
            </a:r>
            <a:endParaRPr lang="ko-KR" altLang="en-US" sz="1400" b="0" dirty="0">
              <a:solidFill>
                <a:srgbClr val="2A2018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  <a:cs typeface="나눔스퀘어라운드 ExtraBold" panose="020B0600000101010101" pitchFamily="50" charset="-127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5B5AB6-B64F-A21D-1581-91B8A961ADD6}"/>
              </a:ext>
            </a:extLst>
          </p:cNvPr>
          <p:cNvSpPr/>
          <p:nvPr/>
        </p:nvSpPr>
        <p:spPr>
          <a:xfrm>
            <a:off x="594360" y="1972259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AF21965-9D01-9A21-150A-3DEFEF68EFCB}"/>
              </a:ext>
            </a:extLst>
          </p:cNvPr>
          <p:cNvSpPr txBox="1"/>
          <p:nvPr/>
        </p:nvSpPr>
        <p:spPr>
          <a:xfrm>
            <a:off x="6045457" y="1719254"/>
            <a:ext cx="1195840" cy="2154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altLang="ko-KR" sz="140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IRB </a:t>
            </a:r>
            <a:r>
              <a:rPr lang="ko-KR" altLang="en-US" sz="1400" dirty="0">
                <a:solidFill>
                  <a:srgbClr val="2A2018"/>
                </a:solidFill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  <a:cs typeface="나눔스퀘어라운드 ExtraBold" panose="020B0600000101010101" pitchFamily="50" charset="-127"/>
              </a:rPr>
              <a:t>연구 계획서</a:t>
            </a:r>
            <a:endParaRPr lang="ko-KR" altLang="en-US" sz="1400" b="0" dirty="0">
              <a:solidFill>
                <a:srgbClr val="2A2018"/>
              </a:solidFill>
              <a:latin typeface="나눔스퀘어라운드 ExtraBold" panose="020B0600000101010101" pitchFamily="50" charset="-127"/>
              <a:ea typeface="나눔스퀘어라운드 ExtraBold" panose="020B0600000101010101" pitchFamily="50" charset="-127"/>
              <a:cs typeface="나눔스퀘어라운드 ExtraBold" panose="020B0600000101010101" pitchFamily="50" charset="-127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C2C5226-5823-AE66-71D6-4AC4BA83B125}"/>
              </a:ext>
            </a:extLst>
          </p:cNvPr>
          <p:cNvSpPr/>
          <p:nvPr/>
        </p:nvSpPr>
        <p:spPr>
          <a:xfrm>
            <a:off x="6045457" y="1972259"/>
            <a:ext cx="1188720" cy="25400"/>
          </a:xfrm>
          <a:prstGeom prst="rect">
            <a:avLst/>
          </a:prstGeom>
          <a:solidFill>
            <a:srgbClr val="F572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AC9B5DF5-56D3-24B2-BD07-F9AABBDD92AC}"/>
              </a:ext>
            </a:extLst>
          </p:cNvPr>
          <p:cNvSpPr/>
          <p:nvPr/>
        </p:nvSpPr>
        <p:spPr>
          <a:xfrm>
            <a:off x="594360" y="6291072"/>
            <a:ext cx="11003249" cy="9525"/>
          </a:xfrm>
          <a:prstGeom prst="rect">
            <a:avLst/>
          </a:prstGeom>
          <a:solidFill>
            <a:srgbClr val="E0D4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1686565-A975-FFE2-ADCC-B4B332D3B5E3}"/>
              </a:ext>
            </a:extLst>
          </p:cNvPr>
          <p:cNvSpPr txBox="1"/>
          <p:nvPr/>
        </p:nvSpPr>
        <p:spPr>
          <a:xfrm>
            <a:off x="11408454" y="6364224"/>
            <a:ext cx="18915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altLang="ko-KR" sz="1200" b="0" dirty="0">
                <a:solidFill>
                  <a:srgbClr val="9C8B77"/>
                </a:solidFill>
                <a:latin typeface="나눔스퀘어라운드 Bold" panose="020B0600000101010101" pitchFamily="50" charset="-127"/>
                <a:ea typeface="나눔스퀘어라운드 Bold" panose="020B0600000101010101" pitchFamily="50" charset="-127"/>
                <a:cs typeface="나눔스퀘어라운드 Bold" panose="020B0600000101010101" pitchFamily="50" charset="-127"/>
              </a:rPr>
              <a:t>29</a:t>
            </a:r>
            <a:endParaRPr lang="ko-KR" altLang="en-US" sz="1200" b="0" dirty="0">
              <a:solidFill>
                <a:srgbClr val="9C8B77"/>
              </a:solidFill>
              <a:latin typeface="나눔스퀘어라운드 Bold" panose="020B0600000101010101" pitchFamily="50" charset="-127"/>
              <a:ea typeface="나눔스퀘어라운드 Bold" panose="020B0600000101010101" pitchFamily="50" charset="-127"/>
              <a:cs typeface="나눔스퀘어라운드 Bold" panose="020B0600000101010101" pitchFamily="50" charset="-127"/>
            </a:endParaRPr>
          </a:p>
        </p:txBody>
      </p:sp>
      <p:pic>
        <p:nvPicPr>
          <p:cNvPr id="76" name="Picture 75" descr="logo.png">
            <a:extLst>
              <a:ext uri="{FF2B5EF4-FFF2-40B4-BE49-F238E27FC236}">
                <a16:creationId xmlns:a16="http://schemas.microsoft.com/office/drawing/2014/main" id="{EF76D8BF-CF1F-19E7-6018-9481F77D82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4921" y="365760"/>
            <a:ext cx="932688" cy="475488"/>
          </a:xfrm>
          <a:prstGeom prst="rect">
            <a:avLst/>
          </a:prstGeom>
          <a:effectLst/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EAEF584F-65AC-4553-FF91-9C8BA69EB3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5457" y="2116000"/>
            <a:ext cx="5484452" cy="382468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0CECD12-EA25-3FD8-080C-EC73F34CE6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2114420"/>
            <a:ext cx="5162713" cy="3827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6959788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4901</ep:Words>
  <ep:PresentationFormat>와이드스크린</ep:PresentationFormat>
  <ep:Paragraphs>953</ep:Paragraphs>
  <ep:Slides>29</ep:Slides>
  <ep:Notes>22</ep:Notes>
  <ep:TotalTime>0</ep:TotalTime>
  <ep:HiddenSlides>0</ep:HiddenSlides>
  <ep:MMClips>1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ep:HeadingPairs>
  <ep:TitlesOfParts>
    <vt:vector size="30" baseType="lpstr"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슬라이드 29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2026-07-03T00:16:24.000</dcterms:created>
  <dc:creator>Hyenwoo Na</dc:creator>
  <cp:lastModifiedBy>1</cp:lastModifiedBy>
  <dcterms:modified xsi:type="dcterms:W3CDTF">2026-09-04T00:39:40.950</dcterms:modified>
  <cp:revision>168</cp:revision>
  <cp:version/>
</cp:coreProperties>
</file>