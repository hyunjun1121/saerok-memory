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embeddedFontLst>
    <p:embeddedFont>
      <p:font typeface="나눔스퀘어라운드 Bold" panose="020B0600000101010101" pitchFamily="34" charset="-127"/>
      <p:bold r:id="rId23"/>
    </p:embeddedFont>
    <p:embeddedFont>
      <p:font typeface="나눔스퀘어라운드 ExtraBold" panose="020B0600000101010101" pitchFamily="34" charset="-127"/>
      <p:bold r:id="rId24"/>
    </p:embeddedFont>
    <p:embeddedFont>
      <p:font typeface="나눔스퀘어라운드 Regular" panose="020B0600000101010101" pitchFamily="34" charset="-127"/>
      <p:regular r:id="rId25"/>
    </p:embeddedFont>
    <p:embeddedFont>
      <p:font typeface="나눔스퀘어라운드OTF Bold" panose="020B0600000101010101" pitchFamily="34" charset="-127"/>
      <p:bold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F80ED"/>
    <a:srgbClr val="E8F4FF"/>
    <a:srgbClr val="E46C0A"/>
    <a:srgbClr val="E4E4E4"/>
    <a:srgbClr val="F7F5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80" autoAdjust="0"/>
    <p:restoredTop sz="94421" autoAdjust="0"/>
  </p:normalViewPr>
  <p:slideViewPr>
    <p:cSldViewPr snapToGrid="0" snapToObjects="1">
      <p:cViewPr varScale="1">
        <p:scale>
          <a:sx n="143" d="100"/>
          <a:sy n="143" d="100"/>
        </p:scale>
        <p:origin x="126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3813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5F1A9-8534-A18D-BB44-58D6FDAFC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45FD82E5-E69B-4D2D-C1B2-0FEFE85EC2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78749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B15E5-C655-4C78-FAD6-86EF82880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380D6F4F-7338-1BCF-15CA-78D1A4495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5686779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224F01A-983D-C5B4-B56B-7871E0ED58D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F7D3595-911E-2CB8-B1C3-DA814AF0CA4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9.jpg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_hero.jpg"/>
          <p:cNvPicPr>
            <a:picLocks noChangeAspect="1"/>
          </p:cNvPicPr>
          <p:nvPr/>
        </p:nvPicPr>
        <p:blipFill>
          <a:blip r:embed="rId3"/>
          <a:srcRect l="20196" r="22603"/>
          <a:stretch>
            <a:fillRect/>
          </a:stretch>
        </p:blipFill>
        <p:spPr>
          <a:xfrm>
            <a:off x="7011924" y="-9525"/>
            <a:ext cx="5180076" cy="6858000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881634" y="2186198"/>
            <a:ext cx="3940181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dist">
              <a:lnSpc>
                <a:spcPct val="100000"/>
              </a:lnSpc>
            </a:pPr>
            <a:r>
              <a:rPr lang="ko-KR" altLang="en-US" sz="32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검사처럼 느껴지지 않는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1634" y="2811673"/>
            <a:ext cx="56000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200" b="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치매환자 친화적</a:t>
            </a:r>
            <a:r>
              <a:rPr lang="ko-KR" altLang="en-US" sz="32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 디바이스</a:t>
            </a:r>
          </a:p>
        </p:txBody>
      </p:sp>
      <p:sp>
        <p:nvSpPr>
          <p:cNvPr id="6" name="Rectangle 5"/>
          <p:cNvSpPr/>
          <p:nvPr/>
        </p:nvSpPr>
        <p:spPr>
          <a:xfrm>
            <a:off x="899922" y="3657600"/>
            <a:ext cx="2148840" cy="381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3637" y="4040124"/>
            <a:ext cx="82296" cy="82296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55954" y="3971544"/>
            <a:ext cx="3125856" cy="21698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1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매일의 기억을 남기는 전자 일기</a:t>
            </a:r>
          </a:p>
        </p:txBody>
      </p:sp>
      <p:sp>
        <p:nvSpPr>
          <p:cNvPr id="9" name="Oval 8"/>
          <p:cNvSpPr/>
          <p:nvPr/>
        </p:nvSpPr>
        <p:spPr>
          <a:xfrm>
            <a:off x="913637" y="4369308"/>
            <a:ext cx="82296" cy="82296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55954" y="4300728"/>
            <a:ext cx="4754880" cy="2775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1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개인 기억 · CIST·MMSE 문항이 일기로 쌓임</a:t>
            </a:r>
          </a:p>
        </p:txBody>
      </p:sp>
      <p:sp>
        <p:nvSpPr>
          <p:cNvPr id="11" name="Oval 10"/>
          <p:cNvSpPr/>
          <p:nvPr/>
        </p:nvSpPr>
        <p:spPr>
          <a:xfrm>
            <a:off x="913637" y="4698492"/>
            <a:ext cx="82296" cy="82296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55954" y="4629912"/>
            <a:ext cx="5200000" cy="21698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41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2×2 버튼과 음성 인식의</a:t>
            </a:r>
            <a:r>
              <a:rPr lang="ko-KR" altLang="en-US" sz="141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 전용 기기</a:t>
            </a:r>
            <a:endParaRPr lang="ko-KR" altLang="en-US" sz="1410" b="0" dirty="0">
              <a:solidFill>
                <a:srgbClr val="0D2F6E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99922" y="5141976"/>
            <a:ext cx="4754880" cy="9525"/>
          </a:xfrm>
          <a:prstGeom prst="rect">
            <a:avLst/>
          </a:prstGeom>
          <a:solidFill>
            <a:srgbClr val="B5D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1634" y="5365885"/>
            <a:ext cx="4200000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000" b="0" dirty="0" err="1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치매링고</a:t>
            </a:r>
            <a:r>
              <a:rPr lang="ko-KR" altLang="en-US" sz="20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 </a:t>
            </a:r>
            <a:r>
              <a:rPr lang="ko-KR" altLang="en-US" sz="2000" b="0" dirty="0" err="1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by</a:t>
            </a:r>
            <a:r>
              <a:rPr lang="ko-KR" altLang="en-US" sz="20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 </a:t>
            </a:r>
            <a:r>
              <a:rPr lang="ko-KR" altLang="en-US" sz="2000" b="0" dirty="0" err="1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보편교육연구소</a:t>
            </a:r>
            <a:endParaRPr lang="ko-KR" altLang="en-US" sz="2000" b="0" dirty="0">
              <a:solidFill>
                <a:srgbClr val="0D2F6E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81634" y="5740000"/>
            <a:ext cx="560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2026 WE CARE MEMORY+ 치매 예방·완화 솔루션 </a:t>
            </a:r>
            <a:r>
              <a:rPr lang="ko-KR" altLang="en-US" sz="1400" b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엑셀러레이팅 아이디어(시범사업 포함)</a:t>
            </a:r>
            <a:r>
              <a:rPr lang="ko-KR" altLang="en-US" sz="14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/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/>
            </a:r>
            <a:r>
              <a:rPr lang="ko-KR" altLang="en-US" sz="14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/>
            </a:r>
            <a:r>
              <a:rPr lang="en-US" altLang="ko-KR" sz="14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/>
            </a:r>
            <a:endParaRPr lang="ko-KR" altLang="en-US" sz="1400" b="0" dirty="0">
              <a:solidFill>
                <a:schemeClr val="tx1">
                  <a:lumMod val="50000"/>
                  <a:lumOff val="50000"/>
                </a:schemeClr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4E9C6F4B-AED3-56C7-72EA-522ACBB5B753}"/>
              </a:ext>
            </a:extLst>
          </p:cNvPr>
          <p:cNvGrpSpPr/>
          <p:nvPr/>
        </p:nvGrpSpPr>
        <p:grpSpPr>
          <a:xfrm>
            <a:off x="10839157" y="5391187"/>
            <a:ext cx="1243584" cy="1243584"/>
            <a:chOff x="6400800" y="5230368"/>
            <a:chExt cx="1243584" cy="1243584"/>
          </a:xfrm>
        </p:grpSpPr>
        <p:sp>
          <p:nvSpPr>
            <p:cNvPr id="16" name="Rounded Rectangle 15"/>
            <p:cNvSpPr/>
            <p:nvPr/>
          </p:nvSpPr>
          <p:spPr>
            <a:xfrm>
              <a:off x="6400800" y="5230368"/>
              <a:ext cx="1243584" cy="1243584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pic>
          <p:nvPicPr>
            <p:cNvPr id="17" name="Picture 16" descr="qr_demo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73952" y="5303520"/>
              <a:ext cx="1097280" cy="1097280"/>
            </a:xfrm>
            <a:prstGeom prst="rect">
              <a:avLst/>
            </a:prstGeom>
            <a:effectLst/>
          </p:spPr>
        </p:pic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E1274BF9-E06C-5546-AB8B-2D8650C25639}"/>
              </a:ext>
            </a:extLst>
          </p:cNvPr>
          <p:cNvGrpSpPr/>
          <p:nvPr/>
        </p:nvGrpSpPr>
        <p:grpSpPr>
          <a:xfrm>
            <a:off x="7357473" y="6207135"/>
            <a:ext cx="3215874" cy="355915"/>
            <a:chOff x="8815344" y="6207135"/>
            <a:chExt cx="3215874" cy="355915"/>
          </a:xfrm>
        </p:grpSpPr>
        <p:sp>
          <p:nvSpPr>
            <p:cNvPr id="18" name="Rounded Rectangle 17"/>
            <p:cNvSpPr/>
            <p:nvPr/>
          </p:nvSpPr>
          <p:spPr>
            <a:xfrm>
              <a:off x="8815344" y="6207135"/>
              <a:ext cx="3215874" cy="355915"/>
            </a:xfrm>
            <a:prstGeom prst="roundRect">
              <a:avLst>
                <a:gd name="adj" fmla="val 50000"/>
              </a:avLst>
            </a:prstGeom>
            <a:solidFill>
              <a:srgbClr val="0D2F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dirty="0"/>
            </a:p>
          </p:txBody>
        </p:sp>
        <p:sp>
          <p:nvSpPr>
            <p:cNvPr id="19" name="Oval 18"/>
            <p:cNvSpPr/>
            <p:nvPr/>
          </p:nvSpPr>
          <p:spPr>
            <a:xfrm>
              <a:off x="9025655" y="6296443"/>
              <a:ext cx="128016" cy="128016"/>
            </a:xfrm>
            <a:prstGeom prst="ellipse">
              <a:avLst/>
            </a:prstGeom>
            <a:solidFill>
              <a:srgbClr val="2F80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272544" y="6251960"/>
              <a:ext cx="2480038" cy="21698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410" b="0" dirty="0" err="1">
                  <a:solidFill>
                    <a:srgbClr val="FFFFFF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haru-korea.vercel.app</a:t>
              </a:r>
              <a:endParaRPr lang="ko-KR" altLang="en-US" sz="1410" b="0" dirty="0">
                <a:solidFill>
                  <a:srgbClr val="FFFFFF"/>
                </a:solidFill>
                <a:latin typeface="나눔스퀘어라운드 Bold"/>
                <a:ea typeface="나눔스퀘어라운드 Bold"/>
                <a:cs typeface="나눔스퀘어라운드 Bold"/>
              </a:endParaRPr>
            </a:p>
          </p:txBody>
        </p:sp>
      </p:grpSp>
      <p:sp>
        <p:nvSpPr>
          <p:cNvPr id="24" name="Rectangle 4">
            <a:extLst>
              <a:ext uri="{FF2B5EF4-FFF2-40B4-BE49-F238E27FC236}">
                <a16:creationId xmlns:a16="http://schemas.microsoft.com/office/drawing/2014/main" id="{D9E450B4-0FDB-A680-D795-634687799504}"/>
              </a:ext>
            </a:extLst>
          </p:cNvPr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Picture 2" descr="logo.png">
            <a:extLst>
              <a:ext uri="{FF2B5EF4-FFF2-40B4-BE49-F238E27FC236}">
                <a16:creationId xmlns:a16="http://schemas.microsoft.com/office/drawing/2014/main" id="{82BA9DC0-5BB7-DFAB-1D3B-3C43DD8152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882" y="220000"/>
            <a:ext cx="1874520" cy="18745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ounded Rectangle 38">
            <a:extLst>
              <a:ext uri="{FF2B5EF4-FFF2-40B4-BE49-F238E27FC236}">
                <a16:creationId xmlns:a16="http://schemas.microsoft.com/office/drawing/2014/main" id="{26F8E544-C380-E1F1-39EE-7FD614766A94}"/>
              </a:ext>
            </a:extLst>
          </p:cNvPr>
          <p:cNvSpPr/>
          <p:nvPr/>
        </p:nvSpPr>
        <p:spPr>
          <a:xfrm>
            <a:off x="1436770" y="3869944"/>
            <a:ext cx="9318460" cy="716458"/>
          </a:xfrm>
          <a:prstGeom prst="roundRect">
            <a:avLst>
              <a:gd name="adj" fmla="val 17252"/>
            </a:avLst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PROBLEM · 문제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늘어나는 치매와 수기 </a:t>
            </a:r>
            <a:r>
              <a:rPr lang="ko-KR" altLang="en-US" sz="3150" b="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일기의 공백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치매 인구 증가 · 매일 정신상태검사(MSE) 수기 · 디지털 공백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55648"/>
            <a:ext cx="3502152" cy="19933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80744" y="1937154"/>
            <a:ext cx="1271182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가족 · 보호자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52120"/>
            <a:ext cx="3108960" cy="6463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639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매일의 안부와 변화를</a:t>
            </a:r>
          </a:p>
          <a:p>
            <a:pPr algn="l">
              <a:lnSpc>
                <a:spcPct val="142000"/>
              </a:lnSpc>
            </a:pPr>
            <a:r>
              <a:rPr lang="ko-KR" altLang="en-US" sz="1639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확인할 도구가 없다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100872"/>
            <a:ext cx="3200400" cy="4876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아이는 </a:t>
            </a:r>
            <a:r>
              <a:rPr lang="ko-KR" altLang="en-US" sz="1200" b="0" dirty="0" err="1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학습앱으로</a:t>
            </a: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 챙기지만,</a:t>
            </a:r>
          </a:p>
          <a:p>
            <a:pPr algn="l">
              <a:lnSpc>
                <a:spcPct val="142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부모님 안부는 </a:t>
            </a:r>
            <a:r>
              <a:rPr lang="ko-KR" altLang="en-US" sz="1200" b="0" dirty="0" err="1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가끔의</a:t>
            </a: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 </a:t>
            </a:r>
            <a:r>
              <a:rPr lang="ko-KR" altLang="en-US" sz="1200" b="0" dirty="0" err="1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전화뿐입니다</a:t>
            </a: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55648"/>
            <a:ext cx="3502152" cy="19933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9784" y="1937154"/>
            <a:ext cx="1271182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치매환자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352120"/>
            <a:ext cx="3108960" cy="6463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639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매일의 일기가 상태를</a:t>
            </a:r>
          </a:p>
          <a:p>
            <a:pPr algn="l">
              <a:lnSpc>
                <a:spcPct val="142000"/>
              </a:lnSpc>
            </a:pPr>
            <a:r>
              <a:rPr lang="ko-KR" altLang="en-US" sz="1639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판단하는 근거다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3100872"/>
            <a:ext cx="3200400" cy="4876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병원은 같은 문항을 매일 묻고,</a:t>
            </a:r>
          </a:p>
          <a:p>
            <a:pPr algn="l">
              <a:lnSpc>
                <a:spcPct val="142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가정에는 남길 수단이 없습니다.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755648"/>
            <a:ext cx="3502152" cy="19933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78824" y="1937154"/>
            <a:ext cx="1481175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병원 · 의료진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2352120"/>
            <a:ext cx="3108960" cy="6463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639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매일 같은 MSE를</a:t>
            </a:r>
          </a:p>
          <a:p>
            <a:pPr algn="l">
              <a:lnSpc>
                <a:spcPct val="142000"/>
              </a:lnSpc>
            </a:pPr>
            <a:r>
              <a:rPr lang="ko-KR" altLang="en-US" sz="1639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수기로 적는다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3100872"/>
            <a:ext cx="3200400" cy="4876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간호사·실습생 인력에 기대고</a:t>
            </a:r>
          </a:p>
          <a:p>
            <a:pPr algn="l">
              <a:lnSpc>
                <a:spcPct val="142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디지털로 쌓이지 않습니다.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38971" y="4041648"/>
            <a:ext cx="7914026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24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매일의 일기가 필요한데, </a:t>
            </a:r>
            <a:r>
              <a:rPr lang="ko-KR" altLang="en-US" sz="2400" b="0" dirty="0">
                <a:solidFill>
                  <a:srgbClr val="00B39A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아직 수기에 머물러 있습니다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4736592"/>
            <a:ext cx="3502152" cy="254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4882896"/>
            <a:ext cx="1410643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600" b="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20.3%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468112"/>
            <a:ext cx="3502152" cy="2559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65세 이상 인구 비중 · 한국 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724144"/>
            <a:ext cx="2247410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출처 · 국가데이터처 2025 고령자 통계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736592"/>
            <a:ext cx="3502152" cy="254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43400" y="4882896"/>
            <a:ext cx="2351606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600" b="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약 100만 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5468112"/>
            <a:ext cx="3502152" cy="2559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65세 이상 추정 치매 인구 · 2026 전망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5724144"/>
            <a:ext cx="2212144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출처 · 보건복지부 2023 치매역학조사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92440" y="4736592"/>
            <a:ext cx="3502152" cy="254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92440" y="4882896"/>
            <a:ext cx="1410643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600" b="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45.8%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5468112"/>
            <a:ext cx="3502152" cy="2559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지역사회 치매환자 가족 돌봄 부담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5724144"/>
            <a:ext cx="1862689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출처 · 보건복지부 2023 치매실태조사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B5D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치매링고 · 보편교육연구소 · 문제 정의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02</a:t>
            </a:r>
          </a:p>
        </p:txBody>
      </p:sp>
      <p:pic>
        <p:nvPicPr>
          <p:cNvPr id="40" name="Picture 39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649" y="250000"/>
            <a:ext cx="822960" cy="822960"/>
          </a:xfrm>
          <a:prstGeom prst="rect">
            <a:avLst/>
          </a:prstGeom>
          <a:effectLst/>
        </p:spPr>
      </p:pic>
      <p:grpSp>
        <p:nvGrpSpPr>
          <p:cNvPr id="55" name="그룹 54">
            <a:extLst>
              <a:ext uri="{FF2B5EF4-FFF2-40B4-BE49-F238E27FC236}">
                <a16:creationId xmlns:a16="http://schemas.microsoft.com/office/drawing/2014/main" id="{41F6E3BD-BCB9-4A8E-1434-4809C2A0A202}"/>
              </a:ext>
            </a:extLst>
          </p:cNvPr>
          <p:cNvGrpSpPr/>
          <p:nvPr/>
        </p:nvGrpSpPr>
        <p:grpSpPr>
          <a:xfrm>
            <a:off x="838339" y="1866103"/>
            <a:ext cx="419100" cy="419100"/>
            <a:chOff x="838339" y="1860080"/>
            <a:chExt cx="419100" cy="419100"/>
          </a:xfrm>
        </p:grpSpPr>
        <p:sp>
          <p:nvSpPr>
            <p:cNvPr id="42" name="Rectangle 8">
              <a:extLst>
                <a:ext uri="{FF2B5EF4-FFF2-40B4-BE49-F238E27FC236}">
                  <a16:creationId xmlns:a16="http://schemas.microsoft.com/office/drawing/2014/main" id="{8B91D425-76FE-4C84-D0A0-0C4421F6B02F}"/>
                </a:ext>
              </a:extLst>
            </p:cNvPr>
            <p:cNvSpPr/>
            <p:nvPr/>
          </p:nvSpPr>
          <p:spPr>
            <a:xfrm>
              <a:off x="838339" y="1860080"/>
              <a:ext cx="419100" cy="419100"/>
            </a:xfrm>
            <a:prstGeom prst="roundRect">
              <a:avLst>
                <a:gd name="adj" fmla="val 27273"/>
              </a:avLst>
            </a:prstGeom>
            <a:solidFill>
              <a:srgbClr val="F6C7CF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44" name="Freeform 9">
              <a:extLst>
                <a:ext uri="{FF2B5EF4-FFF2-40B4-BE49-F238E27FC236}">
                  <a16:creationId xmlns:a16="http://schemas.microsoft.com/office/drawing/2014/main" id="{A968C8A1-FB1B-00E5-5BA4-6C78F7EE70A1}"/>
                </a:ext>
              </a:extLst>
            </p:cNvPr>
            <p:cNvSpPr/>
            <p:nvPr/>
          </p:nvSpPr>
          <p:spPr>
            <a:xfrm>
              <a:off x="940442" y="1974373"/>
              <a:ext cx="214616" cy="189136"/>
            </a:xfrm>
            <a:custGeom>
              <a:avLst/>
              <a:gdLst/>
              <a:ahLst/>
              <a:cxnLst/>
              <a:rect l="l" t="t" r="r" b="b"/>
              <a:pathLst>
                <a:path w="214616" h="189136">
                  <a:moveTo>
                    <a:pt x="55636" y="3152"/>
                  </a:moveTo>
                  <a:cubicBezTo>
                    <a:pt x="74135" y="0"/>
                    <a:pt x="93064" y="5408"/>
                    <a:pt x="107106" y="17856"/>
                  </a:cubicBezTo>
                  <a:lnTo>
                    <a:pt x="107488" y="18197"/>
                  </a:lnTo>
                  <a:lnTo>
                    <a:pt x="107839" y="17887"/>
                  </a:lnTo>
                  <a:cubicBezTo>
                    <a:pt x="121224" y="6141"/>
                    <a:pt x="139019" y="727"/>
                    <a:pt x="156678" y="3028"/>
                  </a:cubicBezTo>
                  <a:lnTo>
                    <a:pt x="159216" y="3400"/>
                  </a:lnTo>
                  <a:cubicBezTo>
                    <a:pt x="181632" y="7270"/>
                    <a:pt x="200120" y="23121"/>
                    <a:pt x="207368" y="44683"/>
                  </a:cubicBezTo>
                  <a:cubicBezTo>
                    <a:pt x="214616" y="66245"/>
                    <a:pt x="209455" y="90045"/>
                    <a:pt x="193928" y="106670"/>
                  </a:cubicBezTo>
                  <a:lnTo>
                    <a:pt x="192071" y="108579"/>
                  </a:lnTo>
                  <a:lnTo>
                    <a:pt x="191576" y="109002"/>
                  </a:lnTo>
                  <a:lnTo>
                    <a:pt x="114701" y="185144"/>
                  </a:lnTo>
                  <a:cubicBezTo>
                    <a:pt x="111032" y="188775"/>
                    <a:pt x="105244" y="189136"/>
                    <a:pt x="101152" y="185990"/>
                  </a:cubicBezTo>
                  <a:lnTo>
                    <a:pt x="100182" y="185144"/>
                  </a:lnTo>
                  <a:lnTo>
                    <a:pt x="22864" y="108558"/>
                  </a:lnTo>
                  <a:cubicBezTo>
                    <a:pt x="6162" y="92307"/>
                    <a:pt x="0" y="68055"/>
                    <a:pt x="6919" y="45803"/>
                  </a:cubicBezTo>
                  <a:cubicBezTo>
                    <a:pt x="13837" y="23550"/>
                    <a:pt x="32665" y="7067"/>
                    <a:pt x="55636" y="3152"/>
                  </a:cubicBezTo>
                  <a:close/>
                </a:path>
              </a:pathLst>
            </a:custGeom>
            <a:solidFill>
              <a:srgbClr val="00B39A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424B8D7B-646E-65AE-874F-F8920D947990}"/>
              </a:ext>
            </a:extLst>
          </p:cNvPr>
          <p:cNvGrpSpPr/>
          <p:nvPr/>
        </p:nvGrpSpPr>
        <p:grpSpPr>
          <a:xfrm>
            <a:off x="4587240" y="1866103"/>
            <a:ext cx="419100" cy="419100"/>
            <a:chOff x="4539456" y="1852739"/>
            <a:chExt cx="419100" cy="419100"/>
          </a:xfrm>
        </p:grpSpPr>
        <p:sp>
          <p:nvSpPr>
            <p:cNvPr id="45" name="Rectangle 17">
              <a:extLst>
                <a:ext uri="{FF2B5EF4-FFF2-40B4-BE49-F238E27FC236}">
                  <a16:creationId xmlns:a16="http://schemas.microsoft.com/office/drawing/2014/main" id="{3AD55E35-8CBD-BFEC-52D5-6203555763FD}"/>
                </a:ext>
              </a:extLst>
            </p:cNvPr>
            <p:cNvSpPr/>
            <p:nvPr/>
          </p:nvSpPr>
          <p:spPr>
            <a:xfrm>
              <a:off x="4539456" y="1852739"/>
              <a:ext cx="419100" cy="419100"/>
            </a:xfrm>
            <a:prstGeom prst="roundRect">
              <a:avLst>
                <a:gd name="adj" fmla="val 27273"/>
              </a:avLst>
            </a:prstGeom>
            <a:solidFill>
              <a:srgbClr val="E8F4FF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grpSp>
          <p:nvGrpSpPr>
            <p:cNvPr id="46" name="Group 20">
              <a:extLst>
                <a:ext uri="{FF2B5EF4-FFF2-40B4-BE49-F238E27FC236}">
                  <a16:creationId xmlns:a16="http://schemas.microsoft.com/office/drawing/2014/main" id="{BBB02EEF-BAD1-542E-36DA-2C6C3063EC63}"/>
                </a:ext>
              </a:extLst>
            </p:cNvPr>
            <p:cNvGrpSpPr/>
            <p:nvPr/>
          </p:nvGrpSpPr>
          <p:grpSpPr>
            <a:xfrm>
              <a:off x="4676775" y="1959101"/>
              <a:ext cx="144462" cy="206376"/>
              <a:chOff x="4728369" y="1782762"/>
              <a:chExt cx="144462" cy="206376"/>
            </a:xfrm>
          </p:grpSpPr>
          <p:sp>
            <p:nvSpPr>
              <p:cNvPr id="47" name="Freeform 18">
                <a:extLst>
                  <a:ext uri="{FF2B5EF4-FFF2-40B4-BE49-F238E27FC236}">
                    <a16:creationId xmlns:a16="http://schemas.microsoft.com/office/drawing/2014/main" id="{933D9564-A76E-3328-4F72-B9A8BD84E112}"/>
                  </a:ext>
                </a:extLst>
              </p:cNvPr>
              <p:cNvSpPr/>
              <p:nvPr/>
            </p:nvSpPr>
            <p:spPr>
              <a:xfrm>
                <a:off x="4749006" y="1782762"/>
                <a:ext cx="103188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103188" h="103188">
                    <a:moveTo>
                      <a:pt x="51594" y="0"/>
                    </a:moveTo>
                    <a:cubicBezTo>
                      <a:pt x="80088" y="0"/>
                      <a:pt x="103188" y="23099"/>
                      <a:pt x="103188" y="51594"/>
                    </a:cubicBezTo>
                    <a:cubicBezTo>
                      <a:pt x="103188" y="80088"/>
                      <a:pt x="80088" y="103188"/>
                      <a:pt x="51594" y="103188"/>
                    </a:cubicBezTo>
                    <a:cubicBezTo>
                      <a:pt x="23099" y="103188"/>
                      <a:pt x="0" y="80088"/>
                      <a:pt x="0" y="51594"/>
                    </a:cubicBezTo>
                    <a:lnTo>
                      <a:pt x="52" y="49355"/>
                    </a:lnTo>
                    <a:cubicBezTo>
                      <a:pt x="1250" y="21758"/>
                      <a:pt x="23971" y="2"/>
                      <a:pt x="51594" y="0"/>
                    </a:cubicBezTo>
                    <a:close/>
                  </a:path>
                </a:pathLst>
              </a:custGeom>
              <a:solidFill>
                <a:srgbClr val="0D2F6E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48" name="Freeform 19">
                <a:extLst>
                  <a:ext uri="{FF2B5EF4-FFF2-40B4-BE49-F238E27FC236}">
                    <a16:creationId xmlns:a16="http://schemas.microsoft.com/office/drawing/2014/main" id="{24766954-E9B6-D213-E234-1774EF3583BE}"/>
                  </a:ext>
                </a:extLst>
              </p:cNvPr>
              <p:cNvSpPr/>
              <p:nvPr/>
            </p:nvSpPr>
            <p:spPr>
              <a:xfrm>
                <a:off x="4728369" y="1906588"/>
                <a:ext cx="144462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82550">
                    <a:moveTo>
                      <a:pt x="92869" y="0"/>
                    </a:moveTo>
                    <a:cubicBezTo>
                      <a:pt x="121363" y="0"/>
                      <a:pt x="144462" y="23099"/>
                      <a:pt x="144462" y="51594"/>
                    </a:cubicBezTo>
                    <a:lnTo>
                      <a:pt x="144462" y="61912"/>
                    </a:lnTo>
                    <a:cubicBezTo>
                      <a:pt x="144462" y="73310"/>
                      <a:pt x="135223" y="82550"/>
                      <a:pt x="123825" y="82550"/>
                    </a:cubicBezTo>
                    <a:lnTo>
                      <a:pt x="20637" y="82550"/>
                    </a:lnTo>
                    <a:cubicBezTo>
                      <a:pt x="9240" y="82550"/>
                      <a:pt x="0" y="73310"/>
                      <a:pt x="0" y="61912"/>
                    </a:cubicBezTo>
                    <a:lnTo>
                      <a:pt x="0" y="51594"/>
                    </a:lnTo>
                    <a:cubicBezTo>
                      <a:pt x="0" y="23099"/>
                      <a:pt x="23099" y="0"/>
                      <a:pt x="51594" y="0"/>
                    </a:cubicBezTo>
                    <a:lnTo>
                      <a:pt x="92869" y="0"/>
                    </a:lnTo>
                    <a:close/>
                  </a:path>
                </a:pathLst>
              </a:custGeom>
              <a:solidFill>
                <a:srgbClr val="0D2F6E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</p:grp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B1A32792-4C07-BD90-356E-E452662A9AA9}"/>
              </a:ext>
            </a:extLst>
          </p:cNvPr>
          <p:cNvGrpSpPr/>
          <p:nvPr/>
        </p:nvGrpSpPr>
        <p:grpSpPr>
          <a:xfrm>
            <a:off x="8336280" y="1866103"/>
            <a:ext cx="419100" cy="419100"/>
            <a:chOff x="8266938" y="1879468"/>
            <a:chExt cx="419100" cy="419100"/>
          </a:xfrm>
        </p:grpSpPr>
        <p:sp>
          <p:nvSpPr>
            <p:cNvPr id="50" name="Rectangle 28">
              <a:extLst>
                <a:ext uri="{FF2B5EF4-FFF2-40B4-BE49-F238E27FC236}">
                  <a16:creationId xmlns:a16="http://schemas.microsoft.com/office/drawing/2014/main" id="{BDCF59A8-44F2-68C3-F4DF-8FA2371A3FD7}"/>
                </a:ext>
              </a:extLst>
            </p:cNvPr>
            <p:cNvSpPr/>
            <p:nvPr/>
          </p:nvSpPr>
          <p:spPr>
            <a:xfrm>
              <a:off x="8266938" y="1879468"/>
              <a:ext cx="419100" cy="419100"/>
            </a:xfrm>
            <a:prstGeom prst="roundRect">
              <a:avLst>
                <a:gd name="adj" fmla="val 27273"/>
              </a:avLst>
            </a:prstGeom>
            <a:solidFill>
              <a:srgbClr val="D8F6E3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52" name="Freeform 29">
              <a:extLst>
                <a:ext uri="{FF2B5EF4-FFF2-40B4-BE49-F238E27FC236}">
                  <a16:creationId xmlns:a16="http://schemas.microsoft.com/office/drawing/2014/main" id="{945D575B-4128-6D61-E684-AA501DAA9185}"/>
                </a:ext>
              </a:extLst>
            </p:cNvPr>
            <p:cNvSpPr/>
            <p:nvPr/>
          </p:nvSpPr>
          <p:spPr>
            <a:xfrm>
              <a:off x="8373300" y="1985830"/>
              <a:ext cx="206375" cy="206375"/>
            </a:xfrm>
            <a:custGeom>
              <a:avLst/>
              <a:gdLst/>
              <a:ahLst/>
              <a:cxnLst/>
              <a:rect l="l" t="t" r="r" b="b"/>
              <a:pathLst>
                <a:path w="206375" h="206375">
                  <a:moveTo>
                    <a:pt x="103188" y="0"/>
                  </a:moveTo>
                  <a:cubicBezTo>
                    <a:pt x="160178" y="0"/>
                    <a:pt x="206375" y="46197"/>
                    <a:pt x="206375" y="103188"/>
                  </a:cubicBezTo>
                  <a:cubicBezTo>
                    <a:pt x="206375" y="160176"/>
                    <a:pt x="160176" y="206375"/>
                    <a:pt x="103188" y="206375"/>
                  </a:cubicBezTo>
                  <a:cubicBezTo>
                    <a:pt x="46199" y="206375"/>
                    <a:pt x="0" y="160176"/>
                    <a:pt x="0" y="103188"/>
                  </a:cubicBezTo>
                  <a:lnTo>
                    <a:pt x="41" y="100298"/>
                  </a:lnTo>
                  <a:cubicBezTo>
                    <a:pt x="1568" y="44649"/>
                    <a:pt x="47157" y="0"/>
                    <a:pt x="103188" y="0"/>
                  </a:cubicBezTo>
                  <a:moveTo>
                    <a:pt x="123825" y="51594"/>
                  </a:moveTo>
                  <a:cubicBezTo>
                    <a:pt x="118126" y="51594"/>
                    <a:pt x="113506" y="56214"/>
                    <a:pt x="113506" y="61912"/>
                  </a:cubicBezTo>
                  <a:lnTo>
                    <a:pt x="113506" y="92858"/>
                  </a:lnTo>
                  <a:lnTo>
                    <a:pt x="92869" y="92858"/>
                  </a:lnTo>
                  <a:lnTo>
                    <a:pt x="92869" y="61912"/>
                  </a:lnTo>
                  <a:cubicBezTo>
                    <a:pt x="92868" y="56681"/>
                    <a:pt x="88953" y="52278"/>
                    <a:pt x="83757" y="51666"/>
                  </a:cubicBezTo>
                  <a:lnTo>
                    <a:pt x="82550" y="51594"/>
                  </a:lnTo>
                  <a:cubicBezTo>
                    <a:pt x="76851" y="51594"/>
                    <a:pt x="72231" y="56214"/>
                    <a:pt x="72231" y="61912"/>
                  </a:cubicBezTo>
                  <a:lnTo>
                    <a:pt x="72231" y="144463"/>
                  </a:lnTo>
                  <a:cubicBezTo>
                    <a:pt x="72231" y="150161"/>
                    <a:pt x="76851" y="154781"/>
                    <a:pt x="82550" y="154781"/>
                  </a:cubicBezTo>
                  <a:cubicBezTo>
                    <a:pt x="88249" y="154781"/>
                    <a:pt x="92869" y="150161"/>
                    <a:pt x="92869" y="144463"/>
                  </a:cubicBezTo>
                  <a:lnTo>
                    <a:pt x="92869" y="113496"/>
                  </a:lnTo>
                  <a:lnTo>
                    <a:pt x="113506" y="113496"/>
                  </a:lnTo>
                  <a:lnTo>
                    <a:pt x="113506" y="144463"/>
                  </a:lnTo>
                  <a:cubicBezTo>
                    <a:pt x="113507" y="149694"/>
                    <a:pt x="117422" y="154097"/>
                    <a:pt x="122618" y="154709"/>
                  </a:cubicBezTo>
                  <a:lnTo>
                    <a:pt x="123825" y="154781"/>
                  </a:lnTo>
                  <a:cubicBezTo>
                    <a:pt x="129524" y="154781"/>
                    <a:pt x="134144" y="150161"/>
                    <a:pt x="134144" y="144463"/>
                  </a:cubicBezTo>
                  <a:lnTo>
                    <a:pt x="134144" y="61912"/>
                  </a:lnTo>
                  <a:cubicBezTo>
                    <a:pt x="134144" y="56214"/>
                    <a:pt x="129524" y="51594"/>
                    <a:pt x="123825" y="51594"/>
                  </a:cubicBezTo>
                </a:path>
              </a:pathLst>
            </a:custGeom>
            <a:solidFill>
              <a:srgbClr val="34C759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그룹 67">
            <a:extLst>
              <a:ext uri="{FF2B5EF4-FFF2-40B4-BE49-F238E27FC236}">
                <a16:creationId xmlns:a16="http://schemas.microsoft.com/office/drawing/2014/main" id="{B375C6EB-E70A-6E3C-5C00-C819E0347E82}"/>
              </a:ext>
            </a:extLst>
          </p:cNvPr>
          <p:cNvGrpSpPr/>
          <p:nvPr/>
        </p:nvGrpSpPr>
        <p:grpSpPr>
          <a:xfrm>
            <a:off x="3934945" y="2089521"/>
            <a:ext cx="4152900" cy="2286000"/>
            <a:chOff x="4019550" y="2039817"/>
            <a:chExt cx="4152900" cy="2286000"/>
          </a:xfrm>
        </p:grpSpPr>
        <p:grpSp>
          <p:nvGrpSpPr>
            <p:cNvPr id="56" name="Group 13">
              <a:extLst>
                <a:ext uri="{FF2B5EF4-FFF2-40B4-BE49-F238E27FC236}">
                  <a16:creationId xmlns:a16="http://schemas.microsoft.com/office/drawing/2014/main" id="{40DA31C2-89F3-E25E-60CB-9DB0D83B3E88}"/>
                </a:ext>
              </a:extLst>
            </p:cNvPr>
            <p:cNvGrpSpPr/>
            <p:nvPr/>
          </p:nvGrpSpPr>
          <p:grpSpPr>
            <a:xfrm>
              <a:off x="4019550" y="2039817"/>
              <a:ext cx="4152900" cy="2286000"/>
              <a:chOff x="4019550" y="2171700"/>
              <a:chExt cx="4152900" cy="2286000"/>
            </a:xfrm>
          </p:grpSpPr>
          <p:sp>
            <p:nvSpPr>
              <p:cNvPr id="57" name="Ellipse 7">
                <a:extLst>
                  <a:ext uri="{FF2B5EF4-FFF2-40B4-BE49-F238E27FC236}">
                    <a16:creationId xmlns:a16="http://schemas.microsoft.com/office/drawing/2014/main" id="{7244949F-F85E-80E5-F2D9-A6BC3CF1509B}"/>
                  </a:ext>
                </a:extLst>
              </p:cNvPr>
              <p:cNvSpPr/>
              <p:nvPr/>
            </p:nvSpPr>
            <p:spPr>
              <a:xfrm>
                <a:off x="4953000" y="2171700"/>
                <a:ext cx="2286000" cy="2286000"/>
              </a:xfrm>
              <a:prstGeom prst="ellipse">
                <a:avLst/>
              </a:prstGeom>
              <a:noFill/>
              <a:ln w="14288">
                <a:solidFill>
                  <a:srgbClr val="D5DEE5"/>
                </a:solidFill>
                <a:custDash>
                  <a:ds d="400000" sp="400000"/>
                </a:custDash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59" name="Line 9">
                <a:extLst>
                  <a:ext uri="{FF2B5EF4-FFF2-40B4-BE49-F238E27FC236}">
                    <a16:creationId xmlns:a16="http://schemas.microsoft.com/office/drawing/2014/main" id="{B8F73BCB-C48C-A3E7-E60A-62B963BA07C4}"/>
                  </a:ext>
                </a:extLst>
              </p:cNvPr>
              <p:cNvSpPr/>
              <p:nvPr/>
            </p:nvSpPr>
            <p:spPr>
              <a:xfrm>
                <a:off x="4019550" y="2362200"/>
                <a:ext cx="146685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466850" h="571500">
                    <a:moveTo>
                      <a:pt x="1466850" y="5715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B5D4F8"/>
                </a:solidFill>
                <a:custDash>
                  <a:ds d="300000" sp="300000"/>
                </a:custDash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60" name="Line 10">
                <a:extLst>
                  <a:ext uri="{FF2B5EF4-FFF2-40B4-BE49-F238E27FC236}">
                    <a16:creationId xmlns:a16="http://schemas.microsoft.com/office/drawing/2014/main" id="{09B87292-AD93-91C8-DB11-35770D554E4B}"/>
                  </a:ext>
                </a:extLst>
              </p:cNvPr>
              <p:cNvSpPr/>
              <p:nvPr/>
            </p:nvSpPr>
            <p:spPr>
              <a:xfrm>
                <a:off x="6705600" y="2362200"/>
                <a:ext cx="146685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466850" h="571500">
                    <a:moveTo>
                      <a:pt x="0" y="571500"/>
                    </a:moveTo>
                    <a:lnTo>
                      <a:pt x="1466850" y="0"/>
                    </a:lnTo>
                  </a:path>
                </a:pathLst>
              </a:custGeom>
              <a:noFill/>
              <a:ln w="19050">
                <a:solidFill>
                  <a:srgbClr val="B5D4F8"/>
                </a:solidFill>
                <a:custDash>
                  <a:ds d="300000" sp="300000"/>
                </a:custDash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61" name="Line 11">
                <a:extLst>
                  <a:ext uri="{FF2B5EF4-FFF2-40B4-BE49-F238E27FC236}">
                    <a16:creationId xmlns:a16="http://schemas.microsoft.com/office/drawing/2014/main" id="{8CF46B06-9483-900A-365A-EFD5B47F3A54}"/>
                  </a:ext>
                </a:extLst>
              </p:cNvPr>
              <p:cNvSpPr/>
              <p:nvPr/>
            </p:nvSpPr>
            <p:spPr>
              <a:xfrm>
                <a:off x="4019550" y="3695700"/>
                <a:ext cx="146685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466850" h="571500">
                    <a:moveTo>
                      <a:pt x="1466850" y="0"/>
                    </a:moveTo>
                    <a:lnTo>
                      <a:pt x="0" y="571500"/>
                    </a:lnTo>
                  </a:path>
                </a:pathLst>
              </a:custGeom>
              <a:noFill/>
              <a:ln w="19050">
                <a:solidFill>
                  <a:srgbClr val="B5D4F8"/>
                </a:solidFill>
                <a:custDash>
                  <a:ds d="300000" sp="300000"/>
                </a:custDash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62" name="Line 12">
                <a:extLst>
                  <a:ext uri="{FF2B5EF4-FFF2-40B4-BE49-F238E27FC236}">
                    <a16:creationId xmlns:a16="http://schemas.microsoft.com/office/drawing/2014/main" id="{55C7A0B3-EB56-1037-C9F2-27F36DD17C40}"/>
                  </a:ext>
                </a:extLst>
              </p:cNvPr>
              <p:cNvSpPr/>
              <p:nvPr/>
            </p:nvSpPr>
            <p:spPr>
              <a:xfrm>
                <a:off x="6705600" y="3695700"/>
                <a:ext cx="146685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466850" h="571500">
                    <a:moveTo>
                      <a:pt x="0" y="0"/>
                    </a:moveTo>
                    <a:lnTo>
                      <a:pt x="1466850" y="571500"/>
                    </a:lnTo>
                  </a:path>
                </a:pathLst>
              </a:custGeom>
              <a:noFill/>
              <a:ln w="19050">
                <a:solidFill>
                  <a:srgbClr val="B5D4F8"/>
                </a:solidFill>
                <a:custDash>
                  <a:ds d="300000" sp="300000"/>
                </a:custDash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</p:grpSp>
        <p:grpSp>
          <p:nvGrpSpPr>
            <p:cNvPr id="63" name="Group 18">
              <a:extLst>
                <a:ext uri="{FF2B5EF4-FFF2-40B4-BE49-F238E27FC236}">
                  <a16:creationId xmlns:a16="http://schemas.microsoft.com/office/drawing/2014/main" id="{B425260C-ACA6-1811-A5CB-A66785D7B441}"/>
                </a:ext>
              </a:extLst>
            </p:cNvPr>
            <p:cNvGrpSpPr/>
            <p:nvPr/>
          </p:nvGrpSpPr>
          <p:grpSpPr>
            <a:xfrm>
              <a:off x="5314950" y="2401767"/>
              <a:ext cx="1562100" cy="1562100"/>
              <a:chOff x="5314950" y="2533650"/>
              <a:chExt cx="1562100" cy="1562100"/>
            </a:xfrm>
            <a:solidFill>
              <a:srgbClr val="2F80ED"/>
            </a:solidFill>
          </p:grpSpPr>
          <p:sp>
            <p:nvSpPr>
              <p:cNvPr id="64" name="Ellipse 14">
                <a:extLst>
                  <a:ext uri="{FF2B5EF4-FFF2-40B4-BE49-F238E27FC236}">
                    <a16:creationId xmlns:a16="http://schemas.microsoft.com/office/drawing/2014/main" id="{7F98A053-AC1F-BCD5-0F87-055C81BA0CBD}"/>
                  </a:ext>
                </a:extLst>
              </p:cNvPr>
              <p:cNvSpPr/>
              <p:nvPr/>
            </p:nvSpPr>
            <p:spPr>
              <a:xfrm>
                <a:off x="5314950" y="2533650"/>
                <a:ext cx="1562100" cy="15621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65" name="Ellipse 15">
                <a:extLst>
                  <a:ext uri="{FF2B5EF4-FFF2-40B4-BE49-F238E27FC236}">
                    <a16:creationId xmlns:a16="http://schemas.microsoft.com/office/drawing/2014/main" id="{43FD5FD6-D3FC-0D9F-8A8B-DB536328E2E9}"/>
                  </a:ext>
                </a:extLst>
              </p:cNvPr>
              <p:cNvSpPr/>
              <p:nvPr/>
            </p:nvSpPr>
            <p:spPr>
              <a:xfrm>
                <a:off x="5429250" y="2647950"/>
                <a:ext cx="1333500" cy="1333500"/>
              </a:xfrm>
              <a:prstGeom prst="ellipse">
                <a:avLst/>
              </a:prstGeom>
              <a:grpFill/>
              <a:ln w="14288">
                <a:solidFill>
                  <a:srgbClr val="FFFFFF">
                    <a:alpha val="40000"/>
                  </a:srgbClr>
                </a:solidFill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66" name="TextBox 16">
                <a:extLst>
                  <a:ext uri="{FF2B5EF4-FFF2-40B4-BE49-F238E27FC236}">
                    <a16:creationId xmlns:a16="http://schemas.microsoft.com/office/drawing/2014/main" id="{1DA71D68-AE39-7038-EF28-3523FF79D41E}"/>
                  </a:ext>
                </a:extLst>
              </p:cNvPr>
              <p:cNvSpPr txBox="1"/>
              <p:nvPr/>
            </p:nvSpPr>
            <p:spPr>
              <a:xfrm>
                <a:off x="5580000" y="3020000"/>
                <a:ext cx="1050000" cy="3200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00" b="1" dirty="0">
                    <a:solidFill>
                      <a:srgbClr val="FFFFFF"/>
                    </a:solidFill>
                    <a:latin typeface="나눔스퀘어라운드OTF Bold" panose="020B0600000101010101" pitchFamily="34" charset="-127"/>
                    <a:ea typeface="나눔스퀘어라운드OTF Bold" panose="020B0600000101010101" pitchFamily="34" charset="-127"/>
                    <a:cs typeface="Pretendard"/>
                  </a:rPr>
                  <a:t>치매링고</a:t>
                </a:r>
              </a:p>
            </p:txBody>
          </p:sp>
          <p:sp>
            <p:nvSpPr>
              <p:cNvPr id="67" name="TextBox 17">
                <a:extLst>
                  <a:ext uri="{FF2B5EF4-FFF2-40B4-BE49-F238E27FC236}">
                    <a16:creationId xmlns:a16="http://schemas.microsoft.com/office/drawing/2014/main" id="{59112F3C-5B7C-EE12-79A4-73FD1BA7648D}"/>
                  </a:ext>
                </a:extLst>
              </p:cNvPr>
              <p:cNvSpPr txBox="1"/>
              <p:nvPr/>
            </p:nvSpPr>
            <p:spPr>
              <a:xfrm>
                <a:off x="5686433" y="3440906"/>
                <a:ext cx="819135" cy="17312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E8F4FF"/>
                    </a:solidFill>
                    <a:latin typeface="나눔스퀘어라운드OTF Bold" panose="020B0600000101010101" pitchFamily="34" charset="-127"/>
                    <a:ea typeface="나눔스퀘어라운드OTF Bold" panose="020B0600000101010101" pitchFamily="34" charset="-127"/>
                    <a:cs typeface="Pretendard"/>
                  </a:rPr>
                  <a:t>매일 3분 루틴</a:t>
                </a:r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SOLUTION · 해결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6160341" cy="9694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315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하나의 </a:t>
            </a:r>
            <a:r>
              <a:rPr lang="en-US" altLang="ko-KR" sz="315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3</a:t>
            </a:r>
            <a:r>
              <a:rPr lang="ko-KR" altLang="en-US" sz="315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분 루틴이 </a:t>
            </a:r>
            <a:r>
              <a:rPr lang="ko-KR" altLang="en-US" sz="315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모두</a:t>
            </a:r>
            <a:r>
              <a:rPr lang="ko-KR" altLang="en-US" sz="315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를 연결합니다</a:t>
            </a:r>
          </a:p>
          <a:p>
            <a:pPr algn="l">
              <a:lnSpc>
                <a:spcPct val="100000"/>
              </a:lnSpc>
            </a:pPr>
            <a:endParaRPr lang="ko-KR" altLang="en-US" sz="3150" b="0" dirty="0">
              <a:solidFill>
                <a:srgbClr val="0D2F6E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4530086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치매환자 일기 · 보호자 안부 · 가정 보급 · 의료 상담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50957"/>
            <a:ext cx="4087368" cy="1280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2106989"/>
            <a:ext cx="50292" cy="530352"/>
          </a:xfrm>
          <a:prstGeom prst="rect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4400" y="2006404"/>
            <a:ext cx="457200" cy="457200"/>
          </a:xfrm>
          <a:prstGeom prst="ellipse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98560" y="2121436"/>
            <a:ext cx="88879" cy="88879"/>
          </a:xfrm>
          <a:prstGeom prst="ellipse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4244" y="2239942"/>
            <a:ext cx="197510" cy="108630"/>
          </a:xfrm>
          <a:prstGeom prst="roundRect">
            <a:avLst>
              <a:gd name="adj" fmla="val 45000"/>
            </a:avLst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63624" y="2045154"/>
            <a:ext cx="1100000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0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치매환자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3624" y="2417885"/>
            <a:ext cx="2693045" cy="5850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큰 글씨 · 네 개  버튼 · 음성 안내</a:t>
            </a:r>
          </a:p>
          <a:p>
            <a:pPr algn="l">
              <a:lnSpc>
                <a:spcPct val="142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검사가 아닌 전자 일기로 매일 참여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54232" y="1850957"/>
            <a:ext cx="4087368" cy="1280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54232" y="2106989"/>
            <a:ext cx="50292" cy="530352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674272" y="2006404"/>
            <a:ext cx="457200" cy="457200"/>
          </a:xfrm>
          <a:prstGeom prst="ellipse">
            <a:avLst/>
          </a:prstGeom>
          <a:solidFill>
            <a:srgbClr val="F6C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9" name="Heart 18"/>
          <p:cNvSpPr/>
          <p:nvPr/>
        </p:nvSpPr>
        <p:spPr>
          <a:xfrm>
            <a:off x="7779428" y="2121436"/>
            <a:ext cx="246888" cy="227136"/>
          </a:xfrm>
          <a:prstGeom prst="hear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3496" y="2045154"/>
            <a:ext cx="702115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00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보호자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3496" y="2417885"/>
            <a:ext cx="2305118" cy="5850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4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점수가 아닌 안부와 대화 단서</a:t>
            </a:r>
          </a:p>
          <a:p>
            <a:pPr algn="l">
              <a:lnSpc>
                <a:spcPct val="142000"/>
              </a:lnSpc>
            </a:pPr>
            <a:r>
              <a:rPr lang="ko-KR" altLang="en-US" sz="14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오늘 남긴 이야기로 통화를 시작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387149"/>
            <a:ext cx="4087368" cy="1280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3643181"/>
            <a:ext cx="50292" cy="530352"/>
          </a:xfrm>
          <a:prstGeom prst="rect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14400" y="3542597"/>
            <a:ext cx="457200" cy="457200"/>
          </a:xfrm>
          <a:prstGeom prst="ellipse">
            <a:avLst/>
          </a:prstGeom>
          <a:solidFill>
            <a:srgbClr val="D8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5" name="Isosceles Triangle 24"/>
          <p:cNvSpPr/>
          <p:nvPr/>
        </p:nvSpPr>
        <p:spPr>
          <a:xfrm>
            <a:off x="1019556" y="3652690"/>
            <a:ext cx="246888" cy="118506"/>
          </a:xfrm>
          <a:prstGeom prst="triangl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61526" y="3766259"/>
            <a:ext cx="162946" cy="123444"/>
          </a:xfrm>
          <a:prstGeom prst="rect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563624" y="3581346"/>
            <a:ext cx="1200000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0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전자 일기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63624" y="3954076"/>
            <a:ext cx="2394886" cy="5850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개인 기억과 인지 문항이 쌓임</a:t>
            </a:r>
          </a:p>
          <a:p>
            <a:pPr algn="l">
              <a:lnSpc>
                <a:spcPct val="142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가정에 두는 개인 디바이스 한 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54232" y="3387149"/>
            <a:ext cx="4087368" cy="1280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54232" y="3643181"/>
            <a:ext cx="50292" cy="530352"/>
          </a:xfrm>
          <a:prstGeom prst="rect">
            <a:avLst/>
          </a:prstGeom>
          <a:solidFill>
            <a:srgbClr val="00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674272" y="3542597"/>
            <a:ext cx="457200" cy="457200"/>
          </a:xfrm>
          <a:prstGeom prst="ellipse">
            <a:avLst/>
          </a:prstGeom>
          <a:solidFill>
            <a:srgbClr val="F6C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2" name="Cross 31"/>
          <p:cNvSpPr/>
          <p:nvPr/>
        </p:nvSpPr>
        <p:spPr>
          <a:xfrm>
            <a:off x="7779428" y="3647753"/>
            <a:ext cx="246888" cy="246888"/>
          </a:xfrm>
          <a:prstGeom prst="plus">
            <a:avLst>
              <a:gd name="adj" fmla="val 32000"/>
            </a:avLst>
          </a:prstGeom>
          <a:solidFill>
            <a:srgbClr val="00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3496" y="3581346"/>
            <a:ext cx="1181414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00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의료 · 상담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3496" y="3954076"/>
            <a:ext cx="2305118" cy="5850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진료 전 참고 가능한 변화 기록</a:t>
            </a:r>
          </a:p>
          <a:p>
            <a:pPr algn="l">
              <a:lnSpc>
                <a:spcPct val="142000"/>
              </a:lnSpc>
            </a:pPr>
            <a:r>
              <a:rPr lang="ko-KR" altLang="en-US" sz="1400" b="0" dirty="0" err="1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동의된</a:t>
            </a:r>
            <a:r>
              <a:rPr lang="ko-KR" altLang="en-US" sz="14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 관찰 기록만 요약해 전달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5078789"/>
            <a:ext cx="11003249" cy="859536"/>
          </a:xfrm>
          <a:prstGeom prst="roundRect">
            <a:avLst>
              <a:gd name="adj" fmla="val 17252"/>
            </a:avLst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6398" y="5261669"/>
            <a:ext cx="1897955" cy="209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36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개인 기억 · CIST·MMSE를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7306" y="5535989"/>
            <a:ext cx="1356140" cy="209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36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매일 일기 문항으로 기록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62656" y="5389685"/>
            <a:ext cx="292608" cy="2795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42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▶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46704" y="5353109"/>
            <a:ext cx="2339721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"오늘 무슨 요일일까요?＂  </a:t>
            </a:r>
            <a:r>
              <a:rPr lang="ko-KR" altLang="en-US" sz="1200" b="0" dirty="0" err="1">
                <a:solidFill>
                  <a:srgbClr val="FFC83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지남력</a:t>
            </a:r>
            <a:endParaRPr lang="ko-KR" altLang="en-US" sz="1200" b="0" dirty="0">
              <a:solidFill>
                <a:srgbClr val="FFC83D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5796153" y="5353109"/>
            <a:ext cx="1958721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시장 계산하기  </a:t>
            </a:r>
            <a:r>
              <a:rPr lang="ko-KR" altLang="en-US" sz="1200" b="0" dirty="0">
                <a:solidFill>
                  <a:srgbClr val="34C759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주의 · 계산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64602" y="5353109"/>
            <a:ext cx="15681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속담 뜻 고르기  </a:t>
            </a:r>
            <a:r>
              <a:rPr lang="ko-KR" altLang="en-US" sz="1200" b="0" dirty="0">
                <a:solidFill>
                  <a:srgbClr val="00B0F0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언어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B5D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치매링고 · 보편교육연구소 · 해결 구조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03</a:t>
            </a:r>
          </a:p>
        </p:txBody>
      </p:sp>
      <p:pic>
        <p:nvPicPr>
          <p:cNvPr id="55" name="Picture 5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649" y="250000"/>
            <a:ext cx="822960" cy="822960"/>
          </a:xfrm>
          <a:prstGeom prst="rect">
            <a:avLst/>
          </a:prstGeom>
          <a:effectLst/>
        </p:spPr>
      </p:pic>
      <p:grpSp>
        <p:nvGrpSpPr>
          <p:cNvPr id="69" name="그룹 68">
            <a:extLst>
              <a:ext uri="{FF2B5EF4-FFF2-40B4-BE49-F238E27FC236}">
                <a16:creationId xmlns:a16="http://schemas.microsoft.com/office/drawing/2014/main" id="{6540A2EA-6F55-CE77-1743-1736881023EA}"/>
              </a:ext>
            </a:extLst>
          </p:cNvPr>
          <p:cNvGrpSpPr/>
          <p:nvPr/>
        </p:nvGrpSpPr>
        <p:grpSpPr>
          <a:xfrm>
            <a:off x="9893950" y="5344719"/>
            <a:ext cx="1458061" cy="369332"/>
            <a:chOff x="9557608" y="5784398"/>
            <a:chExt cx="1028667" cy="260565"/>
          </a:xfrm>
        </p:grpSpPr>
        <p:sp>
          <p:nvSpPr>
            <p:cNvPr id="70" name="Freeform 61">
              <a:extLst>
                <a:ext uri="{FF2B5EF4-FFF2-40B4-BE49-F238E27FC236}">
                  <a16:creationId xmlns:a16="http://schemas.microsoft.com/office/drawing/2014/main" id="{0732090E-FE8C-41F8-D7BA-31C05C5526F0}"/>
                </a:ext>
              </a:extLst>
            </p:cNvPr>
            <p:cNvSpPr/>
            <p:nvPr/>
          </p:nvSpPr>
          <p:spPr>
            <a:xfrm>
              <a:off x="9557608" y="5821637"/>
              <a:ext cx="182523" cy="174718"/>
            </a:xfrm>
            <a:custGeom>
              <a:avLst/>
              <a:gdLst/>
              <a:ahLst/>
              <a:cxnLst/>
              <a:rect l="l" t="t" r="r" b="b"/>
              <a:pathLst>
                <a:path w="182523" h="174718">
                  <a:moveTo>
                    <a:pt x="91249" y="0"/>
                  </a:moveTo>
                  <a:lnTo>
                    <a:pt x="92279" y="61"/>
                  </a:lnTo>
                  <a:lnTo>
                    <a:pt x="92794" y="131"/>
                  </a:lnTo>
                  <a:lnTo>
                    <a:pt x="93327" y="244"/>
                  </a:lnTo>
                  <a:lnTo>
                    <a:pt x="94296" y="541"/>
                  </a:lnTo>
                  <a:cubicBezTo>
                    <a:pt x="94965" y="788"/>
                    <a:pt x="95601" y="1117"/>
                    <a:pt x="96190" y="1519"/>
                  </a:cubicBezTo>
                  <a:lnTo>
                    <a:pt x="97098" y="2235"/>
                  </a:lnTo>
                  <a:lnTo>
                    <a:pt x="99325" y="4139"/>
                  </a:lnTo>
                  <a:cubicBezTo>
                    <a:pt x="116939" y="18768"/>
                    <a:pt x="139199" y="26624"/>
                    <a:pt x="162094" y="26290"/>
                  </a:cubicBezTo>
                  <a:lnTo>
                    <a:pt x="165080" y="26202"/>
                  </a:lnTo>
                  <a:cubicBezTo>
                    <a:pt x="169098" y="26019"/>
                    <a:pt x="172721" y="28604"/>
                    <a:pt x="173855" y="32463"/>
                  </a:cubicBezTo>
                  <a:cubicBezTo>
                    <a:pt x="182523" y="61951"/>
                    <a:pt x="178863" y="93693"/>
                    <a:pt x="163710" y="120434"/>
                  </a:cubicBezTo>
                  <a:cubicBezTo>
                    <a:pt x="148558" y="147175"/>
                    <a:pt x="123208" y="166628"/>
                    <a:pt x="93458" y="174346"/>
                  </a:cubicBezTo>
                  <a:cubicBezTo>
                    <a:pt x="92020" y="174718"/>
                    <a:pt x="90512" y="174718"/>
                    <a:pt x="89074" y="174346"/>
                  </a:cubicBezTo>
                  <a:cubicBezTo>
                    <a:pt x="59322" y="166630"/>
                    <a:pt x="33970" y="147178"/>
                    <a:pt x="18816" y="120437"/>
                  </a:cubicBezTo>
                  <a:cubicBezTo>
                    <a:pt x="3662" y="93696"/>
                    <a:pt x="0" y="61952"/>
                    <a:pt x="8668" y="32463"/>
                  </a:cubicBezTo>
                  <a:cubicBezTo>
                    <a:pt x="9802" y="28604"/>
                    <a:pt x="13426" y="26019"/>
                    <a:pt x="17443" y="26202"/>
                  </a:cubicBezTo>
                  <a:cubicBezTo>
                    <a:pt x="41345" y="27295"/>
                    <a:pt x="64793" y="19427"/>
                    <a:pt x="83198" y="4139"/>
                  </a:cubicBezTo>
                  <a:lnTo>
                    <a:pt x="85495" y="2174"/>
                  </a:lnTo>
                  <a:lnTo>
                    <a:pt x="86333" y="1519"/>
                  </a:lnTo>
                  <a:cubicBezTo>
                    <a:pt x="86922" y="1117"/>
                    <a:pt x="87558" y="788"/>
                    <a:pt x="88227" y="541"/>
                  </a:cubicBezTo>
                  <a:lnTo>
                    <a:pt x="89205" y="244"/>
                  </a:lnTo>
                  <a:cubicBezTo>
                    <a:pt x="89548" y="162"/>
                    <a:pt x="89895" y="101"/>
                    <a:pt x="90244" y="61"/>
                  </a:cubicBezTo>
                  <a:lnTo>
                    <a:pt x="91249" y="0"/>
                  </a:lnTo>
                  <a:close/>
                  <a:moveTo>
                    <a:pt x="123641" y="63677"/>
                  </a:moveTo>
                  <a:cubicBezTo>
                    <a:pt x="122004" y="62037"/>
                    <a:pt x="119781" y="61116"/>
                    <a:pt x="117464" y="61116"/>
                  </a:cubicBezTo>
                  <a:cubicBezTo>
                    <a:pt x="115147" y="61116"/>
                    <a:pt x="112924" y="62037"/>
                    <a:pt x="111287" y="63677"/>
                  </a:cubicBezTo>
                  <a:lnTo>
                    <a:pt x="82535" y="92420"/>
                  </a:lnTo>
                  <a:lnTo>
                    <a:pt x="71245" y="81140"/>
                  </a:lnTo>
                  <a:lnTo>
                    <a:pt x="70424" y="80415"/>
                  </a:lnTo>
                  <a:cubicBezTo>
                    <a:pt x="66782" y="77599"/>
                    <a:pt x="61580" y="78094"/>
                    <a:pt x="58535" y="81547"/>
                  </a:cubicBezTo>
                  <a:cubicBezTo>
                    <a:pt x="55490" y="85001"/>
                    <a:pt x="55649" y="90225"/>
                    <a:pt x="58899" y="93485"/>
                  </a:cubicBezTo>
                  <a:lnTo>
                    <a:pt x="76362" y="110948"/>
                  </a:lnTo>
                  <a:lnTo>
                    <a:pt x="77182" y="111673"/>
                  </a:lnTo>
                  <a:cubicBezTo>
                    <a:pt x="80658" y="114369"/>
                    <a:pt x="85597" y="114058"/>
                    <a:pt x="88708" y="110948"/>
                  </a:cubicBezTo>
                  <a:lnTo>
                    <a:pt x="123633" y="76023"/>
                  </a:lnTo>
                  <a:lnTo>
                    <a:pt x="124357" y="75202"/>
                  </a:lnTo>
                  <a:cubicBezTo>
                    <a:pt x="127054" y="71726"/>
                    <a:pt x="126743" y="66788"/>
                    <a:pt x="123633" y="63677"/>
                  </a:cubicBezTo>
                  <a:close/>
                </a:path>
              </a:pathLst>
            </a:custGeom>
            <a:solidFill>
              <a:srgbClr val="34C759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71" name="TextBox 62">
              <a:extLst>
                <a:ext uri="{FF2B5EF4-FFF2-40B4-BE49-F238E27FC236}">
                  <a16:creationId xmlns:a16="http://schemas.microsoft.com/office/drawing/2014/main" id="{BFFE95DD-EEF4-F1DF-5E2D-E33EAC79A6D1}"/>
                </a:ext>
              </a:extLst>
            </p:cNvPr>
            <p:cNvSpPr txBox="1"/>
            <p:nvPr/>
          </p:nvSpPr>
          <p:spPr>
            <a:xfrm>
              <a:off x="9740131" y="5784398"/>
              <a:ext cx="846144" cy="2605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4C75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 xml:space="preserve">진단 · 위험도 </a:t>
              </a:r>
              <a:endParaRPr lang="en-US" altLang="zh-CN" sz="1200" b="1" dirty="0">
                <a:solidFill>
                  <a:srgbClr val="34C759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endParaRPr>
            </a:p>
            <a:p>
              <a:pPr algn="ctr"/>
              <a:r>
                <a:rPr lang="zh-CN" sz="1200" b="1" dirty="0">
                  <a:solidFill>
                    <a:srgbClr val="34C75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판정 없음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COMPETITION · 경쟁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기존에 없던</a:t>
            </a:r>
            <a:r>
              <a:rPr lang="ko-KR" altLang="en-US" sz="315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 서비스입니다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핵심 기능 범주별 제공 범위 비교 · 운영 방식과 기록 활용 기준</a:t>
            </a:r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3184E482-6DDB-D462-BC84-EC4FF0AFB168}"/>
              </a:ext>
            </a:extLst>
          </p:cNvPr>
          <p:cNvGrpSpPr/>
          <p:nvPr/>
        </p:nvGrpSpPr>
        <p:grpSpPr>
          <a:xfrm>
            <a:off x="594360" y="1773936"/>
            <a:ext cx="6949440" cy="3167427"/>
            <a:chOff x="594360" y="1773936"/>
            <a:chExt cx="6949440" cy="2879027"/>
          </a:xfrm>
        </p:grpSpPr>
        <p:sp>
          <p:nvSpPr>
            <p:cNvPr id="6" name="Rectangle 5"/>
            <p:cNvSpPr/>
            <p:nvPr/>
          </p:nvSpPr>
          <p:spPr>
            <a:xfrm>
              <a:off x="594360" y="2651760"/>
              <a:ext cx="6032113" cy="457200"/>
            </a:xfrm>
            <a:prstGeom prst="rect">
              <a:avLst/>
            </a:prstGeom>
            <a:solidFill>
              <a:srgbClr val="E8F4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594360" y="3566160"/>
              <a:ext cx="6032113" cy="457200"/>
            </a:xfrm>
            <a:prstGeom prst="rect">
              <a:avLst/>
            </a:prstGeom>
            <a:solidFill>
              <a:srgbClr val="E8F4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594360" y="3566160"/>
              <a:ext cx="6949440" cy="457200"/>
            </a:xfrm>
            <a:prstGeom prst="rect">
              <a:avLst/>
            </a:prstGeom>
            <a:solidFill>
              <a:srgbClr val="E8F4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94360" y="2651760"/>
              <a:ext cx="6949440" cy="457200"/>
            </a:xfrm>
            <a:prstGeom prst="rect">
              <a:avLst/>
            </a:prstGeom>
            <a:solidFill>
              <a:srgbClr val="E8F4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6626473" y="1773936"/>
              <a:ext cx="917326" cy="2779776"/>
            </a:xfrm>
            <a:prstGeom prst="roundRect">
              <a:avLst>
                <a:gd name="adj" fmla="val 6000"/>
              </a:avLst>
            </a:prstGeom>
            <a:solidFill>
              <a:srgbClr val="F6C7CF"/>
            </a:solidFill>
            <a:ln w="15875">
              <a:solidFill>
                <a:srgbClr val="2F80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594360" y="1847088"/>
              <a:ext cx="6949440" cy="12700"/>
            </a:xfrm>
            <a:prstGeom prst="rect">
              <a:avLst/>
            </a:prstGeom>
            <a:solidFill>
              <a:srgbClr val="0D2F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49224" y="1963568"/>
              <a:ext cx="596317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00" b="0">
                  <a:solidFill>
                    <a:srgbClr val="0D2F6E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핵심 기능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136909" y="1963568"/>
              <a:ext cx="557845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0D2F6E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선별검사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054235" y="1963568"/>
              <a:ext cx="557845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0D2F6E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두뇌게임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971561" y="1963568"/>
              <a:ext cx="557845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0D2F6E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돌봄로봇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869651" y="1963568"/>
              <a:ext cx="596317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0D2F6E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기관 활동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879150" y="1949580"/>
              <a:ext cx="411972" cy="19582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900" b="1" dirty="0" err="1">
                  <a:solidFill>
                    <a:srgbClr val="2F80ED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치매링고</a:t>
              </a:r>
              <a:endParaRPr lang="ko-KR" altLang="en-US" sz="1200" b="1" dirty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94360" y="2194560"/>
              <a:ext cx="6949440" cy="9525"/>
            </a:xfrm>
            <a:prstGeom prst="rect">
              <a:avLst/>
            </a:prstGeom>
            <a:solidFill>
              <a:srgbClr val="B5D4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49224" y="2365904"/>
              <a:ext cx="1192634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00" b="0">
                  <a:solidFill>
                    <a:srgbClr val="0D2F6E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매일 두뇌운동 루틴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012033" y="23317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2F80ED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256213" y="2331720"/>
              <a:ext cx="153888" cy="24622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34C75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846685" y="23317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F80ED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090865" y="2331720"/>
              <a:ext cx="153888" cy="49244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34C75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008192" y="2331720"/>
              <a:ext cx="153888" cy="49244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2F80ED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49224" y="2823104"/>
              <a:ext cx="1053173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00" b="0">
                  <a:solidFill>
                    <a:srgbClr val="0D2F6E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보호자 안부 확인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012033" y="27889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F80ED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929359" y="27889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F80ED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173539" y="2788920"/>
              <a:ext cx="153888" cy="49244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34C75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764011" y="27889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F80ED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008192" y="2788920"/>
              <a:ext cx="153888" cy="49244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2F80ED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49224" y="3280304"/>
              <a:ext cx="1053173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00" b="0">
                  <a:solidFill>
                    <a:srgbClr val="0D2F6E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변화 요약 리포트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012033" y="32461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F80ED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929359" y="32461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F80ED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846685" y="32461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F80ED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764011" y="32461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F80ED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008192" y="3246120"/>
              <a:ext cx="153888" cy="24622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>
                  <a:solidFill>
                    <a:srgbClr val="2F80ED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  <a:endParaRPr lang="zh-CN" altLang="ko-KR" sz="1600" b="1" dirty="0">
                <a:solidFill>
                  <a:srgbClr val="2F80ED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49224" y="3737504"/>
              <a:ext cx="1441100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00" b="0">
                  <a:solidFill>
                    <a:srgbClr val="0D2F6E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전자 일기형 매일 기록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338887" y="3703320"/>
              <a:ext cx="153888" cy="24622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>
                  <a:solidFill>
                    <a:srgbClr val="34C75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–</a:t>
              </a:r>
              <a:endParaRPr lang="zh-CN" altLang="ko-KR" sz="1600" b="1" dirty="0">
                <a:solidFill>
                  <a:srgbClr val="34C759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929359" y="37033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F80ED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173539" y="3703320"/>
              <a:ext cx="153888" cy="49244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34C75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090865" y="3703320"/>
              <a:ext cx="153888" cy="49244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34C75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008192" y="3703320"/>
              <a:ext cx="153888" cy="49244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2F80ED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49224" y="4194704"/>
              <a:ext cx="1510029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00" b="0">
                  <a:solidFill>
                    <a:srgbClr val="0D2F6E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기록의 다음 문항 재사용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012033" y="41605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F80ED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929359" y="41605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F80ED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846685" y="41605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F80ED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764011" y="41605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F80ED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008192" y="4160520"/>
              <a:ext cx="153888" cy="49244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2F80ED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94360" y="4480560"/>
              <a:ext cx="6949440" cy="9525"/>
            </a:xfrm>
            <a:prstGeom prst="rect">
              <a:avLst/>
            </a:prstGeom>
            <a:solidFill>
              <a:srgbClr val="B5D4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81" name="Rounded Rectangle 80"/>
          <p:cNvSpPr/>
          <p:nvPr/>
        </p:nvSpPr>
        <p:spPr>
          <a:xfrm>
            <a:off x="7863840" y="1773936"/>
            <a:ext cx="3730752" cy="420624"/>
          </a:xfrm>
          <a:prstGeom prst="roundRect">
            <a:avLst>
              <a:gd name="adj" fmla="val 8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863840" y="1865376"/>
            <a:ext cx="3730752" cy="32283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639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왜 치매링고가 더 나은가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863840" y="2304288"/>
            <a:ext cx="3730752" cy="12618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7863840" y="2487168"/>
            <a:ext cx="50292" cy="896112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8092440" y="2423160"/>
            <a:ext cx="310896" cy="310896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092440" y="2487168"/>
            <a:ext cx="310896" cy="267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36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522208" y="2468880"/>
            <a:ext cx="1792157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2×2 버튼 · 음성 인식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119870" y="2806507"/>
            <a:ext cx="3028775" cy="6152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스마트폰도 터치 메뉴도 없이 큰 화면과 </a:t>
            </a:r>
            <a:endParaRPr lang="en-US" altLang="ko-KR" sz="1400" b="0" dirty="0">
              <a:solidFill>
                <a:srgbClr val="0D2F6E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네 개 버튼으로 혼자 끝까지 수행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863840" y="3621024"/>
            <a:ext cx="3730752" cy="12618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7863840" y="3803904"/>
            <a:ext cx="50292" cy="896112"/>
          </a:xfrm>
          <a:prstGeom prst="rect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8092440" y="3739896"/>
            <a:ext cx="310896" cy="310896"/>
          </a:xfrm>
          <a:prstGeom prst="ellipse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092440" y="3803904"/>
            <a:ext cx="310896" cy="267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36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522208" y="3785615"/>
            <a:ext cx="1641475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기록 연결 구조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119871" y="4123243"/>
            <a:ext cx="3048912" cy="61523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치매환자 · 보호자 · 의료가</a:t>
            </a:r>
          </a:p>
          <a:p>
            <a:pPr algn="l">
              <a:lnSpc>
                <a:spcPct val="15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같은 기록을 각자의 형태로 나눠 쓰는 구조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863840" y="4937760"/>
            <a:ext cx="3730752" cy="12618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7863840" y="5120640"/>
            <a:ext cx="50292" cy="896112"/>
          </a:xfrm>
          <a:prstGeom prst="rect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8092440" y="5056632"/>
            <a:ext cx="310896" cy="310896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092440" y="5120640"/>
            <a:ext cx="310896" cy="267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36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522208" y="5102352"/>
            <a:ext cx="1232710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개인 기억 · 인지 문항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119871" y="5439979"/>
            <a:ext cx="3048912" cy="61523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오늘 말한 기억이 일기로 남아</a:t>
            </a:r>
          </a:p>
          <a:p>
            <a:pPr algn="l">
              <a:lnSpc>
                <a:spcPct val="15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내일 문항과 상담 단서로 다시 나오는 구조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B5D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치매링고 · 보편교육연구소 · 경쟁 구조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04</a:t>
            </a:r>
          </a:p>
        </p:txBody>
      </p:sp>
      <p:pic>
        <p:nvPicPr>
          <p:cNvPr id="104" name="Picture 10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649" y="250000"/>
            <a:ext cx="822960" cy="822960"/>
          </a:xfrm>
          <a:prstGeom prst="rect">
            <a:avLst/>
          </a:prstGeom>
          <a:effectLst/>
        </p:spPr>
      </p:pic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08540764-185A-7C5B-22C2-F26A13F10FF7}"/>
              </a:ext>
            </a:extLst>
          </p:cNvPr>
          <p:cNvGrpSpPr/>
          <p:nvPr/>
        </p:nvGrpSpPr>
        <p:grpSpPr>
          <a:xfrm>
            <a:off x="594360" y="5155931"/>
            <a:ext cx="6949440" cy="547901"/>
            <a:chOff x="594360" y="4865663"/>
            <a:chExt cx="6949440" cy="457200"/>
          </a:xfrm>
        </p:grpSpPr>
        <p:sp>
          <p:nvSpPr>
            <p:cNvPr id="71" name="Rounded Rectangle 70"/>
            <p:cNvSpPr/>
            <p:nvPr/>
          </p:nvSpPr>
          <p:spPr>
            <a:xfrm>
              <a:off x="594360" y="4865663"/>
              <a:ext cx="6949440" cy="457200"/>
            </a:xfrm>
            <a:prstGeom prst="roundRect">
              <a:avLst>
                <a:gd name="adj" fmla="val 25231"/>
              </a:avLst>
            </a:prstGeom>
            <a:solidFill>
              <a:srgbClr val="2F80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3264348" y="5014837"/>
              <a:ext cx="302968" cy="18234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420" b="0" dirty="0">
                  <a:solidFill>
                    <a:srgbClr val="FFFFFF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0/5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4181674" y="5014837"/>
              <a:ext cx="302968" cy="18234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420" b="0">
                  <a:solidFill>
                    <a:srgbClr val="FFFFFF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1/5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5099000" y="5014837"/>
              <a:ext cx="302968" cy="18234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420" b="0">
                  <a:solidFill>
                    <a:srgbClr val="FFFFFF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1/5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016326" y="5014837"/>
              <a:ext cx="302968" cy="18234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420" b="0">
                  <a:solidFill>
                    <a:srgbClr val="FFFFFF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1/5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933652" y="5014837"/>
              <a:ext cx="302968" cy="18234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420" b="0">
                  <a:solidFill>
                    <a:srgbClr val="FFFFFF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5/5</a:t>
              </a:r>
            </a:p>
          </p:txBody>
        </p: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1BA4B0D3-6ED4-D3EE-6724-F8F67F5EACA3}"/>
                </a:ext>
              </a:extLst>
            </p:cNvPr>
            <p:cNvGrpSpPr/>
            <p:nvPr/>
          </p:nvGrpSpPr>
          <p:grpSpPr>
            <a:xfrm>
              <a:off x="762001" y="4917297"/>
              <a:ext cx="1407437" cy="394216"/>
              <a:chOff x="762001" y="4735212"/>
              <a:chExt cx="1407437" cy="394216"/>
            </a:xfrm>
          </p:grpSpPr>
          <p:sp>
            <p:nvSpPr>
              <p:cNvPr id="106" name="TextBox 50">
                <a:extLst>
                  <a:ext uri="{FF2B5EF4-FFF2-40B4-BE49-F238E27FC236}">
                    <a16:creationId xmlns:a16="http://schemas.microsoft.com/office/drawing/2014/main" id="{463643AB-CA20-B1B4-B055-A000AC09A73D}"/>
                  </a:ext>
                </a:extLst>
              </p:cNvPr>
              <p:cNvSpPr txBox="1"/>
              <p:nvPr/>
            </p:nvSpPr>
            <p:spPr>
              <a:xfrm>
                <a:off x="762001" y="4735212"/>
                <a:ext cx="1053173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FFFFF"/>
                    </a:solidFill>
                    <a:latin typeface="나눔스퀘어라운드OTF Bold" panose="020B0600000101010101" pitchFamily="34" charset="-127"/>
                    <a:ea typeface="나눔스퀘어라운드OTF Bold" panose="020B0600000101010101" pitchFamily="34" charset="-127"/>
                    <a:cs typeface="Pretendard"/>
                  </a:rPr>
                  <a:t>네 가지를 동시에</a:t>
                </a:r>
              </a:p>
            </p:txBody>
          </p:sp>
          <p:sp>
            <p:nvSpPr>
              <p:cNvPr id="108" name="TextBox 51">
                <a:extLst>
                  <a:ext uri="{FF2B5EF4-FFF2-40B4-BE49-F238E27FC236}">
                    <a16:creationId xmlns:a16="http://schemas.microsoft.com/office/drawing/2014/main" id="{60C90A43-CBA2-B8F6-FA50-50DB5EA6E12D}"/>
                  </a:ext>
                </a:extLst>
              </p:cNvPr>
              <p:cNvSpPr txBox="1"/>
              <p:nvPr/>
            </p:nvSpPr>
            <p:spPr>
              <a:xfrm>
                <a:off x="762001" y="4944762"/>
                <a:ext cx="1407437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FFFFF"/>
                    </a:solidFill>
                    <a:latin typeface="나눔스퀘어라운드OTF Bold" panose="020B0600000101010101" pitchFamily="34" charset="-127"/>
                    <a:ea typeface="나눔스퀘어라운드OTF Bold" panose="020B0600000101010101" pitchFamily="34" charset="-127"/>
                    <a:cs typeface="Pretendard"/>
                  </a:rPr>
                  <a:t>치매링고만 해당</a:t>
                </a: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BETA TEST · 사전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8314777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베타테스트</a:t>
            </a:r>
            <a:r>
              <a:rPr lang="ko-KR" altLang="en-US" sz="315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로 찾은 </a:t>
            </a:r>
            <a:r>
              <a:rPr lang="ko-KR" altLang="en-US" sz="3150" b="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전용 기기</a:t>
            </a:r>
            <a:r>
              <a:rPr lang="ko-KR" altLang="en-US" sz="315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 </a:t>
            </a:r>
            <a:endParaRPr lang="ko-KR" altLang="en-US" sz="3150" b="0" dirty="0">
              <a:solidFill>
                <a:srgbClr val="2F80ED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4892040" cy="2431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58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데모 버전을 활용한 </a:t>
            </a:r>
            <a:r>
              <a:rPr lang="en-US" altLang="ko-KR" sz="158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20</a:t>
            </a:r>
            <a:r>
              <a:rPr lang="ko-KR" altLang="en-US" sz="158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명 규모의 베타테스트 완료</a:t>
            </a:r>
            <a:endParaRPr lang="ko-KR" altLang="en-US" sz="1580" b="0" dirty="0">
              <a:solidFill>
                <a:srgbClr val="0D2F6E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8557" y="2567222"/>
            <a:ext cx="931024" cy="2522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39" b="1" spc="16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557" y="2823254"/>
            <a:ext cx="3840480" cy="4350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21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모바일 URL </a:t>
            </a:r>
            <a:r>
              <a:rPr lang="ko-KR" altLang="en-US" sz="2210" b="0" dirty="0" err="1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웹앱</a:t>
            </a:r>
            <a:endParaRPr lang="ko-KR" altLang="en-US" sz="2210" b="0" dirty="0">
              <a:solidFill>
                <a:srgbClr val="0D2F6E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70283" y="3293213"/>
            <a:ext cx="275536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300" b="0" dirty="0">
                <a:latin typeface="나눔스퀘어라운드 ExtraBold"/>
                <a:ea typeface="나눔스퀘어라운드 ExtraBold"/>
                <a:cs typeface="나눔스퀘어라운드 ExtraBold"/>
              </a:rPr>
              <a:t xml:space="preserve">데모기반 20명 </a:t>
            </a:r>
            <a:r>
              <a:rPr lang="ko-KR" altLang="en-US" sz="1300" b="0" dirty="0">
                <a:solidFill>
                  <a:srgbClr val="00B39A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베타테스트 </a:t>
            </a:r>
            <a:r>
              <a:rPr lang="ko-KR" altLang="en-US" sz="1300" b="0" dirty="0">
                <a:latin typeface="나눔스퀘어라운드 ExtraBold"/>
                <a:ea typeface="나눔스퀘어라운드 ExtraBold"/>
                <a:cs typeface="나눔스퀘어라운드 ExtraBold"/>
              </a:rPr>
              <a:t>결과 반영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9622" y="2567222"/>
            <a:ext cx="756617" cy="2522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39" b="1" spc="16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AFTER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9622" y="2823254"/>
            <a:ext cx="2213748" cy="34009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21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전용 디바이스</a:t>
            </a:r>
          </a:p>
        </p:txBody>
      </p:sp>
      <p:pic>
        <p:nvPicPr>
          <p:cNvPr id="21" name="Picture 20" descr="mk_front_blur.png"/>
          <p:cNvPicPr>
            <a:picLocks noChangeAspect="1"/>
          </p:cNvPicPr>
          <p:nvPr/>
        </p:nvPicPr>
        <p:blipFill>
          <a:blip r:embed="rId3"/>
          <a:srcRect t="5057" b="1"/>
          <a:stretch>
            <a:fillRect/>
          </a:stretch>
        </p:blipFill>
        <p:spPr>
          <a:xfrm>
            <a:off x="9701329" y="2793108"/>
            <a:ext cx="1927184" cy="2439630"/>
          </a:xfrm>
          <a:prstGeom prst="roundRect">
            <a:avLst>
              <a:gd name="adj" fmla="val 9139"/>
            </a:avLst>
          </a:prstGeom>
          <a:ln w="19050">
            <a:solidFill>
              <a:srgbClr val="2F80ED"/>
            </a:solidFill>
          </a:ln>
          <a:effectLst/>
        </p:spPr>
      </p:pic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C84E7594-7C31-A526-066D-9A51DBF7F414}"/>
              </a:ext>
            </a:extLst>
          </p:cNvPr>
          <p:cNvGrpSpPr/>
          <p:nvPr/>
        </p:nvGrpSpPr>
        <p:grpSpPr>
          <a:xfrm>
            <a:off x="5234009" y="3590822"/>
            <a:ext cx="4233672" cy="310896"/>
            <a:chOff x="7415117" y="3444261"/>
            <a:chExt cx="4233672" cy="310896"/>
          </a:xfrm>
        </p:grpSpPr>
        <p:sp>
          <p:nvSpPr>
            <p:cNvPr id="23" name="Rounded Rectangle 22"/>
            <p:cNvSpPr/>
            <p:nvPr/>
          </p:nvSpPr>
          <p:spPr>
            <a:xfrm>
              <a:off x="7415117" y="3444261"/>
              <a:ext cx="1481328" cy="310896"/>
            </a:xfrm>
            <a:prstGeom prst="roundRect">
              <a:avLst>
                <a:gd name="adj" fmla="val 50000"/>
              </a:avLst>
            </a:prstGeom>
            <a:solidFill>
              <a:srgbClr val="E8F4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>
                <a:solidFill>
                  <a:schemeClr val="tx1"/>
                </a:solidFill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857622" y="3517413"/>
              <a:ext cx="596317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1">
                  <a:latin typeface="나눔스퀘어라운드 Regular"/>
                  <a:ea typeface="나눔스퀘어라운드 Regular"/>
                  <a:cs typeface="나눔스퀘어라운드 Regular"/>
                </a:rPr>
                <a:t>작은 화면</a:t>
              </a:r>
            </a:p>
          </p:txBody>
        </p:sp>
        <p:sp>
          <p:nvSpPr>
            <p:cNvPr id="25" name="Isosceles Triangle 24"/>
            <p:cNvSpPr/>
            <p:nvPr/>
          </p:nvSpPr>
          <p:spPr>
            <a:xfrm rot="5400000">
              <a:off x="8992457" y="3531129"/>
              <a:ext cx="137160" cy="137160"/>
            </a:xfrm>
            <a:prstGeom prst="triangle">
              <a:avLst/>
            </a:prstGeom>
            <a:solidFill>
              <a:srgbClr val="2F80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9225629" y="3444261"/>
              <a:ext cx="2423160" cy="310896"/>
            </a:xfrm>
            <a:prstGeom prst="roundRect">
              <a:avLst>
                <a:gd name="adj" fmla="val 50000"/>
              </a:avLst>
            </a:prstGeom>
            <a:solidFill>
              <a:srgbClr val="F6C7C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225629" y="3499125"/>
              <a:ext cx="2423160" cy="25590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00" b="0" dirty="0">
                  <a:solidFill>
                    <a:srgbClr val="00B39A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큰 세로 화면</a:t>
              </a:r>
            </a:p>
          </p:txBody>
        </p:sp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0801B55C-545F-A1B7-E6B8-29EFDCB9630F}"/>
              </a:ext>
            </a:extLst>
          </p:cNvPr>
          <p:cNvGrpSpPr/>
          <p:nvPr/>
        </p:nvGrpSpPr>
        <p:grpSpPr>
          <a:xfrm>
            <a:off x="5234009" y="4044801"/>
            <a:ext cx="4233672" cy="310896"/>
            <a:chOff x="7415117" y="3846597"/>
            <a:chExt cx="4233672" cy="310896"/>
          </a:xfrm>
        </p:grpSpPr>
        <p:sp>
          <p:nvSpPr>
            <p:cNvPr id="28" name="Rounded Rectangle 27"/>
            <p:cNvSpPr/>
            <p:nvPr/>
          </p:nvSpPr>
          <p:spPr>
            <a:xfrm>
              <a:off x="7415117" y="3846597"/>
              <a:ext cx="1481328" cy="310896"/>
            </a:xfrm>
            <a:prstGeom prst="roundRect">
              <a:avLst>
                <a:gd name="adj" fmla="val 50000"/>
              </a:avLst>
            </a:prstGeom>
            <a:solidFill>
              <a:srgbClr val="E8F4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>
                <a:solidFill>
                  <a:schemeClr val="tx1"/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644423" y="3919749"/>
              <a:ext cx="1022716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1">
                  <a:latin typeface="나눔스퀘어라운드 Regular"/>
                  <a:ea typeface="나눔스퀘어라운드 Regular"/>
                  <a:cs typeface="나눔스퀘어라운드 Regular"/>
                </a:rPr>
                <a:t>터치 · 메뉴 부담</a:t>
              </a:r>
            </a:p>
          </p:txBody>
        </p:sp>
        <p:sp>
          <p:nvSpPr>
            <p:cNvPr id="30" name="Isosceles Triangle 29"/>
            <p:cNvSpPr/>
            <p:nvPr/>
          </p:nvSpPr>
          <p:spPr>
            <a:xfrm rot="5400000">
              <a:off x="8992457" y="3933465"/>
              <a:ext cx="137160" cy="137160"/>
            </a:xfrm>
            <a:prstGeom prst="triangle">
              <a:avLst/>
            </a:prstGeom>
            <a:solidFill>
              <a:srgbClr val="2F80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9225629" y="3846597"/>
              <a:ext cx="2423160" cy="310896"/>
            </a:xfrm>
            <a:prstGeom prst="roundRect">
              <a:avLst>
                <a:gd name="adj" fmla="val 50000"/>
              </a:avLst>
            </a:prstGeom>
            <a:solidFill>
              <a:srgbClr val="F6C7C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070121" y="3901461"/>
              <a:ext cx="734175" cy="20005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00" b="0" dirty="0">
                  <a:solidFill>
                    <a:srgbClr val="00B39A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네 개  버튼</a:t>
              </a:r>
            </a:p>
          </p:txBody>
        </p:sp>
      </p:grp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C96BD34E-78A3-AEA9-B1B9-5D987F433825}"/>
              </a:ext>
            </a:extLst>
          </p:cNvPr>
          <p:cNvGrpSpPr/>
          <p:nvPr/>
        </p:nvGrpSpPr>
        <p:grpSpPr>
          <a:xfrm>
            <a:off x="5234009" y="4498780"/>
            <a:ext cx="4233672" cy="310896"/>
            <a:chOff x="7415117" y="4248933"/>
            <a:chExt cx="4233672" cy="310896"/>
          </a:xfrm>
        </p:grpSpPr>
        <p:sp>
          <p:nvSpPr>
            <p:cNvPr id="33" name="Rounded Rectangle 32"/>
            <p:cNvSpPr/>
            <p:nvPr/>
          </p:nvSpPr>
          <p:spPr>
            <a:xfrm>
              <a:off x="7415117" y="4248933"/>
              <a:ext cx="1481328" cy="310896"/>
            </a:xfrm>
            <a:prstGeom prst="roundRect">
              <a:avLst>
                <a:gd name="adj" fmla="val 50000"/>
              </a:avLst>
            </a:prstGeom>
            <a:solidFill>
              <a:srgbClr val="E8F4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>
                <a:solidFill>
                  <a:schemeClr val="tx1"/>
                </a:solidFill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629194" y="4322085"/>
              <a:ext cx="1053173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1">
                  <a:latin typeface="나눔스퀘어라운드 Regular"/>
                  <a:ea typeface="나눔스퀘어라운드 Regular"/>
                  <a:cs typeface="나눔스퀘어라운드 Regular"/>
                </a:rPr>
                <a:t>듣는 상태 불명확</a:t>
              </a:r>
            </a:p>
          </p:txBody>
        </p:sp>
        <p:sp>
          <p:nvSpPr>
            <p:cNvPr id="35" name="Isosceles Triangle 34"/>
            <p:cNvSpPr/>
            <p:nvPr/>
          </p:nvSpPr>
          <p:spPr>
            <a:xfrm rot="5400000">
              <a:off x="8992457" y="4335801"/>
              <a:ext cx="137160" cy="137160"/>
            </a:xfrm>
            <a:prstGeom prst="triangle">
              <a:avLst/>
            </a:prstGeom>
            <a:solidFill>
              <a:srgbClr val="2F80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9225629" y="4248933"/>
              <a:ext cx="2423160" cy="310896"/>
            </a:xfrm>
            <a:prstGeom prst="roundRect">
              <a:avLst>
                <a:gd name="adj" fmla="val 50000"/>
              </a:avLst>
            </a:prstGeom>
            <a:solidFill>
              <a:srgbClr val="F6C7C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225629" y="4303797"/>
              <a:ext cx="2423160" cy="25590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00" b="0">
                  <a:solidFill>
                    <a:srgbClr val="00B39A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붉은 듣기 상태 · 파형</a:t>
              </a:r>
            </a:p>
          </p:txBody>
        </p:sp>
      </p:grp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420CFF71-4B19-42FA-DCAF-0172CBBE961C}"/>
              </a:ext>
            </a:extLst>
          </p:cNvPr>
          <p:cNvGrpSpPr/>
          <p:nvPr/>
        </p:nvGrpSpPr>
        <p:grpSpPr>
          <a:xfrm>
            <a:off x="5234009" y="4952759"/>
            <a:ext cx="4233672" cy="310896"/>
            <a:chOff x="7415117" y="4651269"/>
            <a:chExt cx="4233672" cy="310896"/>
          </a:xfrm>
        </p:grpSpPr>
        <p:sp>
          <p:nvSpPr>
            <p:cNvPr id="38" name="Rounded Rectangle 37"/>
            <p:cNvSpPr/>
            <p:nvPr/>
          </p:nvSpPr>
          <p:spPr>
            <a:xfrm>
              <a:off x="7415117" y="4651269"/>
              <a:ext cx="1481328" cy="310896"/>
            </a:xfrm>
            <a:prstGeom prst="roundRect">
              <a:avLst>
                <a:gd name="adj" fmla="val 50000"/>
              </a:avLst>
            </a:prstGeom>
            <a:solidFill>
              <a:srgbClr val="E8F4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>
                <a:solidFill>
                  <a:schemeClr val="tx1"/>
                </a:solidFill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698925" y="4724421"/>
              <a:ext cx="913712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1" dirty="0">
                  <a:latin typeface="나눔스퀘어라운드 Regular"/>
                  <a:ea typeface="나눔스퀘어라운드 Regular"/>
                  <a:cs typeface="나눔스퀘어라운드 Regular"/>
                </a:rPr>
                <a:t>인식 실패 체감</a:t>
              </a:r>
            </a:p>
          </p:txBody>
        </p:sp>
        <p:sp>
          <p:nvSpPr>
            <p:cNvPr id="40" name="Isosceles Triangle 39"/>
            <p:cNvSpPr/>
            <p:nvPr/>
          </p:nvSpPr>
          <p:spPr>
            <a:xfrm rot="5400000">
              <a:off x="8992457" y="4738137"/>
              <a:ext cx="137160" cy="137160"/>
            </a:xfrm>
            <a:prstGeom prst="triangle">
              <a:avLst/>
            </a:prstGeom>
            <a:solidFill>
              <a:srgbClr val="2F80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9225629" y="4651269"/>
              <a:ext cx="2423160" cy="310896"/>
            </a:xfrm>
            <a:prstGeom prst="roundRect">
              <a:avLst>
                <a:gd name="adj" fmla="val 50000"/>
              </a:avLst>
            </a:prstGeom>
            <a:solidFill>
              <a:srgbClr val="F6C7C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9225629" y="4706132"/>
              <a:ext cx="2423160" cy="25590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00" b="0" dirty="0">
                  <a:solidFill>
                    <a:srgbClr val="00B39A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 xml:space="preserve">재시도 · 실패 </a:t>
              </a:r>
              <a:r>
                <a:rPr lang="ko-KR" altLang="en-US" sz="1300" b="0" dirty="0" err="1">
                  <a:solidFill>
                    <a:srgbClr val="00B39A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비차단</a:t>
              </a:r>
              <a:endParaRPr lang="ko-KR" altLang="en-US" sz="1300" b="0" dirty="0">
                <a:solidFill>
                  <a:srgbClr val="00B39A"/>
                </a:solidFill>
                <a:latin typeface="나눔스퀘어라운드 ExtraBold"/>
                <a:ea typeface="나눔스퀘어라운드 ExtraBold"/>
                <a:cs typeface="나눔스퀘어라운드 ExtraBold"/>
              </a:endParaRPr>
            </a:p>
          </p:txBody>
        </p:sp>
      </p:grpSp>
      <p:sp>
        <p:nvSpPr>
          <p:cNvPr id="65" name="Rectangle 57">
            <a:extLst>
              <a:ext uri="{FF2B5EF4-FFF2-40B4-BE49-F238E27FC236}">
                <a16:creationId xmlns:a16="http://schemas.microsoft.com/office/drawing/2014/main" id="{48717C6A-6E3A-C695-017F-DCA77B4EAA93}"/>
              </a:ext>
            </a:extLst>
          </p:cNvPr>
          <p:cNvSpPr/>
          <p:nvPr/>
        </p:nvSpPr>
        <p:spPr>
          <a:xfrm>
            <a:off x="630269" y="1647573"/>
            <a:ext cx="3513419" cy="745995"/>
          </a:xfrm>
          <a:prstGeom prst="roundRect">
            <a:avLst>
              <a:gd name="adj" fmla="val 9524"/>
            </a:avLst>
          </a:prstGeom>
          <a:solidFill>
            <a:srgbClr val="E8F4FF"/>
          </a:solidFill>
          <a:ln w="9525">
            <a:solidFill>
              <a:srgbClr val="D5DEE5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67" name="Rectangle 57">
            <a:extLst>
              <a:ext uri="{FF2B5EF4-FFF2-40B4-BE49-F238E27FC236}">
                <a16:creationId xmlns:a16="http://schemas.microsoft.com/office/drawing/2014/main" id="{EAC8D8B2-A639-5600-A7ED-647BBF5EF4BD}"/>
              </a:ext>
            </a:extLst>
          </p:cNvPr>
          <p:cNvSpPr/>
          <p:nvPr/>
        </p:nvSpPr>
        <p:spPr>
          <a:xfrm>
            <a:off x="4394549" y="1647573"/>
            <a:ext cx="3513419" cy="745995"/>
          </a:xfrm>
          <a:prstGeom prst="roundRect">
            <a:avLst>
              <a:gd name="adj" fmla="val 9524"/>
            </a:avLst>
          </a:prstGeom>
          <a:solidFill>
            <a:srgbClr val="E8F4FF"/>
          </a:solidFill>
          <a:ln w="9525">
            <a:solidFill>
              <a:srgbClr val="D5DEE5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69" name="Rectangle 57">
            <a:extLst>
              <a:ext uri="{FF2B5EF4-FFF2-40B4-BE49-F238E27FC236}">
                <a16:creationId xmlns:a16="http://schemas.microsoft.com/office/drawing/2014/main" id="{37DDDA18-FB1A-E3A0-CC32-5E847B70E642}"/>
              </a:ext>
            </a:extLst>
          </p:cNvPr>
          <p:cNvSpPr/>
          <p:nvPr/>
        </p:nvSpPr>
        <p:spPr>
          <a:xfrm>
            <a:off x="8158829" y="1647573"/>
            <a:ext cx="3513419" cy="745995"/>
          </a:xfrm>
          <a:prstGeom prst="roundRect">
            <a:avLst>
              <a:gd name="adj" fmla="val 9524"/>
            </a:avLst>
          </a:prstGeom>
          <a:solidFill>
            <a:srgbClr val="E8F4FF"/>
          </a:solidFill>
          <a:ln w="9525">
            <a:solidFill>
              <a:srgbClr val="D5DEE5"/>
            </a:solidFill>
          </a:ln>
        </p:spPr>
        <p:txBody>
          <a:bodyPr/>
          <a:lstStyle/>
          <a:p>
            <a:endParaRPr lang="ko-KR" altLang="en-US" dirty="0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793337" y="1770539"/>
            <a:ext cx="256032" cy="256032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71660" y="1807375"/>
            <a:ext cx="99386" cy="1908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40" b="0" dirty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77385" y="1779104"/>
            <a:ext cx="1962076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복잡한 조작을 어려워함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77385" y="2098315"/>
            <a:ext cx="331012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메뉴 이동과 터치 자체가 부담</a:t>
            </a:r>
          </a:p>
        </p:txBody>
      </p:sp>
      <p:sp>
        <p:nvSpPr>
          <p:cNvPr id="51" name="Oval 50"/>
          <p:cNvSpPr/>
          <p:nvPr/>
        </p:nvSpPr>
        <p:spPr>
          <a:xfrm>
            <a:off x="4542377" y="1770539"/>
            <a:ext cx="256032" cy="256032"/>
          </a:xfrm>
          <a:prstGeom prst="ellipse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620700" y="1807375"/>
            <a:ext cx="99386" cy="1908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4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26425" y="1779104"/>
            <a:ext cx="2013372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글자가 작아 보이지 않음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26425" y="2098315"/>
            <a:ext cx="331012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확대해도 화면이 작아 읽기 어려움</a:t>
            </a:r>
          </a:p>
        </p:txBody>
      </p:sp>
      <p:sp>
        <p:nvSpPr>
          <p:cNvPr id="55" name="Oval 54"/>
          <p:cNvSpPr/>
          <p:nvPr/>
        </p:nvSpPr>
        <p:spPr>
          <a:xfrm>
            <a:off x="8291417" y="1770539"/>
            <a:ext cx="256032" cy="256032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369740" y="1807375"/>
            <a:ext cx="99386" cy="1908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4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75465" y="1779104"/>
            <a:ext cx="1827423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잘못 눌러 그냥 </a:t>
            </a:r>
            <a:r>
              <a:rPr lang="ko-KR" altLang="en-US" sz="1600" b="0" dirty="0" err="1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넘어감</a:t>
            </a:r>
            <a:endParaRPr lang="ko-KR" altLang="en-US" sz="1600" b="0" dirty="0">
              <a:solidFill>
                <a:srgbClr val="0D2F6E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675465" y="2098315"/>
            <a:ext cx="331012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실수를 되돌릴 방법이 없음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B5D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치매링고 · 보편교육연구소 · 사용 흐름 확인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05</a:t>
            </a:r>
          </a:p>
        </p:txBody>
      </p:sp>
      <p:pic>
        <p:nvPicPr>
          <p:cNvPr id="63" name="Picture 62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4649" y="250000"/>
            <a:ext cx="822960" cy="822960"/>
          </a:xfrm>
          <a:prstGeom prst="rect">
            <a:avLst/>
          </a:prstGeom>
          <a:effectLst/>
        </p:spPr>
      </p:pic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59609716-ED08-148F-CF24-C177A14C1655}"/>
              </a:ext>
            </a:extLst>
          </p:cNvPr>
          <p:cNvGrpSpPr/>
          <p:nvPr/>
        </p:nvGrpSpPr>
        <p:grpSpPr>
          <a:xfrm>
            <a:off x="593730" y="5586984"/>
            <a:ext cx="11003879" cy="609600"/>
            <a:chOff x="469391" y="4714940"/>
            <a:chExt cx="11003879" cy="609600"/>
          </a:xfrm>
        </p:grpSpPr>
        <p:sp>
          <p:nvSpPr>
            <p:cNvPr id="91" name="Rectangle 44">
              <a:extLst>
                <a:ext uri="{FF2B5EF4-FFF2-40B4-BE49-F238E27FC236}">
                  <a16:creationId xmlns:a16="http://schemas.microsoft.com/office/drawing/2014/main" id="{44E3FDC0-BF28-00D5-DC24-01F0FFEC61F4}"/>
                </a:ext>
              </a:extLst>
            </p:cNvPr>
            <p:cNvSpPr/>
            <p:nvPr/>
          </p:nvSpPr>
          <p:spPr>
            <a:xfrm>
              <a:off x="469391" y="4714940"/>
              <a:ext cx="11003879" cy="609600"/>
            </a:xfrm>
            <a:prstGeom prst="roundRect">
              <a:avLst>
                <a:gd name="adj" fmla="val 28125"/>
              </a:avLst>
            </a:prstGeom>
            <a:solidFill>
              <a:srgbClr val="D8F6E3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93" name="Freeform 45">
              <a:extLst>
                <a:ext uri="{FF2B5EF4-FFF2-40B4-BE49-F238E27FC236}">
                  <a16:creationId xmlns:a16="http://schemas.microsoft.com/office/drawing/2014/main" id="{4201FF42-704F-A1E6-1600-A3E5BAD1E10F}"/>
                </a:ext>
              </a:extLst>
            </p:cNvPr>
            <p:cNvSpPr/>
            <p:nvPr/>
          </p:nvSpPr>
          <p:spPr>
            <a:xfrm>
              <a:off x="756730" y="4911930"/>
              <a:ext cx="217004" cy="217359"/>
            </a:xfrm>
            <a:custGeom>
              <a:avLst/>
              <a:gdLst/>
              <a:ahLst/>
              <a:cxnLst/>
              <a:rect l="l" t="t" r="r" b="b"/>
              <a:pathLst>
                <a:path w="217004" h="217359">
                  <a:moveTo>
                    <a:pt x="154781" y="18449"/>
                  </a:moveTo>
                  <a:cubicBezTo>
                    <a:pt x="197784" y="43278"/>
                    <a:pt x="217004" y="95214"/>
                    <a:pt x="200524" y="142056"/>
                  </a:cubicBezTo>
                  <a:cubicBezTo>
                    <a:pt x="184045" y="188897"/>
                    <a:pt x="136540" y="217359"/>
                    <a:pt x="87464" y="209794"/>
                  </a:cubicBezTo>
                  <a:cubicBezTo>
                    <a:pt x="38388" y="202229"/>
                    <a:pt x="1660" y="160783"/>
                    <a:pt x="52" y="111153"/>
                  </a:cubicBezTo>
                  <a:lnTo>
                    <a:pt x="0" y="107810"/>
                  </a:lnTo>
                  <a:lnTo>
                    <a:pt x="52" y="104466"/>
                  </a:lnTo>
                  <a:cubicBezTo>
                    <a:pt x="1227" y="68216"/>
                    <a:pt x="21348" y="35245"/>
                    <a:pt x="53048" y="17623"/>
                  </a:cubicBezTo>
                  <a:cubicBezTo>
                    <a:pt x="84748" y="0"/>
                    <a:pt x="123372" y="314"/>
                    <a:pt x="154781" y="18449"/>
                  </a:cubicBezTo>
                  <a:close/>
                  <a:moveTo>
                    <a:pt x="141439" y="79877"/>
                  </a:moveTo>
                  <a:cubicBezTo>
                    <a:pt x="137763" y="76201"/>
                    <a:pt x="131926" y="75834"/>
                    <a:pt x="127818" y="79020"/>
                  </a:cubicBezTo>
                  <a:lnTo>
                    <a:pt x="126848" y="79877"/>
                  </a:lnTo>
                  <a:lnTo>
                    <a:pt x="92869" y="113846"/>
                  </a:lnTo>
                  <a:lnTo>
                    <a:pt x="79527" y="100514"/>
                  </a:lnTo>
                  <a:lnTo>
                    <a:pt x="78557" y="99658"/>
                  </a:lnTo>
                  <a:cubicBezTo>
                    <a:pt x="74449" y="96474"/>
                    <a:pt x="68614" y="96842"/>
                    <a:pt x="64939" y="100517"/>
                  </a:cubicBezTo>
                  <a:cubicBezTo>
                    <a:pt x="61263" y="104192"/>
                    <a:pt x="60895" y="110027"/>
                    <a:pt x="64079" y="114135"/>
                  </a:cubicBezTo>
                  <a:lnTo>
                    <a:pt x="64936" y="115105"/>
                  </a:lnTo>
                  <a:lnTo>
                    <a:pt x="85573" y="135743"/>
                  </a:lnTo>
                  <a:lnTo>
                    <a:pt x="86543" y="136599"/>
                  </a:lnTo>
                  <a:cubicBezTo>
                    <a:pt x="90266" y="139487"/>
                    <a:pt x="95472" y="139487"/>
                    <a:pt x="99194" y="136599"/>
                  </a:cubicBezTo>
                  <a:lnTo>
                    <a:pt x="100164" y="135743"/>
                  </a:lnTo>
                  <a:lnTo>
                    <a:pt x="141439" y="94468"/>
                  </a:lnTo>
                  <a:lnTo>
                    <a:pt x="142296" y="93498"/>
                  </a:lnTo>
                  <a:cubicBezTo>
                    <a:pt x="145482" y="89390"/>
                    <a:pt x="145115" y="83553"/>
                    <a:pt x="141439" y="79877"/>
                  </a:cubicBezTo>
                  <a:close/>
                </a:path>
              </a:pathLst>
            </a:custGeom>
            <a:solidFill>
              <a:srgbClr val="34C759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95" name="TextBox 46">
              <a:extLst>
                <a:ext uri="{FF2B5EF4-FFF2-40B4-BE49-F238E27FC236}">
                  <a16:creationId xmlns:a16="http://schemas.microsoft.com/office/drawing/2014/main" id="{140DDE60-EFA7-7E61-319C-5F91C8039105}"/>
                </a:ext>
              </a:extLst>
            </p:cNvPr>
            <p:cNvSpPr txBox="1"/>
            <p:nvPr/>
          </p:nvSpPr>
          <p:spPr>
            <a:xfrm>
              <a:off x="1100900" y="4788733"/>
              <a:ext cx="416139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 xml:space="preserve">전문가 멘토링 </a:t>
              </a:r>
              <a:r>
                <a:rPr lang="ko-KR" altLang="en-US" sz="1600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및 베타테스트 제품에</a:t>
              </a:r>
              <a:r>
                <a:rPr lang="zh-CN" sz="1600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 xml:space="preserve"> 반영했습니다</a:t>
              </a:r>
            </a:p>
          </p:txBody>
        </p:sp>
        <p:sp>
          <p:nvSpPr>
            <p:cNvPr id="97" name="TextBox 47">
              <a:extLst>
                <a:ext uri="{FF2B5EF4-FFF2-40B4-BE49-F238E27FC236}">
                  <a16:creationId xmlns:a16="http://schemas.microsoft.com/office/drawing/2014/main" id="{9FBE6DEE-79F8-C146-8689-520485D44756}"/>
                </a:ext>
              </a:extLst>
            </p:cNvPr>
            <p:cNvSpPr txBox="1"/>
            <p:nvPr/>
          </p:nvSpPr>
          <p:spPr>
            <a:xfrm>
              <a:off x="1104233" y="5062841"/>
              <a:ext cx="377026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 xml:space="preserve">MVP 시연 → 멘토 피드백 </a:t>
              </a:r>
              <a:r>
                <a:rPr lang="ko-KR" altLang="en-US" sz="1200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 xml:space="preserve">및 베타테스트 </a:t>
              </a:r>
              <a:r>
                <a:rPr lang="zh-CN" sz="1200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→ 디자인 개선 완료</a:t>
              </a:r>
            </a:p>
          </p:txBody>
        </p:sp>
        <p:sp>
          <p:nvSpPr>
            <p:cNvPr id="99" name="Rectangle 48">
              <a:extLst>
                <a:ext uri="{FF2B5EF4-FFF2-40B4-BE49-F238E27FC236}">
                  <a16:creationId xmlns:a16="http://schemas.microsoft.com/office/drawing/2014/main" id="{5780EB86-FAA3-1EFE-303F-E10D0C35A5CF}"/>
                </a:ext>
              </a:extLst>
            </p:cNvPr>
            <p:cNvSpPr/>
            <p:nvPr/>
          </p:nvSpPr>
          <p:spPr>
            <a:xfrm>
              <a:off x="5738865" y="4870249"/>
              <a:ext cx="1676401" cy="313973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B5D4F8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01" name="TextBox 49">
              <a:extLst>
                <a:ext uri="{FF2B5EF4-FFF2-40B4-BE49-F238E27FC236}">
                  <a16:creationId xmlns:a16="http://schemas.microsoft.com/office/drawing/2014/main" id="{AEE9AE0C-7766-2B9C-B470-FCF8F0887C60}"/>
                </a:ext>
              </a:extLst>
            </p:cNvPr>
            <p:cNvSpPr txBox="1"/>
            <p:nvPr/>
          </p:nvSpPr>
          <p:spPr>
            <a:xfrm>
              <a:off x="5907010" y="4943694"/>
              <a:ext cx="134011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고대비 화면 · 큰 글자</a:t>
              </a:r>
            </a:p>
          </p:txBody>
        </p:sp>
        <p:sp>
          <p:nvSpPr>
            <p:cNvPr id="103" name="Rectangle 50">
              <a:extLst>
                <a:ext uri="{FF2B5EF4-FFF2-40B4-BE49-F238E27FC236}">
                  <a16:creationId xmlns:a16="http://schemas.microsoft.com/office/drawing/2014/main" id="{F1D72537-EDCB-7F18-927C-5984415F217F}"/>
                </a:ext>
              </a:extLst>
            </p:cNvPr>
            <p:cNvSpPr/>
            <p:nvPr/>
          </p:nvSpPr>
          <p:spPr>
            <a:xfrm>
              <a:off x="7615216" y="4870249"/>
              <a:ext cx="1619250" cy="313973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B5D4F8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05" name="TextBox 51">
              <a:extLst>
                <a:ext uri="{FF2B5EF4-FFF2-40B4-BE49-F238E27FC236}">
                  <a16:creationId xmlns:a16="http://schemas.microsoft.com/office/drawing/2014/main" id="{FCF0F49C-E450-A2F1-4A29-41056F39840F}"/>
                </a:ext>
              </a:extLst>
            </p:cNvPr>
            <p:cNvSpPr txBox="1"/>
            <p:nvPr/>
          </p:nvSpPr>
          <p:spPr>
            <a:xfrm>
              <a:off x="7754786" y="4943694"/>
              <a:ext cx="134011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실물 보상 · 참여 경쟁</a:t>
              </a:r>
            </a:p>
          </p:txBody>
        </p:sp>
        <p:sp>
          <p:nvSpPr>
            <p:cNvPr id="107" name="Rectangle 52">
              <a:extLst>
                <a:ext uri="{FF2B5EF4-FFF2-40B4-BE49-F238E27FC236}">
                  <a16:creationId xmlns:a16="http://schemas.microsoft.com/office/drawing/2014/main" id="{05325A05-E030-1296-3F1F-4C1AE282BB8C}"/>
                </a:ext>
              </a:extLst>
            </p:cNvPr>
            <p:cNvSpPr/>
            <p:nvPr/>
          </p:nvSpPr>
          <p:spPr>
            <a:xfrm>
              <a:off x="9434416" y="4870249"/>
              <a:ext cx="1779176" cy="313973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B5D4F8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09" name="TextBox 53">
              <a:extLst>
                <a:ext uri="{FF2B5EF4-FFF2-40B4-BE49-F238E27FC236}">
                  <a16:creationId xmlns:a16="http://schemas.microsoft.com/office/drawing/2014/main" id="{68C8459A-6EA8-796A-C05F-395772C19637}"/>
                </a:ext>
              </a:extLst>
            </p:cNvPr>
            <p:cNvSpPr txBox="1"/>
            <p:nvPr/>
          </p:nvSpPr>
          <p:spPr>
            <a:xfrm>
              <a:off x="9584218" y="4943694"/>
              <a:ext cx="147957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일상형 문항 · 음성 발화</a:t>
              </a:r>
            </a:p>
          </p:txBody>
        </p:sp>
      </p:grpSp>
      <p:pic>
        <p:nvPicPr>
          <p:cNvPr id="121" name="그림 120">
            <a:extLst>
              <a:ext uri="{FF2B5EF4-FFF2-40B4-BE49-F238E27FC236}">
                <a16:creationId xmlns:a16="http://schemas.microsoft.com/office/drawing/2014/main" id="{FA62A5D7-2F38-CBAC-9286-03FCC141A5A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6432"/>
          <a:stretch>
            <a:fillRect/>
          </a:stretch>
        </p:blipFill>
        <p:spPr>
          <a:xfrm>
            <a:off x="599468" y="3260661"/>
            <a:ext cx="3889569" cy="2082516"/>
          </a:xfrm>
          <a:prstGeom prst="rect">
            <a:avLst/>
          </a:prstGeom>
        </p:spPr>
      </p:pic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7F477EE5-F866-24E2-5833-69E2FDB6D537}"/>
              </a:ext>
            </a:extLst>
          </p:cNvPr>
          <p:cNvCxnSpPr>
            <a:cxnSpLocks/>
          </p:cNvCxnSpPr>
          <p:nvPr/>
        </p:nvCxnSpPr>
        <p:spPr>
          <a:xfrm>
            <a:off x="4798409" y="3133725"/>
            <a:ext cx="45434" cy="2209452"/>
          </a:xfrm>
          <a:prstGeom prst="line">
            <a:avLst/>
          </a:prstGeom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INTERACTION · 조작 규칙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6756658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2×2 버튼을 통해 구현한 </a:t>
            </a:r>
            <a:r>
              <a:rPr lang="ko-KR" altLang="en-US" sz="3150" b="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친화적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선택 · 재입력 확정 · 음성 안내의 단일 규칙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0443" y="4977945"/>
            <a:ext cx="897682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b="1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실물 </a:t>
            </a:r>
            <a:r>
              <a:rPr lang="ko-KR" altLang="en-US" b="1" dirty="0" err="1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목업</a:t>
            </a:r>
            <a:endParaRPr lang="ko-KR" altLang="en-US" b="1" dirty="0">
              <a:solidFill>
                <a:srgbClr val="0D2F6E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pic>
        <p:nvPicPr>
          <p:cNvPr id="7" name="Picture 6" descr="mk_side_blur2.png"/>
          <p:cNvPicPr>
            <a:picLocks noChangeAspect="1"/>
          </p:cNvPicPr>
          <p:nvPr/>
        </p:nvPicPr>
        <p:blipFill>
          <a:blip r:embed="rId5"/>
          <a:srcRect l="14802" t="10389" r="4408" b="11544"/>
          <a:stretch>
            <a:fillRect/>
          </a:stretch>
        </p:blipFill>
        <p:spPr>
          <a:xfrm>
            <a:off x="616428" y="1735966"/>
            <a:ext cx="2387504" cy="3126800"/>
          </a:xfrm>
          <a:prstGeom prst="roundRect">
            <a:avLst>
              <a:gd name="adj" fmla="val 10313"/>
            </a:avLst>
          </a:prstGeom>
          <a:ln>
            <a:solidFill>
              <a:srgbClr val="2F80ED"/>
            </a:solidFill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9618816" y="4977945"/>
            <a:ext cx="137537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b="1" dirty="0">
                <a:solidFill>
                  <a:srgbClr val="00B39A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실제 구동 영상</a:t>
            </a:r>
          </a:p>
        </p:txBody>
      </p:sp>
      <p:pic>
        <p:nvPicPr>
          <p:cNvPr id="10" name="haru_2x2_9s5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304187" y="1150674"/>
            <a:ext cx="2106763" cy="3738597"/>
          </a:xfrm>
          <a:prstGeom prst="roundRect">
            <a:avLst/>
          </a:prstGeom>
          <a:ln w="12700">
            <a:solidFill>
              <a:srgbClr val="2F80ED"/>
            </a:solidFill>
          </a:ln>
        </p:spPr>
      </p:pic>
      <p:grpSp>
        <p:nvGrpSpPr>
          <p:cNvPr id="59" name="그룹 58">
            <a:extLst>
              <a:ext uri="{FF2B5EF4-FFF2-40B4-BE49-F238E27FC236}">
                <a16:creationId xmlns:a16="http://schemas.microsoft.com/office/drawing/2014/main" id="{E5CF1F81-9A0A-B2E4-DE44-3AF3A69101B3}"/>
              </a:ext>
            </a:extLst>
          </p:cNvPr>
          <p:cNvGrpSpPr/>
          <p:nvPr/>
        </p:nvGrpSpPr>
        <p:grpSpPr>
          <a:xfrm>
            <a:off x="5165413" y="1996055"/>
            <a:ext cx="3651439" cy="1863223"/>
            <a:chOff x="4019396" y="2109844"/>
            <a:chExt cx="3566160" cy="1664208"/>
          </a:xfrm>
        </p:grpSpPr>
        <p:sp>
          <p:nvSpPr>
            <p:cNvPr id="12" name="Rounded Rectangle 11"/>
            <p:cNvSpPr/>
            <p:nvPr/>
          </p:nvSpPr>
          <p:spPr>
            <a:xfrm>
              <a:off x="4019396" y="2109844"/>
              <a:ext cx="1737360" cy="786384"/>
            </a:xfrm>
            <a:prstGeom prst="roundRect">
              <a:avLst>
                <a:gd name="adj" fmla="val 14000"/>
              </a:avLst>
            </a:prstGeom>
            <a:solidFill>
              <a:srgbClr val="F6C7CF"/>
            </a:solidFill>
            <a:ln w="9525">
              <a:solidFill>
                <a:srgbClr val="00B3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147412" y="2192140"/>
              <a:ext cx="365760" cy="24409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40" b="0">
                  <a:solidFill>
                    <a:srgbClr val="00B39A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A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147412" y="2493892"/>
              <a:ext cx="1499616" cy="277558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410" b="0" dirty="0">
                  <a:solidFill>
                    <a:srgbClr val="0D2F6E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매우 좋음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848196" y="2109844"/>
              <a:ext cx="1737360" cy="786384"/>
            </a:xfrm>
            <a:prstGeom prst="roundRect">
              <a:avLst>
                <a:gd name="adj" fmla="val 14000"/>
              </a:avLst>
            </a:prstGeom>
            <a:solidFill>
              <a:srgbClr val="E8F4FF"/>
            </a:solidFill>
            <a:ln w="9525">
              <a:solidFill>
                <a:srgbClr val="FFC83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976212" y="2192140"/>
              <a:ext cx="365760" cy="24409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40" b="0">
                  <a:solidFill>
                    <a:srgbClr val="FFC83D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B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976212" y="2493892"/>
              <a:ext cx="1499616" cy="277558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410" b="0">
                  <a:solidFill>
                    <a:srgbClr val="0D2F6E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좋음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4019396" y="2987668"/>
              <a:ext cx="1737360" cy="786384"/>
            </a:xfrm>
            <a:prstGeom prst="roundRect">
              <a:avLst>
                <a:gd name="adj" fmla="val 14000"/>
              </a:avLst>
            </a:prstGeom>
            <a:solidFill>
              <a:srgbClr val="D8F6E3"/>
            </a:solidFill>
            <a:ln w="9525">
              <a:solidFill>
                <a:srgbClr val="34C7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147412" y="3069964"/>
              <a:ext cx="365760" cy="24409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40" b="0">
                  <a:solidFill>
                    <a:srgbClr val="34C759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C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147412" y="3371716"/>
              <a:ext cx="1499616" cy="277558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410" b="0">
                  <a:solidFill>
                    <a:srgbClr val="0D2F6E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그저 그럼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5848196" y="2987668"/>
              <a:ext cx="1737360" cy="786384"/>
            </a:xfrm>
            <a:prstGeom prst="roundRect">
              <a:avLst>
                <a:gd name="adj" fmla="val 14000"/>
              </a:avLst>
            </a:prstGeom>
            <a:solidFill>
              <a:srgbClr val="DFEAF6"/>
            </a:solidFill>
            <a:ln w="9525">
              <a:solidFill>
                <a:srgbClr val="4A779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976212" y="3069964"/>
              <a:ext cx="365760" cy="24409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40" b="0">
                  <a:solidFill>
                    <a:srgbClr val="4A779B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D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976212" y="3371716"/>
              <a:ext cx="1499616" cy="277558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410" b="0">
                  <a:solidFill>
                    <a:srgbClr val="0D2F6E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좋지 않음</a:t>
              </a:r>
            </a:p>
          </p:txBody>
        </p:sp>
      </p:grpSp>
      <p:sp>
        <p:nvSpPr>
          <p:cNvPr id="37" name="Rounded Rectangle 36"/>
          <p:cNvSpPr/>
          <p:nvPr/>
        </p:nvSpPr>
        <p:spPr>
          <a:xfrm>
            <a:off x="3246120" y="4133087"/>
            <a:ext cx="5577840" cy="402336"/>
          </a:xfrm>
          <a:prstGeom prst="roundRect">
            <a:avLst>
              <a:gd name="adj" fmla="val 34042"/>
            </a:avLst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928694" y="4215384"/>
            <a:ext cx="4212692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600" b="0" dirty="0">
                <a:solidFill>
                  <a:srgbClr val="00B39A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버튼의 색과 위치가 화면 문항과 그대로 대응합니다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50895" y="4673827"/>
            <a:ext cx="11060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88638" y="4673827"/>
            <a:ext cx="1561325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음성 안내를 듣습니다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4673827"/>
            <a:ext cx="11060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18504" y="4673827"/>
            <a:ext cx="2260234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보이는 자리의 버튼을 누릅니다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50895" y="4948146"/>
            <a:ext cx="11060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88638" y="4948146"/>
            <a:ext cx="2051844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화면에서 선택을 확인합니다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0760" y="4948146"/>
            <a:ext cx="11060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18504" y="4948146"/>
            <a:ext cx="2231380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같은 버튼을 한 번 더 눌러 확정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5450078"/>
            <a:ext cx="11003249" cy="680974"/>
          </a:xfrm>
          <a:prstGeom prst="roundRect">
            <a:avLst>
              <a:gd name="adj" fmla="val 22481"/>
            </a:avLst>
          </a:prstGeom>
          <a:solidFill>
            <a:srgbClr val="2F80ED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768096" y="5580253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83029" y="5664441"/>
            <a:ext cx="190757" cy="2522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639" b="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62456" y="5648219"/>
            <a:ext cx="4267194" cy="28469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2×2 위치 일치 · 같은 버튼 재입력 확정 구조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60820" y="5631624"/>
            <a:ext cx="132054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360" b="1" dirty="0">
                <a:solidFill>
                  <a:schemeClr val="tx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ExtraBold"/>
              </a:rPr>
              <a:t>특허 출원 진행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46720" y="5631624"/>
            <a:ext cx="1491847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360" b="1" dirty="0">
                <a:solidFill>
                  <a:schemeClr val="tx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ExtraBold"/>
              </a:rPr>
              <a:t>KCI 논문 작성 중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B5D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치매링고 · 보편교육연구소 · 조작 규칙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00329" y="6319266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06</a:t>
            </a:r>
          </a:p>
        </p:txBody>
      </p:sp>
      <p:pic>
        <p:nvPicPr>
          <p:cNvPr id="56" name="Picture 55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74649" y="250000"/>
            <a:ext cx="822960" cy="822960"/>
          </a:xfrm>
          <a:prstGeom prst="rect">
            <a:avLst/>
          </a:prstGeom>
          <a:effectLst/>
        </p:spPr>
      </p:pic>
      <p:sp>
        <p:nvSpPr>
          <p:cNvPr id="58" name="Rounded Rectangle 51">
            <a:extLst>
              <a:ext uri="{FF2B5EF4-FFF2-40B4-BE49-F238E27FC236}">
                <a16:creationId xmlns:a16="http://schemas.microsoft.com/office/drawing/2014/main" id="{959AC31A-60D1-87E3-956F-ECD58B9BB9D9}"/>
              </a:ext>
            </a:extLst>
          </p:cNvPr>
          <p:cNvSpPr/>
          <p:nvPr/>
        </p:nvSpPr>
        <p:spPr>
          <a:xfrm>
            <a:off x="9687295" y="5631624"/>
            <a:ext cx="1723655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360" b="1" dirty="0">
                <a:solidFill>
                  <a:srgbClr val="FF0000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ExtraBold"/>
              </a:rPr>
              <a:t>가정</a:t>
            </a:r>
            <a:r>
              <a:rPr lang="ko-KR" altLang="en-US" sz="1360" b="1" dirty="0">
                <a:solidFill>
                  <a:schemeClr val="tx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ExtraBold"/>
              </a:rPr>
              <a:t xml:space="preserve"> 보급형 디바이스</a:t>
            </a: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C78B20F9-88CC-23A6-D5C8-8C873E641640}"/>
              </a:ext>
            </a:extLst>
          </p:cNvPr>
          <p:cNvCxnSpPr>
            <a:cxnSpLocks/>
            <a:endCxn id="67" idx="1"/>
          </p:cNvCxnSpPr>
          <p:nvPr/>
        </p:nvCxnSpPr>
        <p:spPr>
          <a:xfrm flipV="1">
            <a:off x="2371725" y="3401292"/>
            <a:ext cx="1027113" cy="307681"/>
          </a:xfrm>
          <a:prstGeom prst="straightConnector1">
            <a:avLst/>
          </a:prstGeom>
          <a:ln>
            <a:solidFill>
              <a:srgbClr val="2F80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802B5A59-CD72-E625-C5FE-E86287EA94DF}"/>
              </a:ext>
            </a:extLst>
          </p:cNvPr>
          <p:cNvCxnSpPr>
            <a:cxnSpLocks/>
          </p:cNvCxnSpPr>
          <p:nvPr/>
        </p:nvCxnSpPr>
        <p:spPr>
          <a:xfrm flipV="1">
            <a:off x="2062958" y="2398242"/>
            <a:ext cx="1326902" cy="716562"/>
          </a:xfrm>
          <a:prstGeom prst="straightConnector1">
            <a:avLst/>
          </a:prstGeom>
          <a:ln>
            <a:solidFill>
              <a:srgbClr val="2F80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C73743F8-5940-FC46-70D8-DD9D4ED685F5}"/>
              </a:ext>
            </a:extLst>
          </p:cNvPr>
          <p:cNvGrpSpPr/>
          <p:nvPr/>
        </p:nvGrpSpPr>
        <p:grpSpPr>
          <a:xfrm>
            <a:off x="3398838" y="2284763"/>
            <a:ext cx="1508813" cy="1285806"/>
            <a:chOff x="3426713" y="2312471"/>
            <a:chExt cx="1508813" cy="1285806"/>
          </a:xfrm>
        </p:grpSpPr>
        <p:sp>
          <p:nvSpPr>
            <p:cNvPr id="11" name="TextBox 10"/>
            <p:cNvSpPr txBox="1"/>
            <p:nvPr/>
          </p:nvSpPr>
          <p:spPr>
            <a:xfrm>
              <a:off x="3571978" y="2312471"/>
              <a:ext cx="1218282" cy="246221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ko-KR" altLang="en-US" sz="1600" b="0" dirty="0">
                  <a:solidFill>
                    <a:srgbClr val="0D2F6E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화면</a:t>
              </a:r>
              <a:r>
                <a:rPr lang="ko-KR" altLang="en-US" sz="1600" dirty="0">
                  <a:solidFill>
                    <a:srgbClr val="0D2F6E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 xml:space="preserve"> 문항 </a:t>
              </a:r>
              <a:r>
                <a:rPr lang="ko-KR" altLang="en-US" sz="1600" b="0" dirty="0">
                  <a:solidFill>
                    <a:srgbClr val="0D2F6E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위치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A74F2945-E7B9-58D7-D332-CD559B98BF46}"/>
                </a:ext>
              </a:extLst>
            </p:cNvPr>
            <p:cNvSpPr txBox="1"/>
            <p:nvPr/>
          </p:nvSpPr>
          <p:spPr>
            <a:xfrm>
              <a:off x="3426713" y="3259723"/>
              <a:ext cx="1508813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rgbClr val="0D2F6E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 xml:space="preserve"> </a:t>
              </a:r>
              <a:r>
                <a:rPr lang="ko-KR" altLang="en-US" sz="1600" b="0" dirty="0">
                  <a:solidFill>
                    <a:srgbClr val="0D2F6E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버튼 위치</a:t>
              </a:r>
              <a:endParaRPr lang="ko-KR" altLang="en-US" sz="1600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A6E7CFD-5867-32CE-6888-4821ADDFC55E}"/>
                </a:ext>
              </a:extLst>
            </p:cNvPr>
            <p:cNvSpPr txBox="1"/>
            <p:nvPr/>
          </p:nvSpPr>
          <p:spPr>
            <a:xfrm>
              <a:off x="3843406" y="2739931"/>
              <a:ext cx="675427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ko-KR" altLang="en-US" sz="1600" b="0" dirty="0">
                  <a:solidFill>
                    <a:srgbClr val="0D2F6E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=</a:t>
              </a:r>
              <a:endParaRPr lang="ko-KR" altLang="en-US" sz="1600" dirty="0"/>
            </a:p>
          </p:txBody>
        </p:sp>
      </p:grp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88B51178-B399-96D4-28B1-4FA78951E1AC}"/>
              </a:ext>
            </a:extLst>
          </p:cNvPr>
          <p:cNvCxnSpPr>
            <a:cxnSpLocks/>
          </p:cNvCxnSpPr>
          <p:nvPr/>
        </p:nvCxnSpPr>
        <p:spPr>
          <a:xfrm>
            <a:off x="4916628" y="2005965"/>
            <a:ext cx="37907" cy="1843403"/>
          </a:xfrm>
          <a:prstGeom prst="line">
            <a:avLst/>
          </a:prstGeom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509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0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CONTENT · 문항 체계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일기 문항은 </a:t>
            </a:r>
            <a:r>
              <a:rPr lang="ko-KR" altLang="en-US" sz="3150" b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개인 기억과 CIST·MMSE 영역</a:t>
            </a:r>
            <a:r>
              <a:rPr lang="ko-KR" altLang="en-US" sz="315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 위에 설계됩니다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매일 같은 인지 영역과 개인 기억을 전자 일기처럼 남깁니다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B5D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치매링고 · 보편교육연구소 · 문항 체계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07</a:t>
            </a:r>
          </a:p>
        </p:txBody>
      </p:sp>
      <p:pic>
        <p:nvPicPr>
          <p:cNvPr id="63" name="Picture 6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649" y="250000"/>
            <a:ext cx="822960" cy="822960"/>
          </a:xfrm>
          <a:prstGeom prst="rect">
            <a:avLst/>
          </a:prstGeom>
          <a:effectLst/>
        </p:spPr>
      </p:pic>
      <p:grpSp>
        <p:nvGrpSpPr>
          <p:cNvPr id="64" name="Group 21">
            <a:extLst>
              <a:ext uri="{FF2B5EF4-FFF2-40B4-BE49-F238E27FC236}">
                <a16:creationId xmlns:a16="http://schemas.microsoft.com/office/drawing/2014/main" id="{60782165-601F-A341-F4D2-183668D31558}"/>
              </a:ext>
            </a:extLst>
          </p:cNvPr>
          <p:cNvGrpSpPr/>
          <p:nvPr/>
        </p:nvGrpSpPr>
        <p:grpSpPr>
          <a:xfrm>
            <a:off x="609600" y="1657350"/>
            <a:ext cx="3505200" cy="1828800"/>
            <a:chOff x="609600" y="1543050"/>
            <a:chExt cx="3505200" cy="1828800"/>
          </a:xfrm>
        </p:grpSpPr>
        <p:sp>
          <p:nvSpPr>
            <p:cNvPr id="65" name="Rectangle 9">
              <a:extLst>
                <a:ext uri="{FF2B5EF4-FFF2-40B4-BE49-F238E27FC236}">
                  <a16:creationId xmlns:a16="http://schemas.microsoft.com/office/drawing/2014/main" id="{2E04AFD0-D137-B2D4-0D02-E8ADB5F8F8E3}"/>
                </a:ext>
              </a:extLst>
            </p:cNvPr>
            <p:cNvSpPr/>
            <p:nvPr/>
          </p:nvSpPr>
          <p:spPr>
            <a:xfrm>
              <a:off x="609600" y="1543050"/>
              <a:ext cx="3505200" cy="18288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rgbClr val="D5DEE5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66" name="Rectangle 10">
              <a:extLst>
                <a:ext uri="{FF2B5EF4-FFF2-40B4-BE49-F238E27FC236}">
                  <a16:creationId xmlns:a16="http://schemas.microsoft.com/office/drawing/2014/main" id="{AF58C334-F112-8D73-0D25-B6B8C1894DCD}"/>
                </a:ext>
              </a:extLst>
            </p:cNvPr>
            <p:cNvSpPr/>
            <p:nvPr/>
          </p:nvSpPr>
          <p:spPr>
            <a:xfrm>
              <a:off x="819150" y="1714500"/>
              <a:ext cx="381000" cy="381000"/>
            </a:xfrm>
            <a:prstGeom prst="roundRect">
              <a:avLst>
                <a:gd name="adj" fmla="val 27500"/>
              </a:avLst>
            </a:prstGeom>
            <a:solidFill>
              <a:srgbClr val="F6C7CF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grpSp>
          <p:nvGrpSpPr>
            <p:cNvPr id="67" name="Group 13">
              <a:extLst>
                <a:ext uri="{FF2B5EF4-FFF2-40B4-BE49-F238E27FC236}">
                  <a16:creationId xmlns:a16="http://schemas.microsoft.com/office/drawing/2014/main" id="{65C94A03-9B7A-61DD-666F-F5CD16085052}"/>
                </a:ext>
              </a:extLst>
            </p:cNvPr>
            <p:cNvGrpSpPr/>
            <p:nvPr/>
          </p:nvGrpSpPr>
          <p:grpSpPr>
            <a:xfrm>
              <a:off x="923924" y="1809482"/>
              <a:ext cx="171452" cy="190769"/>
              <a:chOff x="923924" y="1809482"/>
              <a:chExt cx="171452" cy="190769"/>
            </a:xfrm>
          </p:grpSpPr>
          <p:sp>
            <p:nvSpPr>
              <p:cNvPr id="75" name="Freeform 11">
                <a:extLst>
                  <a:ext uri="{FF2B5EF4-FFF2-40B4-BE49-F238E27FC236}">
                    <a16:creationId xmlns:a16="http://schemas.microsoft.com/office/drawing/2014/main" id="{EC63BA7F-C04B-F37E-15CC-136295311956}"/>
                  </a:ext>
                </a:extLst>
              </p:cNvPr>
              <p:cNvSpPr/>
              <p:nvPr/>
            </p:nvSpPr>
            <p:spPr>
              <a:xfrm>
                <a:off x="923924" y="1809482"/>
                <a:ext cx="171452" cy="190769"/>
              </a:xfrm>
              <a:custGeom>
                <a:avLst/>
                <a:gdLst/>
                <a:ahLst/>
                <a:cxnLst/>
                <a:rect l="l" t="t" r="r" b="b"/>
                <a:pathLst>
                  <a:path w="171452" h="190769">
                    <a:moveTo>
                      <a:pt x="123826" y="268"/>
                    </a:moveTo>
                    <a:cubicBezTo>
                      <a:pt x="128655" y="269"/>
                      <a:pt x="132719" y="3883"/>
                      <a:pt x="133284" y="8679"/>
                    </a:cubicBezTo>
                    <a:lnTo>
                      <a:pt x="133351" y="9793"/>
                    </a:lnTo>
                    <a:lnTo>
                      <a:pt x="133351" y="19318"/>
                    </a:lnTo>
                    <a:lnTo>
                      <a:pt x="142876" y="19318"/>
                    </a:lnTo>
                    <a:cubicBezTo>
                      <a:pt x="158007" y="19318"/>
                      <a:pt x="170516" y="31112"/>
                      <a:pt x="171403" y="46217"/>
                    </a:cubicBezTo>
                    <a:lnTo>
                      <a:pt x="171451" y="47893"/>
                    </a:lnTo>
                    <a:lnTo>
                      <a:pt x="171451" y="162193"/>
                    </a:lnTo>
                    <a:cubicBezTo>
                      <a:pt x="171452" y="177324"/>
                      <a:pt x="159657" y="189833"/>
                      <a:pt x="144552" y="190721"/>
                    </a:cubicBezTo>
                    <a:lnTo>
                      <a:pt x="142876" y="190768"/>
                    </a:lnTo>
                    <a:lnTo>
                      <a:pt x="28576" y="190768"/>
                    </a:lnTo>
                    <a:cubicBezTo>
                      <a:pt x="13445" y="190769"/>
                      <a:pt x="936" y="178975"/>
                      <a:pt x="48" y="163870"/>
                    </a:cubicBezTo>
                    <a:lnTo>
                      <a:pt x="1" y="162193"/>
                    </a:lnTo>
                    <a:lnTo>
                      <a:pt x="1" y="47893"/>
                    </a:lnTo>
                    <a:cubicBezTo>
                      <a:pt x="0" y="32762"/>
                      <a:pt x="11794" y="20254"/>
                      <a:pt x="26899" y="19366"/>
                    </a:cubicBezTo>
                    <a:lnTo>
                      <a:pt x="28576" y="19318"/>
                    </a:lnTo>
                    <a:lnTo>
                      <a:pt x="38101" y="19318"/>
                    </a:lnTo>
                    <a:lnTo>
                      <a:pt x="38101" y="9793"/>
                    </a:lnTo>
                    <a:cubicBezTo>
                      <a:pt x="38106" y="4754"/>
                      <a:pt x="42037" y="591"/>
                      <a:pt x="47068" y="295"/>
                    </a:cubicBezTo>
                    <a:cubicBezTo>
                      <a:pt x="52099" y="0"/>
                      <a:pt x="56489" y="3675"/>
                      <a:pt x="57084" y="8679"/>
                    </a:cubicBezTo>
                    <a:lnTo>
                      <a:pt x="57151" y="9793"/>
                    </a:lnTo>
                    <a:lnTo>
                      <a:pt x="57151" y="19318"/>
                    </a:lnTo>
                    <a:lnTo>
                      <a:pt x="114301" y="19318"/>
                    </a:lnTo>
                    <a:lnTo>
                      <a:pt x="114301" y="9793"/>
                    </a:lnTo>
                    <a:cubicBezTo>
                      <a:pt x="114301" y="4533"/>
                      <a:pt x="118565" y="268"/>
                      <a:pt x="123826" y="268"/>
                    </a:cubicBezTo>
                    <a:close/>
                    <a:moveTo>
                      <a:pt x="152401" y="66943"/>
                    </a:moveTo>
                    <a:lnTo>
                      <a:pt x="19051" y="66943"/>
                    </a:lnTo>
                    <a:lnTo>
                      <a:pt x="19051" y="158622"/>
                    </a:lnTo>
                    <a:cubicBezTo>
                      <a:pt x="19051" y="165337"/>
                      <a:pt x="22727" y="170871"/>
                      <a:pt x="27461" y="171633"/>
                    </a:cubicBezTo>
                    <a:lnTo>
                      <a:pt x="28576" y="171718"/>
                    </a:lnTo>
                    <a:lnTo>
                      <a:pt x="142876" y="171718"/>
                    </a:lnTo>
                    <a:cubicBezTo>
                      <a:pt x="147762" y="171718"/>
                      <a:pt x="151791" y="166670"/>
                      <a:pt x="152334" y="160146"/>
                    </a:cubicBezTo>
                    <a:lnTo>
                      <a:pt x="152401" y="158622"/>
                    </a:lnTo>
                    <a:lnTo>
                      <a:pt x="152401" y="66943"/>
                    </a:lnTo>
                    <a:close/>
                  </a:path>
                </a:pathLst>
              </a:custGeom>
              <a:solidFill>
                <a:srgbClr val="00B39A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76" name="Freeform 12">
                <a:extLst>
                  <a:ext uri="{FF2B5EF4-FFF2-40B4-BE49-F238E27FC236}">
                    <a16:creationId xmlns:a16="http://schemas.microsoft.com/office/drawing/2014/main" id="{9F805578-2D51-F4C9-6DDA-8C59AD059AF3}"/>
                  </a:ext>
                </a:extLst>
              </p:cNvPr>
              <p:cNvSpPr/>
              <p:nvPr/>
            </p:nvSpPr>
            <p:spPr>
              <a:xfrm>
                <a:off x="990332" y="1905000"/>
                <a:ext cx="28843" cy="47893"/>
              </a:xfrm>
              <a:custGeom>
                <a:avLst/>
                <a:gdLst/>
                <a:ahLst/>
                <a:cxnLst/>
                <a:rect l="l" t="t" r="r" b="b"/>
                <a:pathLst>
                  <a:path w="28843" h="47893">
                    <a:moveTo>
                      <a:pt x="19318" y="0"/>
                    </a:moveTo>
                    <a:cubicBezTo>
                      <a:pt x="24147" y="1"/>
                      <a:pt x="28212" y="3615"/>
                      <a:pt x="28777" y="8411"/>
                    </a:cubicBezTo>
                    <a:lnTo>
                      <a:pt x="28843" y="9525"/>
                    </a:lnTo>
                    <a:lnTo>
                      <a:pt x="28843" y="38100"/>
                    </a:lnTo>
                    <a:cubicBezTo>
                      <a:pt x="28838" y="43140"/>
                      <a:pt x="24908" y="47303"/>
                      <a:pt x="19877" y="47598"/>
                    </a:cubicBezTo>
                    <a:cubicBezTo>
                      <a:pt x="14846" y="47893"/>
                      <a:pt x="10455" y="44219"/>
                      <a:pt x="9860" y="39214"/>
                    </a:cubicBezTo>
                    <a:lnTo>
                      <a:pt x="9793" y="38100"/>
                    </a:lnTo>
                    <a:lnTo>
                      <a:pt x="9793" y="19050"/>
                    </a:lnTo>
                    <a:cubicBezTo>
                      <a:pt x="4754" y="19044"/>
                      <a:pt x="591" y="15114"/>
                      <a:pt x="295" y="10083"/>
                    </a:cubicBezTo>
                    <a:cubicBezTo>
                      <a:pt x="0" y="5052"/>
                      <a:pt x="3675" y="662"/>
                      <a:pt x="8679" y="67"/>
                    </a:cubicBezTo>
                    <a:lnTo>
                      <a:pt x="9793" y="0"/>
                    </a:lnTo>
                    <a:lnTo>
                      <a:pt x="19318" y="0"/>
                    </a:lnTo>
                    <a:close/>
                  </a:path>
                </a:pathLst>
              </a:custGeom>
              <a:solidFill>
                <a:srgbClr val="00B39A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</p:grpSp>
        <p:sp>
          <p:nvSpPr>
            <p:cNvPr id="68" name="TextBox 14">
              <a:extLst>
                <a:ext uri="{FF2B5EF4-FFF2-40B4-BE49-F238E27FC236}">
                  <a16:creationId xmlns:a16="http://schemas.microsoft.com/office/drawing/2014/main" id="{D36CFF92-7AB5-AC1B-D521-D76C23486B19}"/>
                </a:ext>
              </a:extLst>
            </p:cNvPr>
            <p:cNvSpPr txBox="1"/>
            <p:nvPr/>
          </p:nvSpPr>
          <p:spPr>
            <a:xfrm>
              <a:off x="1295400" y="1781175"/>
              <a:ext cx="52418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지남력</a:t>
              </a:r>
            </a:p>
          </p:txBody>
        </p:sp>
        <p:sp>
          <p:nvSpPr>
            <p:cNvPr id="69" name="TextBox 15">
              <a:extLst>
                <a:ext uri="{FF2B5EF4-FFF2-40B4-BE49-F238E27FC236}">
                  <a16:creationId xmlns:a16="http://schemas.microsoft.com/office/drawing/2014/main" id="{6A114974-5B6E-1839-B008-80F28C65F5E4}"/>
                </a:ext>
              </a:extLst>
            </p:cNvPr>
            <p:cNvSpPr txBox="1"/>
            <p:nvPr/>
          </p:nvSpPr>
          <p:spPr>
            <a:xfrm>
              <a:off x="1302544" y="2032397"/>
              <a:ext cx="799899" cy="144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시간 · 장소 감각</a:t>
              </a:r>
            </a:p>
          </p:txBody>
        </p:sp>
        <p:sp>
          <p:nvSpPr>
            <p:cNvPr id="70" name="TextBox 16">
              <a:extLst>
                <a:ext uri="{FF2B5EF4-FFF2-40B4-BE49-F238E27FC236}">
                  <a16:creationId xmlns:a16="http://schemas.microsoft.com/office/drawing/2014/main" id="{3238D68D-D1BC-4E2F-D05E-3F6AE082D849}"/>
                </a:ext>
              </a:extLst>
            </p:cNvPr>
            <p:cNvSpPr txBox="1"/>
            <p:nvPr/>
          </p:nvSpPr>
          <p:spPr>
            <a:xfrm>
              <a:off x="806768" y="2314099"/>
              <a:ext cx="2164054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기존 검사</a:t>
              </a:r>
              <a:r>
                <a:rPr lang="zh-CN" sz="975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 xml:space="preserve"> · 오늘 날짜 확인, 현재 위치 확인</a:t>
              </a:r>
            </a:p>
          </p:txBody>
        </p:sp>
        <p:sp>
          <p:nvSpPr>
            <p:cNvPr id="71" name="Rectangle 17">
              <a:extLst>
                <a:ext uri="{FF2B5EF4-FFF2-40B4-BE49-F238E27FC236}">
                  <a16:creationId xmlns:a16="http://schemas.microsoft.com/office/drawing/2014/main" id="{16CF1FF2-ED89-273E-36A6-F530076FB765}"/>
                </a:ext>
              </a:extLst>
            </p:cNvPr>
            <p:cNvSpPr/>
            <p:nvPr/>
          </p:nvSpPr>
          <p:spPr>
            <a:xfrm>
              <a:off x="819150" y="2571750"/>
              <a:ext cx="2057400" cy="247650"/>
            </a:xfrm>
            <a:prstGeom prst="roundRect">
              <a:avLst>
                <a:gd name="adj" fmla="val 50000"/>
              </a:avLst>
            </a:prstGeom>
            <a:solidFill>
              <a:srgbClr val="E8F4FF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72" name="TextBox 18">
              <a:extLst>
                <a:ext uri="{FF2B5EF4-FFF2-40B4-BE49-F238E27FC236}">
                  <a16:creationId xmlns:a16="http://schemas.microsoft.com/office/drawing/2014/main" id="{796D04D8-F322-B4B2-5601-E2809F2F9EF3}"/>
                </a:ext>
              </a:extLst>
            </p:cNvPr>
            <p:cNvSpPr txBox="1"/>
            <p:nvPr/>
          </p:nvSpPr>
          <p:spPr>
            <a:xfrm>
              <a:off x="940118" y="2637949"/>
              <a:ext cx="1365758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"오늘은 무슨 요일일까요?"</a:t>
              </a:r>
            </a:p>
          </p:txBody>
        </p:sp>
        <p:sp>
          <p:nvSpPr>
            <p:cNvPr id="73" name="Rectangle 19">
              <a:extLst>
                <a:ext uri="{FF2B5EF4-FFF2-40B4-BE49-F238E27FC236}">
                  <a16:creationId xmlns:a16="http://schemas.microsoft.com/office/drawing/2014/main" id="{A81507A4-3E54-249A-B0E6-9E2FC89660A5}"/>
                </a:ext>
              </a:extLst>
            </p:cNvPr>
            <p:cNvSpPr/>
            <p:nvPr/>
          </p:nvSpPr>
          <p:spPr>
            <a:xfrm>
              <a:off x="819150" y="2895600"/>
              <a:ext cx="2057400" cy="247650"/>
            </a:xfrm>
            <a:prstGeom prst="roundRect">
              <a:avLst>
                <a:gd name="adj" fmla="val 50000"/>
              </a:avLst>
            </a:prstGeom>
            <a:solidFill>
              <a:srgbClr val="E8F4FF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74" name="TextBox 20">
              <a:extLst>
                <a:ext uri="{FF2B5EF4-FFF2-40B4-BE49-F238E27FC236}">
                  <a16:creationId xmlns:a16="http://schemas.microsoft.com/office/drawing/2014/main" id="{0E4260A6-7DA6-A78E-F3E8-C1CB31C6ACCD}"/>
                </a:ext>
              </a:extLst>
            </p:cNvPr>
            <p:cNvSpPr txBox="1"/>
            <p:nvPr/>
          </p:nvSpPr>
          <p:spPr>
            <a:xfrm>
              <a:off x="940118" y="2961799"/>
              <a:ext cx="1479572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"오늘 어디에 다녀오셨어요?"</a:t>
              </a:r>
            </a:p>
          </p:txBody>
        </p:sp>
      </p:grpSp>
      <p:grpSp>
        <p:nvGrpSpPr>
          <p:cNvPr id="77" name="Group 32">
            <a:extLst>
              <a:ext uri="{FF2B5EF4-FFF2-40B4-BE49-F238E27FC236}">
                <a16:creationId xmlns:a16="http://schemas.microsoft.com/office/drawing/2014/main" id="{8CEE30E3-A9CB-0CAA-0609-DDF1C0BEF9B6}"/>
              </a:ext>
            </a:extLst>
          </p:cNvPr>
          <p:cNvGrpSpPr/>
          <p:nvPr/>
        </p:nvGrpSpPr>
        <p:grpSpPr>
          <a:xfrm>
            <a:off x="4343400" y="1657350"/>
            <a:ext cx="3505200" cy="1828800"/>
            <a:chOff x="4343400" y="1543050"/>
            <a:chExt cx="3505200" cy="1828800"/>
          </a:xfrm>
        </p:grpSpPr>
        <p:sp>
          <p:nvSpPr>
            <p:cNvPr id="78" name="Rectangle 22">
              <a:extLst>
                <a:ext uri="{FF2B5EF4-FFF2-40B4-BE49-F238E27FC236}">
                  <a16:creationId xmlns:a16="http://schemas.microsoft.com/office/drawing/2014/main" id="{20A8FE4C-66E0-8175-2570-5A5C7EA3F06D}"/>
                </a:ext>
              </a:extLst>
            </p:cNvPr>
            <p:cNvSpPr/>
            <p:nvPr/>
          </p:nvSpPr>
          <p:spPr>
            <a:xfrm>
              <a:off x="4343400" y="1543050"/>
              <a:ext cx="3505200" cy="18288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rgbClr val="D5DEE5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79" name="Rectangle 23">
              <a:extLst>
                <a:ext uri="{FF2B5EF4-FFF2-40B4-BE49-F238E27FC236}">
                  <a16:creationId xmlns:a16="http://schemas.microsoft.com/office/drawing/2014/main" id="{1081A191-76A3-404F-9E5C-8DA90C106036}"/>
                </a:ext>
              </a:extLst>
            </p:cNvPr>
            <p:cNvSpPr/>
            <p:nvPr/>
          </p:nvSpPr>
          <p:spPr>
            <a:xfrm>
              <a:off x="4552950" y="1714500"/>
              <a:ext cx="381000" cy="381000"/>
            </a:xfrm>
            <a:prstGeom prst="roundRect">
              <a:avLst>
                <a:gd name="adj" fmla="val 27500"/>
              </a:avLst>
            </a:prstGeom>
            <a:solidFill>
              <a:srgbClr val="E8F4FF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80" name="Freeform 24">
              <a:extLst>
                <a:ext uri="{FF2B5EF4-FFF2-40B4-BE49-F238E27FC236}">
                  <a16:creationId xmlns:a16="http://schemas.microsoft.com/office/drawing/2014/main" id="{725122E9-990D-97D7-CEBF-92AB8C09B88A}"/>
                </a:ext>
              </a:extLst>
            </p:cNvPr>
            <p:cNvSpPr/>
            <p:nvPr/>
          </p:nvSpPr>
          <p:spPr>
            <a:xfrm>
              <a:off x="4676775" y="1809750"/>
              <a:ext cx="133351" cy="191032"/>
            </a:xfrm>
            <a:custGeom>
              <a:avLst/>
              <a:gdLst/>
              <a:ahLst/>
              <a:cxnLst/>
              <a:rect l="l" t="t" r="r" b="b"/>
              <a:pathLst>
                <a:path w="133351" h="191032">
                  <a:moveTo>
                    <a:pt x="85725" y="0"/>
                  </a:moveTo>
                  <a:cubicBezTo>
                    <a:pt x="112028" y="0"/>
                    <a:pt x="133350" y="21322"/>
                    <a:pt x="133350" y="47625"/>
                  </a:cubicBezTo>
                  <a:lnTo>
                    <a:pt x="133350" y="180975"/>
                  </a:lnTo>
                  <a:cubicBezTo>
                    <a:pt x="133351" y="184489"/>
                    <a:pt x="131417" y="187717"/>
                    <a:pt x="128319" y="189375"/>
                  </a:cubicBezTo>
                  <a:cubicBezTo>
                    <a:pt x="125220" y="191032"/>
                    <a:pt x="121461" y="190850"/>
                    <a:pt x="118539" y="188900"/>
                  </a:cubicBezTo>
                  <a:lnTo>
                    <a:pt x="66675" y="154324"/>
                  </a:lnTo>
                  <a:lnTo>
                    <a:pt x="14821" y="188900"/>
                  </a:lnTo>
                  <a:cubicBezTo>
                    <a:pt x="12057" y="190750"/>
                    <a:pt x="8527" y="191024"/>
                    <a:pt x="5511" y="189622"/>
                  </a:cubicBezTo>
                  <a:cubicBezTo>
                    <a:pt x="2494" y="188221"/>
                    <a:pt x="427" y="185348"/>
                    <a:pt x="57" y="182042"/>
                  </a:cubicBezTo>
                  <a:lnTo>
                    <a:pt x="0" y="180975"/>
                  </a:ln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lnTo>
                    <a:pt x="85725" y="0"/>
                  </a:lnTo>
                  <a:close/>
                </a:path>
              </a:pathLst>
            </a:custGeom>
            <a:solidFill>
              <a:srgbClr val="0D2F6E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81" name="TextBox 25">
              <a:extLst>
                <a:ext uri="{FF2B5EF4-FFF2-40B4-BE49-F238E27FC236}">
                  <a16:creationId xmlns:a16="http://schemas.microsoft.com/office/drawing/2014/main" id="{DB3DF683-FB89-6881-4836-E418A280171E}"/>
                </a:ext>
              </a:extLst>
            </p:cNvPr>
            <p:cNvSpPr txBox="1"/>
            <p:nvPr/>
          </p:nvSpPr>
          <p:spPr>
            <a:xfrm>
              <a:off x="5029200" y="1781175"/>
              <a:ext cx="52418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기억력</a:t>
              </a:r>
            </a:p>
          </p:txBody>
        </p:sp>
        <p:sp>
          <p:nvSpPr>
            <p:cNvPr id="82" name="TextBox 26">
              <a:extLst>
                <a:ext uri="{FF2B5EF4-FFF2-40B4-BE49-F238E27FC236}">
                  <a16:creationId xmlns:a16="http://schemas.microsoft.com/office/drawing/2014/main" id="{38568239-7EF7-733C-5046-F1FBB522B74D}"/>
                </a:ext>
              </a:extLst>
            </p:cNvPr>
            <p:cNvSpPr txBox="1"/>
            <p:nvPr/>
          </p:nvSpPr>
          <p:spPr>
            <a:xfrm>
              <a:off x="5036344" y="2032397"/>
              <a:ext cx="1048364" cy="144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기억 등록 · 지연 회상</a:t>
              </a:r>
            </a:p>
          </p:txBody>
        </p:sp>
        <p:sp>
          <p:nvSpPr>
            <p:cNvPr id="83" name="TextBox 27">
              <a:extLst>
                <a:ext uri="{FF2B5EF4-FFF2-40B4-BE49-F238E27FC236}">
                  <a16:creationId xmlns:a16="http://schemas.microsoft.com/office/drawing/2014/main" id="{D0426738-7849-DE00-E57D-0A7C1281BB8B}"/>
                </a:ext>
              </a:extLst>
            </p:cNvPr>
            <p:cNvSpPr txBox="1"/>
            <p:nvPr/>
          </p:nvSpPr>
          <p:spPr>
            <a:xfrm>
              <a:off x="4540568" y="2314099"/>
              <a:ext cx="1784143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기존 검사</a:t>
              </a:r>
              <a:r>
                <a:rPr lang="zh-CN" sz="975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 xml:space="preserve"> · 단어·문장 기억 후 회상</a:t>
              </a:r>
            </a:p>
          </p:txBody>
        </p:sp>
        <p:sp>
          <p:nvSpPr>
            <p:cNvPr id="84" name="Rectangle 28">
              <a:extLst>
                <a:ext uri="{FF2B5EF4-FFF2-40B4-BE49-F238E27FC236}">
                  <a16:creationId xmlns:a16="http://schemas.microsoft.com/office/drawing/2014/main" id="{BC5E4B1E-7173-1B93-70F6-DA3896A6E1A3}"/>
                </a:ext>
              </a:extLst>
            </p:cNvPr>
            <p:cNvSpPr/>
            <p:nvPr/>
          </p:nvSpPr>
          <p:spPr>
            <a:xfrm>
              <a:off x="4552950" y="2571750"/>
              <a:ext cx="2286000" cy="247650"/>
            </a:xfrm>
            <a:prstGeom prst="roundRect">
              <a:avLst>
                <a:gd name="adj" fmla="val 50000"/>
              </a:avLst>
            </a:prstGeom>
            <a:solidFill>
              <a:srgbClr val="E8F4FF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85" name="TextBox 29">
              <a:extLst>
                <a:ext uri="{FF2B5EF4-FFF2-40B4-BE49-F238E27FC236}">
                  <a16:creationId xmlns:a16="http://schemas.microsoft.com/office/drawing/2014/main" id="{178C077E-58C0-6AC5-954A-724991ABC8CC}"/>
                </a:ext>
              </a:extLst>
            </p:cNvPr>
            <p:cNvSpPr txBox="1"/>
            <p:nvPr/>
          </p:nvSpPr>
          <p:spPr>
            <a:xfrm>
              <a:off x="4673918" y="2637949"/>
              <a:ext cx="1380186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ko-KR" altLang="en-US" sz="975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어제 일기에서 이어 묻기</a:t>
              </a:r>
            </a:p>
          </p:txBody>
        </p:sp>
        <p:sp>
          <p:nvSpPr>
            <p:cNvPr id="86" name="Rectangle 30">
              <a:extLst>
                <a:ext uri="{FF2B5EF4-FFF2-40B4-BE49-F238E27FC236}">
                  <a16:creationId xmlns:a16="http://schemas.microsoft.com/office/drawing/2014/main" id="{3AFBBCAC-0569-1720-9A05-76F2B43AA00B}"/>
                </a:ext>
              </a:extLst>
            </p:cNvPr>
            <p:cNvSpPr/>
            <p:nvPr/>
          </p:nvSpPr>
          <p:spPr>
            <a:xfrm>
              <a:off x="4552950" y="2895600"/>
              <a:ext cx="1638300" cy="247650"/>
            </a:xfrm>
            <a:prstGeom prst="roundRect">
              <a:avLst>
                <a:gd name="adj" fmla="val 50000"/>
              </a:avLst>
            </a:prstGeom>
            <a:solidFill>
              <a:srgbClr val="E8F4FF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87" name="TextBox 31">
              <a:extLst>
                <a:ext uri="{FF2B5EF4-FFF2-40B4-BE49-F238E27FC236}">
                  <a16:creationId xmlns:a16="http://schemas.microsoft.com/office/drawing/2014/main" id="{F2CDC7AF-A051-3C6E-548F-B4B2E38AC2B5}"/>
                </a:ext>
              </a:extLst>
            </p:cNvPr>
            <p:cNvSpPr txBox="1"/>
            <p:nvPr/>
          </p:nvSpPr>
          <p:spPr>
            <a:xfrm>
              <a:off x="4673918" y="2961799"/>
              <a:ext cx="1208664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ko-KR" altLang="en-US" sz="975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 xml:space="preserve">가족 식사 </a:t>
              </a:r>
              <a:r>
                <a:rPr lang="en-US" altLang="ko-KR" sz="975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 xml:space="preserve">· </a:t>
              </a:r>
              <a:r>
                <a:rPr lang="ko-KR" altLang="en-US" sz="975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나들이 회상</a:t>
              </a:r>
            </a:p>
          </p:txBody>
        </p:sp>
      </p:grpSp>
      <p:grpSp>
        <p:nvGrpSpPr>
          <p:cNvPr id="88" name="Group 45">
            <a:extLst>
              <a:ext uri="{FF2B5EF4-FFF2-40B4-BE49-F238E27FC236}">
                <a16:creationId xmlns:a16="http://schemas.microsoft.com/office/drawing/2014/main" id="{C8B7F024-389E-0963-2862-7320CA08025E}"/>
              </a:ext>
            </a:extLst>
          </p:cNvPr>
          <p:cNvGrpSpPr/>
          <p:nvPr/>
        </p:nvGrpSpPr>
        <p:grpSpPr>
          <a:xfrm>
            <a:off x="8077200" y="1657350"/>
            <a:ext cx="3505200" cy="1828800"/>
            <a:chOff x="8077200" y="1543050"/>
            <a:chExt cx="3505200" cy="1828800"/>
          </a:xfrm>
        </p:grpSpPr>
        <p:sp>
          <p:nvSpPr>
            <p:cNvPr id="89" name="Rectangle 33">
              <a:extLst>
                <a:ext uri="{FF2B5EF4-FFF2-40B4-BE49-F238E27FC236}">
                  <a16:creationId xmlns:a16="http://schemas.microsoft.com/office/drawing/2014/main" id="{867B34B4-2760-649E-A4ED-8A94D3047AA9}"/>
                </a:ext>
              </a:extLst>
            </p:cNvPr>
            <p:cNvSpPr/>
            <p:nvPr/>
          </p:nvSpPr>
          <p:spPr>
            <a:xfrm>
              <a:off x="8077200" y="1543050"/>
              <a:ext cx="3505200" cy="18288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rgbClr val="D5DEE5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90" name="Rectangle 34">
              <a:extLst>
                <a:ext uri="{FF2B5EF4-FFF2-40B4-BE49-F238E27FC236}">
                  <a16:creationId xmlns:a16="http://schemas.microsoft.com/office/drawing/2014/main" id="{079F5EF4-B915-47B1-1F92-B66EC909B87E}"/>
                </a:ext>
              </a:extLst>
            </p:cNvPr>
            <p:cNvSpPr/>
            <p:nvPr/>
          </p:nvSpPr>
          <p:spPr>
            <a:xfrm>
              <a:off x="8286750" y="1714500"/>
              <a:ext cx="381000" cy="381000"/>
            </a:xfrm>
            <a:prstGeom prst="roundRect">
              <a:avLst>
                <a:gd name="adj" fmla="val 27500"/>
              </a:avLst>
            </a:prstGeom>
            <a:solidFill>
              <a:srgbClr val="D8F6E3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91" name="Freeform 35">
              <a:extLst>
                <a:ext uri="{FF2B5EF4-FFF2-40B4-BE49-F238E27FC236}">
                  <a16:creationId xmlns:a16="http://schemas.microsoft.com/office/drawing/2014/main" id="{F3EC55A5-4C04-1183-5D30-AE2C194E5E82}"/>
                </a:ext>
              </a:extLst>
            </p:cNvPr>
            <p:cNvSpPr/>
            <p:nvPr/>
          </p:nvSpPr>
          <p:spPr>
            <a:xfrm>
              <a:off x="8391525" y="1809750"/>
              <a:ext cx="171450" cy="190500"/>
            </a:xfrm>
            <a:custGeom>
              <a:avLst/>
              <a:gdLst/>
              <a:ahLst/>
              <a:cxnLst/>
              <a:rect l="l" t="t" r="r" b="b"/>
              <a:pathLst>
                <a:path w="171450" h="190500">
                  <a:moveTo>
                    <a:pt x="142875" y="0"/>
                  </a:moveTo>
                  <a:cubicBezTo>
                    <a:pt x="158657" y="0"/>
                    <a:pt x="171450" y="12793"/>
                    <a:pt x="171450" y="28575"/>
                  </a:cubicBezTo>
                  <a:lnTo>
                    <a:pt x="171450" y="161925"/>
                  </a:lnTo>
                  <a:cubicBezTo>
                    <a:pt x="171450" y="177707"/>
                    <a:pt x="158657" y="190500"/>
                    <a:pt x="142875" y="190500"/>
                  </a:cubicBezTo>
                  <a:lnTo>
                    <a:pt x="28575" y="190500"/>
                  </a:lnTo>
                  <a:cubicBezTo>
                    <a:pt x="12793" y="190500"/>
                    <a:pt x="0" y="177707"/>
                    <a:pt x="0" y="1619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  <a:moveTo>
                    <a:pt x="47625" y="142875"/>
                  </a:moveTo>
                  <a:cubicBezTo>
                    <a:pt x="42364" y="142875"/>
                    <a:pt x="38100" y="147139"/>
                    <a:pt x="38100" y="152400"/>
                  </a:cubicBezTo>
                  <a:lnTo>
                    <a:pt x="38167" y="153610"/>
                  </a:lnTo>
                  <a:cubicBezTo>
                    <a:pt x="38762" y="158614"/>
                    <a:pt x="43152" y="162289"/>
                    <a:pt x="48183" y="161993"/>
                  </a:cubicBezTo>
                  <a:cubicBezTo>
                    <a:pt x="53214" y="161698"/>
                    <a:pt x="57144" y="157535"/>
                    <a:pt x="57150" y="152495"/>
                  </a:cubicBezTo>
                  <a:lnTo>
                    <a:pt x="57083" y="151286"/>
                  </a:lnTo>
                  <a:cubicBezTo>
                    <a:pt x="56518" y="146490"/>
                    <a:pt x="52454" y="142876"/>
                    <a:pt x="47625" y="142875"/>
                  </a:cubicBezTo>
                  <a:close/>
                  <a:moveTo>
                    <a:pt x="85725" y="142875"/>
                  </a:moveTo>
                  <a:cubicBezTo>
                    <a:pt x="80464" y="142875"/>
                    <a:pt x="76200" y="147139"/>
                    <a:pt x="76200" y="152400"/>
                  </a:cubicBezTo>
                  <a:lnTo>
                    <a:pt x="76267" y="153610"/>
                  </a:lnTo>
                  <a:cubicBezTo>
                    <a:pt x="76862" y="158614"/>
                    <a:pt x="81252" y="162289"/>
                    <a:pt x="86283" y="161993"/>
                  </a:cubicBezTo>
                  <a:cubicBezTo>
                    <a:pt x="91314" y="161698"/>
                    <a:pt x="95244" y="157535"/>
                    <a:pt x="95250" y="152495"/>
                  </a:cubicBezTo>
                  <a:lnTo>
                    <a:pt x="95183" y="151286"/>
                  </a:lnTo>
                  <a:cubicBezTo>
                    <a:pt x="94618" y="146490"/>
                    <a:pt x="90554" y="142876"/>
                    <a:pt x="85725" y="142875"/>
                  </a:cubicBezTo>
                  <a:close/>
                  <a:moveTo>
                    <a:pt x="123825" y="142875"/>
                  </a:moveTo>
                  <a:cubicBezTo>
                    <a:pt x="118564" y="142875"/>
                    <a:pt x="114300" y="147139"/>
                    <a:pt x="114300" y="152400"/>
                  </a:cubicBezTo>
                  <a:lnTo>
                    <a:pt x="114367" y="153610"/>
                  </a:lnTo>
                  <a:cubicBezTo>
                    <a:pt x="114962" y="158614"/>
                    <a:pt x="119352" y="162289"/>
                    <a:pt x="124383" y="161993"/>
                  </a:cubicBezTo>
                  <a:cubicBezTo>
                    <a:pt x="129414" y="161698"/>
                    <a:pt x="133344" y="157535"/>
                    <a:pt x="133350" y="152495"/>
                  </a:cubicBezTo>
                  <a:lnTo>
                    <a:pt x="133283" y="151286"/>
                  </a:lnTo>
                  <a:cubicBezTo>
                    <a:pt x="132718" y="146490"/>
                    <a:pt x="128654" y="142876"/>
                    <a:pt x="123825" y="142875"/>
                  </a:cubicBezTo>
                  <a:close/>
                  <a:moveTo>
                    <a:pt x="47625" y="104775"/>
                  </a:moveTo>
                  <a:cubicBezTo>
                    <a:pt x="42364" y="104775"/>
                    <a:pt x="38100" y="109039"/>
                    <a:pt x="38100" y="114300"/>
                  </a:cubicBezTo>
                  <a:lnTo>
                    <a:pt x="38167" y="115510"/>
                  </a:lnTo>
                  <a:cubicBezTo>
                    <a:pt x="38762" y="120514"/>
                    <a:pt x="43152" y="124189"/>
                    <a:pt x="48183" y="123893"/>
                  </a:cubicBezTo>
                  <a:cubicBezTo>
                    <a:pt x="53214" y="123598"/>
                    <a:pt x="57144" y="119435"/>
                    <a:pt x="57150" y="114395"/>
                  </a:cubicBezTo>
                  <a:lnTo>
                    <a:pt x="57083" y="113186"/>
                  </a:lnTo>
                  <a:cubicBezTo>
                    <a:pt x="56518" y="108390"/>
                    <a:pt x="52454" y="104776"/>
                    <a:pt x="47625" y="104775"/>
                  </a:cubicBezTo>
                  <a:close/>
                  <a:moveTo>
                    <a:pt x="85725" y="104775"/>
                  </a:moveTo>
                  <a:cubicBezTo>
                    <a:pt x="80464" y="104775"/>
                    <a:pt x="76200" y="109039"/>
                    <a:pt x="76200" y="114300"/>
                  </a:cubicBezTo>
                  <a:lnTo>
                    <a:pt x="76267" y="115510"/>
                  </a:lnTo>
                  <a:cubicBezTo>
                    <a:pt x="76862" y="120514"/>
                    <a:pt x="81252" y="124189"/>
                    <a:pt x="86283" y="123893"/>
                  </a:cubicBezTo>
                  <a:cubicBezTo>
                    <a:pt x="91314" y="123598"/>
                    <a:pt x="95244" y="119435"/>
                    <a:pt x="95250" y="114395"/>
                  </a:cubicBezTo>
                  <a:lnTo>
                    <a:pt x="95183" y="113186"/>
                  </a:lnTo>
                  <a:cubicBezTo>
                    <a:pt x="94618" y="108390"/>
                    <a:pt x="90554" y="104776"/>
                    <a:pt x="85725" y="104775"/>
                  </a:cubicBezTo>
                  <a:close/>
                  <a:moveTo>
                    <a:pt x="123825" y="104775"/>
                  </a:moveTo>
                  <a:cubicBezTo>
                    <a:pt x="118564" y="104775"/>
                    <a:pt x="114300" y="109039"/>
                    <a:pt x="114300" y="114300"/>
                  </a:cubicBezTo>
                  <a:lnTo>
                    <a:pt x="114367" y="115510"/>
                  </a:lnTo>
                  <a:cubicBezTo>
                    <a:pt x="114962" y="120514"/>
                    <a:pt x="119352" y="124189"/>
                    <a:pt x="124383" y="123893"/>
                  </a:cubicBezTo>
                  <a:cubicBezTo>
                    <a:pt x="129414" y="123598"/>
                    <a:pt x="133344" y="119435"/>
                    <a:pt x="133350" y="114395"/>
                  </a:cubicBezTo>
                  <a:lnTo>
                    <a:pt x="133283" y="113186"/>
                  </a:lnTo>
                  <a:cubicBezTo>
                    <a:pt x="132718" y="108390"/>
                    <a:pt x="128654" y="104776"/>
                    <a:pt x="123825" y="104775"/>
                  </a:cubicBezTo>
                  <a:close/>
                  <a:moveTo>
                    <a:pt x="114300" y="38100"/>
                  </a:moveTo>
                  <a:lnTo>
                    <a:pt x="57150" y="38100"/>
                  </a:lnTo>
                  <a:cubicBezTo>
                    <a:pt x="46629" y="38100"/>
                    <a:pt x="38100" y="46629"/>
                    <a:pt x="38100" y="57150"/>
                  </a:cubicBezTo>
                  <a:lnTo>
                    <a:pt x="38100" y="66675"/>
                  </a:lnTo>
                  <a:cubicBezTo>
                    <a:pt x="38100" y="77196"/>
                    <a:pt x="46629" y="85725"/>
                    <a:pt x="57150" y="85725"/>
                  </a:cubicBezTo>
                  <a:lnTo>
                    <a:pt x="114300" y="85725"/>
                  </a:lnTo>
                  <a:cubicBezTo>
                    <a:pt x="124821" y="85725"/>
                    <a:pt x="133350" y="77196"/>
                    <a:pt x="133350" y="66675"/>
                  </a:cubicBezTo>
                  <a:lnTo>
                    <a:pt x="133350" y="57150"/>
                  </a:lnTo>
                  <a:cubicBezTo>
                    <a:pt x="133350" y="46629"/>
                    <a:pt x="124821" y="38100"/>
                    <a:pt x="114300" y="38100"/>
                  </a:cubicBezTo>
                  <a:close/>
                </a:path>
              </a:pathLst>
            </a:custGeom>
            <a:solidFill>
              <a:srgbClr val="34C759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92" name="TextBox 36">
              <a:extLst>
                <a:ext uri="{FF2B5EF4-FFF2-40B4-BE49-F238E27FC236}">
                  <a16:creationId xmlns:a16="http://schemas.microsoft.com/office/drawing/2014/main" id="{A04E5A72-4C5C-C95D-8C6E-89C906ADA5C0}"/>
                </a:ext>
              </a:extLst>
            </p:cNvPr>
            <p:cNvSpPr txBox="1"/>
            <p:nvPr/>
          </p:nvSpPr>
          <p:spPr>
            <a:xfrm>
              <a:off x="8763000" y="1781175"/>
              <a:ext cx="88325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주의 · 계산</a:t>
              </a:r>
            </a:p>
          </p:txBody>
        </p:sp>
        <p:sp>
          <p:nvSpPr>
            <p:cNvPr id="93" name="TextBox 37">
              <a:extLst>
                <a:ext uri="{FF2B5EF4-FFF2-40B4-BE49-F238E27FC236}">
                  <a16:creationId xmlns:a16="http://schemas.microsoft.com/office/drawing/2014/main" id="{0A9582FA-3FF6-08E9-0AAE-B80B79D246CC}"/>
                </a:ext>
              </a:extLst>
            </p:cNvPr>
            <p:cNvSpPr txBox="1"/>
            <p:nvPr/>
          </p:nvSpPr>
          <p:spPr>
            <a:xfrm>
              <a:off x="8770144" y="2032397"/>
              <a:ext cx="769441" cy="144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주의집중 · 연산</a:t>
              </a:r>
            </a:p>
          </p:txBody>
        </p:sp>
        <p:sp>
          <p:nvSpPr>
            <p:cNvPr id="94" name="Rectangle 38">
              <a:extLst>
                <a:ext uri="{FF2B5EF4-FFF2-40B4-BE49-F238E27FC236}">
                  <a16:creationId xmlns:a16="http://schemas.microsoft.com/office/drawing/2014/main" id="{1203F14B-73F5-A818-43B5-E1F81791F2B5}"/>
                </a:ext>
              </a:extLst>
            </p:cNvPr>
            <p:cNvSpPr/>
            <p:nvPr/>
          </p:nvSpPr>
          <p:spPr>
            <a:xfrm>
              <a:off x="10515600" y="1695450"/>
              <a:ext cx="876300" cy="209550"/>
            </a:xfrm>
            <a:prstGeom prst="roundRect">
              <a:avLst>
                <a:gd name="adj" fmla="val 50000"/>
              </a:avLst>
            </a:prstGeom>
            <a:solidFill>
              <a:srgbClr val="2F80ED"/>
            </a:solidFill>
            <a:ln>
              <a:noFill/>
            </a:ln>
          </p:spPr>
          <p:txBody>
            <a:bodyPr/>
            <a:lstStyle/>
            <a:p>
              <a:endParaRPr lang="ko-KR" altLang="en-US" dirty="0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95" name="TextBox 39">
              <a:extLst>
                <a:ext uri="{FF2B5EF4-FFF2-40B4-BE49-F238E27FC236}">
                  <a16:creationId xmlns:a16="http://schemas.microsoft.com/office/drawing/2014/main" id="{4EA063ED-0FF7-E096-C08A-249AD08A4B61}"/>
                </a:ext>
              </a:extLst>
            </p:cNvPr>
            <p:cNvSpPr txBox="1"/>
            <p:nvPr/>
          </p:nvSpPr>
          <p:spPr>
            <a:xfrm>
              <a:off x="10687651" y="1737159"/>
              <a:ext cx="532198" cy="132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2" b="1" dirty="0">
                  <a:solidFill>
                    <a:srgbClr val="FFFFFF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멘토링 반영</a:t>
              </a:r>
            </a:p>
          </p:txBody>
        </p:sp>
        <p:sp>
          <p:nvSpPr>
            <p:cNvPr id="96" name="TextBox 40">
              <a:extLst>
                <a:ext uri="{FF2B5EF4-FFF2-40B4-BE49-F238E27FC236}">
                  <a16:creationId xmlns:a16="http://schemas.microsoft.com/office/drawing/2014/main" id="{E9C686B5-E061-CDF6-850A-448D5A96DED5}"/>
                </a:ext>
              </a:extLst>
            </p:cNvPr>
            <p:cNvSpPr txBox="1"/>
            <p:nvPr/>
          </p:nvSpPr>
          <p:spPr>
            <a:xfrm>
              <a:off x="8274368" y="2314099"/>
              <a:ext cx="1644681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기존 검사</a:t>
              </a:r>
              <a:r>
                <a:rPr lang="zh-CN" sz="975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 xml:space="preserve"> · 숫자 빼기, 수열 잇기</a:t>
              </a:r>
            </a:p>
          </p:txBody>
        </p:sp>
        <p:sp>
          <p:nvSpPr>
            <p:cNvPr id="97" name="Rectangle 41">
              <a:extLst>
                <a:ext uri="{FF2B5EF4-FFF2-40B4-BE49-F238E27FC236}">
                  <a16:creationId xmlns:a16="http://schemas.microsoft.com/office/drawing/2014/main" id="{358FE79B-76E7-A825-1CBC-C917A02B9BE2}"/>
                </a:ext>
              </a:extLst>
            </p:cNvPr>
            <p:cNvSpPr/>
            <p:nvPr/>
          </p:nvSpPr>
          <p:spPr>
            <a:xfrm>
              <a:off x="8286750" y="2571750"/>
              <a:ext cx="1390650" cy="247650"/>
            </a:xfrm>
            <a:prstGeom prst="roundRect">
              <a:avLst>
                <a:gd name="adj" fmla="val 50000"/>
              </a:avLst>
            </a:prstGeom>
            <a:solidFill>
              <a:srgbClr val="E8F4FF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98" name="TextBox 42">
              <a:extLst>
                <a:ext uri="{FF2B5EF4-FFF2-40B4-BE49-F238E27FC236}">
                  <a16:creationId xmlns:a16="http://schemas.microsoft.com/office/drawing/2014/main" id="{E95B5B15-E986-0171-7084-94BCDF6220F0}"/>
                </a:ext>
              </a:extLst>
            </p:cNvPr>
            <p:cNvSpPr txBox="1"/>
            <p:nvPr/>
          </p:nvSpPr>
          <p:spPr>
            <a:xfrm>
              <a:off x="8407718" y="2637949"/>
              <a:ext cx="860813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시장 돈 계산하기</a:t>
              </a:r>
            </a:p>
          </p:txBody>
        </p:sp>
        <p:sp>
          <p:nvSpPr>
            <p:cNvPr id="99" name="Rectangle 43">
              <a:extLst>
                <a:ext uri="{FF2B5EF4-FFF2-40B4-BE49-F238E27FC236}">
                  <a16:creationId xmlns:a16="http://schemas.microsoft.com/office/drawing/2014/main" id="{EC08778F-9089-C4BB-73E7-A1CBC23A79F6}"/>
                </a:ext>
              </a:extLst>
            </p:cNvPr>
            <p:cNvSpPr/>
            <p:nvPr/>
          </p:nvSpPr>
          <p:spPr>
            <a:xfrm>
              <a:off x="8286750" y="2895600"/>
              <a:ext cx="1838325" cy="247650"/>
            </a:xfrm>
            <a:prstGeom prst="roundRect">
              <a:avLst>
                <a:gd name="adj" fmla="val 50000"/>
              </a:avLst>
            </a:prstGeom>
            <a:solidFill>
              <a:srgbClr val="E8F4FF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00" name="TextBox 44">
              <a:extLst>
                <a:ext uri="{FF2B5EF4-FFF2-40B4-BE49-F238E27FC236}">
                  <a16:creationId xmlns:a16="http://schemas.microsoft.com/office/drawing/2014/main" id="{9F8C49C1-7438-59FE-D156-A05C44360912}"/>
                </a:ext>
              </a:extLst>
            </p:cNvPr>
            <p:cNvSpPr txBox="1"/>
            <p:nvPr/>
          </p:nvSpPr>
          <p:spPr>
            <a:xfrm>
              <a:off x="8407718" y="2961799"/>
              <a:ext cx="1240724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약 복용 시간 · 숫자 패턴</a:t>
              </a:r>
            </a:p>
          </p:txBody>
        </p:sp>
      </p:grpSp>
      <p:grpSp>
        <p:nvGrpSpPr>
          <p:cNvPr id="101" name="Group 58">
            <a:extLst>
              <a:ext uri="{FF2B5EF4-FFF2-40B4-BE49-F238E27FC236}">
                <a16:creationId xmlns:a16="http://schemas.microsoft.com/office/drawing/2014/main" id="{930450A9-5970-A823-4303-98B3DAF0C175}"/>
              </a:ext>
            </a:extLst>
          </p:cNvPr>
          <p:cNvGrpSpPr/>
          <p:nvPr/>
        </p:nvGrpSpPr>
        <p:grpSpPr>
          <a:xfrm>
            <a:off x="609600" y="3657600"/>
            <a:ext cx="3505200" cy="1828800"/>
            <a:chOff x="609600" y="3543300"/>
            <a:chExt cx="3505200" cy="1828800"/>
          </a:xfrm>
        </p:grpSpPr>
        <p:sp>
          <p:nvSpPr>
            <p:cNvPr id="102" name="Rectangle 46">
              <a:extLst>
                <a:ext uri="{FF2B5EF4-FFF2-40B4-BE49-F238E27FC236}">
                  <a16:creationId xmlns:a16="http://schemas.microsoft.com/office/drawing/2014/main" id="{F9784F3D-6A6F-722C-41D4-2C64A983349F}"/>
                </a:ext>
              </a:extLst>
            </p:cNvPr>
            <p:cNvSpPr/>
            <p:nvPr/>
          </p:nvSpPr>
          <p:spPr>
            <a:xfrm>
              <a:off x="609600" y="3543300"/>
              <a:ext cx="3505200" cy="18288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rgbClr val="D5DEE5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03" name="Rectangle 47">
              <a:extLst>
                <a:ext uri="{FF2B5EF4-FFF2-40B4-BE49-F238E27FC236}">
                  <a16:creationId xmlns:a16="http://schemas.microsoft.com/office/drawing/2014/main" id="{3BAE612F-108E-63A0-FAAC-C8E3DEF567A7}"/>
                </a:ext>
              </a:extLst>
            </p:cNvPr>
            <p:cNvSpPr/>
            <p:nvPr/>
          </p:nvSpPr>
          <p:spPr>
            <a:xfrm>
              <a:off x="819150" y="3714750"/>
              <a:ext cx="381000" cy="381000"/>
            </a:xfrm>
            <a:prstGeom prst="roundRect">
              <a:avLst>
                <a:gd name="adj" fmla="val 27500"/>
              </a:avLst>
            </a:prstGeom>
            <a:solidFill>
              <a:srgbClr val="F6C7CF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04" name="Freeform 48">
              <a:extLst>
                <a:ext uri="{FF2B5EF4-FFF2-40B4-BE49-F238E27FC236}">
                  <a16:creationId xmlns:a16="http://schemas.microsoft.com/office/drawing/2014/main" id="{28C7573C-B5C1-0236-E226-D6E72510F27B}"/>
                </a:ext>
              </a:extLst>
            </p:cNvPr>
            <p:cNvSpPr/>
            <p:nvPr/>
          </p:nvSpPr>
          <p:spPr>
            <a:xfrm>
              <a:off x="933446" y="3800475"/>
              <a:ext cx="152408" cy="200025"/>
            </a:xfrm>
            <a:custGeom>
              <a:avLst/>
              <a:gdLst/>
              <a:ahLst/>
              <a:cxnLst/>
              <a:rect l="l" t="t" r="r" b="b"/>
              <a:pathLst>
                <a:path w="152408" h="200025">
                  <a:moveTo>
                    <a:pt x="142879" y="76200"/>
                  </a:moveTo>
                  <a:cubicBezTo>
                    <a:pt x="148139" y="76200"/>
                    <a:pt x="152404" y="80464"/>
                    <a:pt x="152404" y="85725"/>
                  </a:cubicBezTo>
                  <a:cubicBezTo>
                    <a:pt x="152408" y="124126"/>
                    <a:pt x="123837" y="156530"/>
                    <a:pt x="85738" y="161334"/>
                  </a:cubicBezTo>
                  <a:lnTo>
                    <a:pt x="85729" y="180975"/>
                  </a:lnTo>
                  <a:lnTo>
                    <a:pt x="114304" y="180975"/>
                  </a:lnTo>
                  <a:cubicBezTo>
                    <a:pt x="119564" y="180975"/>
                    <a:pt x="123829" y="185239"/>
                    <a:pt x="123829" y="190500"/>
                  </a:cubicBezTo>
                  <a:cubicBezTo>
                    <a:pt x="123829" y="195761"/>
                    <a:pt x="119564" y="200025"/>
                    <a:pt x="114304" y="200025"/>
                  </a:cubicBezTo>
                  <a:lnTo>
                    <a:pt x="38104" y="200025"/>
                  </a:lnTo>
                  <a:cubicBezTo>
                    <a:pt x="32843" y="200025"/>
                    <a:pt x="28579" y="195761"/>
                    <a:pt x="28579" y="190500"/>
                  </a:cubicBezTo>
                  <a:cubicBezTo>
                    <a:pt x="28579" y="185239"/>
                    <a:pt x="32843" y="180975"/>
                    <a:pt x="38104" y="180975"/>
                  </a:cubicBezTo>
                  <a:lnTo>
                    <a:pt x="66679" y="180975"/>
                  </a:lnTo>
                  <a:lnTo>
                    <a:pt x="66679" y="161334"/>
                  </a:lnTo>
                  <a:cubicBezTo>
                    <a:pt x="28576" y="156534"/>
                    <a:pt x="0" y="124129"/>
                    <a:pt x="4" y="85725"/>
                  </a:cubicBezTo>
                  <a:cubicBezTo>
                    <a:pt x="4" y="80464"/>
                    <a:pt x="4268" y="76200"/>
                    <a:pt x="9529" y="76200"/>
                  </a:cubicBezTo>
                  <a:cubicBezTo>
                    <a:pt x="14789" y="76200"/>
                    <a:pt x="19054" y="80464"/>
                    <a:pt x="19054" y="85725"/>
                  </a:cubicBezTo>
                  <a:cubicBezTo>
                    <a:pt x="19054" y="117288"/>
                    <a:pt x="44641" y="142875"/>
                    <a:pt x="76204" y="142875"/>
                  </a:cubicBezTo>
                  <a:cubicBezTo>
                    <a:pt x="107767" y="142875"/>
                    <a:pt x="133354" y="117288"/>
                    <a:pt x="133354" y="85725"/>
                  </a:cubicBezTo>
                  <a:cubicBezTo>
                    <a:pt x="133354" y="80464"/>
                    <a:pt x="137618" y="76200"/>
                    <a:pt x="142879" y="76200"/>
                  </a:cubicBezTo>
                  <a:moveTo>
                    <a:pt x="76204" y="0"/>
                  </a:moveTo>
                  <a:cubicBezTo>
                    <a:pt x="97246" y="0"/>
                    <a:pt x="114304" y="17058"/>
                    <a:pt x="114304" y="38100"/>
                  </a:cubicBezTo>
                  <a:lnTo>
                    <a:pt x="114304" y="85725"/>
                  </a:lnTo>
                  <a:cubicBezTo>
                    <a:pt x="114304" y="106767"/>
                    <a:pt x="97246" y="123825"/>
                    <a:pt x="76204" y="123825"/>
                  </a:cubicBezTo>
                  <a:cubicBezTo>
                    <a:pt x="55162" y="123825"/>
                    <a:pt x="38104" y="106767"/>
                    <a:pt x="38104" y="85725"/>
                  </a:cubicBezTo>
                  <a:lnTo>
                    <a:pt x="38104" y="38100"/>
                  </a:lnTo>
                  <a:cubicBezTo>
                    <a:pt x="38104" y="17058"/>
                    <a:pt x="55162" y="0"/>
                    <a:pt x="76204" y="0"/>
                  </a:cubicBezTo>
                </a:path>
              </a:pathLst>
            </a:custGeom>
            <a:solidFill>
              <a:srgbClr val="00B39A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05" name="TextBox 49">
              <a:extLst>
                <a:ext uri="{FF2B5EF4-FFF2-40B4-BE49-F238E27FC236}">
                  <a16:creationId xmlns:a16="http://schemas.microsoft.com/office/drawing/2014/main" id="{1481F92F-F7C5-EC1C-29B0-CD57BB2B8B51}"/>
                </a:ext>
              </a:extLst>
            </p:cNvPr>
            <p:cNvSpPr txBox="1"/>
            <p:nvPr/>
          </p:nvSpPr>
          <p:spPr>
            <a:xfrm>
              <a:off x="1295400" y="3781425"/>
              <a:ext cx="34945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언어</a:t>
              </a:r>
            </a:p>
          </p:txBody>
        </p:sp>
        <p:sp>
          <p:nvSpPr>
            <p:cNvPr id="106" name="TextBox 50">
              <a:extLst>
                <a:ext uri="{FF2B5EF4-FFF2-40B4-BE49-F238E27FC236}">
                  <a16:creationId xmlns:a16="http://schemas.microsoft.com/office/drawing/2014/main" id="{231A6560-C424-8D94-2C41-0170623D802A}"/>
                </a:ext>
              </a:extLst>
            </p:cNvPr>
            <p:cNvSpPr txBox="1"/>
            <p:nvPr/>
          </p:nvSpPr>
          <p:spPr>
            <a:xfrm>
              <a:off x="1302544" y="4032647"/>
              <a:ext cx="1102866" cy="144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이름대기 · 이해 · 발화</a:t>
              </a:r>
            </a:p>
          </p:txBody>
        </p:sp>
        <p:sp>
          <p:nvSpPr>
            <p:cNvPr id="107" name="Rectangle 51">
              <a:extLst>
                <a:ext uri="{FF2B5EF4-FFF2-40B4-BE49-F238E27FC236}">
                  <a16:creationId xmlns:a16="http://schemas.microsoft.com/office/drawing/2014/main" id="{B28B705D-7A76-8D78-429D-F1026A711FB7}"/>
                </a:ext>
              </a:extLst>
            </p:cNvPr>
            <p:cNvSpPr/>
            <p:nvPr/>
          </p:nvSpPr>
          <p:spPr>
            <a:xfrm>
              <a:off x="3048000" y="3695700"/>
              <a:ext cx="876300" cy="209550"/>
            </a:xfrm>
            <a:prstGeom prst="roundRect">
              <a:avLst>
                <a:gd name="adj" fmla="val 50000"/>
              </a:avLst>
            </a:prstGeom>
            <a:solidFill>
              <a:srgbClr val="2F80ED"/>
            </a:solidFill>
            <a:ln>
              <a:noFill/>
            </a:ln>
          </p:spPr>
          <p:txBody>
            <a:bodyPr/>
            <a:lstStyle/>
            <a:p>
              <a:endParaRPr lang="ko-KR" altLang="en-US" dirty="0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08" name="TextBox 52">
              <a:extLst>
                <a:ext uri="{FF2B5EF4-FFF2-40B4-BE49-F238E27FC236}">
                  <a16:creationId xmlns:a16="http://schemas.microsoft.com/office/drawing/2014/main" id="{34EB1C96-41C4-1F34-F910-B7C829369EBB}"/>
                </a:ext>
              </a:extLst>
            </p:cNvPr>
            <p:cNvSpPr txBox="1"/>
            <p:nvPr/>
          </p:nvSpPr>
          <p:spPr>
            <a:xfrm>
              <a:off x="3220051" y="3737409"/>
              <a:ext cx="532198" cy="132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2" b="1" dirty="0">
                  <a:solidFill>
                    <a:srgbClr val="FFFFFF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멘토링 반영</a:t>
              </a:r>
            </a:p>
          </p:txBody>
        </p:sp>
        <p:sp>
          <p:nvSpPr>
            <p:cNvPr id="109" name="TextBox 53">
              <a:extLst>
                <a:ext uri="{FF2B5EF4-FFF2-40B4-BE49-F238E27FC236}">
                  <a16:creationId xmlns:a16="http://schemas.microsoft.com/office/drawing/2014/main" id="{BE875033-8E3B-49FA-3075-243B3825CE4B}"/>
                </a:ext>
              </a:extLst>
            </p:cNvPr>
            <p:cNvSpPr txBox="1"/>
            <p:nvPr/>
          </p:nvSpPr>
          <p:spPr>
            <a:xfrm>
              <a:off x="806768" y="4314349"/>
              <a:ext cx="1840247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기존 검사</a:t>
              </a:r>
              <a:r>
                <a:rPr lang="zh-CN" sz="975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 xml:space="preserve"> · 이름대기, 문장 따라하기</a:t>
              </a:r>
            </a:p>
          </p:txBody>
        </p:sp>
        <p:sp>
          <p:nvSpPr>
            <p:cNvPr id="110" name="Rectangle 54">
              <a:extLst>
                <a:ext uri="{FF2B5EF4-FFF2-40B4-BE49-F238E27FC236}">
                  <a16:creationId xmlns:a16="http://schemas.microsoft.com/office/drawing/2014/main" id="{CF232EAA-8AC9-F3F2-2D32-B6F8791609DA}"/>
                </a:ext>
              </a:extLst>
            </p:cNvPr>
            <p:cNvSpPr/>
            <p:nvPr/>
          </p:nvSpPr>
          <p:spPr>
            <a:xfrm>
              <a:off x="819150" y="4572000"/>
              <a:ext cx="1943100" cy="247650"/>
            </a:xfrm>
            <a:prstGeom prst="roundRect">
              <a:avLst>
                <a:gd name="adj" fmla="val 50000"/>
              </a:avLst>
            </a:prstGeom>
            <a:solidFill>
              <a:srgbClr val="E8F4FF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11" name="TextBox 55">
              <a:extLst>
                <a:ext uri="{FF2B5EF4-FFF2-40B4-BE49-F238E27FC236}">
                  <a16:creationId xmlns:a16="http://schemas.microsoft.com/office/drawing/2014/main" id="{9DBC9E1D-247C-BC09-4B9D-3BEE8614907A}"/>
                </a:ext>
              </a:extLst>
            </p:cNvPr>
            <p:cNvSpPr txBox="1"/>
            <p:nvPr/>
          </p:nvSpPr>
          <p:spPr>
            <a:xfrm>
              <a:off x="940118" y="4638199"/>
              <a:ext cx="1138132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ko-KR" altLang="en-US" sz="975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오늘 다녀온 곳 말하기</a:t>
              </a:r>
            </a:p>
          </p:txBody>
        </p:sp>
        <p:sp>
          <p:nvSpPr>
            <p:cNvPr id="112" name="Rectangle 56">
              <a:extLst>
                <a:ext uri="{FF2B5EF4-FFF2-40B4-BE49-F238E27FC236}">
                  <a16:creationId xmlns:a16="http://schemas.microsoft.com/office/drawing/2014/main" id="{6C7B09A5-3D28-6CF5-1AE2-82C715510F97}"/>
                </a:ext>
              </a:extLst>
            </p:cNvPr>
            <p:cNvSpPr/>
            <p:nvPr/>
          </p:nvSpPr>
          <p:spPr>
            <a:xfrm>
              <a:off x="819150" y="4895850"/>
              <a:ext cx="1428750" cy="247650"/>
            </a:xfrm>
            <a:prstGeom prst="roundRect">
              <a:avLst>
                <a:gd name="adj" fmla="val 50000"/>
              </a:avLst>
            </a:prstGeom>
            <a:solidFill>
              <a:srgbClr val="E8F4FF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13" name="TextBox 57">
              <a:extLst>
                <a:ext uri="{FF2B5EF4-FFF2-40B4-BE49-F238E27FC236}">
                  <a16:creationId xmlns:a16="http://schemas.microsoft.com/office/drawing/2014/main" id="{FF749C33-F3C6-52A9-9546-212FA5E7BAD0}"/>
                </a:ext>
              </a:extLst>
            </p:cNvPr>
            <p:cNvSpPr txBox="1"/>
            <p:nvPr/>
          </p:nvSpPr>
          <p:spPr>
            <a:xfrm>
              <a:off x="940118" y="4962049"/>
              <a:ext cx="746999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속담 뜻 고르기</a:t>
              </a:r>
            </a:p>
          </p:txBody>
        </p:sp>
      </p:grpSp>
      <p:grpSp>
        <p:nvGrpSpPr>
          <p:cNvPr id="114" name="Group 72">
            <a:extLst>
              <a:ext uri="{FF2B5EF4-FFF2-40B4-BE49-F238E27FC236}">
                <a16:creationId xmlns:a16="http://schemas.microsoft.com/office/drawing/2014/main" id="{5E247A69-FCEF-9070-8C00-0E3DCCBF37D6}"/>
              </a:ext>
            </a:extLst>
          </p:cNvPr>
          <p:cNvGrpSpPr/>
          <p:nvPr/>
        </p:nvGrpSpPr>
        <p:grpSpPr>
          <a:xfrm>
            <a:off x="4343400" y="3657600"/>
            <a:ext cx="3505200" cy="1828800"/>
            <a:chOff x="4343400" y="3543300"/>
            <a:chExt cx="3505200" cy="1828800"/>
          </a:xfrm>
        </p:grpSpPr>
        <p:sp>
          <p:nvSpPr>
            <p:cNvPr id="115" name="Rectangle 59">
              <a:extLst>
                <a:ext uri="{FF2B5EF4-FFF2-40B4-BE49-F238E27FC236}">
                  <a16:creationId xmlns:a16="http://schemas.microsoft.com/office/drawing/2014/main" id="{7A747763-9A0D-C8F4-48F5-E596D0B5D9D3}"/>
                </a:ext>
              </a:extLst>
            </p:cNvPr>
            <p:cNvSpPr/>
            <p:nvPr/>
          </p:nvSpPr>
          <p:spPr>
            <a:xfrm>
              <a:off x="4343400" y="3543300"/>
              <a:ext cx="3505200" cy="18288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rgbClr val="D5DEE5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16" name="Rectangle 60">
              <a:extLst>
                <a:ext uri="{FF2B5EF4-FFF2-40B4-BE49-F238E27FC236}">
                  <a16:creationId xmlns:a16="http://schemas.microsoft.com/office/drawing/2014/main" id="{EE7C53B8-E06B-3BAE-B0D2-CD0A72A0FAB1}"/>
                </a:ext>
              </a:extLst>
            </p:cNvPr>
            <p:cNvSpPr/>
            <p:nvPr/>
          </p:nvSpPr>
          <p:spPr>
            <a:xfrm>
              <a:off x="4552950" y="3714750"/>
              <a:ext cx="381000" cy="381000"/>
            </a:xfrm>
            <a:prstGeom prst="roundRect">
              <a:avLst>
                <a:gd name="adj" fmla="val 27500"/>
              </a:avLst>
            </a:prstGeom>
            <a:solidFill>
              <a:srgbClr val="E8F4FF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grpSp>
          <p:nvGrpSpPr>
            <p:cNvPr id="117" name="Group 64">
              <a:extLst>
                <a:ext uri="{FF2B5EF4-FFF2-40B4-BE49-F238E27FC236}">
                  <a16:creationId xmlns:a16="http://schemas.microsoft.com/office/drawing/2014/main" id="{7AF5C15A-C245-B27B-646E-D59750C21A5B}"/>
                </a:ext>
              </a:extLst>
            </p:cNvPr>
            <p:cNvGrpSpPr/>
            <p:nvPr/>
          </p:nvGrpSpPr>
          <p:grpSpPr>
            <a:xfrm>
              <a:off x="4657725" y="3810005"/>
              <a:ext cx="171791" cy="181642"/>
              <a:chOff x="4657725" y="3810005"/>
              <a:chExt cx="171791" cy="181642"/>
            </a:xfrm>
          </p:grpSpPr>
          <p:sp>
            <p:nvSpPr>
              <p:cNvPr id="125" name="Freeform 61">
                <a:extLst>
                  <a:ext uri="{FF2B5EF4-FFF2-40B4-BE49-F238E27FC236}">
                    <a16:creationId xmlns:a16="http://schemas.microsoft.com/office/drawing/2014/main" id="{C6B2E840-F16C-7202-0528-91B080D7622E}"/>
                  </a:ext>
                </a:extLst>
              </p:cNvPr>
              <p:cNvSpPr/>
              <p:nvPr/>
            </p:nvSpPr>
            <p:spPr>
              <a:xfrm>
                <a:off x="4695399" y="3810005"/>
                <a:ext cx="96103" cy="85720"/>
              </a:xfrm>
              <a:custGeom>
                <a:avLst/>
                <a:gdLst/>
                <a:ahLst/>
                <a:cxnLst/>
                <a:rect l="l" t="t" r="r" b="b"/>
                <a:pathLst>
                  <a:path w="96103" h="85720">
                    <a:moveTo>
                      <a:pt x="39784" y="4795"/>
                    </a:moveTo>
                    <a:lnTo>
                      <a:pt x="1684" y="71470"/>
                    </a:lnTo>
                    <a:cubicBezTo>
                      <a:pt x="0" y="74418"/>
                      <a:pt x="12" y="78039"/>
                      <a:pt x="1716" y="80975"/>
                    </a:cubicBezTo>
                    <a:cubicBezTo>
                      <a:pt x="3419" y="83911"/>
                      <a:pt x="6557" y="85719"/>
                      <a:pt x="9951" y="85720"/>
                    </a:cubicBezTo>
                    <a:lnTo>
                      <a:pt x="86151" y="85720"/>
                    </a:lnTo>
                    <a:cubicBezTo>
                      <a:pt x="89546" y="85719"/>
                      <a:pt x="92683" y="83911"/>
                      <a:pt x="94387" y="80975"/>
                    </a:cubicBezTo>
                    <a:cubicBezTo>
                      <a:pt x="96091" y="78039"/>
                      <a:pt x="96103" y="74418"/>
                      <a:pt x="94419" y="71470"/>
                    </a:cubicBezTo>
                    <a:lnTo>
                      <a:pt x="56319" y="4795"/>
                    </a:lnTo>
                    <a:cubicBezTo>
                      <a:pt x="54623" y="1830"/>
                      <a:pt x="51468" y="0"/>
                      <a:pt x="48051" y="0"/>
                    </a:cubicBezTo>
                    <a:cubicBezTo>
                      <a:pt x="44635" y="0"/>
                      <a:pt x="41480" y="1830"/>
                      <a:pt x="39784" y="4795"/>
                    </a:cubicBezTo>
                    <a:close/>
                  </a:path>
                </a:pathLst>
              </a:custGeom>
              <a:solidFill>
                <a:srgbClr val="0D2F6E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126" name="Freeform 62">
                <a:extLst>
                  <a:ext uri="{FF2B5EF4-FFF2-40B4-BE49-F238E27FC236}">
                    <a16:creationId xmlns:a16="http://schemas.microsoft.com/office/drawing/2014/main" id="{C79EECB8-1BBC-17D7-4D0D-9E6E253E13ED}"/>
                  </a:ext>
                </a:extLst>
              </p:cNvPr>
              <p:cNvSpPr/>
              <p:nvPr/>
            </p:nvSpPr>
            <p:spPr>
              <a:xfrm>
                <a:off x="4752975" y="3914775"/>
                <a:ext cx="76541" cy="76872"/>
              </a:xfrm>
              <a:custGeom>
                <a:avLst/>
                <a:gdLst/>
                <a:ahLst/>
                <a:cxnLst/>
                <a:rect l="l" t="t" r="r" b="b"/>
                <a:pathLst>
                  <a:path w="76541" h="76872">
                    <a:moveTo>
                      <a:pt x="38100" y="0"/>
                    </a:moveTo>
                    <a:cubicBezTo>
                      <a:pt x="58894" y="0"/>
                      <a:pt x="75848" y="16673"/>
                      <a:pt x="76195" y="37465"/>
                    </a:cubicBezTo>
                    <a:cubicBezTo>
                      <a:pt x="76541" y="58256"/>
                      <a:pt x="60153" y="75486"/>
                      <a:pt x="39370" y="76179"/>
                    </a:cubicBezTo>
                    <a:cubicBezTo>
                      <a:pt x="18587" y="76872"/>
                      <a:pt x="1087" y="60773"/>
                      <a:pt x="48" y="40005"/>
                    </a:cubicBezTo>
                    <a:lnTo>
                      <a:pt x="0" y="38100"/>
                    </a:lnTo>
                    <a:lnTo>
                      <a:pt x="48" y="36195"/>
                    </a:lnTo>
                    <a:cubicBezTo>
                      <a:pt x="1063" y="15919"/>
                      <a:pt x="17798" y="0"/>
                      <a:pt x="38100" y="0"/>
                    </a:cubicBezTo>
                    <a:close/>
                  </a:path>
                </a:pathLst>
              </a:custGeom>
              <a:solidFill>
                <a:srgbClr val="0D2F6E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127" name="Freeform 63">
                <a:extLst>
                  <a:ext uri="{FF2B5EF4-FFF2-40B4-BE49-F238E27FC236}">
                    <a16:creationId xmlns:a16="http://schemas.microsoft.com/office/drawing/2014/main" id="{F98479BA-6DA7-A2A6-9AFC-3F9FBAA9F7C1}"/>
                  </a:ext>
                </a:extLst>
              </p:cNvPr>
              <p:cNvSpPr/>
              <p:nvPr/>
            </p:nvSpPr>
            <p:spPr>
              <a:xfrm>
                <a:off x="4657725" y="391477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57150" y="0"/>
                    </a:moveTo>
                    <a:lnTo>
                      <a:pt x="19050" y="0"/>
                    </a:lnTo>
                    <a:cubicBezTo>
                      <a:pt x="8529" y="0"/>
                      <a:pt x="0" y="8529"/>
                      <a:pt x="0" y="19050"/>
                    </a:cubicBezTo>
                    <a:lnTo>
                      <a:pt x="0" y="57150"/>
                    </a:lnTo>
                    <a:cubicBezTo>
                      <a:pt x="0" y="67671"/>
                      <a:pt x="8529" y="76200"/>
                      <a:pt x="19050" y="76200"/>
                    </a:cubicBezTo>
                    <a:lnTo>
                      <a:pt x="57150" y="76200"/>
                    </a:lnTo>
                    <a:cubicBezTo>
                      <a:pt x="67671" y="76200"/>
                      <a:pt x="76200" y="67671"/>
                      <a:pt x="76200" y="57150"/>
                    </a:cubicBezTo>
                    <a:lnTo>
                      <a:pt x="76200" y="19050"/>
                    </a:lnTo>
                    <a:cubicBezTo>
                      <a:pt x="76200" y="8529"/>
                      <a:pt x="67671" y="0"/>
                      <a:pt x="57150" y="0"/>
                    </a:cubicBezTo>
                    <a:close/>
                  </a:path>
                </a:pathLst>
              </a:custGeom>
              <a:solidFill>
                <a:srgbClr val="0D2F6E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</p:grpSp>
        <p:sp>
          <p:nvSpPr>
            <p:cNvPr id="118" name="TextBox 65">
              <a:extLst>
                <a:ext uri="{FF2B5EF4-FFF2-40B4-BE49-F238E27FC236}">
                  <a16:creationId xmlns:a16="http://schemas.microsoft.com/office/drawing/2014/main" id="{DD20CF61-0F44-4C8C-68E4-0CF84F9299F2}"/>
                </a:ext>
              </a:extLst>
            </p:cNvPr>
            <p:cNvSpPr txBox="1"/>
            <p:nvPr/>
          </p:nvSpPr>
          <p:spPr>
            <a:xfrm>
              <a:off x="5029200" y="3781425"/>
              <a:ext cx="52418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시공간</a:t>
              </a:r>
            </a:p>
          </p:txBody>
        </p:sp>
        <p:sp>
          <p:nvSpPr>
            <p:cNvPr id="119" name="TextBox 66">
              <a:extLst>
                <a:ext uri="{FF2B5EF4-FFF2-40B4-BE49-F238E27FC236}">
                  <a16:creationId xmlns:a16="http://schemas.microsoft.com/office/drawing/2014/main" id="{F601CD11-C722-DFBD-BAA3-2CBC4FED0C37}"/>
                </a:ext>
              </a:extLst>
            </p:cNvPr>
            <p:cNvSpPr txBox="1"/>
            <p:nvPr/>
          </p:nvSpPr>
          <p:spPr>
            <a:xfrm>
              <a:off x="5036344" y="4032647"/>
              <a:ext cx="823944" cy="144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시공간 구성 능력</a:t>
              </a:r>
            </a:p>
          </p:txBody>
        </p:sp>
        <p:sp>
          <p:nvSpPr>
            <p:cNvPr id="120" name="TextBox 67">
              <a:extLst>
                <a:ext uri="{FF2B5EF4-FFF2-40B4-BE49-F238E27FC236}">
                  <a16:creationId xmlns:a16="http://schemas.microsoft.com/office/drawing/2014/main" id="{07CE41D9-0240-7294-D347-C8140F9E88A8}"/>
                </a:ext>
              </a:extLst>
            </p:cNvPr>
            <p:cNvSpPr txBox="1"/>
            <p:nvPr/>
          </p:nvSpPr>
          <p:spPr>
            <a:xfrm>
              <a:off x="4540568" y="4314349"/>
              <a:ext cx="1468351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기존 검사</a:t>
              </a:r>
              <a:r>
                <a:rPr lang="zh-CN" sz="975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 xml:space="preserve"> · 겹친 도형 그리기</a:t>
              </a:r>
            </a:p>
          </p:txBody>
        </p:sp>
        <p:sp>
          <p:nvSpPr>
            <p:cNvPr id="121" name="Rectangle 68">
              <a:extLst>
                <a:ext uri="{FF2B5EF4-FFF2-40B4-BE49-F238E27FC236}">
                  <a16:creationId xmlns:a16="http://schemas.microsoft.com/office/drawing/2014/main" id="{B3441CEF-424A-8FB3-7F1B-92565C633424}"/>
                </a:ext>
              </a:extLst>
            </p:cNvPr>
            <p:cNvSpPr/>
            <p:nvPr/>
          </p:nvSpPr>
          <p:spPr>
            <a:xfrm>
              <a:off x="4552950" y="4572000"/>
              <a:ext cx="2003057" cy="247650"/>
            </a:xfrm>
            <a:prstGeom prst="roundRect">
              <a:avLst>
                <a:gd name="adj" fmla="val 50000"/>
              </a:avLst>
            </a:prstGeom>
            <a:solidFill>
              <a:srgbClr val="E8F4FF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22" name="TextBox 69">
              <a:extLst>
                <a:ext uri="{FF2B5EF4-FFF2-40B4-BE49-F238E27FC236}">
                  <a16:creationId xmlns:a16="http://schemas.microsoft.com/office/drawing/2014/main" id="{FCFA9D65-D33F-645E-4E47-51E60F89BFED}"/>
                </a:ext>
              </a:extLst>
            </p:cNvPr>
            <p:cNvSpPr txBox="1"/>
            <p:nvPr/>
          </p:nvSpPr>
          <p:spPr>
            <a:xfrm>
              <a:off x="4673918" y="4638199"/>
              <a:ext cx="1348126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ko-KR" altLang="en-US" sz="975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들은 순서대로 버튼 누르기</a:t>
              </a:r>
            </a:p>
          </p:txBody>
        </p:sp>
        <p:sp>
          <p:nvSpPr>
            <p:cNvPr id="123" name="Rectangle 70">
              <a:extLst>
                <a:ext uri="{FF2B5EF4-FFF2-40B4-BE49-F238E27FC236}">
                  <a16:creationId xmlns:a16="http://schemas.microsoft.com/office/drawing/2014/main" id="{0BE1AC33-CF37-AB67-CA44-4F2FE39336A1}"/>
                </a:ext>
              </a:extLst>
            </p:cNvPr>
            <p:cNvSpPr/>
            <p:nvPr/>
          </p:nvSpPr>
          <p:spPr>
            <a:xfrm>
              <a:off x="4552950" y="4895850"/>
              <a:ext cx="1866900" cy="247650"/>
            </a:xfrm>
            <a:prstGeom prst="roundRect">
              <a:avLst>
                <a:gd name="adj" fmla="val 50000"/>
              </a:avLst>
            </a:prstGeom>
            <a:solidFill>
              <a:srgbClr val="E8F4FF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24" name="TextBox 71">
              <a:extLst>
                <a:ext uri="{FF2B5EF4-FFF2-40B4-BE49-F238E27FC236}">
                  <a16:creationId xmlns:a16="http://schemas.microsoft.com/office/drawing/2014/main" id="{1D81F552-35AC-D37F-D647-DD53A5CEFFBA}"/>
                </a:ext>
              </a:extLst>
            </p:cNvPr>
            <p:cNvSpPr txBox="1"/>
            <p:nvPr/>
          </p:nvSpPr>
          <p:spPr>
            <a:xfrm>
              <a:off x="4673918" y="4962049"/>
              <a:ext cx="1266372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그림 보고 같은 것 고르기</a:t>
              </a:r>
            </a:p>
          </p:txBody>
        </p:sp>
      </p:grpSp>
      <p:grpSp>
        <p:nvGrpSpPr>
          <p:cNvPr id="128" name="Group 83">
            <a:extLst>
              <a:ext uri="{FF2B5EF4-FFF2-40B4-BE49-F238E27FC236}">
                <a16:creationId xmlns:a16="http://schemas.microsoft.com/office/drawing/2014/main" id="{A0CA2EDD-10BC-6AAD-0A08-37EB8EA38A32}"/>
              </a:ext>
            </a:extLst>
          </p:cNvPr>
          <p:cNvGrpSpPr/>
          <p:nvPr/>
        </p:nvGrpSpPr>
        <p:grpSpPr>
          <a:xfrm>
            <a:off x="8077200" y="3657600"/>
            <a:ext cx="3505200" cy="1828800"/>
            <a:chOff x="8077200" y="3543300"/>
            <a:chExt cx="3505200" cy="1828800"/>
          </a:xfrm>
        </p:grpSpPr>
        <p:sp>
          <p:nvSpPr>
            <p:cNvPr id="129" name="Rectangle 73">
              <a:extLst>
                <a:ext uri="{FF2B5EF4-FFF2-40B4-BE49-F238E27FC236}">
                  <a16:creationId xmlns:a16="http://schemas.microsoft.com/office/drawing/2014/main" id="{2FB03F16-7DA5-A817-3219-CF49F52517BB}"/>
                </a:ext>
              </a:extLst>
            </p:cNvPr>
            <p:cNvSpPr/>
            <p:nvPr/>
          </p:nvSpPr>
          <p:spPr>
            <a:xfrm>
              <a:off x="8077200" y="3543300"/>
              <a:ext cx="3505200" cy="18288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rgbClr val="D5DEE5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30" name="Rectangle 74">
              <a:extLst>
                <a:ext uri="{FF2B5EF4-FFF2-40B4-BE49-F238E27FC236}">
                  <a16:creationId xmlns:a16="http://schemas.microsoft.com/office/drawing/2014/main" id="{7EFF1018-EAC6-9EB2-82FA-5433378F5176}"/>
                </a:ext>
              </a:extLst>
            </p:cNvPr>
            <p:cNvSpPr/>
            <p:nvPr/>
          </p:nvSpPr>
          <p:spPr>
            <a:xfrm>
              <a:off x="8286750" y="3714750"/>
              <a:ext cx="381000" cy="381000"/>
            </a:xfrm>
            <a:prstGeom prst="roundRect">
              <a:avLst>
                <a:gd name="adj" fmla="val 27500"/>
              </a:avLst>
            </a:prstGeom>
            <a:solidFill>
              <a:srgbClr val="D8F6E3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31" name="Freeform 75">
              <a:extLst>
                <a:ext uri="{FF2B5EF4-FFF2-40B4-BE49-F238E27FC236}">
                  <a16:creationId xmlns:a16="http://schemas.microsoft.com/office/drawing/2014/main" id="{A3BEA368-6B0A-F001-814B-27C1B41B09B3}"/>
                </a:ext>
              </a:extLst>
            </p:cNvPr>
            <p:cNvSpPr/>
            <p:nvPr/>
          </p:nvSpPr>
          <p:spPr>
            <a:xfrm>
              <a:off x="8382000" y="3805733"/>
              <a:ext cx="200311" cy="200639"/>
            </a:xfrm>
            <a:custGeom>
              <a:avLst/>
              <a:gdLst/>
              <a:ahLst/>
              <a:cxnLst/>
              <a:rect l="l" t="t" r="r" b="b"/>
              <a:pathLst>
                <a:path w="200311" h="200639">
                  <a:moveTo>
                    <a:pt x="142875" y="17030"/>
                  </a:moveTo>
                  <a:cubicBezTo>
                    <a:pt x="182569" y="39949"/>
                    <a:pt x="200311" y="87890"/>
                    <a:pt x="185099" y="131128"/>
                  </a:cubicBezTo>
                  <a:cubicBezTo>
                    <a:pt x="169888" y="174367"/>
                    <a:pt x="126037" y="200639"/>
                    <a:pt x="80736" y="193656"/>
                  </a:cubicBezTo>
                  <a:cubicBezTo>
                    <a:pt x="35435" y="186673"/>
                    <a:pt x="1532" y="148415"/>
                    <a:pt x="48" y="102603"/>
                  </a:cubicBezTo>
                  <a:lnTo>
                    <a:pt x="0" y="99517"/>
                  </a:lnTo>
                  <a:lnTo>
                    <a:pt x="48" y="96431"/>
                  </a:lnTo>
                  <a:cubicBezTo>
                    <a:pt x="1133" y="62969"/>
                    <a:pt x="19706" y="32534"/>
                    <a:pt x="48967" y="16267"/>
                  </a:cubicBezTo>
                  <a:cubicBezTo>
                    <a:pt x="78228" y="0"/>
                    <a:pt x="113882" y="290"/>
                    <a:pt x="142875" y="17030"/>
                  </a:cubicBezTo>
                  <a:close/>
                  <a:moveTo>
                    <a:pt x="125730" y="121291"/>
                  </a:moveTo>
                  <a:cubicBezTo>
                    <a:pt x="121974" y="117609"/>
                    <a:pt x="115944" y="117669"/>
                    <a:pt x="112262" y="121424"/>
                  </a:cubicBezTo>
                  <a:cubicBezTo>
                    <a:pt x="107783" y="125997"/>
                    <a:pt x="101651" y="128574"/>
                    <a:pt x="95250" y="128574"/>
                  </a:cubicBezTo>
                  <a:cubicBezTo>
                    <a:pt x="88849" y="128574"/>
                    <a:pt x="82717" y="125997"/>
                    <a:pt x="78238" y="121424"/>
                  </a:cubicBezTo>
                  <a:cubicBezTo>
                    <a:pt x="74540" y="117758"/>
                    <a:pt x="68583" y="117742"/>
                    <a:pt x="64865" y="121387"/>
                  </a:cubicBezTo>
                  <a:cubicBezTo>
                    <a:pt x="61146" y="125033"/>
                    <a:pt x="61045" y="130989"/>
                    <a:pt x="64637" y="134759"/>
                  </a:cubicBezTo>
                  <a:cubicBezTo>
                    <a:pt x="72698" y="142986"/>
                    <a:pt x="83732" y="147621"/>
                    <a:pt x="95250" y="147621"/>
                  </a:cubicBezTo>
                  <a:cubicBezTo>
                    <a:pt x="106768" y="147621"/>
                    <a:pt x="117802" y="142986"/>
                    <a:pt x="125863" y="134759"/>
                  </a:cubicBezTo>
                  <a:cubicBezTo>
                    <a:pt x="129545" y="131003"/>
                    <a:pt x="129485" y="124973"/>
                    <a:pt x="125730" y="121291"/>
                  </a:cubicBezTo>
                  <a:close/>
                  <a:moveTo>
                    <a:pt x="66770" y="70942"/>
                  </a:moveTo>
                  <a:lnTo>
                    <a:pt x="65561" y="71008"/>
                  </a:lnTo>
                  <a:cubicBezTo>
                    <a:pt x="60556" y="71604"/>
                    <a:pt x="56882" y="75994"/>
                    <a:pt x="57177" y="81025"/>
                  </a:cubicBezTo>
                  <a:cubicBezTo>
                    <a:pt x="57472" y="86056"/>
                    <a:pt x="61635" y="89986"/>
                    <a:pt x="66675" y="89992"/>
                  </a:cubicBezTo>
                  <a:lnTo>
                    <a:pt x="67885" y="89925"/>
                  </a:lnTo>
                  <a:cubicBezTo>
                    <a:pt x="72889" y="89330"/>
                    <a:pt x="76564" y="84939"/>
                    <a:pt x="76268" y="79908"/>
                  </a:cubicBezTo>
                  <a:cubicBezTo>
                    <a:pt x="75973" y="74877"/>
                    <a:pt x="71810" y="70947"/>
                    <a:pt x="66770" y="70942"/>
                  </a:cubicBezTo>
                  <a:close/>
                  <a:moveTo>
                    <a:pt x="123920" y="70942"/>
                  </a:moveTo>
                  <a:lnTo>
                    <a:pt x="122711" y="71008"/>
                  </a:lnTo>
                  <a:cubicBezTo>
                    <a:pt x="117706" y="71604"/>
                    <a:pt x="114032" y="75994"/>
                    <a:pt x="114327" y="81025"/>
                  </a:cubicBezTo>
                  <a:cubicBezTo>
                    <a:pt x="114622" y="86056"/>
                    <a:pt x="118785" y="89986"/>
                    <a:pt x="123825" y="89992"/>
                  </a:cubicBezTo>
                  <a:lnTo>
                    <a:pt x="125035" y="89925"/>
                  </a:lnTo>
                  <a:cubicBezTo>
                    <a:pt x="130039" y="89330"/>
                    <a:pt x="133714" y="84939"/>
                    <a:pt x="133418" y="79908"/>
                  </a:cubicBezTo>
                  <a:cubicBezTo>
                    <a:pt x="133123" y="74877"/>
                    <a:pt x="128960" y="70947"/>
                    <a:pt x="123920" y="70942"/>
                  </a:cubicBezTo>
                  <a:close/>
                </a:path>
              </a:pathLst>
            </a:custGeom>
            <a:solidFill>
              <a:srgbClr val="34C759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32" name="TextBox 76">
              <a:extLst>
                <a:ext uri="{FF2B5EF4-FFF2-40B4-BE49-F238E27FC236}">
                  <a16:creationId xmlns:a16="http://schemas.microsoft.com/office/drawing/2014/main" id="{A771D792-CAAF-E35D-1E97-61BA93BBAE0A}"/>
                </a:ext>
              </a:extLst>
            </p:cNvPr>
            <p:cNvSpPr txBox="1"/>
            <p:nvPr/>
          </p:nvSpPr>
          <p:spPr>
            <a:xfrm>
              <a:off x="8763000" y="3781425"/>
              <a:ext cx="34945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감정</a:t>
              </a:r>
            </a:p>
          </p:txBody>
        </p:sp>
        <p:sp>
          <p:nvSpPr>
            <p:cNvPr id="133" name="TextBox 77">
              <a:extLst>
                <a:ext uri="{FF2B5EF4-FFF2-40B4-BE49-F238E27FC236}">
                  <a16:creationId xmlns:a16="http://schemas.microsoft.com/office/drawing/2014/main" id="{6C7789B4-7383-AFF3-230B-896B824D8D82}"/>
                </a:ext>
              </a:extLst>
            </p:cNvPr>
            <p:cNvSpPr txBox="1"/>
            <p:nvPr/>
          </p:nvSpPr>
          <p:spPr>
            <a:xfrm>
              <a:off x="8770144" y="4032647"/>
              <a:ext cx="799899" cy="144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기분 · 정서 관찰</a:t>
              </a:r>
            </a:p>
          </p:txBody>
        </p:sp>
        <p:sp>
          <p:nvSpPr>
            <p:cNvPr id="134" name="TextBox 78">
              <a:extLst>
                <a:ext uri="{FF2B5EF4-FFF2-40B4-BE49-F238E27FC236}">
                  <a16:creationId xmlns:a16="http://schemas.microsoft.com/office/drawing/2014/main" id="{BFDE73E3-010C-242E-4390-9A2CF0898217}"/>
                </a:ext>
              </a:extLst>
            </p:cNvPr>
            <p:cNvSpPr txBox="1"/>
            <p:nvPr/>
          </p:nvSpPr>
          <p:spPr>
            <a:xfrm>
              <a:off x="8274368" y="4314349"/>
              <a:ext cx="1638269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기존 검사</a:t>
              </a:r>
              <a:r>
                <a:rPr lang="zh-CN" sz="975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 xml:space="preserve"> · 기분·우울 선별 설문</a:t>
              </a:r>
            </a:p>
          </p:txBody>
        </p:sp>
        <p:sp>
          <p:nvSpPr>
            <p:cNvPr id="135" name="Rectangle 79">
              <a:extLst>
                <a:ext uri="{FF2B5EF4-FFF2-40B4-BE49-F238E27FC236}">
                  <a16:creationId xmlns:a16="http://schemas.microsoft.com/office/drawing/2014/main" id="{B081523F-21D0-0A98-094F-7088A14B4E53}"/>
                </a:ext>
              </a:extLst>
            </p:cNvPr>
            <p:cNvSpPr/>
            <p:nvPr/>
          </p:nvSpPr>
          <p:spPr>
            <a:xfrm>
              <a:off x="8286750" y="4572000"/>
              <a:ext cx="2038350" cy="247650"/>
            </a:xfrm>
            <a:prstGeom prst="roundRect">
              <a:avLst>
                <a:gd name="adj" fmla="val 50000"/>
              </a:avLst>
            </a:prstGeom>
            <a:solidFill>
              <a:srgbClr val="E8F4FF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36" name="TextBox 80">
              <a:extLst>
                <a:ext uri="{FF2B5EF4-FFF2-40B4-BE49-F238E27FC236}">
                  <a16:creationId xmlns:a16="http://schemas.microsoft.com/office/drawing/2014/main" id="{4A2513CE-5510-A949-6A7F-E64D8F87368A}"/>
                </a:ext>
              </a:extLst>
            </p:cNvPr>
            <p:cNvSpPr txBox="1"/>
            <p:nvPr/>
          </p:nvSpPr>
          <p:spPr>
            <a:xfrm>
              <a:off x="8407718" y="4638199"/>
              <a:ext cx="1493999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ko-KR" altLang="en-US" sz="975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오늘 기분 네 자리에서 고르기</a:t>
              </a:r>
            </a:p>
          </p:txBody>
        </p:sp>
        <p:sp>
          <p:nvSpPr>
            <p:cNvPr id="137" name="Rectangle 81">
              <a:extLst>
                <a:ext uri="{FF2B5EF4-FFF2-40B4-BE49-F238E27FC236}">
                  <a16:creationId xmlns:a16="http://schemas.microsoft.com/office/drawing/2014/main" id="{D0A01F53-0E58-E632-D47C-D1A344B5A3AF}"/>
                </a:ext>
              </a:extLst>
            </p:cNvPr>
            <p:cNvSpPr/>
            <p:nvPr/>
          </p:nvSpPr>
          <p:spPr>
            <a:xfrm>
              <a:off x="8286750" y="4895850"/>
              <a:ext cx="1638300" cy="247650"/>
            </a:xfrm>
            <a:prstGeom prst="roundRect">
              <a:avLst>
                <a:gd name="adj" fmla="val 50000"/>
              </a:avLst>
            </a:prstGeom>
            <a:solidFill>
              <a:srgbClr val="E8F4FF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38" name="TextBox 82">
              <a:extLst>
                <a:ext uri="{FF2B5EF4-FFF2-40B4-BE49-F238E27FC236}">
                  <a16:creationId xmlns:a16="http://schemas.microsoft.com/office/drawing/2014/main" id="{41FDE1EB-612E-B03E-0D3C-CB74A9D7C39F}"/>
                </a:ext>
              </a:extLst>
            </p:cNvPr>
            <p:cNvSpPr txBox="1"/>
            <p:nvPr/>
          </p:nvSpPr>
          <p:spPr>
            <a:xfrm>
              <a:off x="8407718" y="4962049"/>
              <a:ext cx="860813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ko-KR" altLang="en-US" sz="975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오늘 하루 말하기</a:t>
              </a:r>
            </a:p>
          </p:txBody>
        </p:sp>
      </p:grpSp>
      <p:sp>
        <p:nvSpPr>
          <p:cNvPr id="139" name="Rectangle 84">
            <a:extLst>
              <a:ext uri="{FF2B5EF4-FFF2-40B4-BE49-F238E27FC236}">
                <a16:creationId xmlns:a16="http://schemas.microsoft.com/office/drawing/2014/main" id="{8E2491E2-18C0-BA15-FDF3-214D85AE9E15}"/>
              </a:ext>
            </a:extLst>
          </p:cNvPr>
          <p:cNvSpPr/>
          <p:nvPr/>
        </p:nvSpPr>
        <p:spPr>
          <a:xfrm>
            <a:off x="609600" y="5581650"/>
            <a:ext cx="10972800" cy="590550"/>
          </a:xfrm>
          <a:prstGeom prst="roundRect">
            <a:avLst>
              <a:gd name="adj" fmla="val 29032"/>
            </a:avLst>
          </a:prstGeom>
          <a:solidFill>
            <a:srgbClr val="E8F4FF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40" name="Rectangle 85">
            <a:extLst>
              <a:ext uri="{FF2B5EF4-FFF2-40B4-BE49-F238E27FC236}">
                <a16:creationId xmlns:a16="http://schemas.microsoft.com/office/drawing/2014/main" id="{BB8E636F-631E-E881-189F-62BCECDBE28C}"/>
              </a:ext>
            </a:extLst>
          </p:cNvPr>
          <p:cNvSpPr/>
          <p:nvPr/>
        </p:nvSpPr>
        <p:spPr>
          <a:xfrm>
            <a:off x="770796" y="5724525"/>
            <a:ext cx="268605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5D4F8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41" name="Freeform 86">
            <a:extLst>
              <a:ext uri="{FF2B5EF4-FFF2-40B4-BE49-F238E27FC236}">
                <a16:creationId xmlns:a16="http://schemas.microsoft.com/office/drawing/2014/main" id="{BB3BB1B8-6FBB-A774-9FE8-BA7D76355B67}"/>
              </a:ext>
            </a:extLst>
          </p:cNvPr>
          <p:cNvSpPr/>
          <p:nvPr/>
        </p:nvSpPr>
        <p:spPr>
          <a:xfrm>
            <a:off x="891928" y="5819775"/>
            <a:ext cx="157467" cy="114300"/>
          </a:xfrm>
          <a:custGeom>
            <a:avLst/>
            <a:gdLst/>
            <a:ahLst/>
            <a:cxnLst/>
            <a:rect l="l" t="t" r="r" b="b"/>
            <a:pathLst>
              <a:path w="157467" h="114300">
                <a:moveTo>
                  <a:pt x="78893" y="0"/>
                </a:moveTo>
                <a:cubicBezTo>
                  <a:pt x="109539" y="0"/>
                  <a:pt x="135064" y="17352"/>
                  <a:pt x="155081" y="51106"/>
                </a:cubicBezTo>
                <a:lnTo>
                  <a:pt x="156652" y="53814"/>
                </a:lnTo>
                <a:lnTo>
                  <a:pt x="156974" y="54528"/>
                </a:lnTo>
                <a:lnTo>
                  <a:pt x="157188" y="55121"/>
                </a:lnTo>
                <a:lnTo>
                  <a:pt x="157288" y="55514"/>
                </a:lnTo>
                <a:lnTo>
                  <a:pt x="157388" y="56100"/>
                </a:lnTo>
                <a:lnTo>
                  <a:pt x="157467" y="56814"/>
                </a:lnTo>
                <a:lnTo>
                  <a:pt x="157467" y="57600"/>
                </a:lnTo>
                <a:lnTo>
                  <a:pt x="157367" y="58393"/>
                </a:lnTo>
                <a:cubicBezTo>
                  <a:pt x="157320" y="58658"/>
                  <a:pt x="157258" y="58921"/>
                  <a:pt x="157181" y="59179"/>
                </a:cubicBezTo>
                <a:lnTo>
                  <a:pt x="156902" y="59950"/>
                </a:lnTo>
                <a:lnTo>
                  <a:pt x="156645" y="60486"/>
                </a:lnTo>
                <a:lnTo>
                  <a:pt x="156531" y="60700"/>
                </a:lnTo>
                <a:cubicBezTo>
                  <a:pt x="136785" y="95248"/>
                  <a:pt x="111525" y="113421"/>
                  <a:pt x="81128" y="114271"/>
                </a:cubicBezTo>
                <a:lnTo>
                  <a:pt x="78893" y="114300"/>
                </a:lnTo>
                <a:cubicBezTo>
                  <a:pt x="47489" y="114300"/>
                  <a:pt x="21478" y="96091"/>
                  <a:pt x="1254" y="60693"/>
                </a:cubicBezTo>
                <a:cubicBezTo>
                  <a:pt x="0" y="58498"/>
                  <a:pt x="0" y="55802"/>
                  <a:pt x="1254" y="53607"/>
                </a:cubicBezTo>
                <a:cubicBezTo>
                  <a:pt x="21478" y="18209"/>
                  <a:pt x="47489" y="0"/>
                  <a:pt x="78893" y="0"/>
                </a:cubicBezTo>
                <a:close/>
                <a:moveTo>
                  <a:pt x="78893" y="35719"/>
                </a:moveTo>
                <a:cubicBezTo>
                  <a:pt x="67056" y="35719"/>
                  <a:pt x="57461" y="45314"/>
                  <a:pt x="57461" y="57150"/>
                </a:cubicBezTo>
                <a:cubicBezTo>
                  <a:pt x="57461" y="68986"/>
                  <a:pt x="67056" y="78581"/>
                  <a:pt x="78893" y="78581"/>
                </a:cubicBezTo>
                <a:cubicBezTo>
                  <a:pt x="90729" y="78581"/>
                  <a:pt x="100324" y="68986"/>
                  <a:pt x="100324" y="57150"/>
                </a:cubicBezTo>
                <a:cubicBezTo>
                  <a:pt x="100324" y="45314"/>
                  <a:pt x="90729" y="35719"/>
                  <a:pt x="78893" y="35719"/>
                </a:cubicBezTo>
              </a:path>
            </a:pathLst>
          </a:custGeom>
          <a:solidFill>
            <a:srgbClr val="00B39A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42" name="TextBox 87">
            <a:extLst>
              <a:ext uri="{FF2B5EF4-FFF2-40B4-BE49-F238E27FC236}">
                <a16:creationId xmlns:a16="http://schemas.microsoft.com/office/drawing/2014/main" id="{3AE15F0E-35D3-6E8E-7148-F9700EB5E9EA}"/>
              </a:ext>
            </a:extLst>
          </p:cNvPr>
          <p:cNvSpPr txBox="1"/>
          <p:nvPr/>
        </p:nvSpPr>
        <p:spPr>
          <a:xfrm>
            <a:off x="1119411" y="5784592"/>
            <a:ext cx="2075889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B39A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확인</a:t>
            </a:r>
            <a:r>
              <a:rPr lang="zh-CN" sz="1200" b="1" dirty="0">
                <a:solidFill>
                  <a:srgbClr val="0D2F6E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 xml:space="preserve"> · 오늘의 일기로 변화 관찰</a:t>
            </a:r>
          </a:p>
        </p:txBody>
      </p:sp>
      <p:sp>
        <p:nvSpPr>
          <p:cNvPr id="143" name="TextBox 88">
            <a:extLst>
              <a:ext uri="{FF2B5EF4-FFF2-40B4-BE49-F238E27FC236}">
                <a16:creationId xmlns:a16="http://schemas.microsoft.com/office/drawing/2014/main" id="{920BFE75-F50A-4BFF-C9E4-5C02F4A8F659}"/>
              </a:ext>
            </a:extLst>
          </p:cNvPr>
          <p:cNvSpPr txBox="1"/>
          <p:nvPr/>
        </p:nvSpPr>
        <p:spPr>
          <a:xfrm>
            <a:off x="3504622" y="5784966"/>
            <a:ext cx="149080" cy="1962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D2F6E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↔</a:t>
            </a:r>
          </a:p>
        </p:txBody>
      </p:sp>
      <p:sp>
        <p:nvSpPr>
          <p:cNvPr id="144" name="Rectangle 89">
            <a:extLst>
              <a:ext uri="{FF2B5EF4-FFF2-40B4-BE49-F238E27FC236}">
                <a16:creationId xmlns:a16="http://schemas.microsoft.com/office/drawing/2014/main" id="{89312BE2-2282-86A4-CFA6-FF977B15378F}"/>
              </a:ext>
            </a:extLst>
          </p:cNvPr>
          <p:cNvSpPr/>
          <p:nvPr/>
        </p:nvSpPr>
        <p:spPr>
          <a:xfrm>
            <a:off x="3698632" y="5724525"/>
            <a:ext cx="268605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5D4F8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45" name="Freeform 90">
            <a:extLst>
              <a:ext uri="{FF2B5EF4-FFF2-40B4-BE49-F238E27FC236}">
                <a16:creationId xmlns:a16="http://schemas.microsoft.com/office/drawing/2014/main" id="{75BA955B-75DF-7FB2-42D8-2D0FD601918A}"/>
              </a:ext>
            </a:extLst>
          </p:cNvPr>
          <p:cNvSpPr/>
          <p:nvPr/>
        </p:nvSpPr>
        <p:spPr>
          <a:xfrm>
            <a:off x="3827220" y="5812629"/>
            <a:ext cx="142875" cy="128592"/>
          </a:xfrm>
          <a:custGeom>
            <a:avLst/>
            <a:gdLst/>
            <a:ahLst/>
            <a:cxnLst/>
            <a:rect l="l" t="t" r="r" b="b"/>
            <a:pathLst>
              <a:path w="142875" h="128592">
                <a:moveTo>
                  <a:pt x="28575" y="4"/>
                </a:moveTo>
                <a:cubicBezTo>
                  <a:pt x="53861" y="0"/>
                  <a:pt x="75172" y="18873"/>
                  <a:pt x="78224" y="43974"/>
                </a:cubicBezTo>
                <a:cubicBezTo>
                  <a:pt x="87637" y="34123"/>
                  <a:pt x="100675" y="28559"/>
                  <a:pt x="114300" y="28579"/>
                </a:cubicBezTo>
                <a:lnTo>
                  <a:pt x="135731" y="28579"/>
                </a:lnTo>
                <a:cubicBezTo>
                  <a:pt x="139677" y="28579"/>
                  <a:pt x="142875" y="31778"/>
                  <a:pt x="142875" y="35723"/>
                </a:cubicBezTo>
                <a:lnTo>
                  <a:pt x="142875" y="42867"/>
                </a:lnTo>
                <a:cubicBezTo>
                  <a:pt x="142875" y="70484"/>
                  <a:pt x="120486" y="92873"/>
                  <a:pt x="92869" y="92873"/>
                </a:cubicBezTo>
                <a:lnTo>
                  <a:pt x="78581" y="92873"/>
                </a:lnTo>
                <a:lnTo>
                  <a:pt x="78581" y="121448"/>
                </a:lnTo>
                <a:cubicBezTo>
                  <a:pt x="78581" y="125393"/>
                  <a:pt x="75383" y="128592"/>
                  <a:pt x="71438" y="128592"/>
                </a:cubicBezTo>
                <a:cubicBezTo>
                  <a:pt x="67492" y="128592"/>
                  <a:pt x="64294" y="125393"/>
                  <a:pt x="64294" y="121448"/>
                </a:cubicBezTo>
                <a:lnTo>
                  <a:pt x="64294" y="71442"/>
                </a:lnTo>
                <a:lnTo>
                  <a:pt x="50006" y="71442"/>
                </a:lnTo>
                <a:cubicBezTo>
                  <a:pt x="22389" y="71442"/>
                  <a:pt x="0" y="49053"/>
                  <a:pt x="0" y="21436"/>
                </a:cubicBezTo>
                <a:lnTo>
                  <a:pt x="0" y="7148"/>
                </a:lnTo>
                <a:cubicBezTo>
                  <a:pt x="0" y="3203"/>
                  <a:pt x="3198" y="4"/>
                  <a:pt x="7144" y="4"/>
                </a:cubicBezTo>
                <a:close/>
              </a:path>
            </a:pathLst>
          </a:custGeom>
          <a:solidFill>
            <a:srgbClr val="34C759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46" name="TextBox 91">
            <a:extLst>
              <a:ext uri="{FF2B5EF4-FFF2-40B4-BE49-F238E27FC236}">
                <a16:creationId xmlns:a16="http://schemas.microsoft.com/office/drawing/2014/main" id="{5FB41078-012D-F551-9537-C3B8D4DAF11D}"/>
              </a:ext>
            </a:extLst>
          </p:cNvPr>
          <p:cNvSpPr txBox="1"/>
          <p:nvPr/>
        </p:nvSpPr>
        <p:spPr>
          <a:xfrm>
            <a:off x="4047247" y="5784592"/>
            <a:ext cx="2075889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4C759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강화</a:t>
            </a:r>
            <a:r>
              <a:rPr lang="zh-CN" sz="1200" b="1" dirty="0">
                <a:solidFill>
                  <a:srgbClr val="0D2F6E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 xml:space="preserve"> · 매일의 일기로 인지 영역 반복</a:t>
            </a:r>
          </a:p>
        </p:txBody>
      </p:sp>
      <p:sp>
        <p:nvSpPr>
          <p:cNvPr id="147" name="Freeform 92">
            <a:extLst>
              <a:ext uri="{FF2B5EF4-FFF2-40B4-BE49-F238E27FC236}">
                <a16:creationId xmlns:a16="http://schemas.microsoft.com/office/drawing/2014/main" id="{9F8E11D5-8AAF-C26E-534C-BBB861410090}"/>
              </a:ext>
            </a:extLst>
          </p:cNvPr>
          <p:cNvSpPr/>
          <p:nvPr/>
        </p:nvSpPr>
        <p:spPr>
          <a:xfrm>
            <a:off x="6556007" y="5784966"/>
            <a:ext cx="183618" cy="183919"/>
          </a:xfrm>
          <a:custGeom>
            <a:avLst/>
            <a:gdLst/>
            <a:ahLst/>
            <a:cxnLst/>
            <a:rect l="l" t="t" r="r" b="b"/>
            <a:pathLst>
              <a:path w="183618" h="183919">
                <a:moveTo>
                  <a:pt x="130969" y="15611"/>
                </a:moveTo>
                <a:cubicBezTo>
                  <a:pt x="167355" y="36620"/>
                  <a:pt x="183618" y="80566"/>
                  <a:pt x="169674" y="120201"/>
                </a:cubicBezTo>
                <a:cubicBezTo>
                  <a:pt x="155730" y="159836"/>
                  <a:pt x="115534" y="183919"/>
                  <a:pt x="74008" y="177518"/>
                </a:cubicBezTo>
                <a:cubicBezTo>
                  <a:pt x="32482" y="171117"/>
                  <a:pt x="1405" y="136047"/>
                  <a:pt x="44" y="94052"/>
                </a:cubicBezTo>
                <a:lnTo>
                  <a:pt x="0" y="91224"/>
                </a:lnTo>
                <a:lnTo>
                  <a:pt x="44" y="88395"/>
                </a:lnTo>
                <a:cubicBezTo>
                  <a:pt x="1038" y="57722"/>
                  <a:pt x="18063" y="29823"/>
                  <a:pt x="44886" y="14911"/>
                </a:cubicBezTo>
                <a:cubicBezTo>
                  <a:pt x="71709" y="0"/>
                  <a:pt x="104392" y="266"/>
                  <a:pt x="130969" y="15611"/>
                </a:cubicBezTo>
                <a:close/>
                <a:moveTo>
                  <a:pt x="119679" y="67588"/>
                </a:moveTo>
                <a:cubicBezTo>
                  <a:pt x="116569" y="64478"/>
                  <a:pt x="111630" y="64167"/>
                  <a:pt x="108154" y="66863"/>
                </a:cubicBezTo>
                <a:lnTo>
                  <a:pt x="107333" y="67588"/>
                </a:lnTo>
                <a:lnTo>
                  <a:pt x="78581" y="96331"/>
                </a:lnTo>
                <a:lnTo>
                  <a:pt x="67292" y="85051"/>
                </a:lnTo>
                <a:lnTo>
                  <a:pt x="66471" y="84326"/>
                </a:lnTo>
                <a:cubicBezTo>
                  <a:pt x="62995" y="81632"/>
                  <a:pt x="58058" y="81943"/>
                  <a:pt x="54948" y="85053"/>
                </a:cubicBezTo>
                <a:cubicBezTo>
                  <a:pt x="51838" y="88163"/>
                  <a:pt x="51527" y="93100"/>
                  <a:pt x="54221" y="96576"/>
                </a:cubicBezTo>
                <a:lnTo>
                  <a:pt x="54946" y="97397"/>
                </a:lnTo>
                <a:lnTo>
                  <a:pt x="72408" y="114859"/>
                </a:lnTo>
                <a:lnTo>
                  <a:pt x="73229" y="115584"/>
                </a:lnTo>
                <a:cubicBezTo>
                  <a:pt x="76379" y="118028"/>
                  <a:pt x="80784" y="118028"/>
                  <a:pt x="83934" y="115584"/>
                </a:cubicBezTo>
                <a:lnTo>
                  <a:pt x="84754" y="114859"/>
                </a:lnTo>
                <a:lnTo>
                  <a:pt x="119679" y="79934"/>
                </a:lnTo>
                <a:lnTo>
                  <a:pt x="120404" y="79113"/>
                </a:lnTo>
                <a:cubicBezTo>
                  <a:pt x="123100" y="75638"/>
                  <a:pt x="122790" y="70699"/>
                  <a:pt x="119679" y="67588"/>
                </a:cubicBezTo>
                <a:close/>
              </a:path>
            </a:pathLst>
          </a:custGeom>
          <a:solidFill>
            <a:srgbClr val="34C759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48" name="TextBox 93">
            <a:extLst>
              <a:ext uri="{FF2B5EF4-FFF2-40B4-BE49-F238E27FC236}">
                <a16:creationId xmlns:a16="http://schemas.microsoft.com/office/drawing/2014/main" id="{5765D0F3-88F3-5829-0EBF-84AF9E1505CF}"/>
              </a:ext>
            </a:extLst>
          </p:cNvPr>
          <p:cNvSpPr txBox="1"/>
          <p:nvPr/>
        </p:nvSpPr>
        <p:spPr>
          <a:xfrm>
            <a:off x="6830010" y="5784592"/>
            <a:ext cx="4332917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l"/>
            <a:r>
              <a:rPr lang="zh-CN" sz="1200" dirty="0">
                <a:solidFill>
                  <a:srgbClr val="0D2F6E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 xml:space="preserve">전문가 멘토링 제안 문항 </a:t>
            </a:r>
            <a:r>
              <a:rPr lang="en-US" altLang="zh-CN" sz="1200" dirty="0">
                <a:solidFill>
                  <a:srgbClr val="0D2F6E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-</a:t>
            </a:r>
            <a:r>
              <a:rPr lang="zh-CN" sz="1200" dirty="0">
                <a:solidFill>
                  <a:srgbClr val="0D2F6E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 xml:space="preserve"> </a:t>
            </a:r>
            <a:r>
              <a:rPr lang="zh-CN" sz="1200" b="1" dirty="0">
                <a:solidFill>
                  <a:srgbClr val="0D2F6E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돈 계산 · 단순한 발화 · 주의집중</a:t>
            </a:r>
            <a:r>
              <a:rPr lang="zh-CN" sz="1200" dirty="0">
                <a:solidFill>
                  <a:srgbClr val="0D2F6E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 xml:space="preserve"> 반영 완료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0EA4661-EC56-83E6-EF2C-6879A3152F9C}"/>
              </a:ext>
            </a:extLst>
          </p:cNvPr>
          <p:cNvSpPr txBox="1"/>
          <p:nvPr/>
        </p:nvSpPr>
        <p:spPr>
          <a:xfrm>
            <a:off x="8953500" y="1319011"/>
            <a:ext cx="2589276" cy="2169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410" b="0" dirty="0">
                <a:solidFill>
                  <a:srgbClr val="00B39A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매일 42개 일기 문항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DEVELOPMENT · 개발 완성도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한 번의 응답이 </a:t>
            </a:r>
            <a:r>
              <a:rPr lang="ko-KR" altLang="en-US" sz="3150" b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다음 대화</a:t>
            </a:r>
            <a:r>
              <a:rPr lang="ko-KR" altLang="en-US" sz="315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로 이어지는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4385816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음성 기록 · 전자 일기 · 보호자 리포트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47836"/>
            <a:ext cx="4572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spc="6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430716"/>
            <a:ext cx="1344920" cy="2968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16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5분의 일기 루틴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92890"/>
            <a:ext cx="2697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같은 규칙으로 매일 여섯 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10265" y="2741916"/>
            <a:ext cx="177933" cy="2522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639" b="1" dirty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2424" y="4247836"/>
            <a:ext cx="4572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spc="6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2424" y="4430716"/>
            <a:ext cx="1776127" cy="2968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60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활동을 </a:t>
            </a:r>
            <a:r>
              <a:rPr lang="ko-KR" altLang="en-US" sz="16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일기로 남김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2424" y="4792890"/>
            <a:ext cx="2697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작은 목소리와 긴 쉼까지 그대로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08329" y="2741916"/>
            <a:ext cx="177933" cy="2522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639" b="1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4247836"/>
            <a:ext cx="4572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spc="6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4430716"/>
            <a:ext cx="1404231" cy="2968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16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개인화 문항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4792890"/>
            <a:ext cx="214481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어제 일기 근거로 다음 문항 생성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6393" y="2741916"/>
            <a:ext cx="177933" cy="2522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639" b="1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8552" y="4247836"/>
            <a:ext cx="4572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spc="6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8552" y="4430716"/>
            <a:ext cx="981038" cy="2968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16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리포트 제공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8552" y="4792890"/>
            <a:ext cx="154850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종합된 기록</a:t>
            </a: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 및 수치 제공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5140002"/>
            <a:ext cx="11003249" cy="9525"/>
          </a:xfrm>
          <a:prstGeom prst="rect">
            <a:avLst/>
          </a:prstGeom>
          <a:solidFill>
            <a:srgbClr val="B5D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5249372"/>
            <a:ext cx="2310889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spc="6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개발 완성도 </a:t>
            </a:r>
            <a:r>
              <a:rPr lang="ko-KR" altLang="en-US" sz="1600" b="0" spc="6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CHECK LIST</a:t>
            </a:r>
          </a:p>
        </p:txBody>
      </p:sp>
      <p:sp>
        <p:nvSpPr>
          <p:cNvPr id="26" name="Oval 25"/>
          <p:cNvSpPr/>
          <p:nvPr/>
        </p:nvSpPr>
        <p:spPr>
          <a:xfrm>
            <a:off x="576072" y="5654421"/>
            <a:ext cx="237744" cy="237744"/>
          </a:xfrm>
          <a:prstGeom prst="ellipse">
            <a:avLst/>
          </a:prstGeom>
          <a:solidFill>
            <a:srgbClr val="D8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ko-KR" sz="1200" b="1">
                <a:solidFill>
                  <a:srgbClr val="34C759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✓</a:t>
            </a:r>
            <a:endParaRPr sz="1200"/>
          </a:p>
        </p:txBody>
      </p:sp>
      <p:sp>
        <p:nvSpPr>
          <p:cNvPr id="29" name="TextBox 28"/>
          <p:cNvSpPr txBox="1"/>
          <p:nvPr/>
        </p:nvSpPr>
        <p:spPr>
          <a:xfrm>
            <a:off x="895760" y="5651514"/>
            <a:ext cx="118942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음성인식 정확도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5760" y="5906138"/>
            <a:ext cx="862416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고도화 완료</a:t>
            </a:r>
          </a:p>
        </p:txBody>
      </p:sp>
      <p:sp>
        <p:nvSpPr>
          <p:cNvPr id="31" name="Oval 30"/>
          <p:cNvSpPr/>
          <p:nvPr/>
        </p:nvSpPr>
        <p:spPr>
          <a:xfrm>
            <a:off x="2770632" y="5654421"/>
            <a:ext cx="237744" cy="237744"/>
          </a:xfrm>
          <a:prstGeom prst="ellipse">
            <a:avLst/>
          </a:prstGeom>
          <a:solidFill>
            <a:srgbClr val="D8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ko-KR" sz="1200" b="1">
                <a:solidFill>
                  <a:srgbClr val="34C759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✓</a:t>
            </a:r>
            <a:endParaRPr sz="1200"/>
          </a:p>
        </p:txBody>
      </p:sp>
      <p:sp>
        <p:nvSpPr>
          <p:cNvPr id="34" name="TextBox 33"/>
          <p:cNvSpPr txBox="1"/>
          <p:nvPr/>
        </p:nvSpPr>
        <p:spPr>
          <a:xfrm>
            <a:off x="3090319" y="5651514"/>
            <a:ext cx="109324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NFC </a:t>
            </a:r>
            <a:r>
              <a:rPr lang="ko-KR" altLang="en-US" sz="1400" b="0" dirty="0" err="1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태깅</a:t>
            </a:r>
            <a:r>
              <a:rPr lang="ko-KR" altLang="en-US" sz="14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 기반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90319" y="5906138"/>
            <a:ext cx="1516441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데이터베이스화 완료</a:t>
            </a:r>
          </a:p>
        </p:txBody>
      </p:sp>
      <p:sp>
        <p:nvSpPr>
          <p:cNvPr id="36" name="Oval 35"/>
          <p:cNvSpPr/>
          <p:nvPr/>
        </p:nvSpPr>
        <p:spPr>
          <a:xfrm>
            <a:off x="5010017" y="5654421"/>
            <a:ext cx="237744" cy="237744"/>
          </a:xfrm>
          <a:prstGeom prst="ellipse">
            <a:avLst/>
          </a:prstGeom>
          <a:solidFill>
            <a:srgbClr val="D8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ko-KR" sz="1200" b="1">
                <a:solidFill>
                  <a:srgbClr val="34C759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✓</a:t>
            </a:r>
            <a:endParaRPr sz="1200"/>
          </a:p>
        </p:txBody>
      </p:sp>
      <p:sp>
        <p:nvSpPr>
          <p:cNvPr id="39" name="TextBox 38"/>
          <p:cNvSpPr txBox="1"/>
          <p:nvPr/>
        </p:nvSpPr>
        <p:spPr>
          <a:xfrm>
            <a:off x="5329705" y="5651514"/>
            <a:ext cx="1687963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개인정보 동의서 구성 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29705" y="5906138"/>
            <a:ext cx="1606209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보안 시스템 설계 완료</a:t>
            </a:r>
          </a:p>
        </p:txBody>
      </p:sp>
      <p:sp>
        <p:nvSpPr>
          <p:cNvPr id="41" name="Oval 40"/>
          <p:cNvSpPr/>
          <p:nvPr/>
        </p:nvSpPr>
        <p:spPr>
          <a:xfrm>
            <a:off x="7401799" y="5654421"/>
            <a:ext cx="237744" cy="237744"/>
          </a:xfrm>
          <a:prstGeom prst="ellipse">
            <a:avLst/>
          </a:prstGeom>
          <a:solidFill>
            <a:srgbClr val="D8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ko-KR" sz="1200" b="1">
                <a:solidFill>
                  <a:srgbClr val="34C759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✓</a:t>
            </a:r>
            <a:endParaRPr sz="1200"/>
          </a:p>
        </p:txBody>
      </p:sp>
      <p:sp>
        <p:nvSpPr>
          <p:cNvPr id="44" name="TextBox 43"/>
          <p:cNvSpPr txBox="1"/>
          <p:nvPr/>
        </p:nvSpPr>
        <p:spPr>
          <a:xfrm>
            <a:off x="7721487" y="5651514"/>
            <a:ext cx="102592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디바이스 목업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21487" y="5906138"/>
            <a:ext cx="698909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제작 완료</a:t>
            </a:r>
          </a:p>
        </p:txBody>
      </p:sp>
      <p:sp>
        <p:nvSpPr>
          <p:cNvPr id="46" name="Oval 45"/>
          <p:cNvSpPr/>
          <p:nvPr/>
        </p:nvSpPr>
        <p:spPr>
          <a:xfrm>
            <a:off x="9354311" y="5654421"/>
            <a:ext cx="237744" cy="237744"/>
          </a:xfrm>
          <a:prstGeom prst="ellipse">
            <a:avLst/>
          </a:prstGeom>
          <a:solidFill>
            <a:srgbClr val="D8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ko-KR" sz="1200" b="1">
                <a:solidFill>
                  <a:srgbClr val="34C759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✓</a:t>
            </a:r>
            <a:endParaRPr sz="1200"/>
          </a:p>
        </p:txBody>
      </p:sp>
      <p:sp>
        <p:nvSpPr>
          <p:cNvPr id="49" name="TextBox 48"/>
          <p:cNvSpPr txBox="1"/>
          <p:nvPr/>
        </p:nvSpPr>
        <p:spPr>
          <a:xfrm>
            <a:off x="9674000" y="5651514"/>
            <a:ext cx="1405834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AI 개인화 알고리즘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74000" y="5906138"/>
            <a:ext cx="698909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설계 완료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B5D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 err="1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치매링고</a:t>
            </a:r>
            <a:r>
              <a:rPr lang="ko-KR" altLang="en-US" sz="1200" b="0" dirty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 </a:t>
            </a:r>
            <a:r>
              <a:rPr lang="ko-KR" altLang="en-US" sz="1200" b="0" dirty="0" err="1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by</a:t>
            </a:r>
            <a:r>
              <a:rPr lang="ko-KR" altLang="en-US" sz="1200" b="0" dirty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 보편교육연구소 </a:t>
            </a:r>
            <a:r>
              <a:rPr lang="ko-KR" altLang="en-US" sz="1200" b="0" dirty="0" err="1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/>
            </a:r>
            <a:r>
              <a:rPr lang="ko-KR" altLang="en-US" sz="1200" b="0" dirty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 · 개발 완성도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08</a:t>
            </a:r>
          </a:p>
        </p:txBody>
      </p:sp>
      <p:pic>
        <p:nvPicPr>
          <p:cNvPr id="54" name="Picture 5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649" y="250000"/>
            <a:ext cx="822960" cy="822960"/>
          </a:xfrm>
          <a:prstGeom prst="rect">
            <a:avLst/>
          </a:prstGeom>
          <a:effectLst/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99E5A798-D1BF-652F-BD6D-50A14878A1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382" y="1611027"/>
            <a:ext cx="1891873" cy="252249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E4D2640-023B-B852-C43D-8D1A7AFE34F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276073" y="1517156"/>
            <a:ext cx="2062521" cy="2710239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B430FD1E-0578-4573-B13A-9AC1C09B932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3130" b="20065"/>
          <a:stretch>
            <a:fillRect/>
          </a:stretch>
        </p:blipFill>
        <p:spPr>
          <a:xfrm>
            <a:off x="6236425" y="1632413"/>
            <a:ext cx="1858957" cy="2479724"/>
          </a:xfrm>
          <a:prstGeom prst="roundRect">
            <a:avLst>
              <a:gd name="adj" fmla="val 6568"/>
            </a:avLst>
          </a:prstGeom>
          <a:ln w="28575">
            <a:solidFill>
              <a:srgbClr val="2F80ED"/>
            </a:solidFill>
          </a:ln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DF1E5E09-3894-85DA-E79D-EA0F0EDEA5A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991946" y="1551539"/>
            <a:ext cx="1981104" cy="2641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ounded Rectangle 38">
            <a:extLst>
              <a:ext uri="{FF2B5EF4-FFF2-40B4-BE49-F238E27FC236}">
                <a16:creationId xmlns:a16="http://schemas.microsoft.com/office/drawing/2014/main" id="{3B15E090-8A90-2D7C-6AEF-4FF35F117187}"/>
              </a:ext>
            </a:extLst>
          </p:cNvPr>
          <p:cNvSpPr/>
          <p:nvPr/>
        </p:nvSpPr>
        <p:spPr>
          <a:xfrm>
            <a:off x="594361" y="5555564"/>
            <a:ext cx="7982712" cy="573065"/>
          </a:xfrm>
          <a:prstGeom prst="roundRect">
            <a:avLst>
              <a:gd name="adj" fmla="val 17252"/>
            </a:avLst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READINESS · 실증 준비도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4909998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실증을 위한 </a:t>
            </a:r>
            <a:r>
              <a:rPr lang="ko-KR" altLang="en-US" sz="3150" b="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네 가지 준비 완료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연구근거 · 연구윤리 · 권리화 · 개인정보 운영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20506"/>
            <a:ext cx="3931920" cy="17453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2031402"/>
            <a:ext cx="50292" cy="566928"/>
          </a:xfrm>
          <a:prstGeom prst="rect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945307"/>
            <a:ext cx="104733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ko-KR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KCI </a:t>
            </a:r>
            <a:r>
              <a:rPr lang="ko-KR" altLang="en-US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논문화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6328" y="1976538"/>
            <a:ext cx="920495" cy="256032"/>
          </a:xfrm>
          <a:prstGeom prst="roundRect">
            <a:avLst>
              <a:gd name="adj" fmla="val 50000"/>
            </a:avLst>
          </a:prstGeom>
          <a:solidFill>
            <a:srgbClr val="D8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chemeClr val="accent3">
                    <a:lumMod val="50000"/>
                  </a:schemeClr>
                </a:solidFill>
                <a:latin typeface="나눔스퀘어라운드 Bold"/>
                <a:ea typeface="나눔스퀘어라운드 Bold"/>
                <a:cs typeface="나눔스퀘어라운드 Bold"/>
              </a:rPr>
              <a:t>근거 정리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488602"/>
            <a:ext cx="91440" cy="91440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" y="2433738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치매환자 UX · 인지 활동 문헌 검토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799497"/>
            <a:ext cx="91440" cy="91440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4712" y="2744633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음성 처리 · 개인 기억 구조 검토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110393"/>
            <a:ext cx="91440" cy="91440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4712" y="3055529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설계 결정마다 참고 근거 정리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45152" y="1720506"/>
            <a:ext cx="3931920" cy="17453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645152" y="2031402"/>
            <a:ext cx="50292" cy="566928"/>
          </a:xfrm>
          <a:prstGeom prst="rect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37760" y="1945307"/>
            <a:ext cx="1327286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IRB 심의 신청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37120" y="1976538"/>
            <a:ext cx="920495" cy="256032"/>
          </a:xfrm>
          <a:prstGeom prst="roundRect">
            <a:avLst>
              <a:gd name="adj" fmla="val 50000"/>
            </a:avLst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chemeClr val="accent6">
                    <a:lumMod val="75000"/>
                  </a:schemeClr>
                </a:solidFill>
                <a:latin typeface="나눔스퀘어라운드 Bold"/>
                <a:ea typeface="나눔스퀘어라운드 Bold"/>
                <a:cs typeface="나눔스퀘어라운드 Bold"/>
              </a:rPr>
              <a:t>심의 신청</a:t>
            </a:r>
          </a:p>
        </p:txBody>
      </p:sp>
      <p:sp>
        <p:nvSpPr>
          <p:cNvPr id="19" name="Oval 18"/>
          <p:cNvSpPr/>
          <p:nvPr/>
        </p:nvSpPr>
        <p:spPr>
          <a:xfrm>
            <a:off x="4965192" y="2488602"/>
            <a:ext cx="91440" cy="91440"/>
          </a:xfrm>
          <a:prstGeom prst="ellipse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75504" y="2433738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이해관계 없는 목표 연령대 연구</a:t>
            </a:r>
          </a:p>
        </p:txBody>
      </p:sp>
      <p:sp>
        <p:nvSpPr>
          <p:cNvPr id="21" name="Oval 20"/>
          <p:cNvSpPr/>
          <p:nvPr/>
        </p:nvSpPr>
        <p:spPr>
          <a:xfrm>
            <a:off x="4965192" y="2799497"/>
            <a:ext cx="91440" cy="91440"/>
          </a:xfrm>
          <a:prstGeom prst="ellipse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75504" y="2744633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참여자 모집 · 동의 절차 설계</a:t>
            </a:r>
          </a:p>
        </p:txBody>
      </p:sp>
      <p:sp>
        <p:nvSpPr>
          <p:cNvPr id="23" name="Oval 22"/>
          <p:cNvSpPr/>
          <p:nvPr/>
        </p:nvSpPr>
        <p:spPr>
          <a:xfrm>
            <a:off x="4965192" y="3110393"/>
            <a:ext cx="91440" cy="91440"/>
          </a:xfrm>
          <a:prstGeom prst="ellipse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75504" y="3055529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승인 후 실행 예정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633575"/>
            <a:ext cx="3931920" cy="17453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4360" y="3944471"/>
            <a:ext cx="50292" cy="566928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6968" y="3858377"/>
            <a:ext cx="897682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특허 신청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6328" y="3889607"/>
            <a:ext cx="920495" cy="256032"/>
          </a:xfrm>
          <a:prstGeom prst="roundRect">
            <a:avLst>
              <a:gd name="adj" fmla="val 50000"/>
            </a:avLst>
          </a:prstGeom>
          <a:solidFill>
            <a:srgbClr val="F6C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chemeClr val="accent2">
                    <a:lumMod val="75000"/>
                  </a:schemeClr>
                </a:solidFill>
                <a:latin typeface="나눔스퀘어라운드 Bold"/>
                <a:ea typeface="나눔스퀘어라운드 Bold"/>
                <a:cs typeface="나눔스퀘어라운드 Bold"/>
              </a:rPr>
              <a:t>출원 진행</a:t>
            </a:r>
          </a:p>
        </p:txBody>
      </p:sp>
      <p:sp>
        <p:nvSpPr>
          <p:cNvPr id="29" name="Oval 28"/>
          <p:cNvSpPr/>
          <p:nvPr/>
        </p:nvSpPr>
        <p:spPr>
          <a:xfrm>
            <a:off x="914400" y="4401671"/>
            <a:ext cx="91440" cy="9144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24712" y="4346807"/>
            <a:ext cx="228428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2×2 </a:t>
            </a: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버튼 기반 친화 인터페이스</a:t>
            </a:r>
            <a:endParaRPr lang="ko-KR" altLang="en-US" sz="1200" b="0" dirty="0">
              <a:solidFill>
                <a:srgbClr val="0D2F6E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914400" y="4712567"/>
            <a:ext cx="91440" cy="9144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24712" y="4657703"/>
            <a:ext cx="137056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가정 보급형 디바이스</a:t>
            </a:r>
            <a:endParaRPr lang="ko-KR" altLang="en-US" sz="1200" b="0" dirty="0">
              <a:solidFill>
                <a:srgbClr val="0D2F6E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914400" y="5023463"/>
            <a:ext cx="91440" cy="9144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24712" y="4968599"/>
            <a:ext cx="256480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변리사와 상담 중 </a:t>
            </a:r>
            <a:r>
              <a:rPr lang="en-US" altLang="ko-KR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- </a:t>
            </a: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특허 출원서 작성 완료</a:t>
            </a:r>
            <a:endParaRPr lang="ko-KR" altLang="en-US" sz="1200" b="0" dirty="0">
              <a:solidFill>
                <a:srgbClr val="0D2F6E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645152" y="3633575"/>
            <a:ext cx="3931920" cy="17453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645152" y="3944471"/>
            <a:ext cx="50292" cy="566928"/>
          </a:xfrm>
          <a:prstGeom prst="rect">
            <a:avLst/>
          </a:prstGeom>
          <a:solidFill>
            <a:srgbClr val="00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937760" y="3858377"/>
            <a:ext cx="131766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개인정보 운영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37120" y="3889607"/>
            <a:ext cx="920495" cy="256032"/>
          </a:xfrm>
          <a:prstGeom prst="roundRect">
            <a:avLst>
              <a:gd name="adj" fmla="val 50000"/>
            </a:avLst>
          </a:prstGeom>
          <a:solidFill>
            <a:srgbClr val="F6C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00B39A"/>
                </a:solidFill>
                <a:latin typeface="나눔스퀘어라운드 Bold"/>
                <a:ea typeface="나눔스퀘어라운드 Bold"/>
                <a:cs typeface="나눔스퀘어라운드 Bold"/>
              </a:rPr>
              <a:t>운영 설계</a:t>
            </a:r>
          </a:p>
        </p:txBody>
      </p:sp>
      <p:sp>
        <p:nvSpPr>
          <p:cNvPr id="39" name="Oval 38"/>
          <p:cNvSpPr/>
          <p:nvPr/>
        </p:nvSpPr>
        <p:spPr>
          <a:xfrm>
            <a:off x="4965192" y="4401671"/>
            <a:ext cx="91440" cy="91440"/>
          </a:xfrm>
          <a:prstGeom prst="ellipse">
            <a:avLst/>
          </a:prstGeom>
          <a:solidFill>
            <a:srgbClr val="00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175504" y="4346807"/>
            <a:ext cx="259526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개인·가족 등록 · 동</a:t>
            </a:r>
            <a:r>
              <a:rPr lang="en-US" altLang="ko-KR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의</a:t>
            </a: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서 및 이용 안내</a:t>
            </a:r>
          </a:p>
        </p:txBody>
      </p:sp>
      <p:sp>
        <p:nvSpPr>
          <p:cNvPr id="41" name="Oval 40"/>
          <p:cNvSpPr/>
          <p:nvPr/>
        </p:nvSpPr>
        <p:spPr>
          <a:xfrm>
            <a:off x="4965192" y="4712567"/>
            <a:ext cx="91440" cy="91440"/>
          </a:xfrm>
          <a:prstGeom prst="ellipse">
            <a:avLst/>
          </a:prstGeom>
          <a:solidFill>
            <a:srgbClr val="00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75504" y="4657703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NFC 가명 ID · 식별정보 분리</a:t>
            </a:r>
          </a:p>
        </p:txBody>
      </p:sp>
      <p:sp>
        <p:nvSpPr>
          <p:cNvPr id="43" name="Oval 42"/>
          <p:cNvSpPr/>
          <p:nvPr/>
        </p:nvSpPr>
        <p:spPr>
          <a:xfrm>
            <a:off x="4965192" y="5023463"/>
            <a:ext cx="91440" cy="91440"/>
          </a:xfrm>
          <a:prstGeom prst="ellipse">
            <a:avLst/>
          </a:prstGeom>
          <a:solidFill>
            <a:srgbClr val="00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175504" y="4968599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역할별 최소 공개 · 철회 및 삭제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96528" y="1686479"/>
            <a:ext cx="1641475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진행 중인 공식 절차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38401" y="3968496"/>
            <a:ext cx="101470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IRB 심의 신청서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59190" y="3968496"/>
            <a:ext cx="73577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특허 출원서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96528" y="4315968"/>
            <a:ext cx="2798064" cy="9525"/>
          </a:xfrm>
          <a:prstGeom prst="rect">
            <a:avLst/>
          </a:prstGeom>
          <a:solidFill>
            <a:srgbClr val="B5D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225800" y="4480560"/>
            <a:ext cx="2368791" cy="146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2000"/>
              </a:lnSpc>
            </a:pPr>
            <a:r>
              <a:rPr lang="ko-KR" altLang="en-US" sz="1400" b="0" dirty="0">
                <a:latin typeface="나눔스퀘어라운드 Regular"/>
                <a:ea typeface="나눔스퀘어라운드 Regular"/>
                <a:cs typeface="나눔스퀘어라운드 Regular"/>
              </a:rPr>
              <a:t>승인 후 목표 연령대 참여자로</a:t>
            </a:r>
          </a:p>
          <a:p>
            <a:pPr algn="l">
              <a:lnSpc>
                <a:spcPct val="152000"/>
              </a:lnSpc>
            </a:pPr>
            <a:r>
              <a:rPr lang="ko-KR" altLang="en-US" sz="1400" b="0" dirty="0">
                <a:latin typeface="나눔스퀘어라운드 Regular"/>
                <a:ea typeface="나눔스퀘어라운드 Regular"/>
                <a:cs typeface="나눔스퀘어라운드 Regular"/>
              </a:rPr>
              <a:t>실증을 시작합니다.</a:t>
            </a:r>
          </a:p>
          <a:p>
            <a:pPr algn="l">
              <a:lnSpc>
                <a:spcPct val="152000"/>
              </a:lnSpc>
            </a:pPr>
            <a:endParaRPr lang="ko-KR" altLang="en-US" sz="800" b="0" dirty="0"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l">
              <a:lnSpc>
                <a:spcPct val="152000"/>
              </a:lnSpc>
            </a:pPr>
            <a:r>
              <a:rPr lang="ko-KR" altLang="en-US" sz="1400" b="0" dirty="0">
                <a:latin typeface="나눔스퀘어라운드 Regular"/>
                <a:ea typeface="나눔스퀘어라운드 Regular"/>
                <a:cs typeface="나눔스퀘어라운드 Regular"/>
              </a:rPr>
              <a:t>결과는 가정 보급과</a:t>
            </a:r>
          </a:p>
          <a:p>
            <a:pPr algn="l">
              <a:lnSpc>
                <a:spcPct val="152000"/>
              </a:lnSpc>
            </a:pPr>
            <a:r>
              <a:rPr lang="ko-KR" altLang="en-US" sz="1400" b="0" dirty="0">
                <a:latin typeface="나눔스퀘어라운드 Regular"/>
                <a:ea typeface="나눔스퀘어라운드 Regular"/>
                <a:cs typeface="나눔스퀘어라운드 Regular"/>
              </a:rPr>
              <a:t>글로벌 진출의 근거입니다.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8446" y="5723068"/>
            <a:ext cx="6974541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6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제품만 만든 것이 아니라, </a:t>
            </a:r>
            <a:r>
              <a:rPr lang="ko-KR" altLang="en-US" sz="1600" dirty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국내 실증과 글로벌 준비</a:t>
            </a:r>
            <a:r>
              <a:rPr lang="ko-KR" altLang="en-US" sz="16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를 마쳤습니다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B5D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치매링고 · 보편교육연구소 · 실증 준비도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09</a:t>
            </a:r>
          </a:p>
        </p:txBody>
      </p:sp>
      <p:pic>
        <p:nvPicPr>
          <p:cNvPr id="57" name="Picture 56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649" y="250000"/>
            <a:ext cx="822960" cy="822960"/>
          </a:xfrm>
          <a:prstGeom prst="rect">
            <a:avLst/>
          </a:prstGeom>
          <a:effectLst/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71F49D93-8A8F-065E-0BC6-A8302A6F15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5408" y="2118224"/>
            <a:ext cx="1241042" cy="17548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564104E9-E6FA-D606-9719-0B3D463E99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5907" y="2120335"/>
            <a:ext cx="1242344" cy="17555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3" name="Oval 6">
            <a:extLst>
              <a:ext uri="{FF2B5EF4-FFF2-40B4-BE49-F238E27FC236}">
                <a16:creationId xmlns:a16="http://schemas.microsoft.com/office/drawing/2014/main" id="{DA9EA50F-2F5D-F23E-D67E-5F2B44A81AF4}"/>
              </a:ext>
            </a:extLst>
          </p:cNvPr>
          <p:cNvSpPr/>
          <p:nvPr/>
        </p:nvSpPr>
        <p:spPr>
          <a:xfrm>
            <a:off x="8974836" y="4634483"/>
            <a:ext cx="82296" cy="82296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5" name="Oval 6">
            <a:extLst>
              <a:ext uri="{FF2B5EF4-FFF2-40B4-BE49-F238E27FC236}">
                <a16:creationId xmlns:a16="http://schemas.microsoft.com/office/drawing/2014/main" id="{D5ED8810-AB53-F96C-A9CA-E61CA1FCD971}"/>
              </a:ext>
            </a:extLst>
          </p:cNvPr>
          <p:cNvSpPr/>
          <p:nvPr/>
        </p:nvSpPr>
        <p:spPr>
          <a:xfrm>
            <a:off x="8974836" y="5451348"/>
            <a:ext cx="82296" cy="82296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BUSINESS · 사업화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직접 만들어</a:t>
            </a:r>
            <a:r>
              <a:rPr lang="ko-KR" altLang="en-US" sz="315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 가정에 보급합니다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B2C 개인 보급 · 기기 판매 · 일기 구독 · 전 과정 자체 개발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407" y="1790431"/>
            <a:ext cx="1463040" cy="2795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2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초기 고객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1772143"/>
            <a:ext cx="739521" cy="329184"/>
          </a:xfrm>
          <a:prstGeom prst="roundRect">
            <a:avLst>
              <a:gd name="adj" fmla="val 50000"/>
            </a:avLst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3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치매환자 가정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7777" y="1772143"/>
            <a:ext cx="1311021" cy="329184"/>
          </a:xfrm>
          <a:prstGeom prst="roundRect">
            <a:avLst>
              <a:gd name="adj" fmla="val 50000"/>
            </a:avLst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3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보호자 · 가족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6814" y="1772143"/>
            <a:ext cx="882396" cy="329184"/>
          </a:xfrm>
          <a:prstGeom prst="roundRect">
            <a:avLst>
              <a:gd name="adj" fmla="val 50000"/>
            </a:avLst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3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개인 구매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37226" y="1772143"/>
            <a:ext cx="1168146" cy="329184"/>
          </a:xfrm>
          <a:prstGeom prst="roundRect">
            <a:avLst>
              <a:gd name="adj" fmla="val 50000"/>
            </a:avLst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3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의료 추천 경로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407" y="2363722"/>
            <a:ext cx="1463040" cy="2795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2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운영 흐름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8217" y="2256597"/>
            <a:ext cx="1353223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88945" y="2411152"/>
            <a:ext cx="1022716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가족 등록 · 동의</a:t>
            </a:r>
          </a:p>
        </p:txBody>
      </p:sp>
      <p:sp>
        <p:nvSpPr>
          <p:cNvPr id="13" name="Isosceles Triangle 12"/>
          <p:cNvSpPr/>
          <p:nvPr/>
        </p:nvSpPr>
        <p:spPr>
          <a:xfrm rot="5400000">
            <a:off x="3491843" y="2425761"/>
            <a:ext cx="155448" cy="155448"/>
          </a:xfrm>
          <a:prstGeom prst="triangl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866745" y="2256597"/>
            <a:ext cx="1353223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38080" y="2411152"/>
            <a:ext cx="801501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NFC 가명 ID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5430371" y="2425761"/>
            <a:ext cx="155448" cy="155448"/>
          </a:xfrm>
          <a:prstGeom prst="triangl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805273" y="2256597"/>
            <a:ext cx="1353223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79200" y="2411152"/>
            <a:ext cx="5963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하루 일기</a:t>
            </a:r>
          </a:p>
        </p:txBody>
      </p:sp>
      <p:sp>
        <p:nvSpPr>
          <p:cNvPr id="19" name="Isosceles Triangle 18"/>
          <p:cNvSpPr/>
          <p:nvPr/>
        </p:nvSpPr>
        <p:spPr>
          <a:xfrm rot="5400000">
            <a:off x="7368898" y="2425761"/>
            <a:ext cx="155448" cy="155448"/>
          </a:xfrm>
          <a:prstGeom prst="triangl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743801" y="2256597"/>
            <a:ext cx="1353223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78267" y="2411152"/>
            <a:ext cx="875240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역할별 리포트</a:t>
            </a:r>
          </a:p>
        </p:txBody>
      </p:sp>
      <p:sp>
        <p:nvSpPr>
          <p:cNvPr id="22" name="Isosceles Triangle 21"/>
          <p:cNvSpPr/>
          <p:nvPr/>
        </p:nvSpPr>
        <p:spPr>
          <a:xfrm rot="5400000">
            <a:off x="9307427" y="2425761"/>
            <a:ext cx="155448" cy="155448"/>
          </a:xfrm>
          <a:prstGeom prst="triangl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682329" y="2256597"/>
            <a:ext cx="1353223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97559" y="2411152"/>
            <a:ext cx="913712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전문 상담 연계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2987756"/>
            <a:ext cx="11003249" cy="9525"/>
          </a:xfrm>
          <a:prstGeom prst="rect">
            <a:avLst/>
          </a:prstGeom>
          <a:solidFill>
            <a:srgbClr val="B5D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94360" y="3134060"/>
            <a:ext cx="3502152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" y="3371804"/>
            <a:ext cx="50292" cy="658368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95528" y="3262076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07234" y="3255878"/>
            <a:ext cx="897682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수익 구조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9304" y="3579386"/>
            <a:ext cx="1014701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무엇으로 버는가</a:t>
            </a:r>
          </a:p>
        </p:txBody>
      </p:sp>
      <p:sp>
        <p:nvSpPr>
          <p:cNvPr id="31" name="Oval 30"/>
          <p:cNvSpPr/>
          <p:nvPr/>
        </p:nvSpPr>
        <p:spPr>
          <a:xfrm>
            <a:off x="1091363" y="3956125"/>
            <a:ext cx="109728" cy="109728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29106" y="3936180"/>
            <a:ext cx="1301638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기기 판매 · 유지보수</a:t>
            </a:r>
          </a:p>
        </p:txBody>
      </p:sp>
      <p:sp>
        <p:nvSpPr>
          <p:cNvPr id="33" name="Oval 32"/>
          <p:cNvSpPr/>
          <p:nvPr/>
        </p:nvSpPr>
        <p:spPr>
          <a:xfrm>
            <a:off x="1091363" y="4303597"/>
            <a:ext cx="109728" cy="109728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329106" y="4283652"/>
            <a:ext cx="1192634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구독형 서비스 제공</a:t>
            </a:r>
          </a:p>
        </p:txBody>
      </p:sp>
      <p:sp>
        <p:nvSpPr>
          <p:cNvPr id="35" name="Oval 34"/>
          <p:cNvSpPr/>
          <p:nvPr/>
        </p:nvSpPr>
        <p:spPr>
          <a:xfrm>
            <a:off x="1091363" y="4651069"/>
            <a:ext cx="109728" cy="109728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329106" y="4631124"/>
            <a:ext cx="1649491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개인 구독 라이선스</a:t>
            </a:r>
          </a:p>
        </p:txBody>
      </p:sp>
      <p:sp>
        <p:nvSpPr>
          <p:cNvPr id="37" name="Oval 36"/>
          <p:cNvSpPr/>
          <p:nvPr/>
        </p:nvSpPr>
        <p:spPr>
          <a:xfrm>
            <a:off x="1091363" y="4998541"/>
            <a:ext cx="109728" cy="109728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329106" y="4978596"/>
            <a:ext cx="1441100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보호자 · 전문가 리포트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43400" y="3134060"/>
            <a:ext cx="3502152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343400" y="3371804"/>
            <a:ext cx="50292" cy="658368"/>
          </a:xfrm>
          <a:prstGeom prst="rect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4544568" y="3262076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56274" y="3255878"/>
            <a:ext cx="201657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직접 개발 · 원가 절감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38344" y="3579386"/>
            <a:ext cx="1548501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왜 가정 보급이 가능한가</a:t>
            </a:r>
          </a:p>
        </p:txBody>
      </p:sp>
      <p:sp>
        <p:nvSpPr>
          <p:cNvPr id="44" name="Oval 43"/>
          <p:cNvSpPr/>
          <p:nvPr/>
        </p:nvSpPr>
        <p:spPr>
          <a:xfrm>
            <a:off x="4840403" y="3956125"/>
            <a:ext cx="109728" cy="109728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78147" y="3936180"/>
            <a:ext cx="2649764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하드웨어 · 앱 · 음성 · 기억 전부 자체 개발</a:t>
            </a:r>
          </a:p>
        </p:txBody>
      </p:sp>
      <p:sp>
        <p:nvSpPr>
          <p:cNvPr id="46" name="Oval 45"/>
          <p:cNvSpPr/>
          <p:nvPr/>
        </p:nvSpPr>
        <p:spPr>
          <a:xfrm>
            <a:off x="4840403" y="4303597"/>
            <a:ext cx="109728" cy="109728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8147" y="4283652"/>
            <a:ext cx="2106346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외주 개발비 없이 시제품까지 제작</a:t>
            </a:r>
          </a:p>
        </p:txBody>
      </p:sp>
      <p:sp>
        <p:nvSpPr>
          <p:cNvPr id="48" name="Oval 47"/>
          <p:cNvSpPr/>
          <p:nvPr/>
        </p:nvSpPr>
        <p:spPr>
          <a:xfrm>
            <a:off x="4840403" y="4651069"/>
            <a:ext cx="109728" cy="109728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078147" y="4631124"/>
            <a:ext cx="2284280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구매 단가를 낮춰 가정 진입장벽 완화</a:t>
            </a:r>
          </a:p>
        </p:txBody>
      </p:sp>
      <p:sp>
        <p:nvSpPr>
          <p:cNvPr id="50" name="Oval 49"/>
          <p:cNvSpPr/>
          <p:nvPr/>
        </p:nvSpPr>
        <p:spPr>
          <a:xfrm>
            <a:off x="4840403" y="4998541"/>
            <a:ext cx="109728" cy="109728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078147" y="4978596"/>
            <a:ext cx="1687963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현장 요구를 팀이 직접 반영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92440" y="3134060"/>
            <a:ext cx="3502152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092440" y="3371804"/>
            <a:ext cx="50292" cy="658368"/>
          </a:xfrm>
          <a:prstGeom prst="rect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8293608" y="3262076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05314" y="3255878"/>
            <a:ext cx="1527662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사회적기업 운영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87384" y="3579386"/>
            <a:ext cx="1154162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무엇을 우선하는가</a:t>
            </a:r>
          </a:p>
        </p:txBody>
      </p:sp>
      <p:sp>
        <p:nvSpPr>
          <p:cNvPr id="57" name="Oval 56"/>
          <p:cNvSpPr/>
          <p:nvPr/>
        </p:nvSpPr>
        <p:spPr>
          <a:xfrm>
            <a:off x="8589442" y="3956125"/>
            <a:ext cx="109728" cy="109728"/>
          </a:xfrm>
          <a:prstGeom prst="ellipse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827187" y="3936180"/>
            <a:ext cx="1966885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이익 극대화가 아닌 접근성 우선</a:t>
            </a:r>
          </a:p>
        </p:txBody>
      </p:sp>
      <p:sp>
        <p:nvSpPr>
          <p:cNvPr id="59" name="Oval 58"/>
          <p:cNvSpPr/>
          <p:nvPr/>
        </p:nvSpPr>
        <p:spPr>
          <a:xfrm>
            <a:off x="8589442" y="4303597"/>
            <a:ext cx="109728" cy="109728"/>
          </a:xfrm>
          <a:prstGeom prst="ellipse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827187" y="4283652"/>
            <a:ext cx="1758495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가정 구매와 의료 추천 연계</a:t>
            </a:r>
          </a:p>
        </p:txBody>
      </p:sp>
      <p:sp>
        <p:nvSpPr>
          <p:cNvPr id="61" name="Oval 60"/>
          <p:cNvSpPr/>
          <p:nvPr/>
        </p:nvSpPr>
        <p:spPr>
          <a:xfrm>
            <a:off x="8589442" y="4651069"/>
            <a:ext cx="109728" cy="109728"/>
          </a:xfrm>
          <a:prstGeom prst="ellipse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827187" y="4631124"/>
            <a:ext cx="1687963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돌봄 부담 가정에 우선 보급</a:t>
            </a:r>
          </a:p>
        </p:txBody>
      </p:sp>
      <p:sp>
        <p:nvSpPr>
          <p:cNvPr id="63" name="Oval 62"/>
          <p:cNvSpPr/>
          <p:nvPr/>
        </p:nvSpPr>
        <p:spPr>
          <a:xfrm>
            <a:off x="8589442" y="4998541"/>
            <a:ext cx="109728" cy="109728"/>
          </a:xfrm>
          <a:prstGeom prst="ellipse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827187" y="4978596"/>
            <a:ext cx="1510029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서울·경기 가정 보급 시작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4360" y="5556684"/>
            <a:ext cx="11003249" cy="9525"/>
          </a:xfrm>
          <a:prstGeom prst="rect">
            <a:avLst/>
          </a:prstGeom>
          <a:solidFill>
            <a:srgbClr val="B5D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94360" y="5791919"/>
            <a:ext cx="121828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보급 준비 현황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377440" y="5810207"/>
            <a:ext cx="2194560" cy="209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60" b="0" dirty="0">
                <a:solidFill>
                  <a:srgbClr val="00B39A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가정 보급 채널 구축 중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B5D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치매링고 · 보편교육연구소 · 사업화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10</a:t>
            </a:r>
          </a:p>
        </p:txBody>
      </p:sp>
      <p:pic>
        <p:nvPicPr>
          <p:cNvPr id="75" name="Picture 7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649" y="250000"/>
            <a:ext cx="822960" cy="822960"/>
          </a:xfrm>
          <a:prstGeom prst="rect">
            <a:avLst/>
          </a:prstGeom>
          <a:effectLst/>
        </p:spPr>
      </p:pic>
      <p:sp>
        <p:nvSpPr>
          <p:cNvPr id="77" name="Oval 6">
            <a:extLst>
              <a:ext uri="{FF2B5EF4-FFF2-40B4-BE49-F238E27FC236}">
                <a16:creationId xmlns:a16="http://schemas.microsoft.com/office/drawing/2014/main" id="{204D6864-31D1-5FD3-0C89-C62129DC25FA}"/>
              </a:ext>
            </a:extLst>
          </p:cNvPr>
          <p:cNvSpPr/>
          <p:nvPr/>
        </p:nvSpPr>
        <p:spPr>
          <a:xfrm>
            <a:off x="603504" y="1854439"/>
            <a:ext cx="82296" cy="82296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9" name="Oval 6">
            <a:extLst>
              <a:ext uri="{FF2B5EF4-FFF2-40B4-BE49-F238E27FC236}">
                <a16:creationId xmlns:a16="http://schemas.microsoft.com/office/drawing/2014/main" id="{7A9BBDB9-CCE2-B9DD-3001-54E1FE38AF5B}"/>
              </a:ext>
            </a:extLst>
          </p:cNvPr>
          <p:cNvSpPr/>
          <p:nvPr/>
        </p:nvSpPr>
        <p:spPr>
          <a:xfrm>
            <a:off x="603504" y="2462337"/>
            <a:ext cx="82296" cy="82296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4E5D255-0B96-0BBC-1EA4-60407F1AF818}"/>
              </a:ext>
            </a:extLst>
          </p:cNvPr>
          <p:cNvSpPr txBox="1"/>
          <p:nvPr/>
        </p:nvSpPr>
        <p:spPr>
          <a:xfrm>
            <a:off x="4824847" y="5807056"/>
            <a:ext cx="2699499" cy="209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360" dirty="0" err="1">
                <a:solidFill>
                  <a:srgbClr val="00B39A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분당차병원</a:t>
            </a:r>
            <a:r>
              <a:rPr lang="ko-KR" altLang="en-US" sz="1360" dirty="0">
                <a:solidFill>
                  <a:srgbClr val="00B39A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 정신건강의학과 자문협력</a:t>
            </a:r>
            <a:endParaRPr lang="ko-KR" altLang="en-US" sz="1360" b="0" dirty="0">
              <a:solidFill>
                <a:srgbClr val="00B39A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592A997-4ED8-4755-F8D3-6B33D8F775FD}"/>
              </a:ext>
            </a:extLst>
          </p:cNvPr>
          <p:cNvSpPr txBox="1"/>
          <p:nvPr/>
        </p:nvSpPr>
        <p:spPr>
          <a:xfrm>
            <a:off x="7969002" y="5813366"/>
            <a:ext cx="3084480" cy="209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360" dirty="0">
                <a:solidFill>
                  <a:srgbClr val="00B39A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육군사관학교 연구센터 협력연구 진행 중</a:t>
            </a:r>
            <a:endParaRPr lang="ko-KR" altLang="en-US" sz="1360" b="0" dirty="0">
              <a:solidFill>
                <a:srgbClr val="00B39A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ROADMAP · 로드맵과 예산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개발 및 </a:t>
            </a:r>
            <a:r>
              <a:rPr lang="ko-KR" altLang="en-US" sz="3150" b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실증</a:t>
            </a:r>
            <a:r>
              <a:rPr lang="ko-KR" altLang="en-US" sz="315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대회 일정에 맞춘 실행 순서와 상금 사용 계획</a:t>
            </a:r>
          </a:p>
        </p:txBody>
      </p:sp>
      <p:sp>
        <p:nvSpPr>
          <p:cNvPr id="5" name="Rectangle 4"/>
          <p:cNvSpPr/>
          <p:nvPr/>
        </p:nvSpPr>
        <p:spPr>
          <a:xfrm>
            <a:off x="1728216" y="2377440"/>
            <a:ext cx="8735537" cy="31750"/>
          </a:xfrm>
          <a:prstGeom prst="rect">
            <a:avLst/>
          </a:prstGeom>
          <a:solidFill>
            <a:srgbClr val="B5D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267968" y="1810512"/>
            <a:ext cx="920495" cy="292608"/>
          </a:xfrm>
          <a:prstGeom prst="roundRect">
            <a:avLst>
              <a:gd name="adj" fmla="val 50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FFFFFF"/>
                </a:solidFill>
                <a:latin typeface="나눔스퀘어라운드 Bold"/>
                <a:ea typeface="나눔스퀘어라운드 Bold"/>
                <a:cs typeface="나눔스퀘어라운드 Bold"/>
              </a:rPr>
              <a:t>2026.0</a:t>
            </a:r>
            <a:r>
              <a:rPr lang="en-US" altLang="ko-KR" sz="1200" b="0" dirty="0">
                <a:solidFill>
                  <a:srgbClr val="FFFFFF"/>
                </a:solidFill>
                <a:latin typeface="나눔스퀘어라운드 Bold"/>
                <a:ea typeface="나눔스퀘어라운드 Bold"/>
                <a:cs typeface="나눔스퀘어라운드 Bold"/>
              </a:rPr>
              <a:t>8</a:t>
            </a:r>
            <a:endParaRPr lang="ko-KR" altLang="en-US" sz="1200" b="0" dirty="0">
              <a:solidFill>
                <a:srgbClr val="FFFFFF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7" name="Isosceles Triangle 6"/>
          <p:cNvSpPr/>
          <p:nvPr/>
        </p:nvSpPr>
        <p:spPr>
          <a:xfrm rot="5400000">
            <a:off x="2728718" y="2291486"/>
            <a:ext cx="182880" cy="182880"/>
          </a:xfrm>
          <a:prstGeom prst="triangl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81912" y="2236622"/>
            <a:ext cx="292608" cy="292608"/>
          </a:xfrm>
          <a:prstGeom prst="ellipse">
            <a:avLst/>
          </a:prstGeom>
          <a:solidFill>
            <a:srgbClr val="2F80ED"/>
          </a:solidFill>
          <a:ln w="19050">
            <a:solidFill>
              <a:srgbClr val="2F80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673352" y="2328062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" y="2651760"/>
            <a:ext cx="2231136" cy="2893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47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마무리 개발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944368"/>
            <a:ext cx="2304288" cy="7132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44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디바이스 · 음성 · 기억 · 리포트</a:t>
            </a:r>
          </a:p>
          <a:p>
            <a:pPr algn="ctr">
              <a:lnSpc>
                <a:spcPct val="144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현장형 연결과 안정화</a:t>
            </a:r>
          </a:p>
          <a:p>
            <a:pPr algn="ctr">
              <a:lnSpc>
                <a:spcPct val="144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IRB 승인 목표 시점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1852" y="1810512"/>
            <a:ext cx="920495" cy="292608"/>
          </a:xfrm>
          <a:prstGeom prst="roundRect">
            <a:avLst>
              <a:gd name="adj" fmla="val 50000"/>
            </a:avLst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2026.</a:t>
            </a:r>
            <a:r>
              <a:rPr lang="en-US" altLang="ko-KR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09</a:t>
            </a:r>
            <a:endParaRPr lang="ko-KR" altLang="en-US" sz="1200" b="0" dirty="0">
              <a:solidFill>
                <a:srgbClr val="0D2F6E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13" name="Isosceles Triangle 12"/>
          <p:cNvSpPr/>
          <p:nvPr/>
        </p:nvSpPr>
        <p:spPr>
          <a:xfrm rot="5400000">
            <a:off x="4912602" y="2291486"/>
            <a:ext cx="182880" cy="182880"/>
          </a:xfrm>
          <a:prstGeom prst="triangle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802372" y="2273198"/>
            <a:ext cx="219456" cy="219456"/>
          </a:xfrm>
          <a:prstGeom prst="ellipse">
            <a:avLst/>
          </a:prstGeom>
          <a:solidFill>
            <a:srgbClr val="F7F5F2"/>
          </a:solidFill>
          <a:ln w="19050">
            <a:solidFill>
              <a:srgbClr val="FFC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45813" y="2651760"/>
            <a:ext cx="732573" cy="2262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470" b="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국내 실증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7354" y="2944368"/>
            <a:ext cx="1649491" cy="7739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44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디바이스 버튼 사용성 검증</a:t>
            </a:r>
          </a:p>
          <a:p>
            <a:pPr algn="ctr">
              <a:lnSpc>
                <a:spcPct val="144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사용자 맞춤형 문항 고도화</a:t>
            </a:r>
          </a:p>
          <a:p>
            <a:pPr algn="ctr">
              <a:lnSpc>
                <a:spcPct val="144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가정 보급 </a:t>
            </a:r>
            <a:r>
              <a:rPr lang="ko-KR" altLang="en-US" sz="1200" b="0" dirty="0" err="1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채널</a:t>
            </a: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 구축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35736" y="1810512"/>
            <a:ext cx="920495" cy="292608"/>
          </a:xfrm>
          <a:prstGeom prst="roundRect">
            <a:avLst>
              <a:gd name="adj" fmla="val 50000"/>
            </a:avLst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altLang="ko-KR" sz="120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2026.10</a:t>
            </a:r>
            <a:endParaRPr lang="ko-KR" altLang="en-US" sz="1200" b="0" dirty="0">
              <a:solidFill>
                <a:srgbClr val="0D2F6E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18" name="Isosceles Triangle 17"/>
          <p:cNvSpPr/>
          <p:nvPr/>
        </p:nvSpPr>
        <p:spPr>
          <a:xfrm rot="5400000">
            <a:off x="7096486" y="2291486"/>
            <a:ext cx="182880" cy="182880"/>
          </a:xfrm>
          <a:prstGeom prst="triangl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986256" y="2273198"/>
            <a:ext cx="219456" cy="219456"/>
          </a:xfrm>
          <a:prstGeom prst="ellipse">
            <a:avLst/>
          </a:prstGeom>
          <a:solidFill>
            <a:srgbClr val="F7F5F2"/>
          </a:solidFill>
          <a:ln w="19050">
            <a:solidFill>
              <a:srgbClr val="34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29697" y="2651760"/>
            <a:ext cx="732573" cy="2262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470" b="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개인화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2541" y="2944368"/>
            <a:ext cx="1966885" cy="7739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44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CIST·MMSE 문항 강화</a:t>
            </a:r>
          </a:p>
          <a:p>
            <a:pPr algn="ctr">
              <a:lnSpc>
                <a:spcPct val="144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전자 일기 기록의 상세도 확인</a:t>
            </a:r>
          </a:p>
          <a:p>
            <a:pPr algn="ctr">
              <a:lnSpc>
                <a:spcPct val="144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보호자 리포트 확인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9621" y="1810512"/>
            <a:ext cx="920495" cy="292608"/>
          </a:xfrm>
          <a:prstGeom prst="roundRect">
            <a:avLst>
              <a:gd name="adj" fmla="val 50000"/>
            </a:avLst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2026.12</a:t>
            </a:r>
          </a:p>
        </p:txBody>
      </p:sp>
      <p:sp>
        <p:nvSpPr>
          <p:cNvPr id="23" name="Isosceles Triangle 22"/>
          <p:cNvSpPr/>
          <p:nvPr/>
        </p:nvSpPr>
        <p:spPr>
          <a:xfrm rot="5400000">
            <a:off x="9280371" y="2291486"/>
            <a:ext cx="182880" cy="182880"/>
          </a:xfrm>
          <a:prstGeom prst="triangle">
            <a:avLst/>
          </a:prstGeom>
          <a:solidFill>
            <a:srgbClr val="00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170141" y="2273198"/>
            <a:ext cx="219456" cy="219456"/>
          </a:xfrm>
          <a:prstGeom prst="ellipse">
            <a:avLst/>
          </a:prstGeom>
          <a:solidFill>
            <a:srgbClr val="F7F5F2"/>
          </a:solidFill>
          <a:ln w="19050">
            <a:solidFill>
              <a:srgbClr val="00B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64301" y="2651760"/>
            <a:ext cx="2231136" cy="2893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47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조정 · 분석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7725" y="2944368"/>
            <a:ext cx="2304288" cy="7132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44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실증 데이터 분석</a:t>
            </a:r>
          </a:p>
          <a:p>
            <a:pPr algn="ctr">
              <a:lnSpc>
                <a:spcPct val="144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제품 세부 조정</a:t>
            </a:r>
          </a:p>
          <a:p>
            <a:pPr algn="ctr">
              <a:lnSpc>
                <a:spcPct val="144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가정 보급 채널 컨택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27318" y="1810512"/>
            <a:ext cx="872871" cy="292608"/>
          </a:xfrm>
          <a:prstGeom prst="roundRect">
            <a:avLst>
              <a:gd name="adj" fmla="val 50000"/>
            </a:avLst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2027 초</a:t>
            </a:r>
          </a:p>
        </p:txBody>
      </p:sp>
      <p:sp>
        <p:nvSpPr>
          <p:cNvPr id="28" name="Oval 27"/>
          <p:cNvSpPr/>
          <p:nvPr/>
        </p:nvSpPr>
        <p:spPr>
          <a:xfrm>
            <a:off x="10354025" y="2273198"/>
            <a:ext cx="219456" cy="219456"/>
          </a:xfrm>
          <a:prstGeom prst="ellipse">
            <a:avLst/>
          </a:prstGeom>
          <a:solidFill>
            <a:srgbClr val="F7F5F2"/>
          </a:solidFill>
          <a:ln w="19050">
            <a:solidFill>
              <a:srgbClr val="4A7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48185" y="2651760"/>
            <a:ext cx="2231136" cy="2893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47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B2C 보급 · 글로벌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11609" y="2944368"/>
            <a:ext cx="2304288" cy="7132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44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가정용 판매 · 구독 패키지</a:t>
            </a:r>
          </a:p>
          <a:p>
            <a:pPr algn="ctr">
              <a:lnSpc>
                <a:spcPct val="144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특허 후속 · 논문 투고</a:t>
            </a:r>
          </a:p>
          <a:p>
            <a:pPr algn="ctr">
              <a:lnSpc>
                <a:spcPct val="144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국내 결과 기반 글로벌 진출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3844289"/>
            <a:ext cx="11003249" cy="9525"/>
          </a:xfrm>
          <a:prstGeom prst="rect">
            <a:avLst/>
          </a:prstGeom>
          <a:solidFill>
            <a:srgbClr val="B5D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7600" y="3978007"/>
            <a:ext cx="129844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60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실증 준비 계획</a:t>
            </a:r>
            <a:endParaRPr lang="ko-KR" altLang="en-US" sz="1600" b="0" dirty="0">
              <a:solidFill>
                <a:srgbClr val="0D2F6E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594360" y="5614416"/>
            <a:ext cx="11003249" cy="493776"/>
          </a:xfrm>
          <a:prstGeom prst="roundRect">
            <a:avLst>
              <a:gd name="adj" fmla="val 8000"/>
            </a:avLst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32D8ACAA-9856-AAEB-9B37-69ABE76B1236}"/>
              </a:ext>
            </a:extLst>
          </p:cNvPr>
          <p:cNvGrpSpPr/>
          <p:nvPr/>
        </p:nvGrpSpPr>
        <p:grpSpPr>
          <a:xfrm>
            <a:off x="4579413" y="5696712"/>
            <a:ext cx="6436995" cy="329184"/>
            <a:chOff x="978408" y="5696712"/>
            <a:chExt cx="6436995" cy="329184"/>
          </a:xfrm>
        </p:grpSpPr>
        <p:sp>
          <p:nvSpPr>
            <p:cNvPr id="62" name="Rounded Rectangle 61"/>
            <p:cNvSpPr/>
            <p:nvPr/>
          </p:nvSpPr>
          <p:spPr>
            <a:xfrm>
              <a:off x="978408" y="5696712"/>
              <a:ext cx="596646" cy="32918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ko-KR" altLang="en-US" sz="1240" b="0" dirty="0">
                  <a:solidFill>
                    <a:srgbClr val="0D2F6E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개발</a:t>
              </a:r>
            </a:p>
          </p:txBody>
        </p:sp>
        <p:sp>
          <p:nvSpPr>
            <p:cNvPr id="63" name="Isosceles Triangle 62"/>
            <p:cNvSpPr/>
            <p:nvPr/>
          </p:nvSpPr>
          <p:spPr>
            <a:xfrm rot="5400000">
              <a:off x="1657255" y="5832729"/>
              <a:ext cx="146304" cy="57150"/>
            </a:xfrm>
            <a:prstGeom prst="triangle">
              <a:avLst/>
            </a:prstGeom>
            <a:solidFill>
              <a:srgbClr val="2F80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64" name="Rounded Rectangle 63"/>
            <p:cNvSpPr/>
            <p:nvPr/>
          </p:nvSpPr>
          <p:spPr>
            <a:xfrm>
              <a:off x="1940814" y="5696712"/>
              <a:ext cx="920495" cy="32918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ko-KR" altLang="en-US" sz="1240" b="0">
                  <a:solidFill>
                    <a:srgbClr val="0D2F6E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국내 실증</a:t>
              </a:r>
            </a:p>
          </p:txBody>
        </p:sp>
        <p:sp>
          <p:nvSpPr>
            <p:cNvPr id="65" name="Isosceles Triangle 64"/>
            <p:cNvSpPr/>
            <p:nvPr/>
          </p:nvSpPr>
          <p:spPr>
            <a:xfrm rot="5400000">
              <a:off x="2943511" y="5832729"/>
              <a:ext cx="146304" cy="57150"/>
            </a:xfrm>
            <a:prstGeom prst="triangle">
              <a:avLst/>
            </a:prstGeom>
            <a:solidFill>
              <a:srgbClr val="2F80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3227069" y="5696712"/>
              <a:ext cx="920495" cy="32918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ko-KR" altLang="en-US" sz="1240" b="0">
                  <a:solidFill>
                    <a:srgbClr val="0D2F6E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개인화</a:t>
              </a:r>
            </a:p>
          </p:txBody>
        </p:sp>
        <p:sp>
          <p:nvSpPr>
            <p:cNvPr id="67" name="Isosceles Triangle 66"/>
            <p:cNvSpPr/>
            <p:nvPr/>
          </p:nvSpPr>
          <p:spPr>
            <a:xfrm rot="5400000">
              <a:off x="4229767" y="5832729"/>
              <a:ext cx="146304" cy="57150"/>
            </a:xfrm>
            <a:prstGeom prst="triangle">
              <a:avLst/>
            </a:prstGeom>
            <a:solidFill>
              <a:srgbClr val="2F80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4513326" y="5696712"/>
              <a:ext cx="1034795" cy="32918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ko-KR" altLang="en-US" sz="1240" b="0">
                  <a:solidFill>
                    <a:srgbClr val="0D2F6E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조정 · 분석</a:t>
              </a:r>
            </a:p>
          </p:txBody>
        </p:sp>
        <p:sp>
          <p:nvSpPr>
            <p:cNvPr id="69" name="Isosceles Triangle 68"/>
            <p:cNvSpPr/>
            <p:nvPr/>
          </p:nvSpPr>
          <p:spPr>
            <a:xfrm rot="5400000">
              <a:off x="5630323" y="5832729"/>
              <a:ext cx="146304" cy="57150"/>
            </a:xfrm>
            <a:prstGeom prst="triangle">
              <a:avLst/>
            </a:prstGeom>
            <a:solidFill>
              <a:srgbClr val="2F80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70" name="Rounded Rectangle 69"/>
            <p:cNvSpPr/>
            <p:nvPr/>
          </p:nvSpPr>
          <p:spPr>
            <a:xfrm>
              <a:off x="5913882" y="5696712"/>
              <a:ext cx="1501521" cy="32918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ko-KR" altLang="en-US" sz="1240" b="0" dirty="0">
                  <a:solidFill>
                    <a:srgbClr val="0D2F6E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B2C 보급 · 글로벌</a:t>
              </a:r>
            </a:p>
          </p:txBody>
        </p:sp>
      </p:grpSp>
      <p:sp>
        <p:nvSpPr>
          <p:cNvPr id="71" name="Rectangle 70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B5D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치매링고 · 보편교육연구소 · 로드맵과 예산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11</a:t>
            </a:r>
          </a:p>
        </p:txBody>
      </p:sp>
      <p:pic>
        <p:nvPicPr>
          <p:cNvPr id="74" name="Picture 7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649" y="250000"/>
            <a:ext cx="822960" cy="822960"/>
          </a:xfrm>
          <a:prstGeom prst="rect">
            <a:avLst/>
          </a:prstGeom>
          <a:effectLst/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EC8797A6-9B10-5CA6-E489-2D64D23D8B3E}"/>
              </a:ext>
            </a:extLst>
          </p:cNvPr>
          <p:cNvSpPr txBox="1"/>
          <p:nvPr/>
        </p:nvSpPr>
        <p:spPr>
          <a:xfrm>
            <a:off x="737600" y="5742336"/>
            <a:ext cx="147974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60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사업화 진행 계획</a:t>
            </a:r>
            <a:endParaRPr lang="ko-KR" altLang="en-US" sz="1600" b="0" dirty="0">
              <a:solidFill>
                <a:srgbClr val="0D2F6E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169" name="Rounded Rectangle 25">
            <a:extLst>
              <a:ext uri="{FF2B5EF4-FFF2-40B4-BE49-F238E27FC236}">
                <a16:creationId xmlns:a16="http://schemas.microsoft.com/office/drawing/2014/main" id="{325A8D6D-571F-B7A1-D232-83319D59686F}"/>
              </a:ext>
            </a:extLst>
          </p:cNvPr>
          <p:cNvSpPr/>
          <p:nvPr/>
        </p:nvSpPr>
        <p:spPr>
          <a:xfrm>
            <a:off x="2191027" y="3971899"/>
            <a:ext cx="2932298" cy="14265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171" name="Rectangle 26">
            <a:extLst>
              <a:ext uri="{FF2B5EF4-FFF2-40B4-BE49-F238E27FC236}">
                <a16:creationId xmlns:a16="http://schemas.microsoft.com/office/drawing/2014/main" id="{CC2ADD95-AE58-0EA2-3F79-1D3140D4650F}"/>
              </a:ext>
            </a:extLst>
          </p:cNvPr>
          <p:cNvSpPr/>
          <p:nvPr/>
        </p:nvSpPr>
        <p:spPr>
          <a:xfrm>
            <a:off x="2191027" y="4209643"/>
            <a:ext cx="46536" cy="658368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73" name="Rounded Rectangle 27">
            <a:extLst>
              <a:ext uri="{FF2B5EF4-FFF2-40B4-BE49-F238E27FC236}">
                <a16:creationId xmlns:a16="http://schemas.microsoft.com/office/drawing/2014/main" id="{627BCEEC-272F-A7CE-CAAA-3CB7EC9D1449}"/>
              </a:ext>
            </a:extLst>
          </p:cNvPr>
          <p:cNvSpPr/>
          <p:nvPr/>
        </p:nvSpPr>
        <p:spPr>
          <a:xfrm>
            <a:off x="2377172" y="4099915"/>
            <a:ext cx="396262" cy="219456"/>
          </a:xfrm>
          <a:prstGeom prst="roundRect">
            <a:avLst>
              <a:gd name="adj" fmla="val 50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01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BD1C7F1E-85FF-6495-7F79-730766E51C70}"/>
              </a:ext>
            </a:extLst>
          </p:cNvPr>
          <p:cNvSpPr txBox="1"/>
          <p:nvPr/>
        </p:nvSpPr>
        <p:spPr>
          <a:xfrm>
            <a:off x="2850663" y="4109106"/>
            <a:ext cx="172875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ko-KR" altLang="en-US" sz="160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시제품 완성</a:t>
            </a:r>
            <a:endParaRPr lang="ko-KR" altLang="en-US" sz="1600" b="0" dirty="0">
              <a:solidFill>
                <a:srgbClr val="0D2F6E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9EEA1FE3-C960-7A51-3E22-CCAD90E708E5}"/>
              </a:ext>
            </a:extLst>
          </p:cNvPr>
          <p:cNvSpPr txBox="1"/>
          <p:nvPr/>
        </p:nvSpPr>
        <p:spPr>
          <a:xfrm>
            <a:off x="2511640" y="4420145"/>
            <a:ext cx="2375681" cy="8043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아크릴 소재 제품마감 </a:t>
            </a:r>
            <a:r>
              <a:rPr lang="en-US" altLang="ko-KR" sz="1200" b="1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(</a:t>
            </a:r>
            <a:r>
              <a:rPr lang="ko-KR" altLang="en-US" sz="1200" b="1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상금 재투자</a:t>
            </a:r>
            <a:r>
              <a:rPr lang="en-US" altLang="ko-KR" sz="1200" b="1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)</a:t>
            </a:r>
            <a:endParaRPr lang="ko-KR" altLang="en-US" sz="1200" b="1" dirty="0">
              <a:solidFill>
                <a:srgbClr val="0D2F6E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NFC </a:t>
            </a: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기반 사용자 인식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특허 출원 완료</a:t>
            </a:r>
            <a:endParaRPr lang="ko-KR" altLang="en-US" sz="1200" b="0" dirty="0">
              <a:solidFill>
                <a:srgbClr val="0D2F6E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  <p:sp>
        <p:nvSpPr>
          <p:cNvPr id="195" name="Rounded Rectangle 38">
            <a:extLst>
              <a:ext uri="{FF2B5EF4-FFF2-40B4-BE49-F238E27FC236}">
                <a16:creationId xmlns:a16="http://schemas.microsoft.com/office/drawing/2014/main" id="{795A8C81-52DC-D0CA-B7CE-A6F80F5274A8}"/>
              </a:ext>
            </a:extLst>
          </p:cNvPr>
          <p:cNvSpPr/>
          <p:nvPr/>
        </p:nvSpPr>
        <p:spPr>
          <a:xfrm>
            <a:off x="5397403" y="3971899"/>
            <a:ext cx="2932298" cy="14265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97" name="Rectangle 39">
            <a:extLst>
              <a:ext uri="{FF2B5EF4-FFF2-40B4-BE49-F238E27FC236}">
                <a16:creationId xmlns:a16="http://schemas.microsoft.com/office/drawing/2014/main" id="{81C0016B-AD27-FF70-50F1-CB50DCE8DD46}"/>
              </a:ext>
            </a:extLst>
          </p:cNvPr>
          <p:cNvSpPr/>
          <p:nvPr/>
        </p:nvSpPr>
        <p:spPr>
          <a:xfrm>
            <a:off x="5397403" y="4209643"/>
            <a:ext cx="46536" cy="658368"/>
          </a:xfrm>
          <a:prstGeom prst="rect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99" name="Rounded Rectangle 40">
            <a:extLst>
              <a:ext uri="{FF2B5EF4-FFF2-40B4-BE49-F238E27FC236}">
                <a16:creationId xmlns:a16="http://schemas.microsoft.com/office/drawing/2014/main" id="{4116BAEC-37E3-4ADA-B859-3DCD73E4A6E7}"/>
              </a:ext>
            </a:extLst>
          </p:cNvPr>
          <p:cNvSpPr/>
          <p:nvPr/>
        </p:nvSpPr>
        <p:spPr>
          <a:xfrm>
            <a:off x="5583548" y="4099915"/>
            <a:ext cx="396262" cy="219456"/>
          </a:xfrm>
          <a:prstGeom prst="roundRect">
            <a:avLst>
              <a:gd name="adj" fmla="val 50000"/>
            </a:avLst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02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3E238F24-7717-2EFC-9B7C-416ED057202E}"/>
              </a:ext>
            </a:extLst>
          </p:cNvPr>
          <p:cNvSpPr txBox="1"/>
          <p:nvPr/>
        </p:nvSpPr>
        <p:spPr>
          <a:xfrm>
            <a:off x="6057039" y="4109106"/>
            <a:ext cx="2020758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ko-KR" altLang="en-US" sz="160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국내 실증</a:t>
            </a:r>
            <a:endParaRPr lang="ko-KR" altLang="en-US" sz="1600" b="0" dirty="0">
              <a:solidFill>
                <a:srgbClr val="0D2F6E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221" name="Rounded Rectangle 51">
            <a:extLst>
              <a:ext uri="{FF2B5EF4-FFF2-40B4-BE49-F238E27FC236}">
                <a16:creationId xmlns:a16="http://schemas.microsoft.com/office/drawing/2014/main" id="{9FAC54F4-F4A3-F286-7E32-6B26AE0106DC}"/>
              </a:ext>
            </a:extLst>
          </p:cNvPr>
          <p:cNvSpPr/>
          <p:nvPr/>
        </p:nvSpPr>
        <p:spPr>
          <a:xfrm>
            <a:off x="8621709" y="3971898"/>
            <a:ext cx="2932298" cy="14265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23" name="Rectangle 52">
            <a:extLst>
              <a:ext uri="{FF2B5EF4-FFF2-40B4-BE49-F238E27FC236}">
                <a16:creationId xmlns:a16="http://schemas.microsoft.com/office/drawing/2014/main" id="{12198168-662B-D2DB-C853-1643300C36A8}"/>
              </a:ext>
            </a:extLst>
          </p:cNvPr>
          <p:cNvSpPr/>
          <p:nvPr/>
        </p:nvSpPr>
        <p:spPr>
          <a:xfrm>
            <a:off x="8621709" y="4209642"/>
            <a:ext cx="46536" cy="658368"/>
          </a:xfrm>
          <a:prstGeom prst="rect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25" name="Rounded Rectangle 53">
            <a:extLst>
              <a:ext uri="{FF2B5EF4-FFF2-40B4-BE49-F238E27FC236}">
                <a16:creationId xmlns:a16="http://schemas.microsoft.com/office/drawing/2014/main" id="{832DFD08-7A89-8121-67A1-5B3900761FB7}"/>
              </a:ext>
            </a:extLst>
          </p:cNvPr>
          <p:cNvSpPr/>
          <p:nvPr/>
        </p:nvSpPr>
        <p:spPr>
          <a:xfrm>
            <a:off x="8807854" y="4099914"/>
            <a:ext cx="396262" cy="219456"/>
          </a:xfrm>
          <a:prstGeom prst="roundRect">
            <a:avLst>
              <a:gd name="adj" fmla="val 50000"/>
            </a:avLst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03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DA9D15D1-EF66-A6A4-E4CF-FA070A261EE3}"/>
              </a:ext>
            </a:extLst>
          </p:cNvPr>
          <p:cNvSpPr txBox="1"/>
          <p:nvPr/>
        </p:nvSpPr>
        <p:spPr>
          <a:xfrm>
            <a:off x="9281345" y="4109105"/>
            <a:ext cx="2050043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ko-KR" altLang="en-US" sz="160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글로벌 준비</a:t>
            </a:r>
            <a:endParaRPr lang="ko-KR" altLang="en-US" sz="1600" b="0" dirty="0">
              <a:solidFill>
                <a:srgbClr val="0D2F6E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CDB04C42-C0D2-BAB5-08BE-DA24A4CBBC3E}"/>
              </a:ext>
            </a:extLst>
          </p:cNvPr>
          <p:cNvSpPr txBox="1"/>
          <p:nvPr/>
        </p:nvSpPr>
        <p:spPr>
          <a:xfrm>
            <a:off x="5715123" y="4420145"/>
            <a:ext cx="2104497" cy="8043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2X2 </a:t>
            </a: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버튼 디바이스의 사용성 검증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사용자 맞춤형 문항 고도화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가정 보급 </a:t>
            </a:r>
            <a:r>
              <a:rPr lang="ko-KR" altLang="en-US" sz="1200" dirty="0" err="1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채널</a:t>
            </a: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 구축</a:t>
            </a:r>
            <a:endParaRPr lang="ko-KR" altLang="en-US" sz="1200" b="0" dirty="0">
              <a:solidFill>
                <a:srgbClr val="0D2F6E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B5388E53-57F6-0720-785E-54EA18F8CA40}"/>
              </a:ext>
            </a:extLst>
          </p:cNvPr>
          <p:cNvSpPr txBox="1"/>
          <p:nvPr/>
        </p:nvSpPr>
        <p:spPr>
          <a:xfrm>
            <a:off x="8942322" y="4420145"/>
            <a:ext cx="2512077" cy="8043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다국어 </a:t>
            </a: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동의서 · 해외 보급 검토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국내 실증 결과 반영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글로벌 진출 채널 검토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94360" y="1645920"/>
            <a:ext cx="2606040" cy="379183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3392424" y="1645920"/>
            <a:ext cx="2606040" cy="379183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190488" y="1645920"/>
            <a:ext cx="2606040" cy="379183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988552" y="1645920"/>
            <a:ext cx="2606040" cy="379183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3BDD6872-7F44-D50F-7CA7-81CCFCEF268A}"/>
              </a:ext>
            </a:extLst>
          </p:cNvPr>
          <p:cNvSpPr/>
          <p:nvPr/>
        </p:nvSpPr>
        <p:spPr>
          <a:xfrm>
            <a:off x="4107839" y="1765539"/>
            <a:ext cx="1192736" cy="1192736"/>
          </a:xfrm>
          <a:prstGeom prst="ellipse">
            <a:avLst/>
          </a:prstGeom>
          <a:solidFill>
            <a:srgbClr val="E8F4FF"/>
          </a:solidFill>
          <a:ln w="285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DD316705-A2D9-2CCF-4E75-00770B642DCE}"/>
              </a:ext>
            </a:extLst>
          </p:cNvPr>
          <p:cNvSpPr/>
          <p:nvPr/>
        </p:nvSpPr>
        <p:spPr>
          <a:xfrm>
            <a:off x="6893989" y="1765539"/>
            <a:ext cx="1192736" cy="1192736"/>
          </a:xfrm>
          <a:prstGeom prst="ellipse">
            <a:avLst/>
          </a:prstGeom>
          <a:solidFill>
            <a:srgbClr val="E8F4FF"/>
          </a:solidFill>
          <a:ln w="285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BE8726FA-BB2C-2993-7150-B320F984C55A}"/>
              </a:ext>
            </a:extLst>
          </p:cNvPr>
          <p:cNvSpPr/>
          <p:nvPr/>
        </p:nvSpPr>
        <p:spPr>
          <a:xfrm>
            <a:off x="9695203" y="1765539"/>
            <a:ext cx="1192736" cy="1192736"/>
          </a:xfrm>
          <a:prstGeom prst="ellipse">
            <a:avLst/>
          </a:prstGeom>
          <a:solidFill>
            <a:srgbClr val="E8F4FF"/>
          </a:solidFill>
          <a:ln w="285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TEAM · 팀 실행력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역할이 분명한 4인이 </a:t>
            </a:r>
            <a:r>
              <a:rPr lang="ko-KR" altLang="en-US" sz="3150" b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전주기로 함께합니다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AI · 의료실증 · 기구설계 · 사업전략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" y="1755648"/>
            <a:ext cx="596646" cy="237744"/>
          </a:xfrm>
          <a:prstGeom prst="roundRect">
            <a:avLst>
              <a:gd name="adj" fmla="val 50000"/>
            </a:avLst>
          </a:prstGeom>
          <a:solidFill>
            <a:srgbClr val="F6C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00B39A"/>
                </a:solidFill>
                <a:latin typeface="나눔스퀘어라운드 Bold"/>
                <a:ea typeface="나눔스퀘어라운드 Bold"/>
                <a:cs typeface="나눔스퀘어라운드 Bold"/>
              </a:rPr>
              <a:t>팀장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54096"/>
            <a:ext cx="2606040" cy="3641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85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김현준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83280"/>
            <a:ext cx="2423160" cy="4562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lang="ko-KR" altLang="en-US" sz="1200" b="0" dirty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KAIST 전산학부</a:t>
            </a:r>
          </a:p>
          <a:p>
            <a:pPr algn="ctr">
              <a:lnSpc>
                <a:spcPct val="128000"/>
              </a:lnSpc>
            </a:pPr>
            <a:r>
              <a:rPr lang="ko-KR" altLang="en-US" sz="1200" b="0" dirty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KIST</a:t>
            </a:r>
            <a:r>
              <a:rPr lang="en-US" altLang="ko-KR" sz="1200" b="0" dirty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 </a:t>
            </a:r>
            <a:r>
              <a:rPr lang="ko-KR" altLang="en-US" sz="1200" b="0" dirty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AI 연구원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6422" y="3913632"/>
            <a:ext cx="1760467" cy="274320"/>
          </a:xfrm>
          <a:prstGeom prst="roundRect">
            <a:avLst>
              <a:gd name="adj" fmla="val 50000"/>
            </a:avLst>
          </a:prstGeom>
          <a:solidFill>
            <a:srgbClr val="F6C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altLang="ko-KR" sz="1200" dirty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AI </a:t>
            </a:r>
            <a:r>
              <a:rPr lang="ko-KR" altLang="en-US" sz="1200" dirty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총괄 · 대표</a:t>
            </a:r>
            <a:endParaRPr lang="ko-KR" altLang="en-US" sz="1200" b="0" dirty="0">
              <a:solidFill>
                <a:srgbClr val="2F80ED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71600" y="4279392"/>
            <a:ext cx="1051560" cy="9525"/>
          </a:xfrm>
          <a:prstGeom prst="rect">
            <a:avLst/>
          </a:prstGeom>
          <a:solidFill>
            <a:srgbClr val="B5D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4368664"/>
            <a:ext cx="2423160" cy="956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lang="en-US" altLang="ko-KR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AI </a:t>
            </a: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논문 </a:t>
            </a:r>
            <a:r>
              <a:rPr lang="en-US" altLang="ko-KR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17</a:t>
            </a: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편 </a:t>
            </a:r>
            <a:r>
              <a:rPr lang="en-US" altLang="ko-KR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· </a:t>
            </a: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인용 </a:t>
            </a:r>
            <a:r>
              <a:rPr lang="en-US" altLang="ko-KR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734</a:t>
            </a: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회</a:t>
            </a:r>
            <a:endParaRPr lang="en-US" altLang="ko-KR" sz="1200" dirty="0">
              <a:solidFill>
                <a:srgbClr val="0D2F6E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국방기술 창업대회 금상</a:t>
            </a:r>
          </a:p>
          <a:p>
            <a:pPr algn="ctr">
              <a:lnSpc>
                <a:spcPct val="132000"/>
              </a:lnSpc>
            </a:pPr>
            <a:r>
              <a:rPr lang="ko-KR" altLang="en-US" sz="1200" b="0" dirty="0" err="1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Nature</a:t>
            </a: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 등 </a:t>
            </a:r>
            <a:r>
              <a:rPr lang="en-US" altLang="ko-KR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SCI</a:t>
            </a: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 급 논문 다수 </a:t>
            </a: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게재</a:t>
            </a:r>
          </a:p>
          <a:p>
            <a:pPr algn="ctr">
              <a:lnSpc>
                <a:spcPct val="132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AI 공모전 수상 다수</a:t>
            </a:r>
            <a:endParaRPr lang="en-US" altLang="ko-KR" sz="1200" b="0" dirty="0">
              <a:solidFill>
                <a:srgbClr val="0D2F6E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538728" y="1755648"/>
            <a:ext cx="596646" cy="237744"/>
          </a:xfrm>
          <a:prstGeom prst="roundRect">
            <a:avLst>
              <a:gd name="adj" fmla="val 50000"/>
            </a:avLst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팀원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2424" y="3054096"/>
            <a:ext cx="2606040" cy="3641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85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이재우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3864" y="3383280"/>
            <a:ext cx="2423160" cy="445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lang="ko-KR" altLang="en-US" sz="1200" b="0">
                <a:solidFill>
                  <a:srgbClr val="FFC83D"/>
                </a:solidFill>
                <a:latin typeface="나눔스퀘어라운드 Bold"/>
                <a:ea typeface="나눔스퀘어라운드 Bold"/>
                <a:cs typeface="나눔스퀘어라운드 Bold"/>
              </a:rPr>
              <a:t>서울대 기계공학</a:t>
            </a:r>
          </a:p>
          <a:p>
            <a:pPr algn="ctr">
              <a:lnSpc>
                <a:spcPct val="128000"/>
              </a:lnSpc>
            </a:pPr>
            <a:r>
              <a:rPr lang="ko-KR" altLang="en-US" sz="1200" b="0">
                <a:solidFill>
                  <a:srgbClr val="FFC83D"/>
                </a:solidFill>
                <a:latin typeface="나눔스퀘어라운드 Bold"/>
                <a:ea typeface="나눔스퀘어라운드 Bold"/>
                <a:cs typeface="나눔스퀘어라운드 Bold"/>
              </a:rPr>
              <a:t>차의과학대 의전원 본4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35742" y="3913632"/>
            <a:ext cx="1319402" cy="274320"/>
          </a:xfrm>
          <a:prstGeom prst="roundRect">
            <a:avLst>
              <a:gd name="adj" fmla="val 50000"/>
            </a:avLst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dirty="0" err="1">
                <a:solidFill>
                  <a:schemeClr val="accent6">
                    <a:lumMod val="75000"/>
                  </a:schemeClr>
                </a:solidFill>
                <a:latin typeface="나눔스퀘어라운드 Bold"/>
                <a:ea typeface="나눔스퀘어라운드 Bold"/>
                <a:cs typeface="나눔스퀘어라운드 Bold"/>
              </a:rPr>
              <a:t>의료실증</a:t>
            </a:r>
            <a:r>
              <a:rPr lang="ko-KR" altLang="en-US" sz="1200" dirty="0">
                <a:solidFill>
                  <a:schemeClr val="accent6">
                    <a:lumMod val="75000"/>
                  </a:schemeClr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/>
            </a:r>
          </a:p>
        </p:txBody>
      </p:sp>
      <p:sp>
        <p:nvSpPr>
          <p:cNvPr id="19" name="Rectangle 18"/>
          <p:cNvSpPr/>
          <p:nvPr/>
        </p:nvSpPr>
        <p:spPr>
          <a:xfrm>
            <a:off x="4169663" y="4279392"/>
            <a:ext cx="1051560" cy="9525"/>
          </a:xfrm>
          <a:prstGeom prst="rect">
            <a:avLst/>
          </a:prstGeom>
          <a:solidFill>
            <a:srgbClr val="B5D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83864" y="4368664"/>
            <a:ext cx="2423160" cy="956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의학연구 참여  </a:t>
            </a:r>
            <a:r>
              <a:rPr lang="en-US" altLang="ko-KR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· IRB </a:t>
            </a: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심의 경험</a:t>
            </a:r>
            <a:endParaRPr lang="en-US" altLang="ko-KR" sz="1200" dirty="0">
              <a:solidFill>
                <a:srgbClr val="0D2F6E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K-</a:t>
            </a:r>
            <a:r>
              <a:rPr lang="ko-KR" altLang="en-US" sz="1200" dirty="0" err="1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Startup</a:t>
            </a: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 2025 예비창업자</a:t>
            </a:r>
            <a:endParaRPr lang="en-US" altLang="ko-KR" sz="1200" dirty="0">
              <a:solidFill>
                <a:srgbClr val="0D2F6E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국방</a:t>
            </a:r>
            <a:r>
              <a:rPr lang="en-US" altLang="ko-KR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AI</a:t>
            </a: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경진대회 </a:t>
            </a:r>
            <a:r>
              <a:rPr lang="en-US" altLang="ko-KR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1</a:t>
            </a: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위</a:t>
            </a: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국방부장관상 </a:t>
            </a:r>
            <a:r>
              <a:rPr lang="en-US" altLang="ko-KR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· </a:t>
            </a: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육군 중장 표창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55648"/>
            <a:ext cx="596646" cy="237744"/>
          </a:xfrm>
          <a:prstGeom prst="roundRect">
            <a:avLst>
              <a:gd name="adj" fmla="val 50000"/>
            </a:avLst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팀원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0488" y="3054096"/>
            <a:ext cx="2606040" cy="3641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85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황규빈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1928" y="3383280"/>
            <a:ext cx="2423160" cy="445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lang="ko-KR" altLang="en-US" sz="1200" b="0">
                <a:solidFill>
                  <a:srgbClr val="34C759"/>
                </a:solidFill>
                <a:latin typeface="나눔스퀘어라운드 Bold"/>
                <a:ea typeface="나눔스퀘어라운드 Bold"/>
                <a:cs typeface="나눔스퀘어라운드 Bold"/>
              </a:rPr>
              <a:t>Oxford Energy Systems</a:t>
            </a:r>
          </a:p>
          <a:p>
            <a:pPr algn="ctr">
              <a:lnSpc>
                <a:spcPct val="128000"/>
              </a:lnSpc>
            </a:pPr>
            <a:r>
              <a:rPr lang="ko-KR" altLang="en-US" sz="1200" b="0">
                <a:solidFill>
                  <a:srgbClr val="34C759"/>
                </a:solidFill>
                <a:latin typeface="나눔스퀘어라운드 Bold"/>
                <a:ea typeface="나눔스퀘어라운드 Bold"/>
                <a:cs typeface="나눔스퀘어라운드 Bold"/>
              </a:rPr>
              <a:t>IEA Energy Analyst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14147" y="3913632"/>
            <a:ext cx="1958721" cy="274320"/>
          </a:xfrm>
          <a:prstGeom prst="roundRect">
            <a:avLst>
              <a:gd name="adj" fmla="val 50000"/>
            </a:avLst>
          </a:prstGeom>
          <a:solidFill>
            <a:srgbClr val="D8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dirty="0">
                <a:solidFill>
                  <a:srgbClr val="34C759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사업전략 · 대외협력</a:t>
            </a:r>
            <a:endParaRPr lang="ko-KR" altLang="en-US" sz="1200" b="0" dirty="0">
              <a:solidFill>
                <a:srgbClr val="34C759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967728" y="4279392"/>
            <a:ext cx="1051560" cy="9525"/>
          </a:xfrm>
          <a:prstGeom prst="rect">
            <a:avLst/>
          </a:prstGeom>
          <a:solidFill>
            <a:srgbClr val="B5D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81928" y="4368664"/>
            <a:ext cx="2423160" cy="956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시장·사업성 분석</a:t>
            </a:r>
            <a:endParaRPr lang="en-US" altLang="ko-KR" sz="1200" b="0" dirty="0">
              <a:solidFill>
                <a:srgbClr val="0D2F6E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ctr">
              <a:lnSpc>
                <a:spcPct val="132000"/>
              </a:lnSpc>
            </a:pPr>
            <a:r>
              <a:rPr lang="ko-KR" altLang="en-US" sz="1200" dirty="0" err="1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국내외 파트너십</a:t>
            </a: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/>
            </a: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국제협력 · 확산전략</a:t>
            </a:r>
          </a:p>
          <a:p>
            <a:pPr algn="ctr">
              <a:lnSpc>
                <a:spcPct val="132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산업 전략자문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34856" y="1755648"/>
            <a:ext cx="596646" cy="237744"/>
          </a:xfrm>
          <a:prstGeom prst="roundRect">
            <a:avLst>
              <a:gd name="adj" fmla="val 50000"/>
            </a:avLst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팀원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88552" y="3054096"/>
            <a:ext cx="2606040" cy="3641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85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나현우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79992" y="3383280"/>
            <a:ext cx="2423160" cy="445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lang="ko-KR" altLang="en-US" sz="1200" b="0">
                <a:solidFill>
                  <a:srgbClr val="00B39A"/>
                </a:solidFill>
                <a:latin typeface="나눔스퀘어라운드 Bold"/>
                <a:ea typeface="나눔스퀘어라운드 Bold"/>
                <a:cs typeface="나눔스퀘어라운드 Bold"/>
              </a:rPr>
              <a:t>홋카이도대 기계공학</a:t>
            </a:r>
          </a:p>
          <a:p>
            <a:pPr algn="ctr">
              <a:lnSpc>
                <a:spcPct val="128000"/>
              </a:lnSpc>
            </a:pPr>
            <a:r>
              <a:rPr lang="ko-KR" altLang="en-US" sz="1200" b="0">
                <a:solidFill>
                  <a:srgbClr val="00B39A"/>
                </a:solidFill>
                <a:latin typeface="나눔스퀘어라운드 Bold"/>
                <a:ea typeface="나눔스퀘어라운드 Bold"/>
                <a:cs typeface="나눔스퀘어라운드 Bold"/>
              </a:rPr>
              <a:t>동 대학원 석 · 박사과정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81653" y="3913632"/>
            <a:ext cx="1819836" cy="274320"/>
          </a:xfrm>
          <a:prstGeom prst="roundRect">
            <a:avLst>
              <a:gd name="adj" fmla="val 50000"/>
            </a:avLst>
          </a:prstGeom>
          <a:solidFill>
            <a:srgbClr val="F6C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dirty="0">
                <a:solidFill>
                  <a:srgbClr val="00B39A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기구설계 </a:t>
            </a:r>
            <a:r>
              <a:rPr lang="en-US" altLang="ko-KR" sz="1200" dirty="0">
                <a:solidFill>
                  <a:srgbClr val="00B39A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· </a:t>
            </a:r>
            <a:r>
              <a:rPr lang="ko-KR" altLang="en-US" sz="1200" dirty="0">
                <a:solidFill>
                  <a:srgbClr val="00B39A"/>
                </a:solidFill>
                <a:latin typeface="나눔스퀘어라운드 Bold"/>
                <a:ea typeface="나눔스퀘어라운드 Bold"/>
                <a:cs typeface="나눔스퀘어라운드 Bold"/>
              </a:rPr>
              <a:t>제품 설계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65792" y="4279392"/>
            <a:ext cx="1051560" cy="9525"/>
          </a:xfrm>
          <a:prstGeom prst="rect">
            <a:avLst/>
          </a:prstGeom>
          <a:solidFill>
            <a:srgbClr val="B5D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079992" y="4368664"/>
            <a:ext cx="2423160" cy="956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해외 체류 </a:t>
            </a:r>
            <a:r>
              <a:rPr lang="en-US" altLang="ko-KR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10</a:t>
            </a:r>
            <a:r>
              <a:rPr lang="ko-KR" altLang="en-US" sz="1200" dirty="0" err="1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년차</a:t>
            </a:r>
            <a:endParaRPr lang="en-US" altLang="ko-KR" sz="1200" dirty="0">
              <a:solidFill>
                <a:srgbClr val="0D2F6E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글로벌 </a:t>
            </a:r>
            <a:r>
              <a:rPr lang="ko-KR" altLang="en-US" sz="1200" dirty="0" err="1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현지화</a:t>
            </a: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 경험</a:t>
            </a:r>
            <a:endParaRPr lang="en-US" altLang="ko-KR" sz="1200" dirty="0">
              <a:solidFill>
                <a:srgbClr val="0D2F6E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대한기계학회 설계대회 은상</a:t>
            </a: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국방기술 창업대회 은상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5570671"/>
            <a:ext cx="11003249" cy="512064"/>
          </a:xfrm>
          <a:prstGeom prst="roundRect">
            <a:avLst>
              <a:gd name="adj" fmla="val 27258"/>
            </a:avLst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000833" y="5718981"/>
            <a:ext cx="4337726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24시간을 함께하며 전원이 개발 · 기획 · 실증에 참여합니다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5489" y="5718981"/>
            <a:ext cx="4853312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ko-KR" altLang="en-US" sz="1400" dirty="0">
                <a:solidFill>
                  <a:srgbClr val="00B39A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네 개의 버튼으로</a:t>
            </a:r>
            <a:r>
              <a:rPr lang="en-US" altLang="ko-KR" sz="1400" dirty="0">
                <a:solidFill>
                  <a:srgbClr val="00B39A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, </a:t>
            </a:r>
            <a:r>
              <a:rPr lang="ko-KR" altLang="en-US" sz="1400" dirty="0">
                <a:solidFill>
                  <a:srgbClr val="00B39A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치매환자의 하루를 일기로 남기겠습니다</a:t>
            </a:r>
            <a:r>
              <a:rPr lang="en-US" altLang="ko-KR" sz="1400" dirty="0">
                <a:solidFill>
                  <a:srgbClr val="00B39A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.</a:t>
            </a:r>
            <a:endParaRPr lang="ko-KR" altLang="en-US" sz="1400" b="0" dirty="0">
              <a:solidFill>
                <a:srgbClr val="00B39A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B5D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치매링고 · 보편교육연구소 · 팀 실행력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12</a:t>
            </a:r>
          </a:p>
        </p:txBody>
      </p:sp>
      <p:pic>
        <p:nvPicPr>
          <p:cNvPr id="52" name="Picture 5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649" y="250000"/>
            <a:ext cx="822960" cy="822960"/>
          </a:xfrm>
          <a:prstGeom prst="rect">
            <a:avLst/>
          </a:prstGeom>
          <a:effectLst/>
        </p:spPr>
      </p:pic>
      <p:pic>
        <p:nvPicPr>
          <p:cNvPr id="64" name="Picture 2" descr="제29회 화랑문예전 소설 부문 우수상 &lt; 화랑문예전 &lt; 육사광장 &lt; 기사본문 - 육사신보">
            <a:extLst>
              <a:ext uri="{FF2B5EF4-FFF2-40B4-BE49-F238E27FC236}">
                <a16:creationId xmlns:a16="http://schemas.microsoft.com/office/drawing/2014/main" id="{C59CFA7B-C30E-771E-86F5-AF094C8CE3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/>
          <a:srcRect l="17437" r="15897"/>
          <a:stretch>
            <a:fillRect/>
          </a:stretch>
        </p:blipFill>
        <p:spPr bwMode="auto">
          <a:xfrm>
            <a:off x="4114064" y="1768884"/>
            <a:ext cx="1181101" cy="1194912"/>
          </a:xfrm>
          <a:prstGeom prst="ellipse">
            <a:avLst/>
          </a:prstGeom>
          <a:noFill/>
          <a:ln w="285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타원 68">
            <a:extLst>
              <a:ext uri="{FF2B5EF4-FFF2-40B4-BE49-F238E27FC236}">
                <a16:creationId xmlns:a16="http://schemas.microsoft.com/office/drawing/2014/main" id="{A34A5D25-097F-70B4-62B5-41F3FCE06C6B}"/>
              </a:ext>
            </a:extLst>
          </p:cNvPr>
          <p:cNvSpPr/>
          <p:nvPr/>
        </p:nvSpPr>
        <p:spPr>
          <a:xfrm>
            <a:off x="1289811" y="1765539"/>
            <a:ext cx="1192736" cy="1192736"/>
          </a:xfrm>
          <a:prstGeom prst="ellipse">
            <a:avLst/>
          </a:prstGeom>
          <a:solidFill>
            <a:srgbClr val="E8F4FF"/>
          </a:solidFill>
          <a:ln w="285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6" name="Picture 4" descr="제29회 화랑문예전 수필 부문 장려상 &lt; 화랑문예전 &lt; 육사광장 &lt; 기사본문 - 육사신보">
            <a:extLst>
              <a:ext uri="{FF2B5EF4-FFF2-40B4-BE49-F238E27FC236}">
                <a16:creationId xmlns:a16="http://schemas.microsoft.com/office/drawing/2014/main" id="{59F88603-1830-B845-07A6-5176704008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/>
          <a:srcRect l="16667" r="16667"/>
          <a:stretch/>
        </p:blipFill>
        <p:spPr bwMode="auto">
          <a:xfrm>
            <a:off x="6902147" y="1788131"/>
            <a:ext cx="1181100" cy="1181101"/>
          </a:xfrm>
          <a:prstGeom prst="ellipse">
            <a:avLst/>
          </a:prstGeom>
          <a:noFill/>
          <a:ln w="285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2" descr="제29회 화랑문예전 소설 부문 장려상 &lt; 화랑문예전 &lt; 육사광장 &lt; 기사본문 - 육사신보">
            <a:extLst>
              <a:ext uri="{FF2B5EF4-FFF2-40B4-BE49-F238E27FC236}">
                <a16:creationId xmlns:a16="http://schemas.microsoft.com/office/drawing/2014/main" id="{18BC023D-CB47-2941-AA73-A3A0AE0C9D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/>
          <a:srcRect l="16667" r="16667"/>
          <a:stretch>
            <a:fillRect/>
          </a:stretch>
        </p:blipFill>
        <p:spPr bwMode="auto">
          <a:xfrm>
            <a:off x="9700965" y="1788131"/>
            <a:ext cx="1185806" cy="1181100"/>
          </a:xfrm>
          <a:prstGeom prst="ellipse">
            <a:avLst/>
          </a:prstGeom>
          <a:noFill/>
          <a:ln w="285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B65549EE-4E76-4B0A-0BB0-11757A99EC2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4125" t="9663" r="27188" b="25422"/>
          <a:stretch>
            <a:fillRect/>
          </a:stretch>
        </p:blipFill>
        <p:spPr>
          <a:xfrm>
            <a:off x="1289179" y="1788131"/>
            <a:ext cx="1193368" cy="1181101"/>
          </a:xfrm>
          <a:prstGeom prst="ellipse">
            <a:avLst/>
          </a:prstGeom>
          <a:ln w="28575">
            <a:noFill/>
            <a:prstDash val="dash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3542636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73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치매환자 음성인식</a:t>
            </a:r>
            <a:endParaRPr lang="ko-KR" altLang="en-US" sz="2730" b="0" dirty="0">
              <a:solidFill>
                <a:srgbClr val="2F80ED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5640968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58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발화가</a:t>
            </a:r>
            <a:r>
              <a:rPr lang="ko-KR" altLang="en-US" sz="158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 어려움　</a:t>
            </a:r>
            <a:r>
              <a:rPr lang="ko-KR" altLang="en-US" sz="158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→　음성인식의 어려움을 기술적으로 해결</a:t>
            </a:r>
            <a:endParaRPr lang="ko-KR" altLang="en-US" sz="1580" b="0" dirty="0">
              <a:solidFill>
                <a:srgbClr val="0D2F6E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737359"/>
            <a:ext cx="5541264" cy="4416171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 w="12700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309360" y="1737359"/>
            <a:ext cx="5288249" cy="2948713"/>
          </a:xfrm>
          <a:prstGeom prst="roundRect">
            <a:avLst>
              <a:gd name="adj" fmla="val 6690"/>
            </a:avLst>
          </a:prstGeom>
          <a:solidFill>
            <a:srgbClr val="FFFFFF"/>
          </a:solidFill>
          <a:ln w="12700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09360" y="4828032"/>
            <a:ext cx="5288249" cy="1321081"/>
          </a:xfrm>
          <a:prstGeom prst="roundRect">
            <a:avLst>
              <a:gd name="adj" fmla="val 6831"/>
            </a:avLst>
          </a:prstGeom>
          <a:solidFill>
            <a:srgbClr val="FFFFFF"/>
          </a:solidFill>
          <a:ln w="12700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2500685" cy="2800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82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① </a:t>
            </a:r>
            <a:r>
              <a:rPr lang="ko-KR" altLang="en-US" sz="182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발화 인식의</a:t>
            </a:r>
            <a:r>
              <a:rPr lang="ko-KR" altLang="en-US" sz="182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 어려움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79320"/>
            <a:ext cx="5222584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latin typeface="나눔스퀘어라운드 Bold"/>
                <a:ea typeface="나눔스퀘어라운드 Bold"/>
                <a:cs typeface="나눔스퀘어라운드 Bold"/>
              </a:rPr>
              <a:t>집 안 소음 · 겹쳐 말하기 · 멀리서 말하기 · 느린 말속도와 긴 쉼</a:t>
            </a:r>
          </a:p>
        </p:txBody>
      </p:sp>
      <p:pic>
        <p:nvPicPr>
          <p:cNvPr id="10" name="Picture 9" descr="ap_stt_realenv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881" y="2517702"/>
            <a:ext cx="4718896" cy="3539172"/>
          </a:xfrm>
          <a:prstGeom prst="rect">
            <a:avLst/>
          </a:prstGeom>
          <a:effectLst/>
        </p:spPr>
      </p:pic>
      <p:sp>
        <p:nvSpPr>
          <p:cNvPr id="11" name="TextBox 10"/>
          <p:cNvSpPr txBox="1"/>
          <p:nvPr/>
        </p:nvSpPr>
        <p:spPr>
          <a:xfrm>
            <a:off x="6537960" y="1828800"/>
            <a:ext cx="2518062" cy="2800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82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② </a:t>
            </a:r>
            <a:r>
              <a:rPr lang="it-IT" altLang="ko-KR" sz="182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Audio to Text </a:t>
            </a:r>
            <a:r>
              <a:rPr lang="en-US" altLang="ko-KR" sz="182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AI </a:t>
            </a:r>
            <a:r>
              <a:rPr lang="ko-KR" altLang="en-US" sz="182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모델</a:t>
            </a:r>
            <a:endParaRPr lang="ko-KR" altLang="en-US" sz="1820" b="0" dirty="0">
              <a:solidFill>
                <a:srgbClr val="0D2F6E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pic>
        <p:nvPicPr>
          <p:cNvPr id="12" name="Picture 11" descr="ap_stt_syste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8709" y="2139695"/>
            <a:ext cx="4403015" cy="2477835"/>
          </a:xfrm>
          <a:prstGeom prst="rect">
            <a:avLst/>
          </a:prstGeom>
          <a:effectLst/>
        </p:spPr>
      </p:pic>
      <p:sp>
        <p:nvSpPr>
          <p:cNvPr id="13" name="TextBox 12"/>
          <p:cNvSpPr txBox="1"/>
          <p:nvPr/>
        </p:nvSpPr>
        <p:spPr>
          <a:xfrm>
            <a:off x="6546922" y="5007927"/>
            <a:ext cx="466954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③ 받아쓰기 100글자 중 틀린 글자 수로 엔진 선정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2433" y="5445751"/>
            <a:ext cx="100584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Qwen3-ASR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3137" y="5466251"/>
            <a:ext cx="914400" cy="97457"/>
          </a:xfrm>
          <a:prstGeom prst="roundRect">
            <a:avLst>
              <a:gd name="adj" fmla="val 50000"/>
            </a:avLst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33137" y="5466251"/>
            <a:ext cx="637608" cy="97457"/>
          </a:xfrm>
          <a:prstGeom prst="roundRect">
            <a:avLst>
              <a:gd name="adj" fmla="val 50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02401" y="5445751"/>
            <a:ext cx="4572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12.9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2433" y="5633203"/>
            <a:ext cx="100584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FunASR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3137" y="5653703"/>
            <a:ext cx="914400" cy="97457"/>
          </a:xfrm>
          <a:prstGeom prst="roundRect">
            <a:avLst>
              <a:gd name="adj" fmla="val 50000"/>
            </a:avLst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033137" y="5653703"/>
            <a:ext cx="820488" cy="97457"/>
          </a:xfrm>
          <a:prstGeom prst="roundRect">
            <a:avLst>
              <a:gd name="adj" fmla="val 50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02401" y="5633203"/>
            <a:ext cx="4572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16.6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2433" y="5820655"/>
            <a:ext cx="100584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Whisper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33137" y="5841155"/>
            <a:ext cx="914400" cy="97457"/>
          </a:xfrm>
          <a:prstGeom prst="roundRect">
            <a:avLst>
              <a:gd name="adj" fmla="val 50000"/>
            </a:avLst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033137" y="5841155"/>
            <a:ext cx="914400" cy="97457"/>
          </a:xfrm>
          <a:prstGeom prst="roundRect">
            <a:avLst>
              <a:gd name="adj" fmla="val 50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02401" y="5820655"/>
            <a:ext cx="4572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18.5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B5D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6364224"/>
            <a:ext cx="335912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 err="1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치매링고</a:t>
            </a:r>
            <a:r>
              <a:rPr lang="ko-KR" altLang="en-US" sz="1200" b="0" dirty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 </a:t>
            </a:r>
            <a:r>
              <a:rPr lang="ko-KR" altLang="en-US" sz="1200" b="0" dirty="0" err="1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by</a:t>
            </a:r>
            <a:r>
              <a:rPr lang="ko-KR" altLang="en-US" sz="1200" b="0" dirty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 보편교육연구소 </a:t>
            </a:r>
            <a:r>
              <a:rPr lang="ko-KR" altLang="en-US" sz="1200" b="0" dirty="0" err="1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/>
            </a:r>
            <a:r>
              <a:rPr lang="ko-KR" altLang="en-US" sz="1200" b="0" dirty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 · </a:t>
            </a:r>
            <a:r>
              <a:rPr lang="ko-KR" altLang="en-US" sz="1200" b="0" dirty="0" err="1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Appendix</a:t>
            </a:r>
            <a:r>
              <a:rPr lang="ko-KR" altLang="en-US" sz="1200" b="0" dirty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 · 치매환자 음성 인식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13</a:t>
            </a:r>
          </a:p>
        </p:txBody>
      </p:sp>
      <p:pic>
        <p:nvPicPr>
          <p:cNvPr id="36" name="Picture 35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4649" y="250000"/>
            <a:ext cx="822960" cy="822960"/>
          </a:xfrm>
          <a:prstGeom prst="rect">
            <a:avLst/>
          </a:prstGeom>
          <a:effectLst/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90E1D92-C8D8-1AF6-AE3B-98C5CF5772C4}"/>
              </a:ext>
            </a:extLst>
          </p:cNvPr>
          <p:cNvSpPr txBox="1"/>
          <p:nvPr/>
        </p:nvSpPr>
        <p:spPr>
          <a:xfrm>
            <a:off x="9979951" y="5444429"/>
            <a:ext cx="1207008" cy="4350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2210" b="0" dirty="0">
                <a:solidFill>
                  <a:srgbClr val="00B39A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12.9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05F0D6C-5F6C-BD31-0BA0-7C1991C840EC}"/>
              </a:ext>
            </a:extLst>
          </p:cNvPr>
          <p:cNvSpPr txBox="1"/>
          <p:nvPr/>
        </p:nvSpPr>
        <p:spPr>
          <a:xfrm>
            <a:off x="9979951" y="5742524"/>
            <a:ext cx="120700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00B39A"/>
                </a:solidFill>
                <a:latin typeface="나눔스퀘어라운드 Bold"/>
                <a:ea typeface="나눔스퀘어라운드 Bold"/>
                <a:cs typeface="나눔스퀘어라운드 Bold"/>
              </a:rPr>
              <a:t>일반 한국어 수치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5200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73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AI 개인화가 </a:t>
            </a:r>
            <a:r>
              <a:rPr lang="ko-KR" altLang="en-US" sz="2730" b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만들어지는 순서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7168629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말한 기억을 전자 일기처럼 쌓고, 새 문항을 만들 때 관련 기억을 근거로 사용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2350008" cy="3865942"/>
          </a:xfrm>
          <a:prstGeom prst="roundRect">
            <a:avLst>
              <a:gd name="adj" fmla="val 16667"/>
            </a:avLst>
          </a:prstGeom>
          <a:solidFill>
            <a:srgbClr val="F7F5F2"/>
          </a:solidFill>
          <a:ln w="12700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883664"/>
            <a:ext cx="121828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① 이야기 기록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217" y="2184961"/>
            <a:ext cx="202082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문항에서 나온 개인 이야기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1737360"/>
            <a:ext cx="2350008" cy="3865942"/>
          </a:xfrm>
          <a:prstGeom prst="roundRect">
            <a:avLst>
              <a:gd name="adj" fmla="val 16667"/>
            </a:avLst>
          </a:prstGeom>
          <a:solidFill>
            <a:srgbClr val="F7F5F2"/>
          </a:solidFill>
          <a:ln w="12700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1883664"/>
            <a:ext cx="1455527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② 개인 기억 저장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425" y="2184961"/>
            <a:ext cx="202082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전자 일기처럼 쌓이는 기억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1737360"/>
            <a:ext cx="2350008" cy="3865942"/>
          </a:xfrm>
          <a:prstGeom prst="roundRect">
            <a:avLst>
              <a:gd name="adj" fmla="val 16667"/>
            </a:avLst>
          </a:prstGeom>
          <a:solidFill>
            <a:srgbClr val="F7F5F2"/>
          </a:solidFill>
          <a:ln w="20320">
            <a:solidFill>
              <a:srgbClr val="2F80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73368" y="1883664"/>
            <a:ext cx="1455527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③ 관련 기억 검색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8633" y="2184961"/>
            <a:ext cx="202082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0B39A"/>
                </a:solidFill>
                <a:latin typeface="나눔스퀘어라운드 Bold"/>
                <a:ea typeface="나눔스퀘어라운드 Bold"/>
                <a:cs typeface="나눔스퀘어라운드 Bold"/>
              </a:rPr>
              <a:t>RAG Retrieval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15984" y="1737360"/>
            <a:ext cx="2350008" cy="3865942"/>
          </a:xfrm>
          <a:prstGeom prst="roundRect">
            <a:avLst>
              <a:gd name="adj" fmla="val 16667"/>
            </a:avLst>
          </a:prstGeom>
          <a:solidFill>
            <a:srgbClr val="F7F5F2"/>
          </a:solidFill>
          <a:ln w="12700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80576" y="1883664"/>
            <a:ext cx="126957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④ 새 문항 생성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25841" y="2184961"/>
            <a:ext cx="202082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검색된 기억을 근거로</a:t>
            </a:r>
          </a:p>
        </p:txBody>
      </p:sp>
      <p:sp>
        <p:nvSpPr>
          <p:cNvPr id="17" name="Chevron 16"/>
          <p:cNvSpPr/>
          <p:nvPr/>
        </p:nvSpPr>
        <p:spPr>
          <a:xfrm>
            <a:off x="3090672" y="3502152"/>
            <a:ext cx="256032" cy="438912"/>
          </a:xfrm>
          <a:prstGeom prst="chevron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8" name="Chevron 17"/>
          <p:cNvSpPr/>
          <p:nvPr/>
        </p:nvSpPr>
        <p:spPr>
          <a:xfrm>
            <a:off x="5897880" y="3502152"/>
            <a:ext cx="256032" cy="438912"/>
          </a:xfrm>
          <a:prstGeom prst="chevron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9" name="Chevron 18"/>
          <p:cNvSpPr/>
          <p:nvPr/>
        </p:nvSpPr>
        <p:spPr>
          <a:xfrm>
            <a:off x="8705088" y="3502152"/>
            <a:ext cx="256032" cy="438912"/>
          </a:xfrm>
          <a:prstGeom prst="chevron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77240" y="2505456"/>
            <a:ext cx="1984248" cy="621792"/>
          </a:xfrm>
          <a:prstGeom prst="roundRect">
            <a:avLst>
              <a:gd name="adj" fmla="val 16667"/>
            </a:avLst>
          </a:prstGeom>
          <a:solidFill>
            <a:srgbClr val="E8F4FF"/>
          </a:solidFill>
          <a:ln w="12700">
            <a:solidFill>
              <a:srgbClr val="2F80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5256" y="2560320"/>
            <a:ext cx="1728216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"어제 딸이랑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2798064"/>
            <a:ext cx="1728216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외식했어요"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273552"/>
            <a:ext cx="1984248" cy="621792"/>
          </a:xfrm>
          <a:prstGeom prst="roundRect">
            <a:avLst>
              <a:gd name="adj" fmla="val 16667"/>
            </a:avLst>
          </a:prstGeom>
          <a:solidFill>
            <a:srgbClr val="E8F4FF"/>
          </a:solidFill>
          <a:ln w="12700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5256" y="3328416"/>
            <a:ext cx="1728216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"손자가 이번 주말에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3566160"/>
            <a:ext cx="1728216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온대요"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041648"/>
            <a:ext cx="1984248" cy="621792"/>
          </a:xfrm>
          <a:prstGeom prst="roundRect">
            <a:avLst>
              <a:gd name="adj" fmla="val 16667"/>
            </a:avLst>
          </a:prstGeom>
          <a:solidFill>
            <a:srgbClr val="E8F4FF"/>
          </a:solidFill>
          <a:ln w="12700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5256" y="4096511"/>
            <a:ext cx="1728216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"요즘 공원 산책을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334255"/>
            <a:ext cx="1728216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자주 해요"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956048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말한 내용을 그대로 남기고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175504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개인 기억의 재료로 사용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22191" y="2724912"/>
            <a:ext cx="1508760" cy="438912"/>
          </a:xfrm>
          <a:prstGeom prst="roundRect">
            <a:avLst>
              <a:gd name="adj" fmla="val 16667"/>
            </a:avLst>
          </a:prstGeom>
          <a:solidFill>
            <a:srgbClr val="F7F5F2"/>
          </a:solidFill>
          <a:ln w="12700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3566160" y="2724912"/>
            <a:ext cx="2020824" cy="530352"/>
          </a:xfrm>
          <a:prstGeom prst="roundRect">
            <a:avLst>
              <a:gd name="adj" fmla="val 16667"/>
            </a:avLst>
          </a:prstGeom>
          <a:solidFill>
            <a:srgbClr val="E8F4FF"/>
          </a:solidFill>
          <a:ln w="12700">
            <a:solidFill>
              <a:srgbClr val="2F80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75887" y="2770632"/>
            <a:ext cx="4572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8/12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42232" y="2752344"/>
            <a:ext cx="1389888" cy="2381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1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딸 · 외식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42232" y="2980944"/>
            <a:ext cx="138988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본인이 말한 기록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66160" y="3383280"/>
            <a:ext cx="2020824" cy="530352"/>
          </a:xfrm>
          <a:prstGeom prst="roundRect">
            <a:avLst>
              <a:gd name="adj" fmla="val 16667"/>
            </a:avLst>
          </a:prstGeom>
          <a:solidFill>
            <a:srgbClr val="F7F5F2"/>
          </a:solidFill>
          <a:ln w="12700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75887" y="3429000"/>
            <a:ext cx="4572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8/14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42232" y="3410712"/>
            <a:ext cx="1389888" cy="2381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1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손자 · 방문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42232" y="3639312"/>
            <a:ext cx="138988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본인이 말한 기록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566160" y="4041648"/>
            <a:ext cx="2020824" cy="530352"/>
          </a:xfrm>
          <a:prstGeom prst="roundRect">
            <a:avLst>
              <a:gd name="adj" fmla="val 16667"/>
            </a:avLst>
          </a:prstGeom>
          <a:solidFill>
            <a:srgbClr val="F7F5F2"/>
          </a:solidFill>
          <a:ln w="12700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75887" y="4087368"/>
            <a:ext cx="4572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8/15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42232" y="4069080"/>
            <a:ext cx="1389888" cy="2381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1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공원 · 산책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42232" y="4297680"/>
            <a:ext cx="138988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본인이 말한 기록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84448" y="4956048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뜻이 비슷한 것끼리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84448" y="5175504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찾을 수 있게 정리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91656" y="2496312"/>
            <a:ext cx="1984248" cy="475488"/>
          </a:xfrm>
          <a:prstGeom prst="roundRect">
            <a:avLst>
              <a:gd name="adj" fmla="val 16667"/>
            </a:avLst>
          </a:prstGeom>
          <a:solidFill>
            <a:srgbClr val="E8F4FF"/>
          </a:solidFill>
          <a:ln w="13970">
            <a:solidFill>
              <a:srgbClr val="2F80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92240" y="2542032"/>
            <a:ext cx="17830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0B39A"/>
                </a:solidFill>
                <a:latin typeface="나눔스퀘어라운드 Bold"/>
                <a:ea typeface="나눔스퀘어라운드 Bold"/>
                <a:cs typeface="나눔스퀘어라운드 Bold"/>
              </a:rPr>
              <a:t>새 문항 주제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2706624"/>
            <a:ext cx="17830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“최근 가족과 있었던 일”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28232" y="3136392"/>
            <a:ext cx="1911095" cy="347472"/>
          </a:xfrm>
          <a:prstGeom prst="roundRect">
            <a:avLst>
              <a:gd name="adj" fmla="val 16667"/>
            </a:avLst>
          </a:prstGeom>
          <a:solidFill>
            <a:srgbClr val="D8F6E3"/>
          </a:solidFill>
          <a:ln w="12700">
            <a:solidFill>
              <a:srgbClr val="34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19672" y="3218688"/>
            <a:ext cx="256032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34C759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48272" y="3218688"/>
            <a:ext cx="12984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딸과 외식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28232" y="3575304"/>
            <a:ext cx="1911095" cy="347472"/>
          </a:xfrm>
          <a:prstGeom prst="roundRect">
            <a:avLst>
              <a:gd name="adj" fmla="val 16667"/>
            </a:avLst>
          </a:prstGeom>
          <a:solidFill>
            <a:srgbClr val="D8F6E3"/>
          </a:solidFill>
          <a:ln w="12700">
            <a:solidFill>
              <a:srgbClr val="34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519672" y="3657600"/>
            <a:ext cx="256032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34C759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48272" y="3657600"/>
            <a:ext cx="12984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손자 방문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28232" y="4014216"/>
            <a:ext cx="1911095" cy="347472"/>
          </a:xfrm>
          <a:prstGeom prst="roundRect">
            <a:avLst>
              <a:gd name="adj" fmla="val 16667"/>
            </a:avLst>
          </a:prstGeom>
          <a:solidFill>
            <a:srgbClr val="F7F5F2"/>
          </a:solidFill>
          <a:ln w="12700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519672" y="4096512"/>
            <a:ext cx="256032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·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48272" y="4096512"/>
            <a:ext cx="12984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공원 산책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28232" y="4453128"/>
            <a:ext cx="1911095" cy="347472"/>
          </a:xfrm>
          <a:prstGeom prst="roundRect">
            <a:avLst>
              <a:gd name="adj" fmla="val 16667"/>
            </a:avLst>
          </a:prstGeom>
          <a:solidFill>
            <a:srgbClr val="F7F5F2"/>
          </a:solidFill>
          <a:ln w="12700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19672" y="4535424"/>
            <a:ext cx="256032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·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48272" y="4535424"/>
            <a:ext cx="12984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병원 방문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91656" y="4956048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0B39A"/>
                </a:solidFill>
                <a:latin typeface="나눔스퀘어라운드 Bold"/>
                <a:ea typeface="나눔스퀘어라운드 Bold"/>
                <a:cs typeface="나눔스퀘어라운드 Bold"/>
              </a:rPr>
              <a:t>지금 만들 문항과 뜻이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91656" y="5175504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0B39A"/>
                </a:solidFill>
                <a:latin typeface="나눔스퀘어라운드 Bold"/>
                <a:ea typeface="나눔스퀘어라운드 Bold"/>
                <a:cs typeface="나눔스퀘어라운드 Bold"/>
              </a:rPr>
              <a:t>가까운 기록만 골라 옵니다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198864" y="2578608"/>
            <a:ext cx="1984248" cy="1993392"/>
          </a:xfrm>
          <a:prstGeom prst="roundRect">
            <a:avLst>
              <a:gd name="adj" fmla="val 16667"/>
            </a:avLst>
          </a:prstGeom>
          <a:solidFill>
            <a:srgbClr val="E8F4FF"/>
          </a:solidFill>
          <a:ln w="17780">
            <a:solidFill>
              <a:srgbClr val="2F80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345168" y="2761488"/>
            <a:ext cx="169164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0B39A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치매링고 개인화 문항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08592" y="3127248"/>
            <a:ext cx="1801368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“지난번에 따님과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08592" y="3383280"/>
            <a:ext cx="1801368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외식하셨다고 했는데,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08592" y="3639312"/>
            <a:ext cx="1801368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무엇을 드셨는지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08592" y="3895344"/>
            <a:ext cx="1801368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기억나시나요?”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98864" y="4956048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골라 온 과거 기록을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98864" y="5175504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질문을 만드는 근거로 사용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94360" y="5852160"/>
            <a:ext cx="11003249" cy="365760"/>
          </a:xfrm>
          <a:prstGeom prst="roundRect">
            <a:avLst>
              <a:gd name="adj" fmla="val 16667"/>
            </a:avLst>
          </a:prstGeom>
          <a:solidFill>
            <a:srgbClr val="E8F4FF"/>
          </a:solidFill>
          <a:ln w="12700">
            <a:solidFill>
              <a:srgbClr val="2F80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31520" y="5934456"/>
            <a:ext cx="4754880" cy="267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6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과거의 이야기  →  관련 기억 검색  →  근거 있는 다음 질문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77840" y="5943600"/>
            <a:ext cx="58704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개인 기억 일기 18개 · CIST·MMSE 영역 문항과 함께 매일 기록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B5D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치매링고 · 보편교육연구소 · Appendix · AI 개인화의 작동 방식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14</a:t>
            </a:r>
          </a:p>
        </p:txBody>
      </p:sp>
      <p:pic>
        <p:nvPicPr>
          <p:cNvPr id="79" name="Picture 78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649" y="250000"/>
            <a:ext cx="822960" cy="822960"/>
          </a:xfrm>
          <a:prstGeom prst="rect">
            <a:avLst/>
          </a:prstGeom>
          <a:effectLst/>
        </p:spPr>
      </p:pic>
      <p:sp>
        <p:nvSpPr>
          <p:cNvPr id="80" name="Rounded Rectangle 72">
            <a:extLst>
              <a:ext uri="{FF2B5EF4-FFF2-40B4-BE49-F238E27FC236}">
                <a16:creationId xmlns:a16="http://schemas.microsoft.com/office/drawing/2014/main" id="{51AD226D-5CC1-6EB8-7567-E08486F33A85}"/>
              </a:ext>
            </a:extLst>
          </p:cNvPr>
          <p:cNvSpPr/>
          <p:nvPr/>
        </p:nvSpPr>
        <p:spPr>
          <a:xfrm>
            <a:off x="603504" y="5852160"/>
            <a:ext cx="11003249" cy="365760"/>
          </a:xfrm>
          <a:prstGeom prst="roundRect">
            <a:avLst>
              <a:gd name="adj" fmla="val 16667"/>
            </a:avLst>
          </a:prstGeom>
          <a:solidFill>
            <a:srgbClr val="E8F4FF"/>
          </a:solidFill>
          <a:ln w="12700">
            <a:solidFill>
              <a:srgbClr val="2F80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sz="200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F90A9DB-58C0-5CBE-D7F5-798CACDF54C0}"/>
              </a:ext>
            </a:extLst>
          </p:cNvPr>
          <p:cNvSpPr txBox="1"/>
          <p:nvPr/>
        </p:nvSpPr>
        <p:spPr>
          <a:xfrm>
            <a:off x="740664" y="5934456"/>
            <a:ext cx="420307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과거의 이야기  →  관련 기억 검색  →  근거 있는 다음 질문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3A1765D-9C70-79BB-835E-94BC51290544}"/>
              </a:ext>
            </a:extLst>
          </p:cNvPr>
          <p:cNvSpPr txBox="1"/>
          <p:nvPr/>
        </p:nvSpPr>
        <p:spPr>
          <a:xfrm>
            <a:off x="6105005" y="5943600"/>
            <a:ext cx="5352427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개인 기억 일기 18개 · CIST·MMSE 영역 문항과 함께 매일 기록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3366306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73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기존 치매검사와 </a:t>
            </a:r>
            <a:r>
              <a:rPr lang="ko-KR" altLang="en-US" sz="2730" b="0" dirty="0" err="1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다른점</a:t>
            </a:r>
            <a:endParaRPr lang="ko-KR" altLang="en-US" sz="2730" b="0" dirty="0">
              <a:solidFill>
                <a:srgbClr val="2F80ED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MMSE · </a:t>
            </a:r>
            <a:r>
              <a:rPr lang="ko-KR" altLang="en-US" sz="1580" b="0" dirty="0" err="1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CIST가</a:t>
            </a:r>
            <a:r>
              <a:rPr lang="ko-KR" altLang="en-US" sz="158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 다루는 인지 영역과 개인 기억을 일기 문항으로 변형 · 판정은 전문 기관의 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2095"/>
            <a:ext cx="201337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60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기존 치매검사 문항 응용</a:t>
            </a:r>
            <a:endParaRPr lang="ko-KR" altLang="en-US" sz="1600" b="0" dirty="0">
              <a:solidFill>
                <a:srgbClr val="0D2F6E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972259"/>
            <a:ext cx="1188720" cy="254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2290576"/>
            <a:ext cx="4937760" cy="12700"/>
          </a:xfrm>
          <a:prstGeom prst="rect">
            <a:avLst/>
          </a:prstGeom>
          <a:solidFill>
            <a:srgbClr val="0D2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" y="2354584"/>
            <a:ext cx="1470355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인지 영역 · 문항 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29307" y="2354584"/>
            <a:ext cx="127284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원래 검사 방식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354584"/>
            <a:ext cx="186537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치매링고 활동 문항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601472"/>
            <a:ext cx="4937760" cy="9525"/>
          </a:xfrm>
          <a:prstGeom prst="rect">
            <a:avLst/>
          </a:prstGeom>
          <a:solidFill>
            <a:srgbClr val="B5D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" y="2702056"/>
            <a:ext cx="1470355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시간 지남력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9307" y="2702056"/>
            <a:ext cx="127284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날짜 묻기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702056"/>
            <a:ext cx="186537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34C759"/>
                </a:solidFill>
                <a:latin typeface="나눔스퀘어라운드 Bold"/>
                <a:ea typeface="나눔스퀘어라운드 Bold"/>
                <a:cs typeface="나눔스퀘어라운드 Bold"/>
              </a:rPr>
              <a:t>무슨 요일인지 고르기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985520"/>
            <a:ext cx="4937760" cy="384048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" y="3086104"/>
            <a:ext cx="1470355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회상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29307" y="3086104"/>
            <a:ext cx="127284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단어 지연 회상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086104"/>
            <a:ext cx="186537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34C759"/>
                </a:solidFill>
                <a:latin typeface="나눔스퀘어라운드 Bold"/>
                <a:ea typeface="나눔스퀘어라운드 Bold"/>
                <a:cs typeface="나눔스퀘어라운드 Bold"/>
              </a:rPr>
              <a:t>어제 외식 메뉴 말하기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" y="3470152"/>
            <a:ext cx="1470355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주의 · 계산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9307" y="3470152"/>
            <a:ext cx="127284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연속 빼기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3470152"/>
            <a:ext cx="186537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34C759"/>
                </a:solidFill>
                <a:latin typeface="나눔스퀘어라운드 Bold"/>
                <a:ea typeface="나눔스퀘어라운드 Bold"/>
                <a:cs typeface="나눔스퀘어라운드 Bold"/>
              </a:rPr>
              <a:t>남은 사과 개수 고르기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753616"/>
            <a:ext cx="4937760" cy="384048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" y="3854200"/>
            <a:ext cx="1470355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시공간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29307" y="3854200"/>
            <a:ext cx="127284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도형 그리기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3854200"/>
            <a:ext cx="186537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34C759"/>
                </a:solidFill>
                <a:latin typeface="나눔스퀘어라운드 Bold"/>
                <a:ea typeface="나눔스퀘어라운드 Bold"/>
                <a:cs typeface="나눔스퀘어라운드 Bold"/>
              </a:rPr>
              <a:t>따라 그리기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4238248"/>
            <a:ext cx="1470355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언어 이해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29307" y="4238248"/>
            <a:ext cx="127284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뜻 풀이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4238248"/>
            <a:ext cx="186537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34C759"/>
                </a:solidFill>
                <a:latin typeface="나눔스퀘어라운드 Bold"/>
                <a:ea typeface="나눔스퀘어라운드 Bold"/>
                <a:cs typeface="나눔스퀘어라운드 Bold"/>
              </a:rPr>
              <a:t>속담 뜻 고르기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4521712"/>
            <a:ext cx="4937760" cy="384048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" y="4622296"/>
            <a:ext cx="1470355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순서 기억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29307" y="4622296"/>
            <a:ext cx="127284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숫자 따라 외우기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4622296"/>
            <a:ext cx="186537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34C759"/>
                </a:solidFill>
                <a:latin typeface="나눔스퀘어라운드 Bold"/>
                <a:ea typeface="나눔스퀘어라운드 Bold"/>
                <a:cs typeface="나눔스퀘어라운드 Bold"/>
              </a:rPr>
              <a:t>순서대로 다시 누르기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4905760"/>
            <a:ext cx="4937760" cy="9525"/>
          </a:xfrm>
          <a:prstGeom prst="rect">
            <a:avLst/>
          </a:prstGeom>
          <a:solidFill>
            <a:srgbClr val="B5D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5189981"/>
            <a:ext cx="359874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latin typeface="나눔스퀘어라운드 Regular"/>
                <a:ea typeface="나눔스퀘어라운드 Regular"/>
                <a:cs typeface="나눔스퀘어라운드 Regular"/>
              </a:rPr>
              <a:t>나머지 18개는 감정 · 개인 기억을 묻는 일기 문항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572761"/>
            <a:ext cx="4719241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42개 중 28개가 채점되지만 치매환자 화면에는 점수가 나오지 않음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0" y="1692095"/>
            <a:ext cx="1404231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60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제공하지 않는 것</a:t>
            </a:r>
            <a:endParaRPr lang="ko-KR" altLang="en-US" sz="1600" b="0" dirty="0">
              <a:solidFill>
                <a:srgbClr val="0D2F6E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715000" y="1972259"/>
            <a:ext cx="1188720" cy="254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724144" y="2167331"/>
            <a:ext cx="91440" cy="91440"/>
          </a:xfrm>
          <a:prstGeom prst="ellipse">
            <a:avLst/>
          </a:prstGeom>
          <a:solidFill>
            <a:srgbClr val="00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34456" y="2118563"/>
            <a:ext cx="698909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 진단</a:t>
            </a:r>
          </a:p>
        </p:txBody>
      </p:sp>
      <p:sp>
        <p:nvSpPr>
          <p:cNvPr id="40" name="Oval 39"/>
          <p:cNvSpPr/>
          <p:nvPr/>
        </p:nvSpPr>
        <p:spPr>
          <a:xfrm>
            <a:off x="5724144" y="2423363"/>
            <a:ext cx="91440" cy="91440"/>
          </a:xfrm>
          <a:prstGeom prst="ellipse">
            <a:avLst/>
          </a:prstGeom>
          <a:solidFill>
            <a:srgbClr val="00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34456" y="2374595"/>
            <a:ext cx="862416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위험도 판정</a:t>
            </a:r>
          </a:p>
        </p:txBody>
      </p:sp>
      <p:sp>
        <p:nvSpPr>
          <p:cNvPr id="42" name="Oval 41"/>
          <p:cNvSpPr/>
          <p:nvPr/>
        </p:nvSpPr>
        <p:spPr>
          <a:xfrm>
            <a:off x="5724144" y="2679395"/>
            <a:ext cx="91440" cy="91440"/>
          </a:xfrm>
          <a:prstGeom prst="ellipse">
            <a:avLst/>
          </a:prstGeom>
          <a:solidFill>
            <a:srgbClr val="00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934456" y="2630627"/>
            <a:ext cx="698909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점수 통보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15000" y="3025122"/>
            <a:ext cx="1606209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00B39A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판정은 전문 기관의 몫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15000" y="3662667"/>
            <a:ext cx="98103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제공</a:t>
            </a:r>
            <a:r>
              <a:rPr lang="ko-KR" altLang="en-US" sz="16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하는 것</a:t>
            </a:r>
          </a:p>
        </p:txBody>
      </p:sp>
      <p:sp>
        <p:nvSpPr>
          <p:cNvPr id="48" name="Oval 47"/>
          <p:cNvSpPr/>
          <p:nvPr/>
        </p:nvSpPr>
        <p:spPr>
          <a:xfrm>
            <a:off x="5724144" y="4137903"/>
            <a:ext cx="91440" cy="91440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934456" y="4089135"/>
            <a:ext cx="209672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매일의 일기를 관찰 기록으로</a:t>
            </a:r>
          </a:p>
        </p:txBody>
      </p:sp>
      <p:sp>
        <p:nvSpPr>
          <p:cNvPr id="50" name="Oval 49"/>
          <p:cNvSpPr/>
          <p:nvPr/>
        </p:nvSpPr>
        <p:spPr>
          <a:xfrm>
            <a:off x="5724144" y="4393935"/>
            <a:ext cx="91440" cy="91440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934456" y="4345167"/>
            <a:ext cx="1687963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전문가 · 상담사가 참고</a:t>
            </a:r>
          </a:p>
        </p:txBody>
      </p:sp>
      <p:sp>
        <p:nvSpPr>
          <p:cNvPr id="52" name="Oval 51"/>
          <p:cNvSpPr/>
          <p:nvPr/>
        </p:nvSpPr>
        <p:spPr>
          <a:xfrm>
            <a:off x="5724144" y="4649967"/>
            <a:ext cx="91440" cy="91440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34456" y="4601199"/>
            <a:ext cx="1561325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보호자가 안부로 확인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1692095"/>
            <a:ext cx="2148024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60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보호자에게 제공되는 정보</a:t>
            </a:r>
            <a:endParaRPr lang="ko-KR" altLang="en-US" sz="1600" b="0" dirty="0">
              <a:solidFill>
                <a:srgbClr val="0D2F6E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8595360" y="1972259"/>
            <a:ext cx="1188720" cy="254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8595360" y="2103120"/>
            <a:ext cx="2999232" cy="969264"/>
          </a:xfrm>
          <a:prstGeom prst="roundRect">
            <a:avLst>
              <a:gd name="adj" fmla="val 8000"/>
            </a:avLst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759952" y="2258113"/>
            <a:ext cx="26700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“최근 '따라 </a:t>
            </a:r>
            <a:r>
              <a:rPr lang="ko-KR" altLang="en-US" sz="1200" b="0" dirty="0" err="1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말하기'에서</a:t>
            </a:r>
            <a:endParaRPr lang="ko-KR" altLang="en-US" sz="1200" b="0" dirty="0">
              <a:solidFill>
                <a:srgbClr val="0D2F6E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759952" y="2477569"/>
            <a:ext cx="26700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잠시 망설이는 모습이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59952" y="2697025"/>
            <a:ext cx="26700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늘었어요”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95360" y="3145536"/>
            <a:ext cx="2999232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점수가 아니라 변화를 문장으로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95360" y="3401568"/>
            <a:ext cx="175047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보호자 화면 </a:t>
            </a:r>
            <a:r>
              <a:rPr lang="ko-KR" altLang="en-US" sz="1200" b="0" dirty="0" err="1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아래쪽</a:t>
            </a:r>
            <a:r>
              <a:rPr lang="ko-KR" altLang="en-US" sz="1200" dirty="0" err="1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（예시</a:t>
            </a:r>
            <a:r>
              <a:rPr lang="ko-KR" altLang="en-US" sz="120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）</a:t>
            </a:r>
            <a:endParaRPr lang="ko-KR" altLang="en-US" sz="1200" b="0" dirty="0">
              <a:solidFill>
                <a:srgbClr val="0D2F6E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pic>
        <p:nvPicPr>
          <p:cNvPr id="67" name="Picture 66" descr="sc_caregiver_ref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3639312"/>
            <a:ext cx="2999232" cy="2070898"/>
          </a:xfrm>
          <a:prstGeom prst="rect">
            <a:avLst/>
          </a:prstGeom>
          <a:ln w="12700">
            <a:solidFill>
              <a:srgbClr val="B5D4F8"/>
            </a:solidFill>
          </a:ln>
          <a:effectLst/>
        </p:spPr>
      </p:pic>
      <p:sp>
        <p:nvSpPr>
          <p:cNvPr id="69" name="Rectangle 68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B5D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치매링고 · 보편교육연구소 · Appendix · 치매 검사와의 차이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15</a:t>
            </a:r>
          </a:p>
        </p:txBody>
      </p:sp>
      <p:pic>
        <p:nvPicPr>
          <p:cNvPr id="72" name="Picture 7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4649" y="250000"/>
            <a:ext cx="822960" cy="822960"/>
          </a:xfrm>
          <a:prstGeom prst="rect">
            <a:avLst/>
          </a:prstGeom>
          <a:effectLst/>
        </p:spPr>
      </p:pic>
      <p:sp>
        <p:nvSpPr>
          <p:cNvPr id="75" name="Rectangle 36">
            <a:extLst>
              <a:ext uri="{FF2B5EF4-FFF2-40B4-BE49-F238E27FC236}">
                <a16:creationId xmlns:a16="http://schemas.microsoft.com/office/drawing/2014/main" id="{A2573875-9B6E-9306-B059-7EBD9AE3C37F}"/>
              </a:ext>
            </a:extLst>
          </p:cNvPr>
          <p:cNvSpPr/>
          <p:nvPr/>
        </p:nvSpPr>
        <p:spPr>
          <a:xfrm>
            <a:off x="5715000" y="3971566"/>
            <a:ext cx="1188720" cy="254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4597412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ko-KR" sz="273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치매링고 </a:t>
            </a:r>
            <a:r>
              <a:rPr lang="ko-KR" altLang="en-US" sz="273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디바이스</a:t>
            </a:r>
            <a:r>
              <a:rPr lang="ko-KR" altLang="en-US" sz="273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의 </a:t>
            </a:r>
            <a:r>
              <a:rPr lang="ko-KR" altLang="en-US" sz="2730" b="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구조적 </a:t>
            </a:r>
            <a:r>
              <a:rPr lang="ko-KR" altLang="en-US" sz="2730" b="0" dirty="0" err="1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차별점</a:t>
            </a:r>
            <a:endParaRPr lang="ko-KR" altLang="en-US" sz="2730" b="0" dirty="0">
              <a:solidFill>
                <a:srgbClr val="2F80ED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5634556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화면 자리와 버튼 자리를 맞춘 구조 · </a:t>
            </a:r>
            <a:r>
              <a:rPr lang="ko-KR" altLang="en-US" sz="158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디바이스</a:t>
            </a:r>
            <a:r>
              <a:rPr lang="ko-KR" altLang="en-US" sz="158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까지 직접 설계 및 제작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83042"/>
            <a:ext cx="795089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실물 </a:t>
            </a:r>
            <a:r>
              <a:rPr lang="ko-KR" altLang="en-US" sz="1600" b="0" dirty="0" err="1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목업</a:t>
            </a:r>
            <a:endParaRPr lang="ko-KR" altLang="en-US" sz="1600" b="0" dirty="0">
              <a:solidFill>
                <a:srgbClr val="0D2F6E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975104"/>
            <a:ext cx="239572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화면 자리 = 버튼 자리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266" y="5449823"/>
            <a:ext cx="239572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네 개 버튼이 화면 네 자리와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8266" y="5669279"/>
            <a:ext cx="239572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같은 배치로 놓여 있음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701148"/>
            <a:ext cx="126957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다른 점 세 가지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972259"/>
            <a:ext cx="1188720" cy="254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246120" y="2118563"/>
            <a:ext cx="4160520" cy="11704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46120" y="2283155"/>
            <a:ext cx="50292" cy="841248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65576" y="2228291"/>
            <a:ext cx="3840480" cy="2559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0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버튼에 뜻을 새기지 않음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5576" y="2520899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은행 기계는 '확인' '</a:t>
            </a:r>
            <a:r>
              <a:rPr lang="ko-KR" altLang="en-US" sz="1200" b="0" dirty="0" err="1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취소'처럼</a:t>
            </a: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 버튼마다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5576" y="2740355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뜻이 정해져 있어 외워야 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5576" y="2959811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 err="1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치매링고는</a:t>
            </a: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 보이는 자리를 그대로 누름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3398723"/>
            <a:ext cx="4160520" cy="11704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46120" y="3563315"/>
            <a:ext cx="50292" cy="841248"/>
          </a:xfrm>
          <a:prstGeom prst="rect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65576" y="3508451"/>
            <a:ext cx="3840480" cy="2559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0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같은 버튼을 한 번 더 눌러야 확정됨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65576" y="3801059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잘못 눌러도 다른 자리를 누르면 옮겨짐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65576" y="4020515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'취소' · '뒤로가기'를 배울 필요가 없음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65576" y="4239971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확정 전에는 언제든 되돌릴 수 있음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46120" y="4678883"/>
            <a:ext cx="4160520" cy="11704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46120" y="4843475"/>
            <a:ext cx="50292" cy="841248"/>
          </a:xfrm>
          <a:prstGeom prst="rect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65576" y="4788611"/>
            <a:ext cx="3840480" cy="2559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0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말하기도 같은 네 버튼으로 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65576" y="5081219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말하기 활동에서는 A가 '다시 듣기',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65576" y="5300675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B가 '말하기 시작'이 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65576" y="5520131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새로 배울 조작이 늘지 않음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99831" y="1701148"/>
            <a:ext cx="1641475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직접 그린 기구 설계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99831" y="1972259"/>
            <a:ext cx="1188720" cy="254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99831" y="2118563"/>
            <a:ext cx="379476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가로 300 × 세로 398 × 높이 610 mm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99831" y="2338019"/>
            <a:ext cx="379476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버튼은 USB 키보드와 같은 방식으로 붙어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99831" y="2557475"/>
            <a:ext cx="379476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기성 부품만으로 조립 가능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99831" y="2889504"/>
            <a:ext cx="379476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직접 그린 조립 도면 · 시제품 기준</a:t>
            </a:r>
          </a:p>
        </p:txBody>
      </p:sp>
      <p:pic>
        <p:nvPicPr>
          <p:cNvPr id="36" name="Picture 35" descr="dz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831" y="3145536"/>
            <a:ext cx="3794760" cy="2629226"/>
          </a:xfrm>
          <a:prstGeom prst="rect">
            <a:avLst/>
          </a:prstGeom>
          <a:ln w="12700">
            <a:solidFill>
              <a:srgbClr val="B5D4F8"/>
            </a:solidFill>
          </a:ln>
          <a:effectLst/>
        </p:spPr>
      </p:pic>
      <p:sp>
        <p:nvSpPr>
          <p:cNvPr id="37" name="TextBox 36"/>
          <p:cNvSpPr txBox="1"/>
          <p:nvPr/>
        </p:nvSpPr>
        <p:spPr>
          <a:xfrm>
            <a:off x="7799831" y="5847914"/>
            <a:ext cx="379476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양산 도면이 아니라 시제품 제작용 도면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B5D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치매링고 · 보편교육연구소 · Appendix · 버튼 구조의 차이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16</a:t>
            </a:r>
          </a:p>
        </p:txBody>
      </p:sp>
      <p:pic>
        <p:nvPicPr>
          <p:cNvPr id="41" name="Picture 40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4649" y="250000"/>
            <a:ext cx="822960" cy="822960"/>
          </a:xfrm>
          <a:prstGeom prst="rect">
            <a:avLst/>
          </a:prstGeom>
          <a:effectLst/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F0E82DA0-CF45-9BAF-55C5-7414BF2479A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975" t="8994" r="4275"/>
          <a:stretch>
            <a:fillRect/>
          </a:stretch>
        </p:blipFill>
        <p:spPr>
          <a:xfrm>
            <a:off x="594360" y="2198929"/>
            <a:ext cx="2290401" cy="316717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4855496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73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베타테스트 결과 </a:t>
            </a:r>
            <a:r>
              <a:rPr lang="en-US" altLang="ko-KR" sz="273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– </a:t>
            </a:r>
            <a:r>
              <a:rPr lang="ko-KR" altLang="en-US" sz="2730" b="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사용자 </a:t>
            </a:r>
            <a:r>
              <a:rPr lang="en-US" altLang="ko-KR" sz="2730" b="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20</a:t>
            </a:r>
            <a:r>
              <a:rPr lang="ko-KR" altLang="en-US" sz="2730" b="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명 대상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2734723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데모 버전으로 진행한 베타테스트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2981"/>
            <a:ext cx="1032334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실제로 한 일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041251"/>
            <a:ext cx="1188720" cy="254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9E66AE0D-11F6-A650-0F8D-709FA15DA444}"/>
              </a:ext>
            </a:extLst>
          </p:cNvPr>
          <p:cNvGrpSpPr/>
          <p:nvPr/>
        </p:nvGrpSpPr>
        <p:grpSpPr>
          <a:xfrm>
            <a:off x="603503" y="2278089"/>
            <a:ext cx="2127505" cy="215444"/>
            <a:chOff x="603503" y="2187555"/>
            <a:chExt cx="2127505" cy="215444"/>
          </a:xfrm>
        </p:grpSpPr>
        <p:sp>
          <p:nvSpPr>
            <p:cNvPr id="9" name="Oval 8"/>
            <p:cNvSpPr/>
            <p:nvPr/>
          </p:nvSpPr>
          <p:spPr>
            <a:xfrm>
              <a:off x="603503" y="2236323"/>
              <a:ext cx="91440" cy="91440"/>
            </a:xfrm>
            <a:prstGeom prst="ellipse">
              <a:avLst/>
            </a:prstGeom>
            <a:solidFill>
              <a:srgbClr val="2F80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200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13816" y="2187555"/>
              <a:ext cx="1917192" cy="21544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ko-KR" sz="1400" b="0" dirty="0">
                  <a:solidFill>
                    <a:srgbClr val="0D2F6E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65</a:t>
              </a:r>
              <a:r>
                <a:rPr lang="ko-KR" altLang="en-US" sz="1400" b="0" dirty="0">
                  <a:solidFill>
                    <a:srgbClr val="0D2F6E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세 이상 사용자 20명 섭외</a:t>
              </a:r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819B93C0-3C3A-F3FD-B07D-6833FC99FFF6}"/>
              </a:ext>
            </a:extLst>
          </p:cNvPr>
          <p:cNvGrpSpPr/>
          <p:nvPr/>
        </p:nvGrpSpPr>
        <p:grpSpPr>
          <a:xfrm>
            <a:off x="603503" y="2648168"/>
            <a:ext cx="2470547" cy="215444"/>
            <a:chOff x="603503" y="2498451"/>
            <a:chExt cx="2470547" cy="215444"/>
          </a:xfrm>
        </p:grpSpPr>
        <p:sp>
          <p:nvSpPr>
            <p:cNvPr id="11" name="Oval 10"/>
            <p:cNvSpPr/>
            <p:nvPr/>
          </p:nvSpPr>
          <p:spPr>
            <a:xfrm>
              <a:off x="603503" y="2547219"/>
              <a:ext cx="91440" cy="91440"/>
            </a:xfrm>
            <a:prstGeom prst="ellipse">
              <a:avLst/>
            </a:prstGeom>
            <a:solidFill>
              <a:srgbClr val="2F80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200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13816" y="2498451"/>
              <a:ext cx="2260234" cy="21544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400" b="0" dirty="0">
                  <a:solidFill>
                    <a:srgbClr val="0D2F6E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각자 스마트폰으로 주소에 접속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39D63E09-CC96-2DA4-80BF-7E25409EFAD5}"/>
              </a:ext>
            </a:extLst>
          </p:cNvPr>
          <p:cNvGrpSpPr/>
          <p:nvPr/>
        </p:nvGrpSpPr>
        <p:grpSpPr>
          <a:xfrm>
            <a:off x="603503" y="3069800"/>
            <a:ext cx="2024912" cy="215444"/>
            <a:chOff x="603503" y="2809347"/>
            <a:chExt cx="2024912" cy="215444"/>
          </a:xfrm>
        </p:grpSpPr>
        <p:sp>
          <p:nvSpPr>
            <p:cNvPr id="13" name="Oval 12"/>
            <p:cNvSpPr/>
            <p:nvPr/>
          </p:nvSpPr>
          <p:spPr>
            <a:xfrm>
              <a:off x="603503" y="2858115"/>
              <a:ext cx="91440" cy="91440"/>
            </a:xfrm>
            <a:prstGeom prst="ellipse">
              <a:avLst/>
            </a:prstGeom>
            <a:solidFill>
              <a:srgbClr val="2F80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20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13816" y="2809347"/>
              <a:ext cx="1814599" cy="21544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400" b="0" dirty="0">
                  <a:solidFill>
                    <a:srgbClr val="0D2F6E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 xml:space="preserve">여섯 개 활동을 직접 </a:t>
              </a:r>
              <a:r>
                <a:rPr lang="ko-KR" altLang="en-US" sz="1400" dirty="0">
                  <a:solidFill>
                    <a:srgbClr val="0D2F6E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진행</a:t>
              </a:r>
              <a:endParaRPr lang="ko-KR" altLang="en-US" sz="14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299B116B-6E38-AC4E-C10C-A005B5332903}"/>
              </a:ext>
            </a:extLst>
          </p:cNvPr>
          <p:cNvGrpSpPr/>
          <p:nvPr/>
        </p:nvGrpSpPr>
        <p:grpSpPr>
          <a:xfrm>
            <a:off x="603503" y="3491432"/>
            <a:ext cx="1763623" cy="215444"/>
            <a:chOff x="603503" y="3400898"/>
            <a:chExt cx="1763623" cy="215444"/>
          </a:xfrm>
        </p:grpSpPr>
        <p:sp>
          <p:nvSpPr>
            <p:cNvPr id="15" name="Oval 14"/>
            <p:cNvSpPr/>
            <p:nvPr/>
          </p:nvSpPr>
          <p:spPr>
            <a:xfrm>
              <a:off x="603503" y="3449666"/>
              <a:ext cx="91440" cy="91440"/>
            </a:xfrm>
            <a:prstGeom prst="ellipse">
              <a:avLst/>
            </a:prstGeom>
            <a:solidFill>
              <a:srgbClr val="2F80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200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13816" y="3400898"/>
              <a:ext cx="1553310" cy="21544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ko-KR" sz="1400" b="0" dirty="0">
                  <a:solidFill>
                    <a:srgbClr val="0D2F6E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 xml:space="preserve">User data </a:t>
              </a:r>
              <a:r>
                <a:rPr lang="ko-KR" altLang="en-US" sz="1400" dirty="0">
                  <a:solidFill>
                    <a:srgbClr val="0D2F6E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모두 기록</a:t>
              </a:r>
              <a:endParaRPr lang="ko-KR" altLang="en-US" sz="14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4160520" y="1742981"/>
            <a:ext cx="1404231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관찰이 바꾼 설계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2041251"/>
            <a:ext cx="1188720" cy="254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160520" y="2187555"/>
            <a:ext cx="4160520" cy="12700"/>
          </a:xfrm>
          <a:prstGeom prst="rect">
            <a:avLst/>
          </a:prstGeom>
          <a:solidFill>
            <a:srgbClr val="0D2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15383" y="2251563"/>
            <a:ext cx="41838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 err="1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제한점</a:t>
            </a:r>
            <a:endParaRPr lang="ko-KR" altLang="en-US" sz="1200" b="0" dirty="0">
              <a:solidFill>
                <a:srgbClr val="0D2F6E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87618" y="2251563"/>
            <a:ext cx="217855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바뀐 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2498451"/>
            <a:ext cx="4160520" cy="9525"/>
          </a:xfrm>
          <a:prstGeom prst="rect">
            <a:avLst/>
          </a:prstGeom>
          <a:solidFill>
            <a:srgbClr val="B5D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15383" y="2617323"/>
            <a:ext cx="133209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스마트폰 화면이 작음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7618" y="2617323"/>
            <a:ext cx="178895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0B39A"/>
                </a:solidFill>
                <a:latin typeface="나눔스퀘어라운드 Bold"/>
                <a:ea typeface="나눔스퀘어라운드 Bold"/>
                <a:cs typeface="나눔스퀘어라운드 Bold"/>
              </a:rPr>
              <a:t>큰 화면의 전용 디바이스로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60520" y="2919075"/>
            <a:ext cx="4160520" cy="420624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15383" y="3037947"/>
            <a:ext cx="105317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조작 어려움 느낌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7618" y="3037947"/>
            <a:ext cx="172643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0B39A"/>
                </a:solidFill>
                <a:latin typeface="나눔스퀘어라운드 Bold"/>
                <a:ea typeface="나눔스퀘어라운드 Bold"/>
                <a:cs typeface="나눔스퀘어라운드 Bold"/>
              </a:rPr>
              <a:t>메뉴 없이 버튼 네 개로 작동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15383" y="3458571"/>
            <a:ext cx="105317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 err="1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햅틱</a:t>
            </a:r>
            <a:r>
              <a:rPr lang="ko-KR" altLang="en-US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 반응의 부재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7618" y="3458571"/>
            <a:ext cx="182742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0B39A"/>
                </a:solidFill>
                <a:latin typeface="나눔스퀘어라운드 Bold"/>
                <a:ea typeface="나눔스퀘어라운드 Bold"/>
                <a:cs typeface="나눔스퀘어라운드 Bold"/>
              </a:rPr>
              <a:t>듣기 표시와 파형 시각화 제공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60520" y="3760323"/>
            <a:ext cx="4160520" cy="420624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15383" y="3879195"/>
            <a:ext cx="119263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작동 안내가 부족함</a:t>
            </a:r>
            <a:endParaRPr lang="ko-KR" altLang="en-US" sz="1200" b="0" dirty="0">
              <a:solidFill>
                <a:srgbClr val="0D2F6E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087618" y="3879195"/>
            <a:ext cx="196688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0B39A"/>
                </a:solidFill>
                <a:latin typeface="나눔스퀘어라운드 Bold"/>
                <a:ea typeface="나눔스퀘어라운드 Bold"/>
                <a:cs typeface="나눔스퀘어라운드 Bold"/>
              </a:rPr>
              <a:t>문항에 대한 설명을 충분히 제공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15383" y="4299819"/>
            <a:ext cx="147155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dirty="0" err="1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폴더폰을</a:t>
            </a:r>
            <a:r>
              <a:rPr lang="ko-KR" altLang="en-US" sz="120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 사용하는 경우</a:t>
            </a:r>
            <a:endParaRPr lang="ko-KR" altLang="en-US" sz="1200" b="0" dirty="0">
              <a:solidFill>
                <a:srgbClr val="0D2F6E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087618" y="4299819"/>
            <a:ext cx="192841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0B39A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가정에 두는 </a:t>
            </a:r>
            <a:r>
              <a:rPr lang="ko-KR" altLang="en-US" sz="1200" dirty="0">
                <a:solidFill>
                  <a:srgbClr val="00B39A"/>
                </a:solidFill>
                <a:latin typeface="나눔스퀘어라운드 Bold"/>
                <a:ea typeface="나눔스퀘어라운드 Bold"/>
                <a:cs typeface="나눔스퀘어라운드 Bold"/>
              </a:rPr>
              <a:t>전용 디바이스</a:t>
            </a:r>
            <a:r>
              <a:rPr lang="ko-KR" altLang="en-US" sz="1200" b="0" dirty="0">
                <a:solidFill>
                  <a:srgbClr val="00B39A"/>
                </a:solidFill>
                <a:latin typeface="나눔스퀘어라운드 Bold"/>
                <a:ea typeface="나눔스퀘어라운드 Bold"/>
                <a:cs typeface="나눔스퀘어라운드 Bold"/>
              </a:rPr>
              <a:t>로 작동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60520" y="4601571"/>
            <a:ext cx="4160520" cy="9525"/>
          </a:xfrm>
          <a:prstGeom prst="rect">
            <a:avLst/>
          </a:prstGeom>
          <a:solidFill>
            <a:srgbClr val="B5D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60520" y="4860448"/>
            <a:ext cx="3747821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다섯 가지 제한점을 확인하고 새롭게 설계했습니다</a:t>
            </a:r>
            <a:r>
              <a:rPr lang="en-US" altLang="ko-KR" sz="14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. </a:t>
            </a:r>
            <a:endParaRPr lang="ko-KR" altLang="en-US" sz="1400" b="0" dirty="0">
              <a:solidFill>
                <a:srgbClr val="0D2F6E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046834" y="1742981"/>
            <a:ext cx="862416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10월 실증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46834" y="2041251"/>
            <a:ext cx="1188720" cy="254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B5D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치매링고 · 보편교육연구소 · Appendix · 20명 베타테스트의 성격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17</a:t>
            </a:r>
          </a:p>
        </p:txBody>
      </p:sp>
      <p:pic>
        <p:nvPicPr>
          <p:cNvPr id="66" name="Picture 6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649" y="250000"/>
            <a:ext cx="822960" cy="822960"/>
          </a:xfrm>
          <a:prstGeom prst="rect">
            <a:avLst/>
          </a:prstGeom>
          <a:effectLst/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A479F0F2-4ACE-50A8-429B-5865AEA2EB21}"/>
              </a:ext>
            </a:extLst>
          </p:cNvPr>
          <p:cNvSpPr txBox="1"/>
          <p:nvPr/>
        </p:nvSpPr>
        <p:spPr>
          <a:xfrm>
            <a:off x="9046834" y="2118255"/>
            <a:ext cx="3012382" cy="20964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4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2X2 </a:t>
            </a:r>
            <a:r>
              <a:rPr lang="ko-KR" altLang="en-US" sz="14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버튼 디바이스의 사용성 검증</a:t>
            </a:r>
          </a:p>
          <a:p>
            <a:pPr>
              <a:lnSpc>
                <a:spcPct val="200000"/>
              </a:lnSpc>
            </a:pPr>
            <a:r>
              <a:rPr lang="ko-KR" altLang="en-US" sz="14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사용자 맞춤형 문항 고도화</a:t>
            </a:r>
            <a:endParaRPr lang="en-US" altLang="ko-KR" sz="1400" dirty="0">
              <a:solidFill>
                <a:srgbClr val="0D2F6E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>
              <a:lnSpc>
                <a:spcPct val="200000"/>
              </a:lnSpc>
            </a:pPr>
            <a:r>
              <a:rPr lang="ko-KR" altLang="en-US" sz="14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음성인식 추가 검증</a:t>
            </a:r>
            <a:endParaRPr lang="en-US" altLang="ko-KR" sz="1400" dirty="0">
              <a:solidFill>
                <a:srgbClr val="0D2F6E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>
              <a:lnSpc>
                <a:spcPct val="200000"/>
              </a:lnSpc>
            </a:pPr>
            <a:r>
              <a:rPr lang="ko-KR" altLang="en-US" sz="1400" dirty="0" err="1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백엔드</a:t>
            </a:r>
            <a:r>
              <a:rPr lang="ko-KR" altLang="en-US" sz="14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 구축 완료</a:t>
            </a:r>
          </a:p>
          <a:p>
            <a:pPr>
              <a:lnSpc>
                <a:spcPct val="200000"/>
              </a:lnSpc>
            </a:pPr>
            <a:r>
              <a:rPr lang="ko-KR" altLang="en-US" sz="14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가정 보급 </a:t>
            </a:r>
            <a:r>
              <a:rPr lang="ko-KR" altLang="en-US" sz="1400" dirty="0" err="1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채널</a:t>
            </a:r>
            <a:r>
              <a:rPr lang="ko-KR" altLang="en-US" sz="14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 구축</a:t>
            </a:r>
            <a:endParaRPr lang="ko-KR" altLang="en-US" sz="1400" b="0" dirty="0">
              <a:solidFill>
                <a:srgbClr val="0D2F6E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2002151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73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개인정보 취급</a:t>
            </a:r>
            <a:endParaRPr lang="ko-KR" altLang="en-US" sz="2730" b="0" dirty="0">
              <a:solidFill>
                <a:srgbClr val="2F80ED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4150175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이름 대신 번호로 저장 · 역할마다 열람 범위 제한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19254"/>
            <a:ext cx="135293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개인정보 처리경로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972259"/>
            <a:ext cx="1188720" cy="254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2118563"/>
            <a:ext cx="3429000" cy="310896"/>
          </a:xfrm>
          <a:prstGeom prst="roundRect">
            <a:avLst>
              <a:gd name="adj" fmla="val 50000"/>
            </a:avLst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82571"/>
            <a:ext cx="3127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① 가정에서 보호자가 등록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484323"/>
            <a:ext cx="34290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548331"/>
            <a:ext cx="3127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② 동의서는 가족이 보관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850083"/>
            <a:ext cx="3429000" cy="310896"/>
          </a:xfrm>
          <a:prstGeom prst="roundRect">
            <a:avLst>
              <a:gd name="adj" fmla="val 50000"/>
            </a:avLst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914091"/>
            <a:ext cx="3127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③ 카드에서 읽는 것은 카드 번호 하나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215843"/>
            <a:ext cx="34290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279851"/>
            <a:ext cx="186589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④ 그 번호를 이용자 번호에 연결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581603"/>
            <a:ext cx="3429000" cy="310896"/>
          </a:xfrm>
          <a:prstGeom prst="roundRect">
            <a:avLst>
              <a:gd name="adj" fmla="val 50000"/>
            </a:avLst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645611"/>
            <a:ext cx="3127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⑤ 카드를 대면 바로 시작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986784"/>
            <a:ext cx="3429000" cy="9525"/>
          </a:xfrm>
          <a:prstGeom prst="rect">
            <a:avLst/>
          </a:prstGeom>
          <a:solidFill>
            <a:srgbClr val="B5D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4286631"/>
            <a:ext cx="135293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신상정보 보관방법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539636"/>
            <a:ext cx="1188720" cy="254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3699" y="4685940"/>
            <a:ext cx="172002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latin typeface="나눔스퀘어라운드 Bold" panose="020B0600000101010101" pitchFamily="34" charset="-127"/>
                <a:ea typeface="나눔스퀘어라운드 Bold" panose="020B0600000101010101" pitchFamily="34" charset="-127"/>
                <a:cs typeface="나눔스퀘어라운드 Regular"/>
              </a:rPr>
              <a:t>이름 · 연락처는 가족 쪽에만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99" y="4978548"/>
            <a:ext cx="133209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latin typeface="나눔스퀘어라운드 Bold" panose="020B0600000101010101" pitchFamily="34" charset="-127"/>
                <a:ea typeface="나눔스퀘어라운드 Bold" panose="020B0600000101010101" pitchFamily="34" charset="-127"/>
                <a:cs typeface="나눔스퀘어라운드 Regular"/>
              </a:rPr>
              <a:t>기기에는 번호만 쌓임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99" y="5271156"/>
            <a:ext cx="182742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latin typeface="나눔스퀘어라운드 Bold" panose="020B0600000101010101" pitchFamily="34" charset="-127"/>
                <a:ea typeface="나눔스퀘어라운드 Bold" panose="020B0600000101010101" pitchFamily="34" charset="-127"/>
                <a:cs typeface="나눔스퀘어라운드 Regular"/>
              </a:rPr>
              <a:t>기기는 이름을 갖고 있지 않음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1719254"/>
            <a:ext cx="123431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역할별 열람 범위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1972259"/>
            <a:ext cx="1188720" cy="254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43400" y="2118563"/>
            <a:ext cx="3246120" cy="12700"/>
          </a:xfrm>
          <a:prstGeom prst="rect">
            <a:avLst/>
          </a:prstGeom>
          <a:solidFill>
            <a:srgbClr val="0D2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98264" y="2173427"/>
            <a:ext cx="86410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역할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72099" y="2173427"/>
            <a:ext cx="216255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볼 수 있는 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2411171"/>
            <a:ext cx="3246120" cy="9525"/>
          </a:xfrm>
          <a:prstGeom prst="rect">
            <a:avLst/>
          </a:prstGeom>
          <a:solidFill>
            <a:srgbClr val="B5D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98264" y="2475179"/>
            <a:ext cx="27892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치매환자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72099" y="2475179"/>
            <a:ext cx="216255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본인의 오늘 활동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2722067"/>
            <a:ext cx="3246120" cy="310896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98264" y="2786075"/>
            <a:ext cx="86410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보호자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72099" y="2786075"/>
            <a:ext cx="216255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동의한 범위의 안부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98264" y="3096971"/>
            <a:ext cx="86410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전문가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72099" y="3096971"/>
            <a:ext cx="216255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동의한 관찰 기록 요약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43400" y="3343859"/>
            <a:ext cx="3246120" cy="310896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98264" y="3407867"/>
            <a:ext cx="86410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가족 관리자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72099" y="3407867"/>
            <a:ext cx="216255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등록 · 동의 · 참여 여부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43400" y="3654755"/>
            <a:ext cx="3246120" cy="9525"/>
          </a:xfrm>
          <a:prstGeom prst="rect">
            <a:avLst/>
          </a:prstGeom>
          <a:solidFill>
            <a:srgbClr val="B5D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343400" y="3685032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전문가 = 상담사 · 의료 전문가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3886200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가족 = 등록과 사용법 안내 담당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43400" y="4169663"/>
            <a:ext cx="3246120" cy="9525"/>
          </a:xfrm>
          <a:prstGeom prst="rect">
            <a:avLst/>
          </a:prstGeom>
          <a:solidFill>
            <a:srgbClr val="B5D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343400" y="4415193"/>
            <a:ext cx="1561325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무엇이 서버에 남는가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43400" y="4668198"/>
            <a:ext cx="1188720" cy="254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343400" y="4814502"/>
            <a:ext cx="199413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보관</a:t>
            </a:r>
            <a:r>
              <a:rPr lang="en-US" altLang="ko-KR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:</a:t>
            </a:r>
            <a:r>
              <a:rPr lang="ko-KR" altLang="en-US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 번호 · 활동 기록 · 전사 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43400" y="5052246"/>
            <a:ext cx="128080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보관</a:t>
            </a:r>
            <a:r>
              <a:rPr lang="en-US" altLang="ko-KR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:</a:t>
            </a:r>
            <a:r>
              <a:rPr lang="ko-KR" altLang="en-US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 이용자 음성 원본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43400" y="5289990"/>
            <a:ext cx="210634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latin typeface="나눔스퀘어라운드 Bold" panose="020B0600000101010101" pitchFamily="34" charset="-127"/>
                <a:ea typeface="나눔스퀘어라운드 Bold" panose="020B0600000101010101" pitchFamily="34" charset="-127"/>
                <a:cs typeface="나눔스퀘어라운드 Regular"/>
              </a:rPr>
              <a:t>실험 단계에서는 자료를 모두 보관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43400" y="5527734"/>
            <a:ext cx="138980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latin typeface="나눔스퀘어라운드 Bold"/>
                <a:ea typeface="나눔스퀘어라운드 Bold"/>
                <a:cs typeface="나눔스퀘어라운드 Bold"/>
              </a:rPr>
              <a:t>익명화</a:t>
            </a:r>
            <a:r>
              <a:rPr lang="en-US" altLang="ko-KR" sz="1200" b="0" dirty="0">
                <a:latin typeface="나눔스퀘어라운드 Bold"/>
                <a:ea typeface="나눔스퀘어라운드 Bold"/>
                <a:cs typeface="나눔스퀘어라운드 Bold"/>
              </a:rPr>
              <a:t>:</a:t>
            </a:r>
            <a:r>
              <a:rPr lang="ko-KR" altLang="en-US" sz="1200" b="0" dirty="0">
                <a:latin typeface="나눔스퀘어라운드 Bold"/>
                <a:ea typeface="나눔스퀘어라운드 Bold"/>
                <a:cs typeface="나눔스퀘어라운드 Bold"/>
              </a:rPr>
              <a:t xml:space="preserve"> 이름 · 연락처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01000" y="1719254"/>
            <a:ext cx="123431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이용중단 시 조치</a:t>
            </a:r>
            <a:endParaRPr lang="ko-KR" altLang="en-US" sz="1400" b="0" dirty="0">
              <a:solidFill>
                <a:srgbClr val="0D2F6E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8001000" y="1972259"/>
            <a:ext cx="1188720" cy="254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8010144" y="2167331"/>
            <a:ext cx="91440" cy="91440"/>
          </a:xfrm>
          <a:prstGeom prst="ellipse">
            <a:avLst/>
          </a:prstGeom>
          <a:solidFill>
            <a:srgbClr val="00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220456" y="2118563"/>
            <a:ext cx="337413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얼마나 보관하는지 미리 알림</a:t>
            </a:r>
          </a:p>
        </p:txBody>
      </p:sp>
      <p:sp>
        <p:nvSpPr>
          <p:cNvPr id="56" name="Oval 55"/>
          <p:cNvSpPr/>
          <p:nvPr/>
        </p:nvSpPr>
        <p:spPr>
          <a:xfrm>
            <a:off x="8010144" y="2459939"/>
            <a:ext cx="91440" cy="91440"/>
          </a:xfrm>
          <a:prstGeom prst="ellipse">
            <a:avLst/>
          </a:prstGeom>
          <a:solidFill>
            <a:srgbClr val="00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220456" y="2411171"/>
            <a:ext cx="337413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동의를 거두면 그 자리에서 수집 중단</a:t>
            </a:r>
          </a:p>
        </p:txBody>
      </p:sp>
      <p:sp>
        <p:nvSpPr>
          <p:cNvPr id="58" name="Oval 57"/>
          <p:cNvSpPr/>
          <p:nvPr/>
        </p:nvSpPr>
        <p:spPr>
          <a:xfrm>
            <a:off x="8010144" y="2752547"/>
            <a:ext cx="91440" cy="91440"/>
          </a:xfrm>
          <a:prstGeom prst="ellipse">
            <a:avLst/>
          </a:prstGeom>
          <a:solidFill>
            <a:srgbClr val="00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220456" y="2703779"/>
            <a:ext cx="337413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그때까지 쌓인 기록은 파기가 원칙</a:t>
            </a:r>
          </a:p>
        </p:txBody>
      </p:sp>
      <p:sp>
        <p:nvSpPr>
          <p:cNvPr id="60" name="Oval 59"/>
          <p:cNvSpPr/>
          <p:nvPr/>
        </p:nvSpPr>
        <p:spPr>
          <a:xfrm>
            <a:off x="8010144" y="3045155"/>
            <a:ext cx="91440" cy="91440"/>
          </a:xfrm>
          <a:prstGeom prst="ellipse">
            <a:avLst/>
          </a:prstGeom>
          <a:solidFill>
            <a:srgbClr val="00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220456" y="2996387"/>
            <a:ext cx="337413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지워졌는지 확인해 알려 줌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891272" y="3255264"/>
            <a:ext cx="3703320" cy="841248"/>
          </a:xfrm>
          <a:prstGeom prst="roundRect">
            <a:avLst>
              <a:gd name="adj" fmla="val 5500"/>
            </a:avLst>
          </a:prstGeom>
          <a:solidFill>
            <a:srgbClr val="F7F5F2"/>
          </a:solidFill>
          <a:ln w="9525">
            <a:solidFill>
              <a:srgbClr val="B5D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074152" y="3364992"/>
            <a:ext cx="55784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예외조항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74152" y="3584448"/>
            <a:ext cx="333756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이름을 지운 뒤 분석에 들어간 자료는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74152" y="3803904"/>
            <a:ext cx="333756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되돌릴 수 없어 동의서에 미리 고지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01000" y="4233399"/>
            <a:ext cx="3593592" cy="9525"/>
          </a:xfrm>
          <a:prstGeom prst="rect">
            <a:avLst/>
          </a:prstGeom>
          <a:solidFill>
            <a:srgbClr val="B5D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001000" y="4469875"/>
            <a:ext cx="1070806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카드 </a:t>
            </a:r>
            <a:r>
              <a:rPr lang="ko-KR" altLang="en-US" sz="1400" b="0" dirty="0" err="1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태깅</a:t>
            </a:r>
            <a:r>
              <a:rPr lang="ko-KR" altLang="en-US" sz="14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 구현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01000" y="4722880"/>
            <a:ext cx="1188720" cy="254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001000" y="4869184"/>
            <a:ext cx="249267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dirty="0">
                <a:latin typeface="나눔스퀘어라운드 Bold"/>
                <a:ea typeface="나눔스퀘어라운드 Bold"/>
                <a:cs typeface="나눔스퀘어라운드 Bold"/>
              </a:rPr>
              <a:t>구현완료</a:t>
            </a:r>
            <a:r>
              <a:rPr lang="en-US" altLang="ko-KR" sz="1200" dirty="0">
                <a:latin typeface="나눔스퀘어라운드 Bold"/>
                <a:ea typeface="나눔스퀘어라운드 Bold"/>
                <a:cs typeface="나눔스퀘어라운드 Bold"/>
              </a:rPr>
              <a:t>:</a:t>
            </a:r>
            <a:r>
              <a:rPr lang="ko-KR" altLang="en-US" sz="1200" b="0" dirty="0">
                <a:latin typeface="나눔스퀘어라운드 Bold"/>
                <a:ea typeface="나눔스퀘어라운드 Bold"/>
                <a:cs typeface="나눔스퀘어라운드 Bold"/>
              </a:rPr>
              <a:t xml:space="preserve"> NFC 카드 리더기로 카드 인식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01000" y="5106928"/>
            <a:ext cx="257442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latin typeface="나눔스퀘어라운드 Bold"/>
                <a:ea typeface="나눔스퀘어라운드 Bold"/>
                <a:cs typeface="나눔스퀘어라운드 Bold"/>
              </a:rPr>
              <a:t>구현완료</a:t>
            </a:r>
            <a:r>
              <a:rPr lang="en-US" altLang="ko-KR" sz="1200" b="0" dirty="0">
                <a:latin typeface="나눔스퀘어라운드 Bold"/>
                <a:ea typeface="나눔스퀘어라운드 Bold"/>
                <a:cs typeface="나눔스퀘어라운드 Bold"/>
              </a:rPr>
              <a:t xml:space="preserve">: </a:t>
            </a:r>
            <a:r>
              <a:rPr lang="ko-KR" altLang="en-US" sz="1200" b="0" dirty="0">
                <a:latin typeface="나눔스퀘어라운드 Bold"/>
                <a:ea typeface="나눔스퀘어라운드 Bold"/>
                <a:cs typeface="나눔스퀘어라운드 Bold"/>
              </a:rPr>
              <a:t>번호로만 저장하고 지우는 기능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01000" y="5344672"/>
            <a:ext cx="257442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latin typeface="나눔스퀘어라운드 Bold"/>
                <a:ea typeface="나눔스퀘어라운드 Bold"/>
                <a:cs typeface="나눔스퀘어라운드 Bold"/>
              </a:rPr>
              <a:t>구현예정</a:t>
            </a:r>
            <a:r>
              <a:rPr lang="en-US" altLang="ko-KR" sz="1200" b="0" dirty="0">
                <a:latin typeface="나눔스퀘어라운드 Bold"/>
                <a:ea typeface="나눔스퀘어라운드 Bold"/>
                <a:cs typeface="나눔스퀘어라운드 Bold"/>
              </a:rPr>
              <a:t xml:space="preserve">: </a:t>
            </a:r>
            <a:r>
              <a:rPr lang="ko-KR" altLang="en-US" sz="1200" b="0" dirty="0">
                <a:latin typeface="나눔스퀘어라운드 Bold"/>
                <a:ea typeface="나눔스퀘어라운드 Bold"/>
                <a:cs typeface="나눔스퀘어라운드 Bold"/>
              </a:rPr>
              <a:t>가족 계정으로 로그인 연동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B5D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치매링고 · 보편교육연구소 · Appendix · 개인정보를 다루는 방식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18</a:t>
            </a:r>
          </a:p>
        </p:txBody>
      </p:sp>
      <p:pic>
        <p:nvPicPr>
          <p:cNvPr id="76" name="Picture 7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649" y="250000"/>
            <a:ext cx="822960" cy="82296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D08BF-EA1A-93FC-5D77-5FF026D65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9BED70-EEEA-ABC4-5207-8F7B395907CD}"/>
              </a:ext>
            </a:extLst>
          </p:cNvPr>
          <p:cNvSpPr txBox="1"/>
          <p:nvPr/>
        </p:nvSpPr>
        <p:spPr>
          <a:xfrm>
            <a:off x="594360" y="420624"/>
            <a:ext cx="1331134" cy="1908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 dirty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</a:t>
            </a:r>
            <a:r>
              <a:rPr lang="en-US" altLang="ko-KR" sz="1240" b="0" spc="140" dirty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7</a:t>
            </a:r>
            <a:endParaRPr lang="ko-KR" altLang="en-US" sz="1240" b="0" spc="140" dirty="0">
              <a:solidFill>
                <a:srgbClr val="2F80ED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B342F6-261A-8040-8BE4-878EB6FD47A7}"/>
              </a:ext>
            </a:extLst>
          </p:cNvPr>
          <p:cNvSpPr txBox="1"/>
          <p:nvPr/>
        </p:nvSpPr>
        <p:spPr>
          <a:xfrm>
            <a:off x="594360" y="694944"/>
            <a:ext cx="2321148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73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개인정보 동의서</a:t>
            </a:r>
            <a:endParaRPr lang="ko-KR" altLang="en-US" sz="2730" b="0" dirty="0">
              <a:solidFill>
                <a:srgbClr val="2F80ED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CABD53-9DE0-0926-829A-E2B29EB34A83}"/>
              </a:ext>
            </a:extLst>
          </p:cNvPr>
          <p:cNvSpPr txBox="1"/>
          <p:nvPr/>
        </p:nvSpPr>
        <p:spPr>
          <a:xfrm>
            <a:off x="594360" y="1220724"/>
            <a:ext cx="3994683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국내·해외에서 쓸 개인정보 동의서 제작 완료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16A9F9-655A-331D-5420-8A41AEA4B2EF}"/>
              </a:ext>
            </a:extLst>
          </p:cNvPr>
          <p:cNvSpPr txBox="1"/>
          <p:nvPr/>
        </p:nvSpPr>
        <p:spPr>
          <a:xfrm>
            <a:off x="594360" y="1719254"/>
            <a:ext cx="327013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한국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6E4396-555D-E88F-D491-FA91E422A4DF}"/>
              </a:ext>
            </a:extLst>
          </p:cNvPr>
          <p:cNvSpPr/>
          <p:nvPr/>
        </p:nvSpPr>
        <p:spPr>
          <a:xfrm>
            <a:off x="594360" y="1972259"/>
            <a:ext cx="1188720" cy="254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158E90-F8B2-C477-23BB-68D77AB61C01}"/>
              </a:ext>
            </a:extLst>
          </p:cNvPr>
          <p:cNvSpPr txBox="1"/>
          <p:nvPr/>
        </p:nvSpPr>
        <p:spPr>
          <a:xfrm>
            <a:off x="6045457" y="1719254"/>
            <a:ext cx="327013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해외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9FC7CC-81D4-D593-B090-171E61D0A8FD}"/>
              </a:ext>
            </a:extLst>
          </p:cNvPr>
          <p:cNvSpPr/>
          <p:nvPr/>
        </p:nvSpPr>
        <p:spPr>
          <a:xfrm>
            <a:off x="6045457" y="1972259"/>
            <a:ext cx="1188720" cy="254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EB5E8B2-A251-23D4-3222-A04AA9A1F080}"/>
              </a:ext>
            </a:extLst>
          </p:cNvPr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B5D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94CD055-2A99-23A6-00F5-FAE3ED5CEE91}"/>
              </a:ext>
            </a:extLst>
          </p:cNvPr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치매링고 · 보편교육연구소 · Appendix · 개인정보를 다루는 방식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42BE59C-C2A5-71DF-6929-04C839C9BC0D}"/>
              </a:ext>
            </a:extLst>
          </p:cNvPr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18</a:t>
            </a:r>
          </a:p>
        </p:txBody>
      </p:sp>
      <p:pic>
        <p:nvPicPr>
          <p:cNvPr id="76" name="Picture 75" descr="logo.png">
            <a:extLst>
              <a:ext uri="{FF2B5EF4-FFF2-40B4-BE49-F238E27FC236}">
                <a16:creationId xmlns:a16="http://schemas.microsoft.com/office/drawing/2014/main" id="{275E2CCD-C77F-BA4D-DC93-932902053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649" y="250000"/>
            <a:ext cx="822960" cy="822960"/>
          </a:xfrm>
          <a:prstGeom prst="rect">
            <a:avLst/>
          </a:prstGeom>
          <a:effectLst/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3778ED15-3E8E-D766-1F75-C993751142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607405" y="1499337"/>
            <a:ext cx="3824682" cy="494857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B967825-7EC9-D355-1CDF-C2843E7B12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061286"/>
            <a:ext cx="4948578" cy="3822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1214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E3B56-C810-DA49-69C5-FCDC8AFE2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6ED278-1101-3159-845A-2AA3DB50EB4A}"/>
              </a:ext>
            </a:extLst>
          </p:cNvPr>
          <p:cNvSpPr txBox="1"/>
          <p:nvPr/>
        </p:nvSpPr>
        <p:spPr>
          <a:xfrm>
            <a:off x="594360" y="420624"/>
            <a:ext cx="1331134" cy="1908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240" b="0" spc="140" dirty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APPENDIX </a:t>
            </a:r>
            <a:r>
              <a:rPr lang="ko-KR" altLang="en-US" sz="1240" b="0" spc="140" dirty="0" err="1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A</a:t>
            </a:r>
            <a:r>
              <a:rPr lang="en-US" altLang="ko-KR" sz="1240" spc="140" dirty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08</a:t>
            </a:r>
            <a:endParaRPr lang="ko-KR" altLang="en-US" sz="1240" b="0" spc="140" dirty="0">
              <a:solidFill>
                <a:srgbClr val="2F80ED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0D992-43A8-0BA9-26BB-659A8435B99D}"/>
              </a:ext>
            </a:extLst>
          </p:cNvPr>
          <p:cNvSpPr txBox="1"/>
          <p:nvPr/>
        </p:nvSpPr>
        <p:spPr>
          <a:xfrm>
            <a:off x="594360" y="694944"/>
            <a:ext cx="2090316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73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한국 실증 계획</a:t>
            </a:r>
            <a:endParaRPr lang="ko-KR" altLang="en-US" sz="2730" b="0" dirty="0">
              <a:solidFill>
                <a:srgbClr val="2F80ED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C0E04B-8BAB-DABF-A4F5-2CB96E18520C}"/>
              </a:ext>
            </a:extLst>
          </p:cNvPr>
          <p:cNvSpPr txBox="1"/>
          <p:nvPr/>
        </p:nvSpPr>
        <p:spPr>
          <a:xfrm>
            <a:off x="594360" y="1220724"/>
            <a:ext cx="1578958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altLang="ko-KR" sz="158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IRB </a:t>
            </a:r>
            <a:r>
              <a:rPr lang="ko-KR" altLang="en-US" sz="158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심의 신청 완료</a:t>
            </a:r>
            <a:endParaRPr lang="ko-KR" altLang="en-US" sz="1580" b="0" dirty="0">
              <a:solidFill>
                <a:srgbClr val="0D2F6E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ADB69B-8E6C-8EC0-0F67-6FAD2DBA7236}"/>
              </a:ext>
            </a:extLst>
          </p:cNvPr>
          <p:cNvSpPr txBox="1"/>
          <p:nvPr/>
        </p:nvSpPr>
        <p:spPr>
          <a:xfrm>
            <a:off x="594360" y="1719254"/>
            <a:ext cx="1195840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altLang="ko-KR" sz="140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IRB </a:t>
            </a:r>
            <a:r>
              <a:rPr lang="ko-KR" altLang="en-US" sz="140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심의 신청서</a:t>
            </a:r>
            <a:endParaRPr lang="ko-KR" altLang="en-US" sz="1400" b="0" dirty="0">
              <a:solidFill>
                <a:srgbClr val="0D2F6E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5B5AB6-B64F-A21D-1581-91B8A961ADD6}"/>
              </a:ext>
            </a:extLst>
          </p:cNvPr>
          <p:cNvSpPr/>
          <p:nvPr/>
        </p:nvSpPr>
        <p:spPr>
          <a:xfrm>
            <a:off x="594360" y="1972259"/>
            <a:ext cx="1188720" cy="254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F21965-9D01-9A21-150A-3DEFEF68EFCB}"/>
              </a:ext>
            </a:extLst>
          </p:cNvPr>
          <p:cNvSpPr txBox="1"/>
          <p:nvPr/>
        </p:nvSpPr>
        <p:spPr>
          <a:xfrm>
            <a:off x="6045457" y="1719254"/>
            <a:ext cx="1195840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altLang="ko-KR" sz="140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IRB </a:t>
            </a:r>
            <a:r>
              <a:rPr lang="ko-KR" altLang="en-US" sz="140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연구 계획서</a:t>
            </a:r>
            <a:endParaRPr lang="ko-KR" altLang="en-US" sz="1400" b="0" dirty="0">
              <a:solidFill>
                <a:srgbClr val="0D2F6E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C2C5226-5823-AE66-71D6-4AC4BA83B125}"/>
              </a:ext>
            </a:extLst>
          </p:cNvPr>
          <p:cNvSpPr/>
          <p:nvPr/>
        </p:nvSpPr>
        <p:spPr>
          <a:xfrm>
            <a:off x="6045457" y="1972259"/>
            <a:ext cx="1188720" cy="254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C9B5DF5-56D3-24B2-BD07-F9AABBDD92AC}"/>
              </a:ext>
            </a:extLst>
          </p:cNvPr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B5D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1686565-A975-FFE2-ADCC-B4B332D3B5E3}"/>
              </a:ext>
            </a:extLst>
          </p:cNvPr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18</a:t>
            </a:r>
          </a:p>
        </p:txBody>
      </p:sp>
      <p:pic>
        <p:nvPicPr>
          <p:cNvPr id="76" name="Picture 75" descr="logo.png">
            <a:extLst>
              <a:ext uri="{FF2B5EF4-FFF2-40B4-BE49-F238E27FC236}">
                <a16:creationId xmlns:a16="http://schemas.microsoft.com/office/drawing/2014/main" id="{EF76D8BF-CF1F-19E7-6018-9481F77D8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649" y="250000"/>
            <a:ext cx="822960" cy="822960"/>
          </a:xfrm>
          <a:prstGeom prst="rect">
            <a:avLst/>
          </a:prstGeom>
          <a:effectLst/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AEF584F-65AC-4553-FF91-9C8BA69EB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5457" y="2116000"/>
            <a:ext cx="5484452" cy="382468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0CECD12-EA25-3FD8-080C-EC73F34CE6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114420"/>
            <a:ext cx="5162713" cy="382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959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</TotalTime>
  <Words>2807</Words>
  <Application>Microsoft Office PowerPoint</Application>
  <PresentationFormat>와이드스크린</PresentationFormat>
  <Paragraphs>670</Paragraphs>
  <Slides>20</Slides>
  <Notes>20</Notes>
  <HiddenSlides>0</HiddenSlides>
  <MMClips>1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7" baseType="lpstr">
      <vt:lpstr>나눔스퀘어라운드OTF Bold</vt:lpstr>
      <vt:lpstr>나눔스퀘어라운드 Regular</vt:lpstr>
      <vt:lpstr>Calibri</vt:lpstr>
      <vt:lpstr>나눔스퀘어라운드 ExtraBold</vt:lpstr>
      <vt:lpstr>Arial</vt:lpstr>
      <vt:lpstr>나눔스퀘어라운드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Hyenwoo Na</dc:creator>
  <cp:keywords/>
  <dc:description/>
  <cp:lastModifiedBy>Hyunjun Kim</cp:lastModifiedBy>
  <cp:revision>138</cp:revision>
  <dcterms:created xsi:type="dcterms:W3CDTF">2026-07-03T00:16:24Z</dcterms:created>
  <dcterms:modified xsi:type="dcterms:W3CDTF">2026-08-17T14:02:12Z</dcterms:modified>
  <cp:category/>
  <cp:contentStatus/>
  <dc:language/>
</cp:coreProperties>
</file>