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9"/>
    <p:sldId id="257" r:id="rId8"/>
    <p:sldId id="258" r:id="rId7"/>
    <p:sldId id="259" r:id="rId6"/>
    <p:sldId id="260" r:id="rId5"/>
    <p:sldId id="261" r:id="rId4"/>
    <p:sldId id="262" r:id="rId3"/>
    <p:sldId id="263" r:id="rId2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</p:sldIdLst>
  <p:sldSz cx="12192000" cy="6858000"/>
  <p:notesSz cx="6858000" cy="9144000"/>
  <p:embeddedFontLst>
    <p:embeddedFont>
      <p:font typeface="나눔스퀘어라운드 Regular" pitchFamily="34" charset="-127"/>
      <p:regular r:id="rId32"/>
    </p:embeddedFont>
    <p:embeddedFont>
      <p:font typeface="나눔스퀘어라운드 Bold" pitchFamily="34" charset="-127"/>
      <p:regular r:id="rId33"/>
    </p:embeddedFont>
    <p:embeddedFont>
      <p:font typeface="나눔스퀘어라운드 ExtraBold" pitchFamily="34" charset="-127"/>
      <p:regular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265"/>
    <a:srgbClr val="E46C0A"/>
    <a:srgbClr val="E4E4E4"/>
    <a:srgbClr val="FBF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813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[Timing] 25초 · 본문 1/12 · 누적 25초</a:t>
            </a:r>
          </a:p>
          <a:p>
            <a:r>
              <a:t>[Sources]</a:t>
            </a:r>
          </a:p>
          <a:p>
            <a:r>
              <a:t>· 히어로 이미지: 피우다프로젝트\일본인멘토_피드백\오가사_Haru_추출이미지\개발계획서_04_한국어_어르신_탁상형기기사용_p05.jpg</a:t>
            </a:r>
          </a:p>
          <a:p>
            <a:r>
              <a:t>  (개발계획서_오가사.pdf 5쪽 수록 제품 컨셉 렌더링 · 자사 제작 이미지 · 무보정, EXIF 정규화만 적용)</a:t>
            </a:r>
          </a:p>
          <a:p>
            <a:r>
              <a:t>· 로고: 기존발표자료\피우다중간발표_오가사_Haru.pptx ppt/media/image1.png (자사 브랜드 자산)</a:t>
            </a:r>
          </a:p>
          <a:p>
            <a:r>
              <a:t>· 제품 한 문장 정의: 결선발표\새흐름.txt 1쪽</a:t>
            </a:r>
          </a:p>
          <a:p>
            <a:r>
              <a:t>[말할 것]</a:t>
            </a:r>
          </a:p>
          <a:p>
            <a:r>
              <a:t>"Haru는 어르신이 화면과 같은 위치의 네 버튼으로 하루 활동을 수행하고,</a:t>
            </a:r>
          </a:p>
          <a:p>
            <a:r>
              <a:t> 그 기록을 다음 문항과 상담 준비에 활용하는 기관형 키오스크입니다."</a:t>
            </a:r>
          </a:p>
          <a:p>
            <a:r>
              <a:t>[사실 경계 · 화면 비표기 — 표지 이미지 · 질문 받을 때만 답변]</a:t>
            </a:r>
          </a:p>
          <a:p>
            <a:r>
              <a:t>· 이 이미지는 목표 제품 형태를 그린 컨셉 렌더링이며, 현재 제작된 시제품 사진이 아니다.</a:t>
            </a:r>
          </a:p>
          <a:p>
            <a:r>
              <a:t>  슬라이드에 '제품 컨셉 렌더링'으로 표기했고, 실제 시제품 사진과 실동작 영상은 5·6쪽에 있다.</a:t>
            </a:r>
          </a:p>
          <a:p>
            <a:r>
              <a:t>· 렌더링에 보이는 컬러 버튼 · 마이크 · 스피커 · NFC 카드 태그존은 목표 구성이다.</a:t>
            </a:r>
          </a:p>
          <a:p>
            <a:r>
              <a:t>  현재 시제품은 태블릿 + 물리 버튼 4개 구성이고, NFC 카드 로그인은 다음 현장 적용안이다 (A10).</a:t>
            </a:r>
          </a:p>
          <a:p>
            <a:r>
              <a:t>· 심사위원이 "이게 지금 만든 것이냐"고 물으면 컨셉 렌더링이라고 먼저 답하고 5·6쪽으로 넘어갈 것.</a:t>
            </a:r>
          </a:p>
          <a:p>
            <a:r>
              <a:t>· 화면에 표시된 문항 "영자 어르신, 오늘 기분은 어떠세요?" 및 4개 선택지는 실제 Day 1 Q1 화면과 동일하다.</a:t>
            </a:r>
          </a:p>
          <a:p>
            <a:r>
              <a:t>[사실 경계 — 제목 표현]</a:t>
            </a:r>
          </a:p>
          <a:p>
            <a:r>
              <a:t>· 표지 제목 'AI 개인화 두뇌운동 키오스크'에서 '개인화' = 저장된 근거를 다시 찾아 쓰는 것 (A09 정의).</a:t>
            </a:r>
          </a:p>
          <a:p>
            <a:r>
              <a:t>  42개 문항을 AI가 실시간 생성한다는 뜻이 아니다. 질문이 오면 8쪽 · A09로 답할 것.</a:t>
            </a:r>
          </a:p>
          <a:p>
            <a:r>
              <a:t>[사실 경계 — 제품 상태]</a:t>
            </a:r>
          </a:p>
          <a:p>
            <a:r>
              <a:t>· 고정 7일 앱은 Pi에서 오프라인 작동. STT·개인 기억은 별도 로컬 백엔드이며 현장형 통합은 진행 중.</a:t>
            </a:r>
          </a:p>
          <a:p>
            <a:r>
              <a:t>[데모 QR] 표지 오른쪽 아래 QR = https://haru-raspberry-pi.vercel.app/#/lesson (사용자 제공 이미지 그대로 삽입).</a:t>
            </a:r>
          </a:p>
          <a:p>
            <a:r>
              <a:t>  전체 자료 중 QR은 이 1개뿐. 발표 전날 접속 확인할 것.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[Timing] 40초 · 본문 2/12 · 누적 65초</a:t>
            </a:r>
          </a:p>
          <a:p>
            <a:r>
              <a:t>[Sources] (조회일 2026-08-17)</a:t>
            </a:r>
          </a:p>
          <a:p>
            <a:r>
              <a:t>· 한국 65세 이상 20.3% (2025) — 국가데이터처, 2025 고령자 통계</a:t>
            </a:r>
          </a:p>
          <a:p>
            <a:r>
              <a:t>  https://kostat.go.kr/board.es?act=view&amp;bid=10820&amp;list_no=438832&amp;mid=a10301060100</a:t>
            </a:r>
          </a:p>
          <a:p>
            <a:r>
              <a:t>· 추정 치매 인구 약 101만 명 (2026 전망) — 보건복지부, 2023년 치매역학조사 및 실태조사 결과</a:t>
            </a:r>
          </a:p>
          <a:p>
            <a:r>
              <a:t>  https://www.mohw.go.kr/board.es?act=view&amp;bid=0027&amp;list_no=1484959&amp;mid=a10503010300</a:t>
            </a:r>
          </a:p>
          <a:p>
            <a:r>
              <a:t>· 일본 65세 이상 29.4% (2025) — 일본 총무성 통계국, 2025 고령자 통계</a:t>
            </a:r>
          </a:p>
          <a:p>
            <a:r>
              <a:t>  https://www.stat.go.jp/data/topics/topi1460.html</a:t>
            </a:r>
          </a:p>
          <a:p>
            <a:r>
              <a:t>· 레이아웃: 중간발표 2쪽 3열 구조 계승</a:t>
            </a:r>
          </a:p>
          <a:p>
            <a:r>
              <a:t>[화면에서 뺀 것] '지역사회 치매 환자 가족의 45.8%가 돌봄 부담' 문장은 사용자 지시로 슬라이드에서 삭제했다.</a:t>
            </a:r>
          </a:p>
          <a:p>
            <a:r>
              <a:t>  출처는 위 보건복지부 2023 치매역학조사 보고서. 필요하면 구두로만 인용할 것.</a:t>
            </a:r>
          </a:p>
          <a:p>
            <a:r>
              <a:t>[강조] '변화는 진단 이전에 시작되는데, 매일을 남기는 수단이 없습니다' 를 이 슬라이드의 단 하나의 문장으로</a:t>
            </a:r>
          </a:p>
          <a:p>
            <a:r>
              <a:t>  띠 안에 크게 넣었다. 이 문장을 말할 때 잠깐 멈출 것.</a:t>
            </a:r>
          </a:p>
          <a:p>
            <a:r>
              <a:t>[발표 시 확인] 세 통계 모두 발표 전날 원문 페이지 재확인 후 수치·기준연도 갱신할 것.</a:t>
            </a:r>
          </a:p>
          <a:p>
            <a:r>
              <a:t>[사실 경계] 진단·치료·예방 효과 주장 없음. 통계는 문제 규모 제시용.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[Timing] 30초 · 본문 3/12 · 누적 95초</a:t>
            </a:r>
          </a:p>
          <a:p>
            <a:r>
              <a:t>[Sources]</a:t>
            </a:r>
          </a:p>
          <a:p>
            <a:r>
              <a:t>· 구조: 중간발표 3쪽 중앙 Haru + 4방향 연결 구조 계승 (기존발표자료\피우다중간발표_오가사_Haru.pptx 3쪽)</a:t>
            </a:r>
          </a:p>
          <a:p>
            <a:r>
              <a:t>· 하단 'MMSE · CIST 인지영역을 일상 문항으로 변환' 띠도 중간발표 3쪽 하단 띠를 계승 (사용자 지시)</a:t>
            </a:r>
          </a:p>
          <a:p>
            <a:r>
              <a:t>  — 예시 문항 3개 중 '도형 따라 그리기'는 현재 42개 구성에 없어 '속담 뜻 고르기'(언어)로 교체함.</a:t>
            </a:r>
          </a:p>
          <a:p>
            <a:r>
              <a:t>· 이해관계자별 가치 정의: 결선발표\새흐름.txt 3쪽, 개발계획서_오가사.pdf</a:t>
            </a:r>
          </a:p>
          <a:p>
            <a:r>
              <a:t>[말할 것]</a:t>
            </a:r>
          </a:p>
          <a:p>
            <a:r>
              <a:t>"어르신에게는 쉬운 활동, 보호자에게는 안부, 복지관에는 운영 기록,</a:t>
            </a:r>
          </a:p>
          <a:p>
            <a:r>
              <a:t> 의료진에게는 상담 준비 자료가 됩니다."</a:t>
            </a:r>
          </a:p>
          <a:p>
            <a:r>
              <a:t>[사실 경계 · 화면 비표기 — 질문 받을 때만 답변]</a:t>
            </a:r>
          </a:p>
          <a:p>
            <a:r>
              <a:t>· 3분 = 제품 목표 시간. 실측 평균이라고 말하지 말 것. (기존 표기 '3~5분 목표 시간' → 사용자 지시로 '하루 3분 루틴')</a:t>
            </a:r>
          </a:p>
          <a:p>
            <a:r>
              <a:t>· 하단 띠는 '인지 영역'만 참고했다는 뜻이다. 공식 검사 문항 · 배점 · 컷오프 복제 없음 (A01 참조).</a:t>
            </a:r>
          </a:p>
          <a:p>
            <a:r>
              <a:t>· 의료기관 제공은 진단 결과가 아니라 사용자가 동의한 관찰 기록만.</a:t>
            </a:r>
          </a:p>
          <a:p>
            <a:r>
              <a:t>· 기관 계약 체결 상태 아님.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[Timing] 35초 · 본문 4/12 · 누적 130초</a:t>
            </a:r>
          </a:p>
          <a:p>
            <a:r>
              <a:t>[Sources]</a:t>
            </a:r>
          </a:p>
          <a:p>
            <a:r>
              <a:t>· 표 형식: 중간발표 7쪽 기능 대응표 계승 (기존발표자료\피우다중간발표_오가사_Haru.pptx 7쪽)</a:t>
            </a:r>
          </a:p>
          <a:p>
            <a:r>
              <a:t>  — 사용자 지시로 포지셔닝 버블맵을 폐기하고 이 비교표로 교체. 축 정의는 발표자 노트에만 남긴다 (A05 슬라이드는 사용자 지시로 삭제).</a:t>
            </a:r>
          </a:p>
          <a:p>
            <a:r>
              <a:t>· 범주 정의: 결선발표\새흐름.txt 4쪽, 발표자료\AGENTS.md '경쟁사 맵 규칙'</a:t>
            </a:r>
          </a:p>
          <a:p>
            <a:r>
              <a:t>· 우측 3개 강점 문구: 사용자 지시 (2×2 버튼 · 음성 / 네 축 연결 / AI 개인화 문항)</a:t>
            </a:r>
          </a:p>
          <a:p>
            <a:r>
              <a:t>[말할 것]</a:t>
            </a:r>
          </a:p>
          <a:p>
            <a:r>
              <a:t>"기존 서비스도 각자 잘하는 게 있습니다. 다만 이 다섯 가지가 한 흐름 안에 있는 구조는 저희가 만든 것입니다."</a:t>
            </a:r>
          </a:p>
          <a:p>
            <a:r>
              <a:t>[사실 경계 · 화면 비표기 — 질문 받을 때만 답변]</a:t>
            </a:r>
          </a:p>
          <a:p>
            <a:r>
              <a:t>· 표는 범주 수준의 기능 제공 범위 비교이며 효과 · 정확도 · 가격 · 시장우위 비교가 아니다.</a:t>
            </a:r>
          </a:p>
          <a:p>
            <a:r>
              <a:t>· 'Haru만 가능', '경쟁사에는 개인화가 전혀 없음' 같은 절대 표현 사용 금지.</a:t>
            </a:r>
          </a:p>
          <a:p>
            <a:r>
              <a:t>  화면 문구도 'Haru뿐'이 아니라 '다섯 가지를 한 흐름으로'로 썼다.</a:t>
            </a:r>
          </a:p>
          <a:p>
            <a:r>
              <a:t>· 체크 표시는 각 범주의 핵심 제공 범위 기준이며, 개별 제품마다 예외가 있을 수 있다고 인정할 것.</a:t>
            </a:r>
          </a:p>
          <a:p>
            <a:r>
              <a:t>· 'AI 개인화 문항' = 저장된 근거를 다시 찾아 다음 문항 초안에 쓰는 것 (A09). 42개 실시간 생성 아님.</a:t>
            </a:r>
          </a:p>
          <a:p>
            <a:r>
              <a:t>[미확정] 개별 브랜드 삽입은 공식 제품 자료·조회일 확보 후에만.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[Timing] 40초 · 본문 5/12 · 누적 170초</a:t>
            </a:r>
          </a:p>
          <a:p>
            <a:r>
              <a:t>[Sources]</a:t>
            </a:r>
          </a:p>
          <a:p>
            <a:r>
              <a:t>· BEFORE 모바일 화면: 기존발표자료\피우다중간발표_오가사_Haru.pptx ppt/media/image2.jpg, image4.jpg (자사 초기 웹 MVP 캡처)</a:t>
            </a:r>
          </a:p>
          <a:p>
            <a:r>
              <a:t>· AFTER 실물 사진: 발표자료\목업\정면_블러처리.png (팀 자체 촬영 후 배경 블러 처리, 사용자 제공)</a:t>
            </a:r>
          </a:p>
          <a:p>
            <a:r>
              <a:t>  — 이전에 쓰던 실물_정면.jpeg는 주변 사무실 배경이 산만해 교체함. 기기 자체는 무보정.</a:t>
            </a:r>
          </a:p>
          <a:p>
            <a:r>
              <a:t>· 관찰·변경 4항목: 결선발표\결선발표_요구사항.txt 13~18행 (사용자 제공 현황)</a:t>
            </a:r>
          </a:p>
          <a:p>
            <a:r>
              <a:t>· 흐름 정의: 결선발표\새흐름.txt 5쪽</a:t>
            </a:r>
          </a:p>
          <a:p>
            <a:r>
              <a:t>[사용자 제공 현황]</a:t>
            </a:r>
          </a:p>
          <a:p>
            <a:r>
              <a:t>· "어플을 어려워 하셨음. 음성 인식이 제대로 되는 중인지 알아보기 어려웠고, 실제 음성인식 성공률도 낮았음."</a:t>
            </a:r>
          </a:p>
          <a:p>
            <a:r>
              <a:t>· "노인분들 눈도 귀도 잘 안들리심. 휴대폰 화면 너무 작음. 폴드·아이패드 살 돈도 없음."</a:t>
            </a:r>
          </a:p>
          <a:p>
            <a:r>
              <a:t>[화면 문구 · 사용자 지시]</a:t>
            </a:r>
          </a:p>
          <a:p>
            <a:r>
              <a:t>· 마무리 문장을 '20명의 막힘이 제품의 형태를 바꿨습니다' → '데모 버전을 활용한 실증을 통해,</a:t>
            </a:r>
          </a:p>
          <a:p>
            <a:r>
              <a:t>  어르신께 한 걸음 더 다가갈 수 있었습니다' 로 교체 (사용자 지시).</a:t>
            </a:r>
          </a:p>
          <a:p>
            <a:r>
              <a:t>· '확인한 세 가지' 3항목도 사용자가 직접 제시한 문장 (복잡한 조작 · 작은 글자 · 클릭 오류).</a:t>
            </a:r>
          </a:p>
          <a:p>
            <a:r>
              <a:t>· ★ 이 슬라이드에서 '실증'이라는 낱말을 전부 '베타테스트 · 사전 검증'으로 교체했다 (사용자 지시).</a:t>
            </a:r>
          </a:p>
          <a:p>
            <a:r>
              <a:t>  이유: 실증은 대회가 일본에서 제공하는 프로그램이다. 우리가 이미 실증을 마쳤다고 말하면</a:t>
            </a:r>
          </a:p>
          <a:p>
            <a:r>
              <a:t>  '그럼 실증이 왜 필요하냐'는 반문을 부른다. 우리가 한 것은 사전 검증이라고만 말할 것.</a:t>
            </a:r>
          </a:p>
          <a:p>
            <a:r>
              <a:t>[사실 경계 · 화면 비표기 — 질문 받을 때만 답변]</a:t>
            </a:r>
          </a:p>
          <a:p>
            <a:r>
              <a:t>· 지인 20명 = 기능·사용성 형성평가. 독립 대상자 연구·효과 검증 아님.</a:t>
            </a:r>
          </a:p>
          <a:p>
            <a:r>
              <a:t>· 정량 성공률·정확도·이탈률 수치는 본 슬라이드에서 사용하지 않음.</a:t>
            </a:r>
          </a:p>
          <a:p>
            <a:r>
              <a:t>· VoiceUX 자료의 가상 20 profiles·140 sessions는 어르신 20명과 완전히 별개이며 A05에서만 제시.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[Timing] 40초 · 본문 6/12 · 누적 210초 (영상 9.5초 포함)</a:t>
            </a:r>
          </a:p>
          <a:p>
            <a:r>
              <a:t>[Sources]</a:t>
            </a:r>
          </a:p>
          <a:p>
            <a:r>
              <a:t>· 실물 사진: 발표자료\목업\측면_블러처리 강하게.png (팀 자체 촬영 후 배경 블러 처리, 사용자 제공)</a:t>
            </a:r>
          </a:p>
          <a:p>
            <a:r>
              <a:t>  — 이전 실물_작동영상.mp4 프레임 크롭에서 교체. 화면에는 1일차 시작 안내와 물리 버튼 안내 칩(A~D)이 보인다.</a:t>
            </a:r>
          </a:p>
          <a:p>
            <a:r>
              <a:t>  ★ 사진 속 화면은 2×2 선택지 화면이 아니라 시작 안내 화면이다. 2×2 선택 화면은 우측 영상과 가운데 도해에 있다.</a:t>
            </a:r>
          </a:p>
          <a:p>
            <a:r>
              <a:t>· 삽입 영상: 발표자료\목업\실물_작동영상.mp4 22.5초~32.0초 구간을 9.5초로 잘라 재인코딩</a:t>
            </a:r>
          </a:p>
          <a:p>
            <a:r>
              <a:t>  (h264/aac, 608×1080, 1.1MB, 원본 무편집 · 속도 변경 없음)</a:t>
            </a:r>
          </a:p>
          <a:p>
            <a:r>
              <a:t>· 화면 문구는 실제 Pi 앱 Day 1 Q1 화면 그대로</a:t>
            </a:r>
          </a:p>
          <a:p>
            <a:r>
              <a:t>[말할 것]</a:t>
            </a:r>
          </a:p>
          <a:p>
            <a:r>
              <a:t>"버튼의 의미를 외우는 대신, 화면에서 보이는 위치를 그대로 누르게 했습니다.</a:t>
            </a:r>
          </a:p>
          <a:p>
            <a:r>
              <a:t> 이 2×2 위치 일치와 재입력 확정 구조가 저희 기술의 핵심이고, 특허 출원과 KCI 논문으로 진행 중입니다."</a:t>
            </a:r>
          </a:p>
          <a:p>
            <a:r>
              <a:t>[영상 재생] 슬라이드 진입 시 자동재생 설정. 미재생 시 클릭 1회. 영상 위 제목 '실제 구동 영상 · 9.5초'.</a:t>
            </a:r>
          </a:p>
          <a:p>
            <a:r>
              <a:t>[화면 문구 · 사용자 지시]</a:t>
            </a:r>
          </a:p>
          <a:p>
            <a:r>
              <a:t>· 사진 캡션 '실제 목업 · Day 1 기분 활동 화면' → '실물 목업 화면' (사진 위 제목으로 이동)</a:t>
            </a:r>
          </a:p>
          <a:p>
            <a:r>
              <a:t>· 영상 캡션 '실제 동작 9.5초 · 선택 → 확정' → 삭제, 영상 위 제목으로 대체</a:t>
            </a:r>
          </a:p>
          <a:p>
            <a:r>
              <a:t>· '물리 버튼 · 같은 자리' → '버튼의 색과 위치가 화면 문항과 그대로 대응합니다' 로 확장</a:t>
            </a:r>
          </a:p>
          <a:p>
            <a:r>
              <a:t>· 하단 특허 · 논문 문구를 작은 각주에서 강조 띠로 승격</a:t>
            </a:r>
          </a:p>
          <a:p>
            <a:r>
              <a:t>[사실 경계 · 화면 비표기 — 질문 받을 때만 답변]</a:t>
            </a:r>
          </a:p>
          <a:p>
            <a:r>
              <a:t>· ★ 실물 버튼 네 개는 회색 단색이다. 색 대응은 '화면 아래 물리 버튼 안내' 칩(A 분홍 · B 노랑 · C 초록 ·</a:t>
            </a:r>
          </a:p>
          <a:p>
            <a:r>
              <a:t>  D 파랑)과 선택지 카드의 색을 말하는 것이며, 도해의 버튼 색띠는 그 대응을 표시한 것이다.</a:t>
            </a:r>
          </a:p>
          <a:p>
            <a:r>
              <a:t>  "버튼에 색이 칠해져 있느냐"고 물으면 위와 같이 정확히 답할 것.</a:t>
            </a:r>
          </a:p>
          <a:p>
            <a:r>
              <a:t>· 특허는 출원 진행 상태. '등록', '권리 확보 완료' 표현 금지.</a:t>
            </a:r>
          </a:p>
          <a:p>
            <a:r>
              <a:t>· KCI 논문은 작성 중 상태. '게재', '게재 확정' 표현 금지.</a:t>
            </a:r>
          </a:p>
          <a:p>
            <a:r>
              <a:t>· 영상은 지인 시연이며 목표 연령대 독립 실증 영상이 아님.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[Timing] 40초 · 본문 7/12 · 누적 250초</a:t>
            </a:r>
          </a:p>
          <a:p>
            <a:r>
              <a:t>[Sources]</a:t>
            </a:r>
          </a:p>
          <a:p>
            <a:r>
              <a:t>· 6영역 카드 구조 = 중간발표 5쪽을 거의 그대로 계승 (사용자 지시)</a:t>
            </a:r>
          </a:p>
          <a:p>
            <a:r>
              <a:t>  기존발표자료\피우다중간발표_오가사_Haru.pptx 5쪽 (지남력 · 기억력 · 주의계산 · 언어 · 시공간 · 감정)</a:t>
            </a:r>
          </a:p>
          <a:p>
            <a:r>
              <a:t>· ★ 문항 캡처 6종을 이 슬라이드에서 뺐다 (사용자 지시 — 현장에서 목업으로 직접 보여줄 예정).</a:t>
            </a:r>
          </a:p>
          <a:p>
            <a:r>
              <a:t>  실제 화면을 물으면 6쪽 실물 사진 · 영상, 8쪽 4단계 흐름으로 답할 것.</a:t>
            </a:r>
          </a:p>
          <a:p>
            <a:r>
              <a:t>· 42개 구성 근거: src/data/haru7DayExercises.ts HARU_WEEK_PLAN / HARU_WEEK_QUESTION_BASE (7일 × 6문항 = 42)</a:t>
            </a:r>
          </a:p>
          <a:p>
            <a:r>
              <a:t>· 부제 'PHQ-9' 비유도 중간발표 5쪽 문장 계승. 우울 선별에 표준 도구가 있듯 인지에도 검증된 영역 체계가</a:t>
            </a:r>
          </a:p>
          <a:p>
            <a:r>
              <a:t>  있다는 뜻이며, Haru가 PHQ-9 · MMSE · CIST를 시행한다는 뜻이 아니다.</a:t>
            </a:r>
          </a:p>
          <a:p>
            <a:r>
              <a:t>· '인지 영역 / 기존 검사 방식 / Haru 일상 활동' 3단 대응은 중간발표 5쪽 구조를 이 슬라이드에 되살린 것</a:t>
            </a:r>
          </a:p>
          <a:p>
            <a:r>
              <a:t>  (사용자 지시). 6개 셀의 '기존 검사 · …' 줄이 중간발표 5쪽의 '기존 검사 · …' 줄에 해당한다.</a:t>
            </a:r>
          </a:p>
          <a:p>
            <a:r>
              <a:t>  중간발표 5쪽에 있던 '시공간 · 도형 따라 그리기'는 현재 42개 구성에 없어 '순서 활동'으로 대체했다.</a:t>
            </a:r>
          </a:p>
          <a:p>
            <a:r>
              <a:t>[말할 것]</a:t>
            </a:r>
          </a:p>
          <a:p>
            <a:r>
              <a:t>"검사를 복제한 것이 아니라, 기억·주의·언어·시간·순서 같은 영역을 일상 문항으로 다시 설계했습니다."</a:t>
            </a:r>
          </a:p>
          <a:p>
            <a:r>
              <a:t>[표현 규칙 · 화면 비표기 — 질문 받을 때만 답변]</a:t>
            </a:r>
          </a:p>
          <a:p>
            <a:r>
              <a:t>· 화면의 '기존 검사 · …' 줄은 해당 인지 영역에서 통용되는 과제 유형을 일반적으로 적은 것이며,</a:t>
            </a:r>
          </a:p>
          <a:p>
            <a:r>
              <a:t>  CIST · MMSE의 실제 문항 · 배점 · 컷오프를 옮겨 적은 것이 아니다. 물어보면 이렇게 답할 것.</a:t>
            </a:r>
          </a:p>
          <a:p>
            <a:r>
              <a:t>· '사용자 맞춤형 CIST·MMSE 문항' 표현 금지.</a:t>
            </a:r>
          </a:p>
          <a:p>
            <a:r>
              <a:t>· 공식 검사 문항·배점·판정·컷오프 복제 없음. 진단·공식 인지검사 아님.</a:t>
            </a:r>
          </a:p>
          <a:p>
            <a:r>
              <a:t>· 42개는 고정 구성이며 실시간 개인화 생성이 아님.</a:t>
            </a:r>
          </a:p>
          <a:p>
            <a:r>
              <a:t>[Appendix 연결] 42개 전체 표는 A01.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[Timing] 45초 · 본문 8/12 · 누적 295초</a:t>
            </a:r>
          </a:p>
          <a:p>
            <a:r>
              <a:t>[Sources]</a:t>
            </a:r>
          </a:p>
          <a:p>
            <a:r>
              <a:t>· 4단계 흐름 형식: 발표자료\문항소개랑 예시화면 예시2.jpeg (스마트폰 프레임을 현재 키오스크 구조로 교체)</a:t>
            </a:r>
          </a:p>
          <a:p>
            <a:r>
              <a:t>· 화면 4종 = 실제 현재 서비스</a:t>
            </a:r>
          </a:p>
          <a:p>
            <a:r>
              <a:t>  application_assets\auto_screenshots\ko\01_레슨_시작화면.png, 29_보호자_앱.png, 30_상담사_앱.png</a:t>
            </a:r>
          </a:p>
          <a:p>
            <a:r>
              <a:t>  발표자료\목업\실물_작동영상.mp4 59초 프레임 크롭 (실기기 말하기 화면)</a:t>
            </a:r>
          </a:p>
          <a:p>
            <a:r>
              <a:t>· 하단 '지금까지 완료한 것' 5개 항목과 4단계 명칭 변경은 사용자가 이번 지시에서 직접 지정한 문구다.</a:t>
            </a:r>
          </a:p>
          <a:p>
            <a:r>
              <a:t>[말할 것]</a:t>
            </a:r>
          </a:p>
          <a:p>
            <a:r>
              <a:t>"오늘의 이야기는 저장된 근거가 되고, 그 근거가 있을 때만 내일의 문항과 상담 단서로 다시 사용됩니다."</a:t>
            </a:r>
          </a:p>
          <a:p>
            <a:r>
              <a:t>[★ 완료 체크 5개 — 발표 전 반드시 정리할 것]</a:t>
            </a:r>
          </a:p>
          <a:p>
            <a:r>
              <a:t>· 화면 문구는 사용자 지시대로 넣었다. 다만 아래 두 항목은 이 자료의 다른 슬라이드 · 부록과 충돌한다.</a:t>
            </a:r>
          </a:p>
          <a:p>
            <a:r>
              <a:t>  ① '음성인식 정확도 고도화 완료' — A06 · A07은 고령자 발화 정확도 · 현장 소음 · 응답 지연을 아직</a:t>
            </a:r>
          </a:p>
          <a:p>
            <a:r>
              <a:t>     측정하지 않았다고 명시한다. 여기서 '완료'는 전처리 · 모델 채택 · 런타임 계약 구현 완료를 뜻하며,</a:t>
            </a:r>
          </a:p>
          <a:p>
            <a:r>
              <a:t>     "고령자 STT 정확도 검증 완료"라는 뜻이 아니다. 그 표현은 어떤 경우에도 사용 금지.</a:t>
            </a:r>
          </a:p>
          <a:p>
            <a:r>
              <a:t>  ② 'NFC 태깅 기반 데이터베이스화 완료' — 10쪽 · A10은 NFC 가명 ID 로그인을 다음 현장 적용안으로</a:t>
            </a:r>
          </a:p>
          <a:p>
            <a:r>
              <a:t>     설명하며 현재 Pi 데모에는 포함되지 않는다. 여기서 '완료'는 태깅 → 가명 ID → 저장 구조의 설계 ·</a:t>
            </a:r>
          </a:p>
          <a:p>
            <a:r>
              <a:t>     구현 완료를 뜻한다. "현장에서 이미 운영 중"이라고 말하지 말 것.</a:t>
            </a:r>
          </a:p>
          <a:p>
            <a:r>
              <a:t>  → 심사위원이 두 항목을 파고들면 위 구분대로 답하고 A06 · A07 · A10으로 넘길 것.</a:t>
            </a:r>
          </a:p>
          <a:p>
            <a:r>
              <a:t>[표현 확인] '전문가 리포트 · 정량화된 점수 및 수치 제공'의 '점수'는 활동 수행 지표 (정답률 · 응답 시간 ·</a:t>
            </a:r>
          </a:p>
          <a:p>
            <a:r>
              <a:t>  출석률)를 말한다. 인지검사 점수 · 진단 판정 점수가 아니며, 그렇게 말해서도 안 된다.</a:t>
            </a:r>
          </a:p>
          <a:p>
            <a:r>
              <a:t>[사실 경계 · 화면 비표기 — 질문 받을 때만 답변]</a:t>
            </a:r>
          </a:p>
          <a:p>
            <a:r>
              <a:t>· Pi 앱은 고정 7일 × 6개 오프라인 데모. Pi 단독으로 Qwen STT와 RAG를 모두 실행하지 않음.</a:t>
            </a:r>
          </a:p>
          <a:p>
            <a:r>
              <a:t>· STT·개인 기억은 별도 로컬 백엔드 구현. 사용자 화면과의 현장형 통합은 진행 중이며 9월 마무리 목표.</a:t>
            </a:r>
          </a:p>
          <a:p>
            <a:r>
              <a:t>· 개인화는 저장된 근거 검색 결과이며, 42개 문항의 실시간 생성이 아님.</a:t>
            </a:r>
          </a:p>
          <a:p>
            <a:r>
              <a:t>· 모델명·처리 상수·DB·API·테스트 수치는 본문에 넣지 않고 A06~A09에서만 설명.</a:t>
            </a:r>
          </a:p>
          <a:p>
            <a:r>
              <a:t>· 화면에서 뺀 문장: '개인화는 추측이 아니라, 남아 있는 근거를 다시 찾아내는 일입니다' (사용자 지시).</a:t>
            </a:r>
          </a:p>
          <a:p>
            <a:r>
              <a:t>  같은 뜻을 말로는 그대로 할 것 — A09의 개인화 정의와 직결된다.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[Timing] 35초 · 본문 9/12 · 누적 330초</a:t>
            </a:r>
          </a:p>
          <a:p>
            <a:r>
              <a:t>[Sources]</a:t>
            </a:r>
          </a:p>
          <a:p>
            <a:r>
              <a:t>· 4분할 구조: 중간발표 시각 체계 계승</a:t>
            </a:r>
          </a:p>
          <a:p>
            <a:r>
              <a:t>· 이미지: 발표자료\신청서\특허출원서.png, 발표자료\신청서\irb신청서.jpg</a:t>
            </a:r>
          </a:p>
          <a:p>
            <a:r>
              <a:t>  ★ 두 파일 모두 실제 Haru 접수증이 아님 (AGENTS.md 102~105행). 미기입 양식 / 교체용 참고 이미지.</a:t>
            </a:r>
          </a:p>
          <a:p>
            <a:r>
              <a:t>  ★ 슬라이드 화면에는 이 경계를 일절 표기하지 않았다. 질문이 오면 구두로만 답할 것.</a:t>
            </a:r>
          </a:p>
          <a:p>
            <a:r>
              <a:t>· 개인정보 운영 원칙: 발표자료\보안특강\0720특강요약.pdf, 0721특강.pdf (원문 대조 후 사용)</a:t>
            </a:r>
          </a:p>
          <a:p>
            <a:r>
              <a:t>· 상태 정의: 결선발표\새흐름.txt 9쪽, AGENTS.md '사실성 경계'</a:t>
            </a:r>
          </a:p>
          <a:p>
            <a:r>
              <a:t>[말할 것]</a:t>
            </a:r>
          </a:p>
          <a:p>
            <a:r>
              <a:t>"다음 실증은 지인이 아니라 이해관계가 없는 목표 연령대 참여자를 대상으로, 승인 후 진행합니다."</a:t>
            </a:r>
          </a:p>
          <a:p>
            <a:r>
              <a:t>[사실 경계 · 화면 비표기 — 질문 받을 때만 답변]</a:t>
            </a:r>
          </a:p>
          <a:p>
            <a:r>
              <a:t>· 슬라이드에는 상태 태그(근거 정리 / 심의 신청 / 출원 진행 / 운영 설계)만 뒀다.</a:t>
            </a:r>
          </a:p>
          <a:p>
            <a:r>
              <a:t>· IRB = 심의 신청 상태. 특허 = 출원 진행 상태. 승인 · 등록 · 효과 입증 표현 금지.</a:t>
            </a:r>
          </a:p>
          <a:p>
            <a:r>
              <a:t>· 오른쪽 두 이미지는 참고용 양식이며 실제 Haru 접수 화면이 아니다. 물어보면 '접수 화면 캡처로 교체 중'이라고 답할 것.</a:t>
            </a:r>
          </a:p>
          <a:p>
            <a:r>
              <a:t>[교체 필요] 실제 IRB 접수 화면 캡처, 실제 특허 출원 접수증 캡처 확보 시 두 이미지 교체.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[Timing] 35초 · 본문 10/12 · 누적 365초</a:t>
            </a:r>
          </a:p>
          <a:p>
            <a:r>
              <a:t>[Sources]</a:t>
            </a:r>
          </a:p>
          <a:p>
            <a:r>
              <a:t>· 사업 모델 · 운영 흐름: 결선발표\새흐름.txt 10쪽, 개발계획서_오가사.pdf / .hwpx</a:t>
            </a:r>
          </a:p>
          <a:p>
            <a:r>
              <a:t>· NFC 복지 카드 태깅 로그인 · 회원가입은 복지관에서 별도 진행: 결선발표\결선발표_요구사항.txt 5행 (사용자 제공 현황)</a:t>
            </a:r>
          </a:p>
          <a:p>
            <a:r>
              <a:t>· 10+ 복지관 협업 논의: 결선발표\결선발표_요구사항.txt 1~2행 (사용자 제공 현황)</a:t>
            </a:r>
          </a:p>
          <a:p>
            <a:r>
              <a:t>· '직접 개발 · 원가 절감' 과 '사회적기업 운영' 두 축은 사용자가 이번 지시에서 새로 제시한 방향이다.</a:t>
            </a:r>
          </a:p>
          <a:p>
            <a:r>
              <a:t>[사용자 제공 현황]</a:t>
            </a:r>
          </a:p>
          <a:p>
            <a:r>
              <a:t>· "복지관에 컨택 중이라는 이메일 캡처본을 추후에 삽입할 것. 10+ 복지관에 협업 논의 중이라고 서술."</a:t>
            </a:r>
          </a:p>
          <a:p>
            <a:r>
              <a:t>· "개인정보 이용 동의서 등은 복지관에서 취합한다."</a:t>
            </a:r>
          </a:p>
          <a:p>
            <a:r>
              <a:t>· "우리가 다 직접 개발해서 원가 절감 및 사회적기업으로 운영할 것"</a:t>
            </a:r>
          </a:p>
          <a:p>
            <a:r>
              <a:t>[사회적기업 표현]</a:t>
            </a:r>
          </a:p>
          <a:p>
            <a:r>
              <a:t>· 사용자 지시로 화면에 '사회적기업 운영'을 그대로 명시했고, 발표 중 구두 설명은 발표자가 직접 한다.</a:t>
            </a:r>
          </a:p>
          <a:p>
            <a:r>
              <a:t>· 참고로만: 고용노동부 인증 · 예비사회적기업 지정 여부를 물으면 현재 상태 그대로 답하면 된다.</a:t>
            </a:r>
          </a:p>
          <a:p>
            <a:r>
              <a:t>· '외주 개발비 없이'는 현재까지 자체 투자 약 50만 원으로 시제품까지 제작했다는 뜻이다.</a:t>
            </a:r>
          </a:p>
          <a:p>
            <a:r>
              <a:t>[사실 경계 · 화면 비표기 — 질문 받을 때만 답변]</a:t>
            </a:r>
          </a:p>
          <a:p>
            <a:r>
              <a:t>· 슬라이드에는 '10+ 복지관과 협업 논의 중'만 표기했다.</a:t>
            </a:r>
          </a:p>
          <a:p>
            <a:r>
              <a:t>· 기관 계약 · LOI · MOU 확정 아님. '기관 접촉 · 운영 협의 추진' 수준으로만 발언.</a:t>
            </a:r>
          </a:p>
          <a:p>
            <a:r>
              <a:t>· '인력을 절감했다' 표현 금지. '반복 문답 · 기록 부담 완화 가능성'으로 발언.</a:t>
            </a:r>
          </a:p>
          <a:p>
            <a:r>
              <a:t>· NFC · 기관 회원가입 · 역할별 리포트 운영은 다음 현장 적용안이며 현재 Pi 데모에는 미포함.</a:t>
            </a:r>
          </a:p>
          <a:p>
            <a:r>
              <a:t>[교체 필요] 복지관 협의 이메일 캡처 확보 시 자리표시자 대체.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[Timing] 45초 · 본문 11/12 · 누적 410초</a:t>
            </a:r>
          </a:p>
          <a:p>
            <a:r>
              <a:t>[Sources]</a:t>
            </a:r>
          </a:p>
          <a:p>
            <a:r>
              <a:t>· 수평 로드맵 구조 · 하단 칩 흐름: 중간발표 6쪽 · 8쪽 계승 (기존발표자료\피우다중간발표_오가사_Haru.pptx)</a:t>
            </a:r>
          </a:p>
          <a:p>
            <a:r>
              <a:t>· 일정 · 예산 배분: 결선발표\새흐름.txt 11쪽, 개발계획서_오가사.pdf / .hwpx</a:t>
            </a:r>
          </a:p>
          <a:p>
            <a:r>
              <a:t>· 재투자 의사: 결선발표\결선발표_요구사항.txt 23행 (사용자 제공 현황 — 현재 약 50만 원 자체 투자, 상금 재투자 의사)</a:t>
            </a:r>
          </a:p>
          <a:p>
            <a:r>
              <a:t>[일정 변경 — 사용자 지시]</a:t>
            </a:r>
          </a:p>
          <a:p>
            <a:r>
              <a:t>· 이전 안: 09 개발 / 10 국내 실증 / 11 권리화 / 2027.01 사업화 / 2027 상반기 일본 실증</a:t>
            </a:r>
          </a:p>
          <a:p>
            <a:r>
              <a:t>· 현재 안: 09 마무리 개발 / 10 국내 실증 / 11 일본 실증 / 12 조정 · 분석 / 2027 초 사업화 · 일본 진출</a:t>
            </a:r>
          </a:p>
          <a:p>
            <a:r>
              <a:t>  권리화(특허 후속 · 논문)는 별도 노드에서 빼고 2027 초 노드 항목으로 옮겼다.</a:t>
            </a:r>
          </a:p>
          <a:p>
            <a:r>
              <a:t>· ★ 11월 일본 실증은 이 대회가 선정팀에게 제공하는 프로그램이다 (사용자 확인).</a:t>
            </a:r>
          </a:p>
          <a:p>
            <a:r>
              <a:t>  따라서 '현지 파트너를 우리가 확보해야 한다'가 아니라 '대회 지원 실증에서 무엇을 측정할지'를 말할 것.</a:t>
            </a:r>
          </a:p>
          <a:p>
            <a:r>
              <a:t>  화면 우측 전제도 '대회 지원 일본 실증 참여'로 바꿔 뒀다.</a:t>
            </a:r>
          </a:p>
          <a:p>
            <a:r>
              <a:t>· 예산 배분 비율은 그대로 두되 항목 문구를 새 일정에 맞춰 정리했다 (실증 30%가 국내외 실증으로 확장).</a:t>
            </a:r>
          </a:p>
          <a:p>
            <a:r>
              <a:t>[사실 경계 · 화면 비표기 — 질문 받을 때만 답변]</a:t>
            </a:r>
          </a:p>
          <a:p>
            <a:r>
              <a:t>· 예산 비율은 확정 지출이 아니라 제안 배분안. 화면에는 '상금 수령 시 우선 집행 순서'로만 표기했다.</a:t>
            </a:r>
          </a:p>
          <a:p>
            <a:r>
              <a:t>· KCI · SCI는 투고 준비 계획이며 게재 확정 아님.</a:t>
            </a:r>
          </a:p>
          <a:p>
            <a:r>
              <a:t>· 10월 국내 실증은 IRB 승인을 전제로 함.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[Timing] 35초 · 본문 12/12 · 누적 445초 (= 7분 25초, 8분 대비 버퍼 35초)</a:t>
            </a:r>
          </a:p>
          <a:p>
            <a:r>
              <a:t>[Sources]</a:t>
            </a:r>
          </a:p>
          <a:p>
            <a:r>
              <a:t>· 4인 카드 구조: 중간발표 8쪽 계승, 인물 컷아웃도 동일 원본 (ppt/media/image10, image9, image8, image7)</a:t>
            </a:r>
          </a:p>
          <a:p>
            <a:r>
              <a:t>· 역할 · 이력: 결선발표\새흐름.txt 12쪽</a:t>
            </a:r>
          </a:p>
          <a:p>
            <a:r>
              <a:t>· 이재우 치매 관련 센터 실습 경험 · 수기 기록 관찰: 결선발표\결선발표_요구사항.txt 19~20행 (사용자 제공 현황)</a:t>
            </a:r>
          </a:p>
          <a:p>
            <a:r>
              <a:t>· 상시 협업 환경 · 충청권 대표 의지: 결선발표\결선발표_요구사항.txt 23~25행 (사용자 제공 현황)</a:t>
            </a:r>
          </a:p>
          <a:p>
            <a:r>
              <a:t>· 확장 스펙 (학력 · 인용 · 수상 · 어학 배경): 사용자 제공 정리안</a:t>
            </a:r>
          </a:p>
          <a:p>
            <a:r>
              <a:t>[말할 것]</a:t>
            </a:r>
          </a:p>
          <a:p>
            <a:r>
              <a:t>"AI 연구, 의학, 화학소재, 기계설계가 한 팀에 있고, 중국과 일본은 현지에서 자란 팀원이 직접 맡습니다."</a:t>
            </a:r>
          </a:p>
          <a:p>
            <a:r>
              <a:t>[사용자 제공 현황 — 공개 전 증빙 확인 필요]</a:t>
            </a:r>
          </a:p>
          <a:p>
            <a:r>
              <a:t>· 김현준 — KAIST 전산학부 (휴학) · KIST AI 연구원 · EPFL · Georgia Tech · CREST 연구인턴</a:t>
            </a:r>
          </a:p>
          <a:p>
            <a:r>
              <a:t>  AI 논문 17편 (ACL 2025 main · Nature 등 포함). 인용 수는 734회로 통일해 표기 (사용자 확정).</a:t>
            </a:r>
          </a:p>
          <a:p>
            <a:r>
              <a:t>  ★ 과거 자료에 471회 / 660회로 적힌 것이 있으나 발표에서는 734회 하나만 쓴다.</a:t>
            </a:r>
          </a:p>
          <a:p>
            <a:r>
              <a:t>· 이재우 — 서울대 기계공학 학사 (공간AI 자료에는 기계 · 바이오시스템공학으로 표기) ·</a:t>
            </a:r>
          </a:p>
          <a:p>
            <a:r>
              <a:t>  차의과학대 의학전문대학원 본4 휴학 · 국방AI경진대회 1위 (국방부장관상) · 창업대회 방위사업청장상 ·</a:t>
            </a:r>
          </a:p>
          <a:p>
            <a:r>
              <a:t>  육군사관학교 학교장 연구우수표창 · 2025 K-Startup 예비창업자</a:t>
            </a:r>
          </a:p>
          <a:p>
            <a:r>
              <a:t>· 류다훈 — 연세대 화학 학사 · 서울대 화학 석사과정 휴학 · 유기금속화학 합성연구 ·</a:t>
            </a:r>
          </a:p>
          <a:p>
            <a:r>
              <a:t>  창업대회 수상 다수 · K문샷 공모전 연구자부문 최우수상</a:t>
            </a:r>
          </a:p>
          <a:p>
            <a:r>
              <a:t>· 나현우 — 홋카이도대 기계공학 학사 · 동 대학원 석 · 박사과정 (자료에 따라 박사과정 휴학 / 석 · 박사과정 휴학) ·</a:t>
            </a:r>
          </a:p>
          <a:p>
            <a:r>
              <a:t>  창업대회 방위사업청장상 · 대한기계학회 설계대회 은상 · 홋카이도대 Tech Garage · 생체 디바이스 프로젝트</a:t>
            </a:r>
          </a:p>
          <a:p>
            <a:r>
              <a:t>· 자체 투자 약 50만 원</a:t>
            </a:r>
          </a:p>
          <a:p>
            <a:r>
              <a:t>[★ 수상 표기 — 발표 전 반드시 확인]</a:t>
            </a:r>
          </a:p>
          <a:p>
            <a:r>
              <a:t>· '창업대회 방위사업청장상'은 팀원 전원이 보유하고 있다 (사용자 확인). 네 카드 모두에 표기했다.</a:t>
            </a:r>
          </a:p>
          <a:p>
            <a:r>
              <a:t>· '국방AI경진대회 1위'와 '국방부장관상'은 같은 수상으로 보고 함께 표기했다. 다른 수상이면 분리할 것.</a:t>
            </a:r>
          </a:p>
          <a:p>
            <a:r>
              <a:t>· '수상 다수'(김현준 AI 공모전 · 류다훈 창업대회)는 구체 명칭을 확인하면 실제 대회명으로 바꾸는 편이 강하다.</a:t>
            </a:r>
          </a:p>
          <a:p>
            <a:r>
              <a:t>  ★ 위 항목은 전부 사용자 제공 사실이며, 발표 전 증빙 (상장 · 재학증명 · 논문 프로필 등) 확인 후 사용할 것.</a:t>
            </a:r>
          </a:p>
          <a:p>
            <a:r>
              <a:t>[출처 구분 — 반드시 인지할 것]</a:t>
            </a:r>
          </a:p>
          <a:p>
            <a:r>
              <a:t>· 류다훈 '중국 전문가 (초 · 중 · 고 중국 이수)'와 나현우 '일본 전문가 (학 · 석 · 박 일본 이수)'는</a:t>
            </a:r>
          </a:p>
          <a:p>
            <a:r>
              <a:t>  기존 업로드 자료 (새흐름.txt · 요구사항.txt · 개발계획서 · 기존 발표자료) 어디에도 없고,</a:t>
            </a:r>
          </a:p>
          <a:p>
            <a:r>
              <a:t>  사용자가 이번 지시에서 새로 제공한 정보다. 다른 항목보다 증빙 확인 우선순위가 높다.</a:t>
            </a:r>
          </a:p>
          <a:p>
            <a:r>
              <a:t>[마무리 문장] "네 개의 버튼으로, 매일의 기억을 다음 대화로 잇겠습니다."</a:t>
            </a:r>
          </a:p>
          <a:p>
            <a:r>
              <a:t>[QR 위치] 데모 QR 자리표시자는 사용자 지시로 표지(1쪽) 왼쪽 아래로 옮겼다. 이 슬라이드에는 QR이 없다.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[Appendix] A01 · 어르신 음성인식이 진짜 되는가</a:t>
            </a:r>
          </a:p>
          <a:p>
            <a:r>
              <a:t>[구성 출처] 사용자가 건네준 Haru_Appendix_A01_STT_개선안_v5_이미지원본비율.pptx 를 그대로 옮긴 판이다.</a:t>
            </a:r>
          </a:p>
          <a:p>
            <a:r>
              <a:t>  바꾼 곳 세 군데만 기억하면 된다.</a:t>
            </a:r>
          </a:p>
          <a:p>
            <a:r>
              <a:t>  ① 제목을 명사형으로 되돌렸다. 원본 '어르신 목소리, 정말 알아들을 수 있습니까?' → '지금 알아듣는 수준'.</a:t>
            </a:r>
          </a:p>
          <a:p>
            <a:r>
              <a:t>     (부록 전체를 명사형으로 통일하라는 직전 지시가 살아 있다.)</a:t>
            </a:r>
          </a:p>
          <a:p>
            <a:r>
              <a:t>  ② 원본 ③번 제목의 '한국어 실환경 벤치마크로 기본 엔진 선정'에서 '벤치마크'를 뺐다.</a:t>
            </a:r>
          </a:p>
          <a:p>
            <a:r>
              <a:t>     '받아쓰기 100글자 중 틀린 글자 수로 엔진 선정' 으로 풀어 썼다. 하단 띠의 '음량 보정 · 저주파 잡음</a:t>
            </a:r>
          </a:p>
          <a:p>
            <a:r>
              <a:t>     제거'도 '소리 크기 고르게 · 낮은 웅웅거림 제거'로 풀었다. (용어를 풀어 쓰라는 작성 규칙 1)</a:t>
            </a:r>
          </a:p>
          <a:p>
            <a:r>
              <a:t>  ③ 원본 ①번 소제목이 'STT.pptx의 실환경 노인 발화 도해를 원본 그대로 사용' 이라는 제작 메모였다.</a:t>
            </a:r>
          </a:p>
          <a:p>
            <a:r>
              <a:t>     심사위원이 읽을 문장이 아니므로 그림이 무엇을 말하는지로 바꿨다</a:t>
            </a:r>
          </a:p>
          <a:p>
            <a:r>
              <a:t>     ('집 안 소음 · 겹쳐 말하기 · 멀리서 말하기 · 느린 말속도와 긴 쉼').</a:t>
            </a:r>
          </a:p>
          <a:p>
            <a:r>
              <a:t>  · 세로 배치는 원본(푸터 선 y7.26)이 본 덱(6.88)보다 0.39in 길어 다시 배분했다. 가로 비율은 원본 그대로.</a:t>
            </a:r>
          </a:p>
          <a:p>
            <a:r>
              <a:t>[Sources]</a:t>
            </a:r>
          </a:p>
          <a:p>
            <a:r>
              <a:t>· 좌측 그림 = 기존발표자료\STT.pptx ppt/media/image3.png '실환경 한국 노인 발화'</a:t>
            </a:r>
          </a:p>
          <a:p>
            <a:r>
              <a:t>  원본을 자르거나 늘이지 않고 원본 비율 4:3 그대로 실었다.</a:t>
            </a:r>
          </a:p>
          <a:p>
            <a:r>
              <a:t>  담긴 항목 = 소음(TV · 주방 · 생활음) · 중첩 발화(보호자와 겹쳐 말함) · 원거리 수음(멀리서 · 울림)</a:t>
            </a:r>
          </a:p>
          <a:p>
            <a:r>
              <a:t>  · 건강 · 일상 용어 · 노인 발화 특성(느린 말속도 · 긴 휴지 · 주저 · 반복).</a:t>
            </a:r>
          </a:p>
          <a:p>
            <a:r>
              <a:t>· 우상 그림 = 기존발표자료\STT.pptx ppt/media/image1.png '한국 노인 STT 시스템'</a:t>
            </a:r>
          </a:p>
          <a:p>
            <a:r>
              <a:t>  원본 비율 1672:941 그대로. 담긴 항목 = 한국어 강건성 · Streaming Inference · 후처리 · 검증</a:t>
            </a:r>
          </a:p>
          <a:p>
            <a:r>
              <a:t>  · Timestamp Alignment, 중앙에 채택 엔진 Qwen3-ASR.</a:t>
            </a:r>
          </a:p>
          <a:p>
            <a:r>
              <a:t>  ★ 그림 안의 'Streaming Inference'를 심사위원이 물으면 "말하는 도중에도 이어서 받아쓰는 방식"이라고</a:t>
            </a:r>
          </a:p>
          <a:p>
            <a:r>
              <a:t>    풀어 답할 것. 그림은 구조 설명용이고, 실시간 응답 속도를 잰 결과가 아니다.</a:t>
            </a:r>
          </a:p>
          <a:p>
            <a:r>
              <a:t>· 막대그래프 수치 = 기존발표자료\STT.pptx ppt/media/image2.png</a:t>
            </a:r>
          </a:p>
          <a:p>
            <a:r>
              <a:t>  원 제목 'GigaSpeechBench 한국어 실환경 성능 비교', 세로축 한국어 CER(%), 낮을수록 좋음.</a:t>
            </a:r>
          </a:p>
          <a:p>
            <a:r>
              <a:t>  Qwen3-ASR-1.7B 12.90 / FunASR-MLT-Nano 16.57 / Whisper large-v3 18.53.</a:t>
            </a:r>
          </a:p>
          <a:p>
            <a:r>
              <a:t>  ★ 이 그림만은 원본 PNG를 싣지 않고 같은 수치를 슬라이드에 직접 다시 그렸다 (사용자 지시).</a:t>
            </a:r>
          </a:p>
          <a:p>
            <a:r>
              <a:t>    이유 ① 원본 제목 · 축 이름이 'GigaSpeechBench' · 'CER(%)' 이라 문과 심사위원에게 뜻이 전달되지 않는다.</a:t>
            </a:r>
          </a:p>
          <a:p>
            <a:r>
              <a:t>    이유 ② 원본 축 눈금 글자가 이 크기에서는 읽히지 않는다.</a:t>
            </a:r>
          </a:p>
          <a:p>
            <a:r>
              <a:t>    CER(%) = 100글자를 받아쓸 때 틀린 글자 수이므로 화면의 12.9는 12.90%를 그대로 옮긴 것이다.</a:t>
            </a:r>
          </a:p>
          <a:p>
            <a:r>
              <a:t>    수치는 소수 첫째 자리로만 반올림했고(12.90→12.9, 16.57→16.6, 18.53→18.5) 그 외 가공은 없다.</a:t>
            </a:r>
          </a:p>
          <a:p>
            <a:r>
              <a:t>    막대 옆 소제목 '공개된 한국어 음성 자료 · 적을수록 정확' 이 출처 표시를 겸한다.</a:t>
            </a:r>
          </a:p>
          <a:p>
            <a:r>
              <a:t>  ★ 발표 전 GigaSpeechBench 공개 리더보드 원문 URL과 조회일을 확인해 이 노트에 채울 것.</a:t>
            </a:r>
          </a:p>
          <a:p>
            <a:r>
              <a:t>  · 참고 · 같은 자료의 공개 수치 FunASR-Realtime 9.92 는 화면에 넣지 않았다. 질문이 오면</a:t>
            </a:r>
          </a:p>
          <a:p>
            <a:r>
              <a:t>    "더 낮은 모델도 있지만 로컬 실행 · revision 고정 · 단어 단위 시간 정렬 요건을 함께 만족하는 것이</a:t>
            </a:r>
          </a:p>
          <a:p>
            <a:r>
              <a:t>     Qwen3-ASR였다"고 답할 것. "Qwen이 가장 정확하다"고 말하지 말 것.</a:t>
            </a:r>
          </a:p>
          <a:p>
            <a:r>
              <a:t>· 채택 모델 · 고정 revision = 리포지터리 실설정</a:t>
            </a:r>
          </a:p>
          <a:p>
            <a:r>
              <a:t>  backend/app/config.py DEFAULT_MODEL_ID = "Qwen/Qwen3-ASR-1.7B",</a:t>
            </a:r>
          </a:p>
          <a:p>
            <a:r>
              <a:t>  DEFAULT_MODEL_REVISION = "7278e1e70fe206f11671096ffdd38061171dd6e5"</a:t>
            </a:r>
          </a:p>
          <a:p>
            <a:r>
              <a:t>  backend/app/stt.py _require_checkpoint() 가 revision 불일치 시 로드를 거부한다.</a:t>
            </a:r>
          </a:p>
          <a:p>
            <a:r>
              <a:t>· 하단 띠 '현재 구현' 4가지 = backend/app/stt.py PREPROCESSING_VERSION "haru-dc-hp80-rms-v2"</a:t>
            </a:r>
          </a:p>
          <a:p>
            <a:r>
              <a:t>  · 소리 크기 고르게 = RMS 정규화 + 피크 가드</a:t>
            </a:r>
          </a:p>
          <a:p>
            <a:r>
              <a:t>  · 긴 쉼 그대로 보존 = VAD 트리밍 없음, 무음 게이트는 발화 전체 기준, 한 번에 65초까지</a:t>
            </a:r>
          </a:p>
          <a:p>
            <a:r>
              <a:t>    (backend/app/config.py STT_MAX_AUDIO_SECONDS 기본 65 · 업로드 상한 25 MB)</a:t>
            </a:r>
          </a:p>
          <a:p>
            <a:r>
              <a:t>  · 낮은 웅웅거림 제거 = 80 Hz 하이패스 + DC 오프셋 제거</a:t>
            </a:r>
          </a:p>
          <a:p>
            <a:r>
              <a:t>[말할 것]</a:t>
            </a:r>
          </a:p>
          <a:p>
            <a:r>
              <a:t>"왼쪽이 어르신 말씀이 왜 어려운지입니다. 소음, 겹쳐 말하기, 멀리서 말하기, 느린 말속도와 긴 쉼입니다.</a:t>
            </a:r>
          </a:p>
          <a:p>
            <a:r>
              <a:t> 오른쪽 위가 그 소리를 글자로 바꾸는 지금 구조이고, 아래가 엔진을 고른 근거입니다.</a:t>
            </a:r>
          </a:p>
          <a:p>
            <a:r>
              <a:t> 공개된 한국어 음성으로 받아쓰기를 시켜서 100글자 중 몇 글자를 틀리는지로 비교했고, 12.9로 가장 적게</a:t>
            </a:r>
          </a:p>
          <a:p>
            <a:r>
              <a:t> 틀린 Qwen3-ASR을 골랐습니다. 다만 그 12.9는 일반 한국어 수치입니다.</a:t>
            </a:r>
          </a:p>
          <a:p>
            <a:r>
              <a:t> 어르신 목소리로 잰 숫자는 10월 복지관 현장에서 처음 만듭니다."</a:t>
            </a:r>
          </a:p>
          <a:p>
            <a:r>
              <a:t>[화면에서 뺀 것 — 물으면 답할 것]</a:t>
            </a:r>
          </a:p>
          <a:p>
            <a:r>
              <a:t>· ★ 오인식 대응은 이 A01이 담당한다 (사용자 지시로 A06에서 뺐다. A06은 개인정보 전담).</a:t>
            </a:r>
          </a:p>
          <a:p>
            <a:r>
              <a:t>  못 알아들었을 때의 규칙 4가지 — 화면에 '듣고 있어요' 표시 → 못 알아들으면 한 번 더 안내 →</a:t>
            </a:r>
          </a:p>
          <a:p>
            <a:r>
              <a:t>  그래도 안 되면 다음 활동으로 → 어르신 탓으로 돌리지 않음.</a:t>
            </a:r>
          </a:p>
          <a:p>
            <a:r>
              <a:t>· 이상한 글자로 잘못 인식된 경우의 처리 = 그 전사를 개인 기억 그래프에 넣지 않는다.</a:t>
            </a:r>
          </a:p>
          <a:p>
            <a:r>
              <a:t>  ★ 버리는 것이 아니다. 전사도 원본 음성도 서버에 그대로 남는다 (A06 '무엇이 서버에 남는가'와 같은 사실).</a:t>
            </a:r>
          </a:p>
          <a:p>
            <a:r>
              <a:t>  "확실하지 않으면 아예 기록하지 않는다"고 말하지 말 것. 정확히는 "확실하지 않은 말은 기억으로</a:t>
            </a:r>
          </a:p>
          <a:p>
            <a:r>
              <a:t>  엮지 않고, 원본은 그대로 둔다"이다.</a:t>
            </a:r>
          </a:p>
          <a:p>
            <a:r>
              <a:t>· 정확도를 더 올리는 다음 단계 = 같은 자료의 '한국 노인 음성 적응 파이프라인'</a:t>
            </a:r>
          </a:p>
          <a:p>
            <a:r>
              <a:t>  (어르신 말투 문장 생성 → 음성 합성 → 재학습). ★ 계획이며 실행 · 측정 완료가 아니다.</a:t>
            </a:r>
          </a:p>
          <a:p>
            <a:r>
              <a:t>· 10월 측정 항목 4가지 = 복지관에서 어르신 목소리로 100글자 중 틀린 글자 수 / TV 소리가 있는 실제 방에서</a:t>
            </a:r>
          </a:p>
          <a:p>
            <a:r>
              <a:t>  / 말한 뒤 반응까지 걸린 시간. 화면에는 '10월 · 어르신 현장 측정' 한 덩이로만 남겼다.</a:t>
            </a:r>
          </a:p>
          <a:p>
            <a:r>
              <a:t>· 멀리서 말씀하시는 문제의 대응 = 기기 앞에서 말하도록 화면과 소리로 안내 (전처리가 아니라 UI 대응이라</a:t>
            </a:r>
          </a:p>
          <a:p>
            <a:r>
              <a:t>  하단 띠의 '현재 구현'에서 뺐다).</a:t>
            </a:r>
          </a:p>
          <a:p>
            <a:r>
              <a:t>[사실 경계 · 화면 비표기 — 질문 받을 때만 답변]</a:t>
            </a:r>
          </a:p>
          <a:p>
            <a:r>
              <a:t>· "고령자 STT 정확도 검증 완료" 표현은 어떤 경우에도 금지.</a:t>
            </a:r>
          </a:p>
          <a:p>
            <a:r>
              <a:t>· 12.90은 공개 일반 한국어 시험 결과이며 Haru의 고령자 성능이 아니다. 두 숫자를 섞어 말하지 말 것.</a:t>
            </a:r>
          </a:p>
          <a:p>
            <a:r>
              <a:t>  화면의 '12.9 일반 한국어 수치 | 10월 어르신 현장 측정' 두 칸이 이 경계를 눈으로 못 박아 둔 장치다.</a:t>
            </a:r>
          </a:p>
          <a:p>
            <a:r>
              <a:t>· 현장 소음 · 응답 지연 · 어르신 발화 정확도 모두 미측정.</a:t>
            </a:r>
          </a:p>
          <a:p>
            <a:r>
              <a:t>· 본문 8쪽 체크리스트의 '음성인식 정확도 고도화 완료'는 전처리 · 모델 채택 · 런타임 계약 구현 완료를</a:t>
            </a:r>
          </a:p>
          <a:p>
            <a:r>
              <a:t>  뜻한다. 심사위원이 파고들면 이 슬라이드로 넘어와 위와 같이 구분해 답할 것.</a:t>
            </a:r>
          </a:p>
          <a:p>
            <a:r>
              <a:t>· 자동화 테스트 54개(backend)는 전처리 · 입력 계약 · 거절 경로 · 오류 응답의 기능 검증이며 정확도 측정이</a:t>
            </a:r>
          </a:p>
          <a:p>
            <a:r>
              <a:t>  아니다. GPU 실모델 스모크 테스트 1건은 아직 실행하지 않았다.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[Appendix] A02 · AI 개인화가 정확히 무엇인가 (4단 파이프라인 도해)</a:t>
            </a:r>
          </a:p>
          <a:p>
            <a:r>
              <a:t>[화면 구성 출처] 사용자 제공 Haru_A02_RAG_단일슬라이드.pptx 의 4단 구성을 그대로 채택.</a:t>
            </a:r>
          </a:p>
          <a:p>
            <a:r>
              <a:t>  옮기면서 세 가지만 본 덱 규칙에 맞췄다.</a:t>
            </a:r>
          </a:p>
          <a:p>
            <a:r>
              <a:t>  ① 제목 · 부제를 의문형에서 명사형으로 ('어떻게 만들어집니까' → '만들어지는 순서').</a:t>
            </a:r>
          </a:p>
          <a:p>
            <a:r>
              <a:t>  ② 원본 푸터 선이 y7.08이라 본문을 y -0.20 올려 본 덱의 6.88 푸터에 맞췄다.</a:t>
            </a:r>
          </a:p>
          <a:p>
            <a:r>
              <a:t>  ③ 원본의 'Reference로' · '가까운 기록만 Retrieval' 은 문과 심사위원용으로 우리말로 풀었다.</a:t>
            </a:r>
          </a:p>
          <a:p>
            <a:r>
              <a:t>     3단계 라벨의 'RAG Retrieval' 한 줄만 기술 용어로 남겼다 (질문이 오면 이 낱말로 답할 근거).</a:t>
            </a:r>
          </a:p>
          <a:p>
            <a:r>
              <a:t>[Sources]</a:t>
            </a:r>
          </a:p>
          <a:p>
            <a:r>
              <a:t>· 4단계 흐름 = rag_backend 실제 처리 순서</a:t>
            </a:r>
          </a:p>
          <a:p>
            <a:r>
              <a:t>  ingestion.py(발화 저장) → 임베딩 색인 → query.py(관련 Evidence 검색) → question_generator.py(문항 초안)</a:t>
            </a:r>
          </a:p>
          <a:p>
            <a:r>
              <a:t>· 예시 문항 문장 = application_assets\auto_screenshots\ko (Day 3 개인 기억 문항, 실제 서비스 화면)</a:t>
            </a:r>
          </a:p>
          <a:p>
            <a:r>
              <a:t>  ★ 실제 화면 문구는 "어제 가족과 외식하셨다고 했는데, 무엇을 드셨는지 기억나시나요?" 이다.</a:t>
            </a:r>
          </a:p>
          <a:p>
            <a:r>
              <a:t>    슬라이드 4번 칸은 1번 칸의 '딸이랑 외식' 기록과 이어 보이게 '따님과'로 바꿔 적은 같은 형식의</a:t>
            </a:r>
          </a:p>
          <a:p>
            <a:r>
              <a:t>    예시다. 실제 서비스 문구를 그대로 옮긴 것이 아니라는 점을 물으면 그대로 밝힐 것.</a:t>
            </a:r>
          </a:p>
          <a:p>
            <a:r>
              <a:t>· 날짜 8/12 · 8/14 · 8/15 와 세 개의 예시 발화는 흐름을 보이기 위한 예시이며 실제 참여자 기록이 아니다.</a:t>
            </a:r>
          </a:p>
          <a:p>
            <a:r>
              <a:t>  ★ "이게 실제 어르신 데이터냐"고 물으면 "구조를 보이기 위한 예시"라고 반드시 밝힐 것.</a:t>
            </a:r>
          </a:p>
          <a:p>
            <a:r>
              <a:t>· 42개 중 18개 = src/data/haru7DayExercises.ts HARU_WEEK_QUESTION_BASE 의 scriptedSource 값을 센 것</a:t>
            </a:r>
          </a:p>
          <a:p>
            <a:r>
              <a:t>  prior_question 14개 + profile 4개 = 18개, 공통 문항('-') 24개. 합 42.</a:t>
            </a:r>
          </a:p>
          <a:p>
            <a:r>
              <a:t>  응답 방식은 선택 33 · 말하기 7 · 순서 2. 검증 스크립트 npm run check:haru-data.</a:t>
            </a:r>
          </a:p>
          <a:p>
            <a:r>
              <a:t>  ★ 이 숫자를 하단 띠에 남겨 둔 이유 = 4단 도해만 보면 '매번 새로 지어낸다'로 오해되기 때문이다.</a:t>
            </a:r>
          </a:p>
          <a:p>
            <a:r>
              <a:t>· '검토 대기 상태' = rag_backend/app/services/question_generator.py 가 생성한 문항 초안의</a:t>
            </a:r>
          </a:p>
          <a:p>
            <a:r>
              <a:t>  requires_review 상태. 검토 전에는 노출되지 않는다.</a:t>
            </a:r>
          </a:p>
          <a:p>
            <a:r>
              <a:t>· '근거가 없으면 만들지 않는다' = rag_backend/app/services/qa.py · query.py 의 결정적 QA.</a:t>
            </a:r>
          </a:p>
          <a:p>
            <a:r>
              <a:t>  저장된 Evidence를 찾지 못하면 no_answer를 돌려주고, 생성형 LLM 자유 답변 경로가 없다.</a:t>
            </a:r>
          </a:p>
          <a:p>
            <a:r>
              <a:t>· 명시적으로 말한 내용만 관계로 남기는 규칙 = rag_backend/app/services/extraction.py, ingestion.py</a:t>
            </a:r>
          </a:p>
          <a:p>
            <a:r>
              <a:t>  (annotation이 있을 때만 entity · relation 생성. 모델이 추측한 관계는 만들지 않는다.)</a:t>
            </a:r>
          </a:p>
          <a:p>
            <a:r>
              <a:t>· 저장 계층 = SQLite 단일 원장(database_url = sqlite:///data/haru.db),</a:t>
            </a:r>
          </a:p>
          <a:p>
            <a:r>
              <a:t>  의미 검색 임베딩 intfloat/multilingual-e5-small, Neo4j 미러는 neo4j_enabled = False 기본 비활성.</a:t>
            </a:r>
          </a:p>
          <a:p>
            <a:r>
              <a:t>[말할 것]</a:t>
            </a:r>
          </a:p>
          <a:p>
            <a:r>
              <a:t>"왼쪽부터 보시면 됩니다. 어르신이 활동 중에 말씀하신 이야기를 그대로 남기고, 날짜와 함께 쌓아 둡니다.</a:t>
            </a:r>
          </a:p>
          <a:p>
            <a:r>
              <a:t> 다음에 새 문항을 만들 때는 그 주제와 뜻이 가까운 기록만 골라 오고, 골라 온 기록을 근거로 질문을</a:t>
            </a:r>
          </a:p>
          <a:p>
            <a:r>
              <a:t> 만듭니다. AI가 어르신을 짐작하는 게 아니라, 직접 말씀하신 것을 다시 찾아 오는 구조입니다."</a:t>
            </a:r>
          </a:p>
          <a:p>
            <a:r>
              <a:t>[화면에서 빠진 내용 — 질문이 오면 이렇게 답할 것]</a:t>
            </a:r>
          </a:p>
          <a:p>
            <a:r>
              <a:t>· (이전 구성의 '흔한 오해 세 가지'를 도해로 바꾸면서 화면에서 뺐다. 내용은 그대로 유효하다.)</a:t>
            </a:r>
          </a:p>
          <a:p>
            <a:r>
              <a:t>  오해 ① 'AI가 매일 새 문제를 지어낸다' → 42개 활동은 미리 정해져 있고, 바뀌는 것은 그 안의 이야기다.</a:t>
            </a:r>
          </a:p>
          <a:p>
            <a:r>
              <a:t>  오해 ② 'AI가 어르신을 짐작한다' → 실제로 말한 내용만 쓰고, 근거가 없으면 만들지 않는다.</a:t>
            </a:r>
          </a:p>
          <a:p>
            <a:r>
              <a:t>  오해 ③ '만든 문장이 바로 화면에 뜬다' → 검토 대기 상태로 먼저 남고, 사람이 확인해야 나온다.</a:t>
            </a:r>
          </a:p>
          <a:p>
            <a:r>
              <a:t>· 18개의 내역 = 14개는 본인이 앞서 남긴 기록에서, 4개는 복지관 등록 정보에서. 나머지 24개는 공통 문항.</a:t>
            </a:r>
          </a:p>
          <a:p>
            <a:r>
              <a:t>[사실 경계 · 화면 비표기 — 질문 받을 때만 답변]</a:t>
            </a:r>
          </a:p>
          <a:p>
            <a:r>
              <a:t>· 42개 문항을 실시간 생성한다는 뜻이 아니다. 42개는 고정 구성이다.</a:t>
            </a:r>
          </a:p>
          <a:p>
            <a:r>
              <a:t>· 'Haru만 가능', '경쟁사에는 개인화가 전혀 없음' 같은 절대 표현 금지 (본문 4쪽 노트와 동일).</a:t>
            </a:r>
          </a:p>
          <a:p>
            <a:r>
              <a:t>· 자동화 테스트 51개(rag_backend)는 저장 · 관계 생성 · 삭제 · no_answer 경로의 기능 검증이며,</a:t>
            </a:r>
          </a:p>
          <a:p>
            <a:r>
              <a:t>  검색 품질 · 임상 효능 입증이 아니다. 검색 적합도 평가는 10월 실증 항목.</a:t>
            </a:r>
          </a:p>
          <a:p>
            <a:r>
              <a:t>· 사용자-facing 기억 시각화(Galaxy) 화면은 미구현. 3D 투영 API만 내부 확인용으로 있다.</a:t>
            </a:r>
          </a:p>
          <a:p>
            <a:r>
              <a:t>· 하단 띠 오른쪽 '기기와 한 몸으로 잇는 작업은 진행 중' = 개인 기억 저장 · 검색은 현재 별도 컴퓨터에서</a:t>
            </a:r>
          </a:p>
          <a:p>
            <a:r>
              <a:t>  돈다는 뜻이다 (A07과 같은 경계). "Pi가 단독으로 RAG를 돌린다"고 말하지 말 것.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[Appendix] A03 · 치매 검사와 무엇이 다른가</a:t>
            </a:r>
          </a:p>
          <a:p>
            <a:r>
              <a:t>[구성 변경 — 사용자 지시]</a:t>
            </a:r>
          </a:p>
          <a:p>
            <a:r>
              <a:t>· 프레임을 바꿨다. 예전 구성은 '안 가져왔다'를 세 번 방어했는데, 새 축은</a:t>
            </a:r>
          </a:p>
          <a:p>
            <a:r>
              <a:t>  ① 인지 영역 문항을 변형했다는 것을 인정 → ② 진단은 못 하고 전문 기관의 몫 →</a:t>
            </a:r>
          </a:p>
          <a:p>
            <a:r>
              <a:t>  ③ 그래서 실제로 전문가 · 상담사 · 보호자에게 무엇이 나가는지, 세 걸음이다.</a:t>
            </a:r>
          </a:p>
          <a:p>
            <a:r>
              <a:t>· 세 번째 걸음이 예전 슬라이드에 아예 없었다. 오른쪽 두 장(문항 화면 · 마무리 화면)이</a:t>
            </a:r>
          </a:p>
          <a:p>
            <a:r>
              <a:t>  둘 다 '점수 없음'만 증명하고 있어서, 그 자리를 보호자 화면 실물로 바꿨다.</a:t>
            </a:r>
          </a:p>
          <a:p>
            <a:r>
              <a:t>[Sources]</a:t>
            </a:r>
          </a:p>
          <a:p>
            <a:r>
              <a:t>· 왼쪽 표의 문항 수 = src/data/haru7DayExercises.ts 의 HARU_WEEK_QUESTION_BASE 42개 domain 실집계.</a:t>
            </a:r>
          </a:p>
          <a:p>
            <a:r>
              <a:t>  시간 지남력 7 / 전날 활동 회상 6 / 주의·계산 4 + 개인화 주의·계산 1 = 5 /</a:t>
            </a:r>
          </a:p>
          <a:p>
            <a:r>
              <a:t>  시공간 1 + 시공간·주의 1 = 2 / 언어 이해 2 / 단어·순서 기억 2  → 합 24.</a:t>
            </a:r>
          </a:p>
          <a:p>
            <a:r>
              <a:t>  나머지 18 = 감정 7 + 일상·개인화 정보 수집 6 + 일반 개인 기억 3 + 장기·주간 개인 기억 1</a:t>
            </a:r>
          </a:p>
          <a:p>
            <a:r>
              <a:t>             + 주간 회고·개인화 정보 수집 1.</a:t>
            </a:r>
          </a:p>
          <a:p>
            <a:r>
              <a:t>  ★ 화면의 '회상 6'은 코드상 ' 전날 활동 회상'이고, '순서 기억 2'는 '단어·순서 기억'이다.</a:t>
            </a:r>
          </a:p>
          <a:p>
            <a:r>
              <a:t>    칸 폭 때문에 줄인 표기이며 수치는 그대로다.</a:t>
            </a:r>
          </a:p>
          <a:p>
            <a:r>
              <a:t>· '42개 중 28개가 채점됨' = 같은 배열의 scored: true 개수 28. 남은 14개는 scored: false 다.</a:t>
            </a:r>
          </a:p>
          <a:p>
            <a:r>
              <a:t>  ★ 채점은 하되 어르신 화면에는 나오지 않는다. 이 구분이 이 슬라이드의 핵심이므로 정확히 말할 것.</a:t>
            </a:r>
          </a:p>
          <a:p>
            <a:r>
              <a:t>· 오른쪽 사진 = application_assets\auto_screenshots\ko\29_보호자_앱.png 의 아래쪽을 잘라</a:t>
            </a:r>
          </a:p>
          <a:p>
            <a:r>
              <a:t>  assets\sc_caregiver_refer.jpg 로 만들었다 (원본 1080×1920 중 x248~836 · y1420~1826).</a:t>
            </a:r>
          </a:p>
          <a:p>
            <a:r>
              <a:t>  본문 8쪽이 같은 화면의 전체 컷을 쓰므로 겹치지 않도록 잘라낸 별도 파일이다.</a:t>
            </a:r>
          </a:p>
          <a:p>
            <a:r>
              <a:t>  사진 안의 문구는 전부 실제 제품 화면이다 — '가까운 치매안심센터 · 대표 전화 1577-3121 ·</a:t>
            </a:r>
          </a:p>
          <a:p>
            <a:r>
              <a:t>  홈페이지 열기 · 가까운 센터 찾기' 그리고 맨 아래 회색 한 줄:</a:t>
            </a:r>
          </a:p>
          <a:p>
            <a:r>
              <a:t>  "이 내용은 정확한 진단이 아니라 변화 참고용입니다. 걱정되시면 가까운 센터에서 검진을 받아보세요."</a:t>
            </a:r>
          </a:p>
          <a:p>
            <a:r>
              <a:t>  ★ 이 한 줄이 이 슬라이드에서 가장 센 증거다. 슬라이드에 쓴 주장이 아니라 제품에 이미 박혀 있는</a:t>
            </a:r>
          </a:p>
          <a:p>
            <a:r>
              <a:t>    문장이기 때문이다. 심사위원이 의심하면 앱을 열어 이 화면을 그대로 보여줄 수 있다.</a:t>
            </a:r>
          </a:p>
          <a:p>
            <a:r>
              <a:t>· 인용 카드의 두 줄 = 같은 보호자 화면 '활동에서 보인 변화' 항목의 실제 출력 문장이다.</a:t>
            </a:r>
          </a:p>
          <a:p>
            <a:r>
              <a:t>  ("최근 '따라 말하기'에서 잠시 망설이는 모습이 늘었어요." / "최근 '단어 이어 말하기'에서</a:t>
            </a:r>
          </a:p>
          <a:p>
            <a:r>
              <a:t>   떠오르는 단어가 조금 줄었어요.") 인지 영역별 변화를 점수가 아니라 문장으로 내보낸다.</a:t>
            </a:r>
          </a:p>
          <a:p>
            <a:r>
              <a:t>· 본문 3쪽 하단 띠 'MMSE · CIST 인지영역을 일상 문항으로 변환 / 진단 · 위험도 판정 없음' 과 짝을 이룬다.</a:t>
            </a:r>
          </a:p>
          <a:p>
            <a:r>
              <a:t>[말할 것]</a:t>
            </a:r>
          </a:p>
          <a:p>
            <a:r>
              <a:t>"검사가 무엇을 살펴보는지, 그 영역을 가져와 일상의 말로 문항을 다시 만들었습니다. 날짜를 묻는 대신</a:t>
            </a:r>
          </a:p>
          <a:p>
            <a:r>
              <a:t> 무슨 요일인지를 여쭙고, 연속 빼기 대신 남은 사과 개수를 여쭙습니다. 채점은 하지만 어르신 화면에는</a:t>
            </a:r>
          </a:p>
          <a:p>
            <a:r>
              <a:t> 점수가 나오지 않습니다. 진단과 판정은 전문 기관의 몫이고, 저희는 매일의 변화를 전문가와 보호자가</a:t>
            </a:r>
          </a:p>
          <a:p>
            <a:r>
              <a:t> 참고할 정보로 전달합니다. 오른쪽이 실제로 보호자에게 나가는 화면입니다."</a:t>
            </a:r>
          </a:p>
          <a:p>
            <a:r>
              <a:t>[표현 규칙 — 절대 넘지 말 것]</a:t>
            </a:r>
          </a:p>
          <a:p>
            <a:r>
              <a:t>· '변형'은 되고 '복제'는 안 된다. CIST · MMSE의 공식 문항 문장 · 배점 · 컷오프는 가져오지 않았고</a:t>
            </a:r>
          </a:p>
          <a:p>
            <a:r>
              <a:t>  화면 가운데 열에도 '연속 빼기' '도형 그리기'처럼 방식 이름만 적었다. 실제 검사 문항 문장을</a:t>
            </a:r>
          </a:p>
          <a:p>
            <a:r>
              <a:t>  읽어 주지 말 것. '사용자 맞춤형 CIST · MMSE 문항'이라는 표현도 금지.</a:t>
            </a:r>
          </a:p>
          <a:p>
            <a:r>
              <a:t>· ★ MMSE는 PAR Inc. 의 유료 저작물이고 CIST는 보건복지부 · 중앙치매센터가 무료 공개한 도구다.</a:t>
            </a:r>
          </a:p>
          <a:p>
            <a:r>
              <a:t>  "MMSE 문항을 변형했다"고 말하면 저작권 질문을 자초한다. 물으면 "검사 문항이 아니라 검사가 다루는</a:t>
            </a:r>
          </a:p>
          <a:p>
            <a:r>
              <a:t>  인지 영역을 참고했고, 문항 문장은 저희가 새로 썼다"로 답할 것.</a:t>
            </a:r>
          </a:p>
          <a:p>
            <a:r>
              <a:t>· 진단 · 치료 · 예방 · 임상 효과를 주장하지 않는다.</a:t>
            </a:r>
          </a:p>
          <a:p>
            <a:r>
              <a:t>· '선별검사' · '스크리닝'이라는 낱말도 쓰지 말 것. 활동 기록이지 검사가 아니다.</a:t>
            </a:r>
          </a:p>
          <a:p>
            <a:r>
              <a:t>· 전문가 리포트의 '점수'는 활동 수행 지표(정답률 · 응답 시간 · 출석률)를 말한다. 인지검사 점수가 아니다.</a:t>
            </a:r>
          </a:p>
          <a:p>
            <a:r>
              <a:t>  본문 8쪽에서 이 표현이 나오므로 질문이 오면 여기서 구분해 답할 것.</a:t>
            </a:r>
          </a:p>
          <a:p>
            <a:r>
              <a:t>[비유 사용법] '시험지를 베낀 것이 아니라 같은 과목을 매일 조금씩 들여다보는 것'을 가운데 카드에</a:t>
            </a:r>
          </a:p>
          <a:p>
            <a:r>
              <a:t>  적어 뒀다. 문과 심사위원에게 가장 잘 통하는 설명이다.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[Appendix] A04 · 그냥 버튼 키오스크와 기술적으로 무엇이 다른가</a:t>
            </a:r>
          </a:p>
          <a:p>
            <a:r>
              <a:t>[Sources]</a:t>
            </a:r>
          </a:p>
          <a:p>
            <a:r>
              <a:t>· 실물 사진 = 발표자료\목업\ (팀 자체 촬영). 화면은 실제 Pi 앱 Day 1 Q1 이며 하단에 물리 버튼 안내</a:t>
            </a:r>
          </a:p>
          <a:p>
            <a:r>
              <a:t>  칩(A~D)이 보인다. 사진 속 버튼 네 개는 회색 단색이다.</a:t>
            </a:r>
          </a:p>
          <a:p>
            <a:r>
              <a:t>  ★ 색 대응은 화면 아래 안내 칩(A 분홍 · B 노랑 · C 초록 · D 파랑)과 선택지 카드의 색을 말한다.</a:t>
            </a:r>
          </a:p>
          <a:p>
            <a:r>
              <a:t>    "버튼에 색이 칠해져 있느냐"고 물으면 위와 같이 정확히 답할 것 (본문 6쪽 노트와 동일).</a:t>
            </a:r>
          </a:p>
          <a:p>
            <a:r>
              <a:t>· 조립 도면 = 발표자료\목업\도면_R004-GA01_전체조립_치수도.png (팀 자체 작성)</a:t>
            </a:r>
          </a:p>
          <a:p>
            <a:r>
              <a:t>  도면 표제란: PORTRAIT KIOSK GENERAL ASSEMBLY / R004-GA01 / P3B PROTOTYPE,</a:t>
            </a:r>
          </a:p>
          <a:p>
            <a:r>
              <a:t>  전체 치수 300 × 397.78 × 610.39 mm, 상단에 'TEMPORARY / NOT FOR PRODUCTION' 명시.</a:t>
            </a:r>
          </a:p>
          <a:p>
            <a:r>
              <a:t>  ★ 화면 캡션에 '양산 도면이 아니라 시제품 제작용'이라고 적어 뒀다. 이 경계를 지킬 것.</a:t>
            </a:r>
          </a:p>
          <a:p>
            <a:r>
              <a:t>· 상태 전이 · 버튼 의미 = 실제 Pi 앱 화면 (발표자료\목업\실물_작동영상.mp4 전 구간 육안 확인)</a:t>
            </a:r>
          </a:p>
          <a:p>
            <a:r>
              <a:t>  선택 화면 하단 안내: A/B/C/D 자리 선택 → 선택 후 '같은 버튼 한 번 더'</a:t>
            </a:r>
          </a:p>
          <a:p>
            <a:r>
              <a:t>  말하기 화면: A 다시 듣기 · B 말하기 시작 → 녹음 중 A 취소 · B 말하기 끝</a:t>
            </a:r>
          </a:p>
          <a:p>
            <a:r>
              <a:t>· 구현 = raspberry-pi-demo/ (고정 7일 오프라인 런타임), src/app/lesson/</a:t>
            </a:r>
          </a:p>
          <a:p>
            <a:r>
              <a:t>· 입력 경계 = USB HID 키 입력. 전용 컨트롤러 · 양산 기구가 아니다.</a:t>
            </a:r>
          </a:p>
          <a:p>
            <a:r>
              <a:t>[말할 것]</a:t>
            </a:r>
          </a:p>
          <a:p>
            <a:r>
              <a:t>"버튼이 달린 기계는 많습니다. 다른 점은 버튼에 뜻을 새기지 않았다는 겁니다. 화면에서 보이는 자리를</a:t>
            </a:r>
          </a:p>
          <a:p>
            <a:r>
              <a:t> 그대로 누르면 되고, 같은 버튼을 한 번 더 누르면 확정됩니다. 외울 것도, 되돌리는 법도 따로 없습니다."</a:t>
            </a:r>
          </a:p>
          <a:p>
            <a:r>
              <a:t>[사실 경계 · 화면 비표기 — 질문 받을 때만 답변]</a:t>
            </a:r>
          </a:p>
          <a:p>
            <a:r>
              <a:t>· 2×2 위치 일치 · 같은 버튼 재입력 확정 구조는 특허 '출원 진행' 상태다. '등록' · '권리 확보 완료' 금지.</a:t>
            </a:r>
          </a:p>
          <a:p>
            <a:r>
              <a:t>· KCI 논문은 '작성 중' 상태다. '게재' · '게재 확정' 금지.</a:t>
            </a:r>
          </a:p>
          <a:p>
            <a:r>
              <a:t>· 오입력률 · 확정 실패율 등 사용성 지표는 아직 측정하지 않았다 (10월 독립 실증 항목).</a:t>
            </a:r>
          </a:p>
          <a:p>
            <a:r>
              <a:t>· 도면은 시제품 기준이며 양산 설계 · 인증 · 금형 단계가 아니다.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[Appendix] A05 · 어르신 20명이 진짜 노인 대상 검증인가</a:t>
            </a:r>
          </a:p>
          <a:p>
            <a:r>
              <a:t>[Sources]</a:t>
            </a:r>
          </a:p>
          <a:p>
            <a:r>
              <a:t>· 실시 방식 · 관찰 내용 = 결선발표\결선발표_요구사항.txt 13~18행 (사용자 제공 현황)</a:t>
            </a:r>
          </a:p>
          <a:p>
            <a:r>
              <a:t>  "실증은 url 앱으로만 기능적인 것만 검증 → 어플을 어려워 하셨음. 음성 인식이 제대로 되는 중인지</a:t>
            </a:r>
          </a:p>
          <a:p>
            <a:r>
              <a:t>   알아보기 어려웠고, 실제 음성인식 성공률도 낮았음." / "노인분들 눈도 귀도 잘 안들리심.</a:t>
            </a:r>
          </a:p>
          <a:p>
            <a:r>
              <a:t>   휴대폰 화면 너무 작음."</a:t>
            </a:r>
          </a:p>
          <a:p>
            <a:r>
              <a:t>· 관찰 → 제품 변경 5쌍 = 위 현황 + 본문 5 · 6쪽 실물 구현 (BEFORE 모바일 웹앱 → AFTER 2×2 키오스크)</a:t>
            </a:r>
          </a:p>
          <a:p>
            <a:r>
              <a:t>· 10월 측정 방법 4단계 = 기존발표자료\Haru_음성UX_사전검증_발표자료.pptx 5쪽 '다음 검증' 과</a:t>
            </a:r>
          </a:p>
          <a:p>
            <a:r>
              <a:t>  docs/voice-pilot-sample-20x7/analysis/methodology.md 의 계측 설계를 옮긴 것이다.</a:t>
            </a:r>
          </a:p>
          <a:p>
            <a:r>
              <a:t>  원문 표기 → 화면 표기: '동의받은 자연 발화' 그대로 / '동일 음성 이중 디코딩' →</a:t>
            </a:r>
          </a:p>
          <a:p>
            <a:r>
              <a:t>  '같은 음성을 두 번 받아쓰기' / '조건을 가린 사람 검토' 그대로 / '실패 원인까지 연결' →</a:t>
            </a:r>
          </a:p>
          <a:p>
            <a:r>
              <a:t>  '실패한 이유까지 기록'. baseline · assist · no-speech 같은 용어는 전부 풀어 적었다.</a:t>
            </a:r>
          </a:p>
          <a:p>
            <a:r>
              <a:t>  ★ 이 4단계는 방법론이지 결과가 아니다. 그 pptx의 숫자는 아래 [★] 항목대로 합성값이므로</a:t>
            </a:r>
          </a:p>
          <a:p>
            <a:r>
              <a:t>    방법만 가져오고 수치는 한 개도 가져오지 않았다.</a:t>
            </a:r>
          </a:p>
          <a:p>
            <a:r>
              <a:t>· 측정 지표 자체(시작률 · 완료율 · 오입력 · 재사용 의향) = 결선발표\새흐름.txt · 본문 11쪽 로드맵.</a:t>
            </a:r>
          </a:p>
          <a:p>
            <a:r>
              <a:t>  화면에는 '어떻게 잴 것인가'를 실었고 '무엇을 잴 것인가'는 본문 11쪽이 담당한다.</a:t>
            </a:r>
          </a:p>
          <a:p>
            <a:r>
              <a:t>[호칭] '지인 20명' → '어르신 20명' 으로 표기 통일 (사용자 지시, 본문 5쪽도 동일).</a:t>
            </a:r>
          </a:p>
          <a:p>
            <a:r>
              <a:t>  다만 이 20명은 팀이 직접 접촉한 지인 관계이며, 화면 왼쪽 첫 줄에 '팀이 아는 어르신'으로 적어 두었다.</a:t>
            </a:r>
          </a:p>
          <a:p>
            <a:r>
              <a:t>[낱말 규칙 — 반드시 지킬 것]</a:t>
            </a:r>
          </a:p>
          <a:p>
            <a:r>
              <a:t>· 이 20명 활동을 '실증'이라고 부르지 말 것. '베타테스트' · '사전 검증' · '관찰'로만 말한다.</a:t>
            </a:r>
          </a:p>
          <a:p>
            <a:r>
              <a:t>  실증은 이 대회가 일본에서 제공하는 프로그램이다. 이미 실증을 마쳤다고 말하면</a:t>
            </a:r>
          </a:p>
          <a:p>
            <a:r>
              <a:t>  "그럼 실증이 왜 필요하냐"는 반문을 부른다.</a:t>
            </a:r>
          </a:p>
          <a:p>
            <a:r>
              <a:t>[사실 경계 · 화면 표기 완료 — 그대로 말할 것]</a:t>
            </a:r>
          </a:p>
          <a:p>
            <a:r>
              <a:t>· 지인 표본이며 목표 연령대 대표 표본이 아니다. 통계적 유의성 · 효과 크기 미산출.</a:t>
            </a:r>
          </a:p>
          <a:p>
            <a:r>
              <a:t>· 전후 비교가 아니며 인지 기능 · 임상 지표는 어떤 것도 측정하지 않았다.</a:t>
            </a:r>
          </a:p>
          <a:p>
            <a:r>
              <a:t>· 정량 성공률을 묻는 질문에는 "질적 관찰만 수집했고 정량 지표는 10월 독립 실증에서 측정한다"로 답할 것.</a:t>
            </a:r>
          </a:p>
          <a:p>
            <a:r>
              <a:t>· 10월 실증은 IRB 승인을 전제로 한다. 현재 IRB는 '심의 신청' 상태이며 승인이 아니다.</a:t>
            </a:r>
          </a:p>
          <a:p>
            <a:r>
              <a:t>[★ 두 개의 '20'을 섞지 말 것 — 이번 부록에서 관련 슬라이드를 뺐다]</a:t>
            </a:r>
          </a:p>
          <a:p>
            <a:r>
              <a:t>· 기존발표자료\Haru_음성UX_사전검증_발표자료.pptx 의 '20 profiles · 140 sessions' 는</a:t>
            </a:r>
          </a:p>
          <a:p>
            <a:r>
              <a:t>  컴퓨터로 만든 합성 시뮬레이션이며 실제 어르신 20명과 전혀 다른 자료다.</a:t>
            </a:r>
          </a:p>
          <a:p>
            <a:r>
              <a:t>· 그 합성 자료 슬라이드는 이번 7장 구성에서 제외했다. 화면에 없으므로 먼저 꺼내지 말 것.</a:t>
            </a:r>
          </a:p>
          <a:p>
            <a:r>
              <a:t>· 심사위원이 그 자료(이탈률 10.0%, 전사율 78.6%→91.4% 등)를 언급하면</a:t>
            </a:r>
          </a:p>
          <a:p>
            <a:r>
              <a:t>  "합성 시뮬레이션으로 계측 설계를 검토한 리허설이며 실제 음성 성능이 아니다"라고만 답할 것.</a:t>
            </a:r>
          </a:p>
          <a:p>
            <a:r>
              <a:t>[미확보] 익명 참여자 원장 (구성 · 기기 · 날짜). 확보 시 본 슬라이드 보강.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[Appendix] A06 · 개인정보를 어떻게 다루는가</a:t>
            </a:r>
          </a:p>
          <a:p>
            <a:r>
              <a:t>[구성 변경 — 사용자 지시]</a:t>
            </a:r>
          </a:p>
          <a:p>
            <a:r>
              <a:t>· 오인식 대응 칸을 통째로 뺐다. 그 내용은 A01이 담당한다. 장마다 다룰 축을 하나로 정리했다.</a:t>
            </a:r>
          </a:p>
          <a:p>
            <a:r>
              <a:t>· '건강 · 질병 이야기 분리 보관' 줄을 없앴다 (사용자 지시). 분리 보관을 주장하지 말 것.</a:t>
            </a:r>
          </a:p>
          <a:p>
            <a:r>
              <a:t>· 역할 정의를 사용자 답변대로 다시 잡았다.</a:t>
            </a:r>
          </a:p>
          <a:p>
            <a:r>
              <a:t>  어르신(사용자) / 보호자 / 전문가(상담사 · 의료 전문가) / 복지관 담당자(동의서 취합 · 사용법 안내).</a:t>
            </a:r>
          </a:p>
          <a:p>
            <a:r>
              <a:t>· '무엇이 서버에 남는가' 칸을 새로 넣었다. 음성 원본이 남는다는 사실을 화면에 직접 적었다.</a:t>
            </a:r>
          </a:p>
          <a:p>
            <a:r>
              <a:t>[Sources]</a:t>
            </a:r>
          </a:p>
          <a:p>
            <a:r>
              <a:t>· NFC 카드 태깅 로그인 · 복지관 별도 회원가입 · 동의서 기관 취합</a:t>
            </a:r>
          </a:p>
          <a:p>
            <a:r>
              <a:t>  = 결선발표\결선발표_요구사항.txt 5행, 11행 (사용자 제공 현황)</a:t>
            </a:r>
          </a:p>
          <a:p>
            <a:r>
              <a:t>· NFC 구현 상태 = 사용자 확인. 목업에 NFC 카드 리더기를 연결해 카드 인식까지 확인했다.</a:t>
            </a:r>
          </a:p>
          <a:p>
            <a:r>
              <a:t>  리더기가 읽는 것은 카드의 고유 번호이며, 그 번호를 어르신 번호에 연결해 로그인으로 잇는 작업이 남았다.</a:t>
            </a:r>
          </a:p>
          <a:p>
            <a:r>
              <a:t>  지금은 아무 NFC 카드나 인식되고, 복지관 복지카드로 로그인하는 연동이 다음 단계다.</a:t>
            </a:r>
          </a:p>
          <a:p>
            <a:r>
              <a:t>  ★ 리포지터리에는 NFC 코드가 없다 (전수 검색 결과 유일한 문자열 일치 2건은 package-lock.json 해시와</a:t>
            </a:r>
          </a:p>
          <a:p>
            <a:r>
              <a:t>    syntheticVoicePilot.ts 의 유니코드 .normalize("NFC") 로 카드와 무관). 코드를 근거로 대지 말고</a:t>
            </a:r>
          </a:p>
          <a:p>
            <a:r>
              <a:t>    "리더기로 카드 인식까지 확인했다"는 실물 확인을 근거로 말할 것.</a:t>
            </a:r>
          </a:p>
          <a:p>
            <a:r>
              <a:t>· 삭제 구현 = rag_backend/app/services/deletion.py — sqlite_deleted · neo4j_deleted 결과를 함께 반환</a:t>
            </a:r>
          </a:p>
          <a:p>
            <a:r>
              <a:t>  ('지워졌는지 확인해 알려 준다'가 바로 이 응답이다)</a:t>
            </a:r>
          </a:p>
          <a:p>
            <a:r>
              <a:t>· 저장 범위 = 사용자 확인. 전사 글과 어르신 음성 원본 모두 서버에 남는다.</a:t>
            </a:r>
          </a:p>
          <a:p>
            <a:r>
              <a:t>  실험 단계에서는 자료를 모두 보관하며, 용량 관리를 위해 전사 후 음성을 버리는 방식은 검토 중이다.</a:t>
            </a:r>
          </a:p>
          <a:p>
            <a:r>
              <a:t>  ★ 검토 중인 것을 이미 그렇게 한다고 말하지 말 것. 화면에는 '모두 보관'만 적었다.</a:t>
            </a:r>
          </a:p>
          <a:p>
            <a:r>
              <a:t>· 개인정보 운영 원칙 = 발표자료\보안특강\0720특강요약.pdf, 0720특강_질의응답.pdf, 0721특강.pdf</a:t>
            </a:r>
          </a:p>
          <a:p>
            <a:r>
              <a:t>  ★ 원문과 실제 구현 범위를 대조한 뒤에만 발표 주장으로 사용할 것 (AGENTS.md 106행)</a:t>
            </a:r>
          </a:p>
          <a:p>
            <a:r>
              <a:t>[동의 철회 정책 — 이 발표에서 확정한 답]</a:t>
            </a:r>
          </a:p>
          <a:p>
            <a:r>
              <a:t>사용자가 판단을 맡겼으므로 아래로 확정했다. 근거와 함께 그대로 답할 것.</a:t>
            </a:r>
          </a:p>
          <a:p>
            <a:r>
              <a:t>· 철회하면 그 자리에서 수집을 멈춘다.</a:t>
            </a:r>
          </a:p>
          <a:p>
            <a:r>
              <a:t>· 그때까지 쌓인 기록은 파기가 원칙이다. 개인정보 보호법 제21조가 목적을 다한 개인정보를</a:t>
            </a:r>
          </a:p>
          <a:p>
            <a:r>
              <a:t>  지체 없이 파기하도록 정하고 있고, 제38조가 정보주체의 처리정지 · 파기 요구권을 두고 있다.</a:t>
            </a:r>
          </a:p>
          <a:p>
            <a:r>
              <a:t>  "중단만 하고 갖고 있겠다"는 답은 이 조항과 충돌하므로 쓰지 말 것.</a:t>
            </a:r>
          </a:p>
          <a:p>
            <a:r>
              <a:t>· 한 가지 예외 — 이미 이름을 지운 뒤 분석에 들어간 자료는 누구 것인지 되짚을 수 없어 되돌릴 수 없다.</a:t>
            </a:r>
          </a:p>
          <a:p>
            <a:r>
              <a:t>  이 예외는 동의서에 미리 적어 두고 받는다. 연구 동의서의 표준 처리 방식이며 화면 카드에 그대로 적었다.</a:t>
            </a:r>
          </a:p>
          <a:p>
            <a:r>
              <a:t>· 이 두 줄(파기 원칙 + 예외 고지)이 IRB 심의에서 반드시 확인하는 항목이다.</a:t>
            </a:r>
          </a:p>
          <a:p>
            <a:r>
              <a:t>[표현 대응 — 심사위원이 전문 용어로 물으면 이렇게 답할 것]</a:t>
            </a:r>
          </a:p>
          <a:p>
            <a:r>
              <a:t>· '번호' = 무작위 가명 ID (pseudonymous ID)   · '이름' = 식별정보 (성명 · 연락처)</a:t>
            </a:r>
          </a:p>
          <a:p>
            <a:r>
              <a:t>· '카드에서 읽는 카드 번호' = NFC 태그의 고유 식별자(UID). 카드 안에 우리 자료가 들어가지 않는다.</a:t>
            </a:r>
          </a:p>
          <a:p>
            <a:r>
              <a:t>· '지워졌는지 확인해 알려 줌' = 삭제 API가 sqlite_deleted · neo4j_deleted 를 함께 반환</a:t>
            </a:r>
          </a:p>
          <a:p>
            <a:r>
              <a:t>[사실 경계 · 화면 비표기 — 질문 받을 때만 답변]</a:t>
            </a:r>
          </a:p>
          <a:p>
            <a:r>
              <a:t>· 카드 인식까지는 실물로 확인했고, 카드 번호를 로그인으로 잇는 결합과 복지카드 연동은 남아 있다.</a:t>
            </a:r>
          </a:p>
          <a:p>
            <a:r>
              <a:t>  "현장에서 이미 운영 중"이라고 말하지 말 것.</a:t>
            </a:r>
          </a:p>
          <a:p>
            <a:r>
              <a:t>· 본문 8쪽 체크리스트의 'NFC 태깅 기반 데이터베이스화 완료'는 태깅 → 가명 ID → 저장 구조의</a:t>
            </a:r>
          </a:p>
          <a:p>
            <a:r>
              <a:t>  설계 · 구현 완료를 뜻한다.</a:t>
            </a:r>
          </a:p>
          <a:p>
            <a:r>
              <a:t>· 역할별 열람 권한은 화면 · 리포트 단위로 나뉘어 있으며, 서버 단 접근 제어를 별도 인증받은 상태가 아니다.</a:t>
            </a:r>
          </a:p>
          <a:p>
            <a:r>
              <a:t>· 개인정보 보호 '인증' 또는 '심사 통과'를 받은 상태가 아니다.</a:t>
            </a:r>
          </a:p>
          <a:p>
            <a:r>
              <a:t>[확인 필요] 보안특강 자료의 어떤 원칙을 실제로 구현했는지 원문 대조표를 발표 전 작성할 것.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[Appendix] A07 · 지금까지 만든 것과 다음 실험 계획</a:t>
            </a:r>
          </a:p>
          <a:p>
            <a:r>
              <a:t>[구성 변경 — 사용자 지시]</a:t>
            </a:r>
          </a:p>
          <a:p>
            <a:r>
              <a:t>· '만들어졌지만 아직 따로 도는 것' 칸을 화면에서 뺐다. 구현은 끝났고, 어디서 도는지는</a:t>
            </a:r>
          </a:p>
          <a:p>
            <a:r>
              <a:t>  발표 자리에서 먼저 꺼낼 이야기가 아니다. 다만 아래 [사실 경계]는 그대로 유효하다.</a:t>
            </a:r>
          </a:p>
          <a:p>
            <a:r>
              <a:t>· '아직 없는 것' 칸도 뺐다. 없는 것을 나열하는 대신 "여기까지 시험했고 · 그래서 기기를</a:t>
            </a:r>
          </a:p>
          <a:p>
            <a:r>
              <a:t>  이렇게 확정했고 · 이제 이렇게 실험한다"는 진행 축으로 바꿨다.</a:t>
            </a:r>
          </a:p>
          <a:p>
            <a:r>
              <a:t>· '확인 방법' 칸은 가운데로 옮겨 '직접 만든 자동 점검'이 되었고, 오른쪽은</a:t>
            </a:r>
          </a:p>
          <a:p>
            <a:r>
              <a:t>  '여기까지 온 과정 → 다음 실험 계획' 두 단으로 다시 짰다.</a:t>
            </a:r>
          </a:p>
          <a:p>
            <a:r>
              <a:t>[Sources]</a:t>
            </a:r>
          </a:p>
          <a:p>
            <a:r>
              <a:t>· 실물 사진 = 발표자료\목업\측면_블러처리.png (팀 자체 촬영 후 배경 블러). 화면은 1일차 시작 안내.</a:t>
            </a:r>
          </a:p>
          <a:p>
            <a:r>
              <a:t>· 완성 형태 렌더링 = 발표자료\목업\설계_렌더링1.png (팀 자체 제작 CG)</a:t>
            </a:r>
          </a:p>
          <a:p>
            <a:r>
              <a:t>  ★ 아직 제작 전인 목표 형태다. 화면 캡션에 '컨셉 렌더링 · 아직 제작 전'으로 적어 두었다.</a:t>
            </a:r>
          </a:p>
          <a:p>
            <a:r>
              <a:t>  ★ 렌더링의 컬러 버튼(빨 · 노 · 초 · 파)은 목표 구성이며, 현재 시제품 버튼은 회색 단색이다.</a:t>
            </a:r>
          </a:p>
          <a:p>
            <a:r>
              <a:t>· 고정 7일 오프라인 앱 = raspberry-pi-demo/ (Pi에서 인터넷 없이 42개 활동 완주)</a:t>
            </a:r>
          </a:p>
          <a:p>
            <a:r>
              <a:t>· 음성 서버 = backend/ · 개인 기억 저장 · 검색 서버 = rag_backend/</a:t>
            </a:r>
          </a:p>
          <a:p>
            <a:r>
              <a:t>· 리포트 화면 = application_assets\auto_screenshots\ko 29_보호자_앱.png, 30_상담사_앱.png (본문 8쪽)</a:t>
            </a:r>
          </a:p>
          <a:p>
            <a:r>
              <a:t>· 자동 점검 105가지 = 리포지터리 실제 테스트 수</a:t>
            </a:r>
          </a:p>
          <a:p>
            <a:r>
              <a:t>  backend/tests/ : test_admission 2 + test_audio 18 + test_main 26 + test_stt 8 = 54</a:t>
            </a:r>
          </a:p>
          <a:p>
            <a:r>
              <a:t>  rag_backend/tests/ : test_embedding 4 + test_ingestion_hardening 22 + test_market_locale 5</a:t>
            </a:r>
          </a:p>
          <a:p>
            <a:r>
              <a:t>                       + test_pipeline 20 = 51</a:t>
            </a:r>
          </a:p>
          <a:p>
            <a:r>
              <a:t>  합 105. (backend/tests/test_stt_smoke.py 1건은 실제 GPU 모델 스모크로 미실행 — 105에 포함하지 않음)</a:t>
            </a:r>
          </a:p>
          <a:p>
            <a:r>
              <a:t>· 베타테스트 → 기기 확정 = 결선발표\결선발표_요구사항.txt 13~18행 (어플을 어려워하심 · 휴대폰 화면이</a:t>
            </a:r>
          </a:p>
          <a:p>
            <a:r>
              <a:t>  너무 작음 → 2×2 키오스크가 필요한 이유). A05와 같은 20명이며 서로 어긋나지 않게 맞춰 두었다.</a:t>
            </a:r>
          </a:p>
          <a:p>
            <a:r>
              <a:t>· 특허 출원 · IRB 심의 = 결선발표\결선발표_요구사항.txt 마지막 단락 ('irb 신청 및 특허 출원 신청한 상태')</a:t>
            </a:r>
          </a:p>
          <a:p>
            <a:r>
              <a:t>[말할 것]</a:t>
            </a:r>
          </a:p>
          <a:p>
            <a:r>
              <a:t>"지인 어르신 스무 분께 먼저 써 보시게 했습니다. 거기서 휴대폰 화면이 너무 작다는 게 분명해져서,</a:t>
            </a:r>
          </a:p>
          <a:p>
            <a:r>
              <a:t> 2×2 키오스크로 기기 형태를 확정했습니다. 이제 이 제품으로 특허를 출원했고, IRB 심의를 바탕으로</a:t>
            </a:r>
          </a:p>
          <a:p>
            <a:r>
              <a:t> 모집한 어르신들을 대상으로 실험해서 KCI 논문으로 정리하는 것이 다음 단계입니다."</a:t>
            </a:r>
          </a:p>
          <a:p>
            <a:r>
              <a:t>[사실 경계 · 화면 비표기 — 질문 받을 때만 답변]</a:t>
            </a:r>
          </a:p>
          <a:p>
            <a:r>
              <a:t>· ★ "Pi가 단독으로 STT · RAG를 모두 실행한다"고 말하지 말 것. raspberry-pi-demo/README.md 가</a:t>
            </a:r>
          </a:p>
          <a:p>
            <a:r>
              <a:t>  "STT, RAG, telemetry, 외부 API를 실행하지 않습니다"라고 못박고 있다. 화면에서 실행 위치를</a:t>
            </a:r>
          </a:p>
          <a:p>
            <a:r>
              <a:t>  빼기만 했을 뿐, 사실이 바뀐 것이 아니다. 물으면 "음성·기억 서버는 별도로 돌고, 기기와 한 몸으로</a:t>
            </a:r>
          </a:p>
          <a:p>
            <a:r>
              <a:t>  잇는 것이 마무리 개발"이라고 답할 것.</a:t>
            </a:r>
          </a:p>
          <a:p>
            <a:r>
              <a:t>· 특허는 '출원' 상태다. '등록' · '권리 확보 완료' 금지.</a:t>
            </a:r>
          </a:p>
          <a:p>
            <a:r>
              <a:t>· IRB는 '심의 신청' 상태다. '승인' · '승인 완료' 금지. 모집 · 실험은 승인을 전제로 한 계획이다.</a:t>
            </a:r>
          </a:p>
          <a:p>
            <a:r>
              <a:t>· KCI 논문은 '작성 예정' 단계다. '게재' · '투고 완료' 금지.</a:t>
            </a:r>
          </a:p>
          <a:p>
            <a:r>
              <a:t>· 자동 점검 105가지 통과는 기능 · 계약 검증이며 정확도 · 검색 품질 · 임상 효과 입증이 아니다.</a:t>
            </a:r>
          </a:p>
          <a:p>
            <a:r>
              <a:t>  이 경계는 화면 가운데 칸에 붉은 글씨로 그대로 적어 두었다.</a:t>
            </a:r>
          </a:p>
          <a:p>
            <a:r>
              <a:t>· 사용자-facing 기억 시각화(Galaxy) 화면은 미구현. 3D 투영 API만 내부 확인용으로 있다.</a:t>
            </a:r>
          </a:p>
          <a:p>
            <a:r>
              <a:t>· 기관 계약 · LOI · MOU 확정 아님. 일본 현지 파트너 미확정.</a:t>
            </a:r>
          </a:p>
          <a:p>
            <a:r>
              <a:t>[사용법] 본문 8쪽 '개발 완성도 CHECK LIST' 5개 항목의 '완료'가 무슨 뜻이냐는 질문이 오면</a:t>
            </a:r>
          </a:p>
          <a:p>
            <a:r>
              <a:t>  이 슬라이드 가운데 칸(지금까지 구현한 것 + 자동 점검의 한계)으로 답할 것.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224F01A-983D-C5B4-B56B-7871E0ED58D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5E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F7D3595-911E-2CB8-B1C3-DA814AF0CA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5E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8.jp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jpg"/><Relationship Id="rId3" Type="http://schemas.openxmlformats.org/officeDocument/2006/relationships/image" Target="../media/image23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image" Target="../media/image25.jp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ro.jpg"/>
          <p:cNvPicPr>
            <a:picLocks noChangeAspect="1"/>
          </p:cNvPicPr>
          <p:nvPr/>
        </p:nvPicPr>
        <p:blipFill>
          <a:blip r:embed="rId2"/>
          <a:srcRect l="16006" r="16006"/>
          <a:stretch>
            <a:fillRect/>
          </a:stretch>
        </p:blipFill>
        <p:spPr>
          <a:xfrm>
            <a:off x="6035040" y="0"/>
            <a:ext cx="6156929" cy="6858000"/>
          </a:xfrm>
          <a:prstGeom prst="rect">
            <a:avLst/>
          </a:prstGeom>
          <a:effectLst/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603504"/>
            <a:ext cx="3291840" cy="1677924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786384" y="2487168"/>
            <a:ext cx="5029200" cy="5590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40" b="0" lang="ko-KR" altLang="en-US">
                <a:solidFill>
                  <a:srgbClr val="6C5D4C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검사처럼 느껴지지 않는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926080"/>
            <a:ext cx="502920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79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두뇌운동</a:t>
            </a:r>
            <a:r>
              <a:rPr sz="3679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키오스크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3657600"/>
            <a:ext cx="2148840" cy="381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8387" y="3963924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3895344"/>
            <a:ext cx="4754880" cy="277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어르신 · 가족 · 복지 · 의료를 잇는 일상 기록</a:t>
            </a:r>
          </a:p>
        </p:txBody>
      </p:sp>
      <p:sp>
        <p:nvSpPr>
          <p:cNvPr id="9" name="Oval 8"/>
          <p:cNvSpPr/>
          <p:nvPr/>
        </p:nvSpPr>
        <p:spPr>
          <a:xfrm>
            <a:off x="818387" y="4293108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224528"/>
            <a:ext cx="4754880" cy="277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AI 개인화 문항 · 오늘 말한 내용이 내일의 단서</a:t>
            </a:r>
          </a:p>
        </p:txBody>
      </p:sp>
      <p:sp>
        <p:nvSpPr>
          <p:cNvPr id="11" name="Oval 10"/>
          <p:cNvSpPr/>
          <p:nvPr/>
        </p:nvSpPr>
        <p:spPr>
          <a:xfrm>
            <a:off x="818387" y="4622292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553712"/>
            <a:ext cx="4754880" cy="277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작동하는 2×2 물리 버튼과 로컬 기억 기술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5065776"/>
            <a:ext cx="475488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5230368"/>
            <a:ext cx="5029200" cy="364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Haru by OGASA Labs · 팀 오가사랩스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577840"/>
            <a:ext cx="5029200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2026 글로벌 피우다프로젝트 · 결선발표 · 충청권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5230368"/>
            <a:ext cx="1243584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7" name="Picture 16" descr="qr_d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5303520"/>
            <a:ext cx="1097280" cy="1097280"/>
          </a:xfrm>
          <a:prstGeom prst="rect">
            <a:avLst/>
          </a:prstGeom>
          <a:effectLst/>
        </p:spPr>
      </p:pic>
      <p:sp>
        <p:nvSpPr>
          <p:cNvPr id="18" name="Rounded Rectangle 17"/>
          <p:cNvSpPr/>
          <p:nvPr/>
        </p:nvSpPr>
        <p:spPr>
          <a:xfrm>
            <a:off x="7827264" y="5577840"/>
            <a:ext cx="3767328" cy="548640"/>
          </a:xfrm>
          <a:prstGeom prst="roundRect">
            <a:avLst>
              <a:gd name="adj" fmla="val 50000"/>
            </a:avLst>
          </a:prstGeom>
          <a:solidFill>
            <a:srgbClr val="2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37575" y="5788152"/>
            <a:ext cx="128016" cy="12801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5742432"/>
            <a:ext cx="3127248" cy="277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0" b="0" lang="ko-KR" altLang="en-US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haru-raspberry-pi.vercel.app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10896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02336"/>
            <a:ext cx="2834640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제품 컨셉 렌더링 · 목표 형태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PROBLEM · 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초고령사회와 돌봄의 </a:t>
            </a:r>
            <a:r>
              <a:rPr sz="315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일상 기록 공백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8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 인구 증가 · 가족 부담 · 기관 반복 관찰의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2103" y="1847088"/>
            <a:ext cx="402336" cy="402336"/>
          </a:xfrm>
          <a:prstGeom prst="ellipse">
            <a:avLst/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4692" y="1979676"/>
            <a:ext cx="137160" cy="13716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0744" y="1929384"/>
            <a:ext cx="2560320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가족 · 보호자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04872"/>
            <a:ext cx="3108960" cy="6463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39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매일의 안부와 변화를</a:t>
            </a:r>
          </a:p>
          <a:p>
            <a:pPr algn="l">
              <a:lnSpc>
                <a:spcPct val="142000"/>
              </a:lnSpc>
            </a:pPr>
            <a:r>
              <a:rPr sz="1639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확인할 도구가 없다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127248"/>
            <a:ext cx="3200400" cy="4876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아이는 학습앱으로 챙기지만,</a:t>
            </a:r>
          </a:p>
          <a:p>
            <a:pPr algn="l">
              <a:lnSpc>
                <a:spcPct val="14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부모님 안부는 가끔의 전화뿐입니다.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81144" y="1847088"/>
            <a:ext cx="402336" cy="402336"/>
          </a:xfrm>
          <a:prstGeom prst="ellipse">
            <a:avLst/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13732" y="1979676"/>
            <a:ext cx="137160" cy="13716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1929384"/>
            <a:ext cx="2560320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어르신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404872"/>
            <a:ext cx="3108960" cy="6463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39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검사 낙인과 작은 화면이</a:t>
            </a:r>
          </a:p>
          <a:p>
            <a:pPr algn="l">
              <a:lnSpc>
                <a:spcPct val="142000"/>
              </a:lnSpc>
            </a:pPr>
            <a:r>
              <a:rPr sz="1639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기록을 막는다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127248"/>
            <a:ext cx="3200400" cy="4876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글자를 키워도 보이지 않고,</a:t>
            </a:r>
          </a:p>
          <a:p>
            <a:pPr algn="l">
              <a:lnSpc>
                <a:spcPct val="14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전화만 되는 기기를 쓰십니다.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30183" y="1847088"/>
            <a:ext cx="402336" cy="402336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62772" y="1979676"/>
            <a:ext cx="137160" cy="13716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78824" y="1929384"/>
            <a:ext cx="2560320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복지 · 의료기관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404872"/>
            <a:ext cx="3108960" cy="6463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39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매일 살펴볼 인력과</a:t>
            </a:r>
          </a:p>
          <a:p>
            <a:pPr algn="l">
              <a:lnSpc>
                <a:spcPct val="142000"/>
              </a:lnSpc>
            </a:pPr>
            <a:r>
              <a:rPr sz="1639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기록 수단이 없다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3127248"/>
            <a:ext cx="3200400" cy="4876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수기 관찰과 반복 문답에 기대어</a:t>
            </a:r>
          </a:p>
          <a:p>
            <a:pPr algn="l">
              <a:lnSpc>
                <a:spcPct val="14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데이터가 남지 않습니다.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895344"/>
            <a:ext cx="11003249" cy="640080"/>
          </a:xfrm>
          <a:prstGeom prst="roundRect">
            <a:avLst>
              <a:gd name="adj" fmla="val 10000"/>
            </a:avLst>
          </a:prstGeom>
          <a:solidFill>
            <a:srgbClr val="FBE0D3"/>
          </a:solidFill>
          <a:ln w="15875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041648"/>
            <a:ext cx="11003249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변화는 진단 이전에 시작되는데, </a:t>
            </a:r>
            <a:r>
              <a:rPr sz="196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매일을 남기는 수단이 없습니다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736592"/>
            <a:ext cx="3502152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882896"/>
            <a:ext cx="3502152" cy="68110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6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20.3%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468112"/>
            <a:ext cx="3502152" cy="2559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65세 이상 인구 비중 · 한국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724144"/>
            <a:ext cx="3502152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출처 · 국가데이터처 2025 고령자 통계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736592"/>
            <a:ext cx="3502152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4882896"/>
            <a:ext cx="3502152" cy="68110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6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약 101만 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5468112"/>
            <a:ext cx="3502152" cy="2559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65세 이상 추정 치매 인구 · 2026 전망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5724144"/>
            <a:ext cx="3502152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출처 · 보건복지부 2023 치매역학조사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4736592"/>
            <a:ext cx="3502152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4882896"/>
            <a:ext cx="3502152" cy="68110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6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29.4%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5468112"/>
            <a:ext cx="3502152" cy="2559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65세 이상 인구 비중 · 일본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5724144"/>
            <a:ext cx="3502152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출처 · 일본 총무성 통계국 2025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문제 정의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02</a:t>
            </a:r>
          </a:p>
        </p:txBody>
      </p:sp>
      <p:pic>
        <p:nvPicPr>
          <p:cNvPr id="40" name="Picture 3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SOLUTION · 해결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네 주체</a:t>
            </a:r>
            <a:r>
              <a:rPr sz="31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를 잇는 하루 3분 루틴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8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어르신 활동 · 보호자 안부 · 복지관 운영 · 의료 상담 준비</a:t>
            </a:r>
          </a:p>
        </p:txBody>
      </p:sp>
      <p:sp>
        <p:nvSpPr>
          <p:cNvPr id="5" name="Oval 4"/>
          <p:cNvSpPr/>
          <p:nvPr/>
        </p:nvSpPr>
        <p:spPr>
          <a:xfrm>
            <a:off x="5134356" y="2167128"/>
            <a:ext cx="1920240" cy="1920240"/>
          </a:xfrm>
          <a:prstGeom prst="ellipse">
            <a:avLst/>
          </a:prstGeom>
          <a:solidFill>
            <a:srgbClr val="FBF5E9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390388" y="2423160"/>
            <a:ext cx="1408176" cy="140817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0076" y="2779776"/>
            <a:ext cx="1828800" cy="4960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20" b="0" lang="ko-KR" altLang="en-US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Haru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0076" y="3200400"/>
            <a:ext cx="1828800" cy="277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10" b="0" lang="ko-KR" altLang="en-US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하루 3분 루틴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19072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975104"/>
            <a:ext cx="50292" cy="530352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874519"/>
            <a:ext cx="457200" cy="457200"/>
          </a:xfrm>
          <a:prstGeom prst="ellipse">
            <a:avLst/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8560" y="1989551"/>
            <a:ext cx="88879" cy="88879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4244" y="2108057"/>
            <a:ext cx="197510" cy="108630"/>
          </a:xfrm>
          <a:prstGeom prst="roundRect">
            <a:avLst>
              <a:gd name="adj" fmla="val 45000"/>
            </a:avLst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3624" y="1920240"/>
            <a:ext cx="2926080" cy="364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어르신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3624" y="2286000"/>
            <a:ext cx="2980944" cy="5021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4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큰 글씨 · 네 개 물리 버튼 · 음성 안내</a:t>
            </a:r>
          </a:p>
          <a:p>
            <a:pPr algn="l">
              <a:lnSpc>
                <a:spcPct val="142000"/>
              </a:lnSpc>
            </a:pPr>
            <a:r>
              <a:rPr sz="124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검사가 아닌 일상 활동으로 매일 참여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1719072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87184" y="1975104"/>
            <a:ext cx="50292" cy="530352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07224" y="1874519"/>
            <a:ext cx="457200" cy="457200"/>
          </a:xfrm>
          <a:prstGeom prst="ellipse">
            <a:avLst/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Heart 18"/>
          <p:cNvSpPr/>
          <p:nvPr/>
        </p:nvSpPr>
        <p:spPr>
          <a:xfrm>
            <a:off x="7612380" y="1989551"/>
            <a:ext cx="246888" cy="227136"/>
          </a:xfrm>
          <a:prstGeom prst="hear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8" y="1920240"/>
            <a:ext cx="2926080" cy="364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보호자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286000"/>
            <a:ext cx="2980944" cy="5021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4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점수가 아닌 안부와 대화 단서</a:t>
            </a:r>
          </a:p>
          <a:p>
            <a:pPr algn="l">
              <a:lnSpc>
                <a:spcPct val="142000"/>
              </a:lnSpc>
            </a:pPr>
            <a:r>
              <a:rPr sz="124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오늘 남긴 이야기로 통화를 시작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255264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511296"/>
            <a:ext cx="50292" cy="530352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410712"/>
            <a:ext cx="457200" cy="457200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1019556" y="3520805"/>
            <a:ext cx="246888" cy="118506"/>
          </a:xfrm>
          <a:prstGeom prst="triangl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1526" y="3634374"/>
            <a:ext cx="162946" cy="123444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63624" y="3456432"/>
            <a:ext cx="2926080" cy="364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복지관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63624" y="3822191"/>
            <a:ext cx="2980944" cy="5021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4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반복 활동 운영과 참여 확인</a:t>
            </a:r>
          </a:p>
          <a:p>
            <a:pPr algn="l">
              <a:lnSpc>
                <a:spcPct val="142000"/>
              </a:lnSpc>
            </a:pPr>
            <a:r>
              <a:rPr sz="124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기관 단말 한 대로 여러 어르신 순환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87184" y="3255264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87184" y="3511296"/>
            <a:ext cx="50292" cy="530352"/>
          </a:xfrm>
          <a:prstGeom prst="rect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07224" y="3410712"/>
            <a:ext cx="457200" cy="457200"/>
          </a:xfrm>
          <a:prstGeom prst="ellipse">
            <a:avLst/>
          </a:prstGeom>
          <a:solidFill>
            <a:srgbClr val="F7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Cross 31"/>
          <p:cNvSpPr/>
          <p:nvPr/>
        </p:nvSpPr>
        <p:spPr>
          <a:xfrm>
            <a:off x="7612380" y="3515868"/>
            <a:ext cx="246888" cy="246888"/>
          </a:xfrm>
          <a:prstGeom prst="plus">
            <a:avLst>
              <a:gd name="adj" fmla="val 32000"/>
            </a:avLst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3456432"/>
            <a:ext cx="2926080" cy="364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의료 · 상담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822191"/>
            <a:ext cx="2980944" cy="5021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4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진료 전 참고 가능한 변화 기록</a:t>
            </a:r>
          </a:p>
          <a:p>
            <a:pPr algn="l">
              <a:lnSpc>
                <a:spcPct val="142000"/>
              </a:lnSpc>
            </a:pPr>
            <a:r>
              <a:rPr sz="124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동의된 관찰 기록만 요약해 전달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4681728" y="2359152"/>
            <a:ext cx="734263" cy="89611"/>
          </a:xfrm>
          <a:prstGeom prst="line">
            <a:avLst/>
          </a:prstGeom>
          <a:ln w="19050">
            <a:solidFill>
              <a:srgbClr val="E0D4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772960" y="2359152"/>
            <a:ext cx="414224" cy="89611"/>
          </a:xfrm>
          <a:prstGeom prst="line">
            <a:avLst/>
          </a:prstGeom>
          <a:ln w="19050">
            <a:solidFill>
              <a:srgbClr val="E0D4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4681728" y="3805732"/>
            <a:ext cx="734263" cy="89612"/>
          </a:xfrm>
          <a:prstGeom prst="line">
            <a:avLst/>
          </a:prstGeom>
          <a:ln w="19050">
            <a:solidFill>
              <a:srgbClr val="E0D4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772960" y="3805732"/>
            <a:ext cx="414224" cy="89612"/>
          </a:xfrm>
          <a:prstGeom prst="line">
            <a:avLst/>
          </a:prstGeom>
          <a:ln w="19050">
            <a:solidFill>
              <a:srgbClr val="E0D4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94360" y="4718304"/>
            <a:ext cx="11003249" cy="859536"/>
          </a:xfrm>
          <a:prstGeom prst="roundRect">
            <a:avLst>
              <a:gd name="adj" fmla="val 6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" y="4901184"/>
            <a:ext cx="210312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MMSE · CIST 인지영역을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" y="5175504"/>
            <a:ext cx="210312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일상 문항으로 변환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62656" y="5029200"/>
            <a:ext cx="292608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 lang="ko-KR" altLang="en-US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46704" y="4992624"/>
            <a:ext cx="233972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"오늘 무슨 요일일까요?" </a:t>
            </a:r>
            <a:r>
              <a:rPr sz="1200" b="0" lang="ko-KR" altLang="en-US">
                <a:solidFill>
                  <a:srgbClr val="F4A81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지남력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96153" y="4992624"/>
            <a:ext cx="195872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시장 계산하기 </a:t>
            </a:r>
            <a:r>
              <a:rPr sz="1200" b="0" lang="ko-KR" altLang="en-US">
                <a:solidFill>
                  <a:srgbClr val="5E9A6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주의 · 계산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64602" y="4992624"/>
            <a:ext cx="15681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속담 뜻 고르기 </a:t>
            </a:r>
            <a:r>
              <a:rPr sz="1200" b="0" lang="ko-KR" altLang="en-US">
                <a:solidFill>
                  <a:srgbClr val="4A779B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언어</a:t>
            </a:r>
          </a:p>
        </p:txBody>
      </p:sp>
      <p:sp>
        <p:nvSpPr>
          <p:cNvPr id="46" name="Oval 45"/>
          <p:cNvSpPr/>
          <p:nvPr/>
        </p:nvSpPr>
        <p:spPr>
          <a:xfrm>
            <a:off x="10113264" y="5001768"/>
            <a:ext cx="292608" cy="292608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 rot="8100000">
            <a:off x="10203789" y="5140756"/>
            <a:ext cx="31089" cy="65836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 rot="2520000">
            <a:off x="10267797" y="5085892"/>
            <a:ext cx="31089" cy="128015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97312" y="4901184"/>
            <a:ext cx="10972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진단 · 위험도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97312" y="5175504"/>
            <a:ext cx="10972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판정 없음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797296"/>
            <a:ext cx="11003249" cy="2559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한 사람의 짧은 활동이, 네 곳에서 서로 다른 가치로 쓰입니다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해결 구조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03</a:t>
            </a:r>
          </a:p>
        </p:txBody>
      </p:sp>
      <p:pic>
        <p:nvPicPr>
          <p:cNvPr id="55" name="Picture 5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COMPETITION · 경쟁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기존에 없던</a:t>
            </a:r>
            <a:r>
              <a:rPr sz="31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서비스입니다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8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핵심 기능 범주별 제공 범위 비교 · 운영 방식과 기록 활용 기준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6473" y="1773936"/>
            <a:ext cx="917326" cy="2779776"/>
          </a:xfrm>
          <a:prstGeom prst="roundRect">
            <a:avLst>
              <a:gd name="adj" fmla="val 6000"/>
            </a:avLst>
          </a:prstGeom>
          <a:solidFill>
            <a:srgbClr val="FBE0D3"/>
          </a:solidFill>
          <a:ln w="15875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651760"/>
            <a:ext cx="6032113" cy="457200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3566160"/>
            <a:ext cx="6032113" cy="457200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47088"/>
            <a:ext cx="6949440" cy="12700"/>
          </a:xfrm>
          <a:prstGeom prst="rect">
            <a:avLst/>
          </a:prstGeom>
          <a:solidFill>
            <a:srgbClr val="6C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929384"/>
            <a:ext cx="2253081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핵심 기능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2033" y="1929384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선별검사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29359" y="1929384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두뇌게임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685" y="1929384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돌봄로봇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4011" y="1929384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기관 활동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1337" y="1929384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Haru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194560"/>
            <a:ext cx="694944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2331720"/>
            <a:ext cx="2253081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매일 두뇌운동 루틴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2033" y="23317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9359" y="23317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685" y="23317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4011" y="23317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1337" y="23317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2651760"/>
            <a:ext cx="6949440" cy="457200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2788920"/>
            <a:ext cx="2253081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보호자 안부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2033" y="27889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29359" y="27889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685" y="27889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4011" y="27889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1337" y="27889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3246120"/>
            <a:ext cx="2253081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변화 요약 리포트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2033" y="32461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29359" y="32461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685" y="32461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4011" y="32461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81337" y="32461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3566160"/>
            <a:ext cx="6949440" cy="457200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" y="3703320"/>
            <a:ext cx="2253081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복지기관 · 지자체 연계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2033" y="37033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29359" y="37033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685" y="37033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4011" y="37033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81337" y="37033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160520"/>
            <a:ext cx="2253081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기록의 다음 문항 재사용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2033" y="41605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29359" y="41605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685" y="41605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4011" y="41605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81337" y="4160520"/>
            <a:ext cx="80759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4480560"/>
            <a:ext cx="694944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8100000">
            <a:off x="4271802" y="2415113"/>
            <a:ext cx="34198" cy="72420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520000">
            <a:off x="4342211" y="2354762"/>
            <a:ext cx="34198" cy="140817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 rot="8100000">
            <a:off x="6106454" y="2415113"/>
            <a:ext cx="34198" cy="72420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 rot="2520000">
            <a:off x="6176863" y="2354762"/>
            <a:ext cx="34198" cy="140817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 rot="8100000">
            <a:off x="7023780" y="2415113"/>
            <a:ext cx="34198" cy="7242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520000">
            <a:off x="7094189" y="2354762"/>
            <a:ext cx="34198" cy="140817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 rot="8100000">
            <a:off x="5189128" y="2872313"/>
            <a:ext cx="34198" cy="72420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 rot="2520000">
            <a:off x="5259537" y="2811962"/>
            <a:ext cx="34198" cy="140817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 rot="8100000">
            <a:off x="7023780" y="2872313"/>
            <a:ext cx="34198" cy="7242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 rot="2520000">
            <a:off x="7094189" y="2811962"/>
            <a:ext cx="34198" cy="140817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 rot="8100000">
            <a:off x="7023780" y="3329513"/>
            <a:ext cx="34198" cy="7242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 rot="2520000">
            <a:off x="7094189" y="3269162"/>
            <a:ext cx="34198" cy="140817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 rot="8100000">
            <a:off x="3354476" y="3786713"/>
            <a:ext cx="34198" cy="72420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 rot="2520000">
            <a:off x="3424885" y="3726362"/>
            <a:ext cx="34198" cy="140817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 rot="8100000">
            <a:off x="5189128" y="3786713"/>
            <a:ext cx="34198" cy="72420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 rot="2520000">
            <a:off x="5259537" y="3726362"/>
            <a:ext cx="34198" cy="140817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 rot="8100000">
            <a:off x="6106454" y="3786713"/>
            <a:ext cx="34198" cy="72420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 rot="2520000">
            <a:off x="6176863" y="3726362"/>
            <a:ext cx="34198" cy="140817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 rot="8100000">
            <a:off x="7023780" y="3786713"/>
            <a:ext cx="34198" cy="7242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 rot="2520000">
            <a:off x="7094189" y="3726362"/>
            <a:ext cx="34198" cy="140817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 rot="8100000">
            <a:off x="7023780" y="4243913"/>
            <a:ext cx="34198" cy="7242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 rot="2520000">
            <a:off x="7094189" y="4183562"/>
            <a:ext cx="34198" cy="140817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94360" y="4663440"/>
            <a:ext cx="6949440" cy="457200"/>
          </a:xfrm>
          <a:prstGeom prst="roundRect">
            <a:avLst>
              <a:gd name="adj" fmla="val 6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8952" y="4782312"/>
            <a:ext cx="1920240" cy="277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0" b="0" lang="ko-KR" altLang="en-US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제공 개수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57169" y="4764024"/>
            <a:ext cx="917326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 lang="ko-KR" altLang="en-US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1/5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74495" y="4764024"/>
            <a:ext cx="917326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 lang="ko-KR" altLang="en-US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1/5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91821" y="4764024"/>
            <a:ext cx="917326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 lang="ko-KR" altLang="en-US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2/5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09147" y="4764024"/>
            <a:ext cx="917326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 lang="ko-KR" altLang="en-US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2/5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26473" y="4764024"/>
            <a:ext cx="917326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 lang="ko-KR" altLang="en-US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5/5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360" y="5303520"/>
            <a:ext cx="6949440" cy="301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3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다섯 가지를 동시에 제공하는 것은 Haru 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4360" y="5669280"/>
            <a:ext cx="694944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– 는 해당 기능이 핵심 제공 범위가 아니라는 뜻입니다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4360" y="5907024"/>
            <a:ext cx="694944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범주 수준의 구조 비교이며, 개별 브랜드 · 효과 · 가격 비교가 아닙니다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863840" y="1773936"/>
            <a:ext cx="3730752" cy="420624"/>
          </a:xfrm>
          <a:prstGeom prst="roundRect">
            <a:avLst>
              <a:gd name="adj" fmla="val 8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63840" y="1865376"/>
            <a:ext cx="3730752" cy="3228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39" b="0" lang="ko-KR" altLang="en-US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왜 Haru가 더 나은가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863840" y="2304288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863840" y="2487168"/>
            <a:ext cx="50292" cy="896112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092440" y="2423160"/>
            <a:ext cx="310896" cy="3108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92440" y="2487168"/>
            <a:ext cx="310896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60" b="0" lang="ko-KR" altLang="en-US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22208" y="2468880"/>
            <a:ext cx="2944368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2×2 버튼 · 음성 인식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19871" y="2798064"/>
            <a:ext cx="3310128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스마트폰도 터치 메뉴도 없이</a:t>
            </a:r>
          </a:p>
          <a:p>
            <a:pPr algn="l">
              <a:lnSpc>
                <a:spcPct val="128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큰 화면과 네 개 버튼으로</a:t>
            </a:r>
          </a:p>
          <a:p>
            <a:pPr algn="l">
              <a:lnSpc>
                <a:spcPct val="128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어르신이 혼자 끝까지 수행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863840" y="3621024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863840" y="3803904"/>
            <a:ext cx="50292" cy="896112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092440" y="3739896"/>
            <a:ext cx="310896" cy="310896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092440" y="3803904"/>
            <a:ext cx="310896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60" b="0" lang="ko-KR" altLang="en-US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22208" y="3785615"/>
            <a:ext cx="2944368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네 축이 하나로 연결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19871" y="4114800"/>
            <a:ext cx="3310128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어르신 · 보호자 · 복지관 · 의료가</a:t>
            </a:r>
          </a:p>
          <a:p>
            <a:pPr algn="l">
              <a:lnSpc>
                <a:spcPct val="128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기록을 각자의 형태로</a:t>
            </a:r>
          </a:p>
          <a:p>
            <a:pPr algn="l">
              <a:lnSpc>
                <a:spcPct val="128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나눠 쓰는 구조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863840" y="4937760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863840" y="5120640"/>
            <a:ext cx="50292" cy="896112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092440" y="5056632"/>
            <a:ext cx="310896" cy="310896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092440" y="5120640"/>
            <a:ext cx="310896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60" b="0" lang="ko-KR" altLang="en-US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522208" y="5102352"/>
            <a:ext cx="2944368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AI 개인화 문항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19871" y="5431536"/>
            <a:ext cx="3310128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오늘 말한 내용이 근거로 남아</a:t>
            </a:r>
          </a:p>
          <a:p>
            <a:pPr algn="l">
              <a:lnSpc>
                <a:spcPct val="128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내일 문항과 상담 단서로</a:t>
            </a:r>
          </a:p>
          <a:p>
            <a:pPr algn="l">
              <a:lnSpc>
                <a:spcPct val="128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다시 나오는 구조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경쟁 구조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04</a:t>
            </a:r>
          </a:p>
        </p:txBody>
      </p:sp>
      <p:pic>
        <p:nvPicPr>
          <p:cNvPr id="104" name="Picture 10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BETA TEST · 사전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베타테스트를 통한 </a:t>
            </a:r>
            <a:r>
              <a:rPr sz="315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키오스크형으로의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8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어르신 20명의 베타테스트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00784"/>
            <a:ext cx="3840480" cy="3228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39" b="0" lang="ko-KR" altLang="en-US" spc="160">
                <a:solidFill>
                  <a:srgbClr val="9C8B77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56816"/>
            <a:ext cx="3840480" cy="4350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10" b="0" lang="ko-KR" altLang="en-US">
                <a:solidFill>
                  <a:srgbClr val="6C5D4C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모바일 URL 웹앱</a:t>
            </a:r>
          </a:p>
        </p:txBody>
      </p:sp>
      <p:pic>
        <p:nvPicPr>
          <p:cNvPr id="7" name="Picture 6" descr="mob_st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300" y="2450592"/>
            <a:ext cx="689559" cy="1609344"/>
          </a:xfrm>
          <a:prstGeom prst="rect">
            <a:avLst/>
          </a:prstGeom>
          <a:effectLst/>
        </p:spPr>
      </p:pic>
      <p:sp>
        <p:nvSpPr>
          <p:cNvPr id="8" name="Rounded Rectangle 7"/>
          <p:cNvSpPr/>
          <p:nvPr/>
        </p:nvSpPr>
        <p:spPr>
          <a:xfrm>
            <a:off x="1356004" y="2368296"/>
            <a:ext cx="854151" cy="1773936"/>
          </a:xfrm>
          <a:prstGeom prst="roundRect">
            <a:avLst>
              <a:gd name="adj" fmla="val 16000"/>
            </a:avLst>
          </a:prstGeom>
          <a:noFill/>
          <a:ln w="25400">
            <a:solidFill>
              <a:srgbClr val="6C5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36776" y="2409444"/>
            <a:ext cx="292608" cy="41148"/>
          </a:xfrm>
          <a:prstGeom prst="roundRect">
            <a:avLst>
              <a:gd name="adj" fmla="val 50000"/>
            </a:avLst>
          </a:prstGeom>
          <a:solidFill>
            <a:srgbClr val="6C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0" name="Picture 9" descr="mob_weekd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036" y="2450592"/>
            <a:ext cx="689559" cy="1609344"/>
          </a:xfrm>
          <a:prstGeom prst="rect">
            <a:avLst/>
          </a:prstGeom>
          <a:effectLst/>
        </p:spPr>
      </p:pic>
      <p:sp>
        <p:nvSpPr>
          <p:cNvPr id="11" name="Rounded Rectangle 10"/>
          <p:cNvSpPr/>
          <p:nvPr/>
        </p:nvSpPr>
        <p:spPr>
          <a:xfrm>
            <a:off x="2672740" y="2368296"/>
            <a:ext cx="854151" cy="1773936"/>
          </a:xfrm>
          <a:prstGeom prst="roundRect">
            <a:avLst>
              <a:gd name="adj" fmla="val 16000"/>
            </a:avLst>
          </a:prstGeom>
          <a:noFill/>
          <a:ln w="25400">
            <a:solidFill>
              <a:srgbClr val="6C5D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53511" y="2409444"/>
            <a:ext cx="292608" cy="41148"/>
          </a:xfrm>
          <a:prstGeom prst="roundRect">
            <a:avLst>
              <a:gd name="adj" fmla="val 50000"/>
            </a:avLst>
          </a:prstGeom>
          <a:solidFill>
            <a:srgbClr val="6C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297680"/>
            <a:ext cx="38404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베타테스트에 쓴 데모 URL 화면</a:t>
            </a:r>
          </a:p>
        </p:txBody>
      </p:sp>
      <p:sp>
        <p:nvSpPr>
          <p:cNvPr id="14" name="Oval 13"/>
          <p:cNvSpPr/>
          <p:nvPr/>
        </p:nvSpPr>
        <p:spPr>
          <a:xfrm>
            <a:off x="4453128" y="2606039"/>
            <a:ext cx="786384" cy="786384"/>
          </a:xfrm>
          <a:prstGeom prst="ellipse">
            <a:avLst/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4727448" y="2843784"/>
            <a:ext cx="310896" cy="310896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3529584"/>
            <a:ext cx="124358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데모 기반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3749039"/>
            <a:ext cx="1243584" cy="2559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20명 베타테스트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700784"/>
            <a:ext cx="6108192" cy="3228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39" b="0" lang="ko-KR" altLang="en-US" spc="1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956816"/>
            <a:ext cx="6108192" cy="4350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1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2×2 물리 버튼 키오스크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2395728"/>
            <a:ext cx="1572768" cy="186537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21" name="Picture 20" descr="mk_front_bl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2487168"/>
            <a:ext cx="1261872" cy="1682496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5486400" y="4315968"/>
            <a:ext cx="157276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실물 목업 정면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2450592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2523744"/>
            <a:ext cx="148132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작은 화면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8938260" y="2537460"/>
            <a:ext cx="137160" cy="137160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71432" y="2450592"/>
            <a:ext cx="2423160" cy="310896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71432" y="2505456"/>
            <a:ext cx="2423160" cy="2559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큰 세로 화면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60920" y="285292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2926080"/>
            <a:ext cx="148132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터치 · 메뉴 부담</a:t>
            </a:r>
          </a:p>
        </p:txBody>
      </p:sp>
      <p:sp>
        <p:nvSpPr>
          <p:cNvPr id="30" name="Isosceles Triangle 29"/>
          <p:cNvSpPr/>
          <p:nvPr/>
        </p:nvSpPr>
        <p:spPr>
          <a:xfrm rot="5400000">
            <a:off x="8938260" y="2939796"/>
            <a:ext cx="137160" cy="137160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71432" y="2852928"/>
            <a:ext cx="2423160" cy="310896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71432" y="2907792"/>
            <a:ext cx="2423160" cy="2559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네 개 물리 버튼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3255264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3328416"/>
            <a:ext cx="148132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듣는 상태 불명확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8938260" y="3342132"/>
            <a:ext cx="137160" cy="137160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71432" y="3255264"/>
            <a:ext cx="2423160" cy="310896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71432" y="3310128"/>
            <a:ext cx="2423160" cy="2559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붉은 듣기 상태 · 파형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60920" y="3657600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20" y="3730752"/>
            <a:ext cx="148132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인식 실패 체감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8938260" y="3744468"/>
            <a:ext cx="137160" cy="137160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71432" y="3657600"/>
            <a:ext cx="2423160" cy="310896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71432" y="3712463"/>
            <a:ext cx="2423160" cy="2559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재시도 · 실패 비차단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60920" y="4078224"/>
            <a:ext cx="4233672" cy="384048"/>
          </a:xfrm>
          <a:prstGeom prst="roundRect">
            <a:avLst>
              <a:gd name="adj" fmla="val 8000"/>
            </a:avLst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60920" y="4160520"/>
            <a:ext cx="4233672" cy="277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10" b="0" lang="ko-KR" altLang="en-US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스마트폰을 전제하지 않는 별도 기기로 전환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4608576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4700016"/>
            <a:ext cx="5852160" cy="277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어르신 20명을 대상으로 한 베타테스트에서 확인한 세 가지</a:t>
            </a:r>
          </a:p>
        </p:txBody>
      </p:sp>
      <p:sp>
        <p:nvSpPr>
          <p:cNvPr id="47" name="Oval 46"/>
          <p:cNvSpPr/>
          <p:nvPr/>
        </p:nvSpPr>
        <p:spPr>
          <a:xfrm>
            <a:off x="594360" y="4992624"/>
            <a:ext cx="256032" cy="256032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5029200"/>
            <a:ext cx="256032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 lang="ko-KR" altLang="en-US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" y="5010912"/>
            <a:ext cx="3246120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복잡한 조작을 어려워함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" y="5285232"/>
            <a:ext cx="331012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메뉴 이동과 터치 자체가 부담</a:t>
            </a:r>
          </a:p>
        </p:txBody>
      </p:sp>
      <p:sp>
        <p:nvSpPr>
          <p:cNvPr id="51" name="Oval 50"/>
          <p:cNvSpPr/>
          <p:nvPr/>
        </p:nvSpPr>
        <p:spPr>
          <a:xfrm>
            <a:off x="4343400" y="4992624"/>
            <a:ext cx="256032" cy="256032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43400" y="5029200"/>
            <a:ext cx="256032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 lang="ko-KR" altLang="en-US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27448" y="5010912"/>
            <a:ext cx="3246120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글자가 작아 보이지 않음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27448" y="5285232"/>
            <a:ext cx="331012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확대해도 화면이 작아 읽기 어려움</a:t>
            </a:r>
          </a:p>
        </p:txBody>
      </p:sp>
      <p:sp>
        <p:nvSpPr>
          <p:cNvPr id="55" name="Oval 54"/>
          <p:cNvSpPr/>
          <p:nvPr/>
        </p:nvSpPr>
        <p:spPr>
          <a:xfrm>
            <a:off x="8092440" y="4992624"/>
            <a:ext cx="256032" cy="256032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92440" y="5029200"/>
            <a:ext cx="256032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 lang="ko-KR" altLang="en-US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76488" y="5010912"/>
            <a:ext cx="3246120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잘못 눌러 그냥 넘어감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76488" y="5285232"/>
            <a:ext cx="331012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실수를 되돌릴 방법이 없음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5705856"/>
            <a:ext cx="11003249" cy="3228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39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데모 버전을 활용한 베타테스트를 통해, 어르신께 한 걸음 더 다가갈 수 있었습니다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사용 흐름 확인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05</a:t>
            </a:r>
          </a:p>
        </p:txBody>
      </p:sp>
      <p:pic>
        <p:nvPicPr>
          <p:cNvPr id="63" name="Picture 62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INTERACTION · 조작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2×2 물리버튼을 통해 구현한 </a:t>
            </a:r>
            <a:r>
              <a:rPr sz="315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노인친화적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8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선택 · 재입력 확정 · 음성 안내의 단일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2423160" cy="301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3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실물 목업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56816"/>
            <a:ext cx="2423160" cy="298094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7" name="Picture 6" descr="mk_side_blu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66" y="2048256"/>
            <a:ext cx="2098548" cy="2798064"/>
          </a:xfrm>
          <a:prstGeom prst="rect">
            <a:avLst/>
          </a:prstGeom>
          <a:effectLst/>
        </p:spPr>
      </p:pic>
      <p:sp>
        <p:nvSpPr>
          <p:cNvPr id="8" name="TextBox 7"/>
          <p:cNvSpPr txBox="1"/>
          <p:nvPr/>
        </p:nvSpPr>
        <p:spPr>
          <a:xfrm>
            <a:off x="9052560" y="1645920"/>
            <a:ext cx="2542032" cy="301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3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실제 구동 영상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956816"/>
            <a:ext cx="2542032" cy="298094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10" name="haru_2x2_9s5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535972" y="2048256"/>
            <a:ext cx="1575206" cy="2798064"/>
          </a:xfrm>
          <a:prstGeom prst="rect">
            <a:avLst/>
          </a:prstGeom>
          <a:ln w="12700">
            <a:solidFill>
              <a:srgbClr val="C2B4A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3246120" y="1956816"/>
            <a:ext cx="3657600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화면 위치 = 버튼 위치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2340864"/>
            <a:ext cx="1737360" cy="786384"/>
          </a:xfrm>
          <a:prstGeom prst="roundRect">
            <a:avLst>
              <a:gd name="adj" fmla="val 14000"/>
            </a:avLst>
          </a:prstGeom>
          <a:solidFill>
            <a:srgbClr val="FBE0D3"/>
          </a:solidFill>
          <a:ln w="9525">
            <a:solidFill>
              <a:srgbClr val="C841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4136" y="2423160"/>
            <a:ext cx="365760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6" y="2724912"/>
            <a:ext cx="1499616" cy="277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매우 좋음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2340864"/>
            <a:ext cx="1737360" cy="786384"/>
          </a:xfrm>
          <a:prstGeom prst="roundRect">
            <a:avLst>
              <a:gd name="adj" fmla="val 14000"/>
            </a:avLst>
          </a:prstGeom>
          <a:solidFill>
            <a:srgbClr val="FBE6B4"/>
          </a:solidFill>
          <a:ln w="9525">
            <a:solidFill>
              <a:srgbClr val="F4A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2936" y="2423160"/>
            <a:ext cx="365760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F4A81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6" y="2724912"/>
            <a:ext cx="1499616" cy="277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좋음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218688"/>
            <a:ext cx="1737360" cy="786384"/>
          </a:xfrm>
          <a:prstGeom prst="roundRect">
            <a:avLst>
              <a:gd name="adj" fmla="val 14000"/>
            </a:avLst>
          </a:prstGeom>
          <a:solidFill>
            <a:srgbClr val="EAF3E4"/>
          </a:solidFill>
          <a:ln w="9525">
            <a:solidFill>
              <a:srgbClr val="5E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4136" y="3300984"/>
            <a:ext cx="365760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5E9A6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3602736"/>
            <a:ext cx="1499616" cy="277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그저 그럼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3218688"/>
            <a:ext cx="1737360" cy="786384"/>
          </a:xfrm>
          <a:prstGeom prst="roundRect">
            <a:avLst>
              <a:gd name="adj" fmla="val 14000"/>
            </a:avLst>
          </a:prstGeom>
          <a:solidFill>
            <a:srgbClr val="DFEAF6"/>
          </a:solidFill>
          <a:ln w="9525">
            <a:solidFill>
              <a:srgbClr val="4A7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2936" y="3300984"/>
            <a:ext cx="365760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4A779B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3602736"/>
            <a:ext cx="1499616" cy="277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좋지 않음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1956816"/>
            <a:ext cx="173736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물리 버튼 네 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2377440"/>
            <a:ext cx="804672" cy="475488"/>
          </a:xfrm>
          <a:prstGeom prst="roundRect">
            <a:avLst>
              <a:gd name="adj" fmla="val 16000"/>
            </a:avLst>
          </a:prstGeom>
          <a:solidFill>
            <a:srgbClr val="E4E4E4"/>
          </a:solidFill>
          <a:ln w="1587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41464" y="2432304"/>
            <a:ext cx="146304" cy="365760"/>
          </a:xfrm>
          <a:prstGeom prst="roundRect">
            <a:avLst>
              <a:gd name="adj" fmla="val 50000"/>
            </a:avLst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2496312"/>
            <a:ext cx="713232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60" b="0" lang="ko-KR" altLang="en-US">
                <a:solidFill>
                  <a:srgbClr val="3A3A3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9288" y="2377440"/>
            <a:ext cx="804672" cy="475488"/>
          </a:xfrm>
          <a:prstGeom prst="roundRect">
            <a:avLst>
              <a:gd name="adj" fmla="val 16000"/>
            </a:avLst>
          </a:prstGeom>
          <a:solidFill>
            <a:srgbClr val="E4E4E4"/>
          </a:solidFill>
          <a:ln w="1587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74152" y="2432304"/>
            <a:ext cx="146304" cy="365760"/>
          </a:xfrm>
          <a:prstGeom prst="roundRect">
            <a:avLst>
              <a:gd name="adj" fmla="val 50000"/>
            </a:avLst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0727" y="2496312"/>
            <a:ext cx="713232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60" b="0" lang="ko-KR" altLang="en-US">
                <a:solidFill>
                  <a:srgbClr val="3A3A3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86600" y="2944368"/>
            <a:ext cx="804672" cy="475488"/>
          </a:xfrm>
          <a:prstGeom prst="roundRect">
            <a:avLst>
              <a:gd name="adj" fmla="val 16000"/>
            </a:avLst>
          </a:prstGeom>
          <a:solidFill>
            <a:srgbClr val="E4E4E4"/>
          </a:solidFill>
          <a:ln w="1587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141464" y="2999232"/>
            <a:ext cx="146304" cy="365760"/>
          </a:xfrm>
          <a:prstGeom prst="roundRect">
            <a:avLst>
              <a:gd name="adj" fmla="val 50000"/>
            </a:avLst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3063240"/>
            <a:ext cx="713232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60" b="0" lang="ko-KR" altLang="en-US">
                <a:solidFill>
                  <a:srgbClr val="3A3A3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9288" y="2944368"/>
            <a:ext cx="804672" cy="475488"/>
          </a:xfrm>
          <a:prstGeom prst="roundRect">
            <a:avLst>
              <a:gd name="adj" fmla="val 16000"/>
            </a:avLst>
          </a:prstGeom>
          <a:solidFill>
            <a:srgbClr val="E4E4E4"/>
          </a:solidFill>
          <a:ln w="1587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74152" y="2999232"/>
            <a:ext cx="146304" cy="365760"/>
          </a:xfrm>
          <a:prstGeom prst="roundRect">
            <a:avLst>
              <a:gd name="adj" fmla="val 50000"/>
            </a:avLst>
          </a:prstGeom>
          <a:solidFill>
            <a:srgbClr val="4A7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10727" y="3063240"/>
            <a:ext cx="713232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60" b="0" lang="ko-KR" altLang="en-US">
                <a:solidFill>
                  <a:srgbClr val="3A3A3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6120" y="4133087"/>
            <a:ext cx="5577840" cy="402336"/>
          </a:xfrm>
          <a:prstGeom prst="roundRect">
            <a:avLst>
              <a:gd name="adj" fmla="val 8000"/>
            </a:avLst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46120" y="4215384"/>
            <a:ext cx="5577840" cy="277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1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버튼의 색과 위치가 화면 문항과 그대로 대응합니다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4663440"/>
            <a:ext cx="219456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83863" y="4663440"/>
            <a:ext cx="25603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음성 안내를 듣습니다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4663440"/>
            <a:ext cx="219456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8504" y="4663440"/>
            <a:ext cx="25603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보이는 자리의 버튼을 누릅니다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4937759"/>
            <a:ext cx="219456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83863" y="4937759"/>
            <a:ext cx="25603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화면에서 선택을 확인합니다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4937759"/>
            <a:ext cx="219456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18504" y="4937759"/>
            <a:ext cx="25603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버튼을 한 번 더 눌러 확정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5266944"/>
            <a:ext cx="11003249" cy="749808"/>
          </a:xfrm>
          <a:prstGeom prst="roundRect">
            <a:avLst>
              <a:gd name="adj" fmla="val 8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68096" y="5431536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532120"/>
            <a:ext cx="402336" cy="3228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39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62456" y="5486400"/>
            <a:ext cx="5669280" cy="364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0" lang="ko-KR" altLang="en-US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2×2 위치 일치 · 같은 버튼 재입력 확정 구조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89520" y="5486400"/>
            <a:ext cx="132054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36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특허 출원 진행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18320" y="5486400"/>
            <a:ext cx="1491847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36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KCI 논문 작성 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조작 규칙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06</a:t>
            </a:r>
          </a:p>
        </p:txBody>
      </p:sp>
      <p:pic>
        <p:nvPicPr>
          <p:cNvPr id="56" name="Picture 55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09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0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CONTENT · 문항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모든 문항은 </a:t>
            </a:r>
            <a:r>
              <a:rPr sz="315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검증된 인지 영역</a:t>
            </a:r>
            <a:r>
              <a:rPr sz="31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위에 설계됩니다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8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우울에 PHQ-9가 있듯, 인지에는 MMSE · CIST의 검증된 영역 체계가 있습니다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00784"/>
            <a:ext cx="3502152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828800"/>
            <a:ext cx="475488" cy="475488"/>
          </a:xfrm>
          <a:prstGeom prst="ellipse">
            <a:avLst/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984248"/>
            <a:ext cx="164592" cy="164592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865376"/>
            <a:ext cx="2560320" cy="332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89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지남력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2157984"/>
            <a:ext cx="25603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시간 · 장소 감각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468880"/>
            <a:ext cx="32004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기존 검사 · 오늘 날짜 확인 · 현재 위치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" y="2724912"/>
            <a:ext cx="2015871" cy="310896"/>
          </a:xfrm>
          <a:prstGeom prst="roundRect">
            <a:avLst>
              <a:gd name="adj" fmla="val 50000"/>
            </a:avLst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"오늘은 무슨 요일일까요?"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" y="3090672"/>
            <a:ext cx="2158746" cy="310896"/>
          </a:xfrm>
          <a:prstGeom prst="roundRect">
            <a:avLst>
              <a:gd name="adj" fmla="val 50000"/>
            </a:avLst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"오늘 어디에 다녀오셨어요?"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700784"/>
            <a:ext cx="3502152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1828800"/>
            <a:ext cx="475488" cy="475488"/>
          </a:xfrm>
          <a:prstGeom prst="ellipse">
            <a:avLst/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81728" y="1984248"/>
            <a:ext cx="164592" cy="164592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72" y="1865376"/>
            <a:ext cx="2560320" cy="332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89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기억력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72" y="2157984"/>
            <a:ext cx="25603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기억 등록 · 지연 회상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468880"/>
            <a:ext cx="32004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기존 검사 · 단어 · 문장 기억 후 회상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62856" y="2724912"/>
            <a:ext cx="2034921" cy="310896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어제 남긴 이야기 이어 묻기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62856" y="3090672"/>
            <a:ext cx="1815846" cy="310896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가족 식사 · 나들이 회상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700784"/>
            <a:ext cx="3502152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5320" y="1828800"/>
            <a:ext cx="475488" cy="475488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984248"/>
            <a:ext cx="164592" cy="164592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97112" y="1865376"/>
            <a:ext cx="2560320" cy="332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89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주의 · 계산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7112" y="2157984"/>
            <a:ext cx="25603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주의집중 · 연산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2468880"/>
            <a:ext cx="32004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기존 검사 · 숫자 빼기 · 수열 잇기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11896" y="2724912"/>
            <a:ext cx="1672971" cy="310896"/>
          </a:xfrm>
          <a:prstGeom prst="roundRect">
            <a:avLst>
              <a:gd name="adj" fmla="val 50000"/>
            </a:avLst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장보기 거스름돈 계산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11896" y="3090672"/>
            <a:ext cx="1711071" cy="310896"/>
          </a:xfrm>
          <a:prstGeom prst="roundRect">
            <a:avLst>
              <a:gd name="adj" fmla="val 50000"/>
            </a:avLst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약 복용 시간 세어보기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3675888"/>
            <a:ext cx="3502152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40" y="3803904"/>
            <a:ext cx="475488" cy="475488"/>
          </a:xfrm>
          <a:prstGeom prst="ellipse">
            <a:avLst/>
          </a:prstGeom>
          <a:solidFill>
            <a:srgbClr val="DF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2688" y="3959352"/>
            <a:ext cx="164592" cy="164592"/>
          </a:xfrm>
          <a:prstGeom prst="ellipse">
            <a:avLst/>
          </a:prstGeom>
          <a:solidFill>
            <a:srgbClr val="4A7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99032" y="3840480"/>
            <a:ext cx="2560320" cy="332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89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언어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99032" y="4133088"/>
            <a:ext cx="25603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이름대기 · 이해 · 발화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" y="4443984"/>
            <a:ext cx="32004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기존 검사 · 이름대기 · 문장 따라하기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" y="4700016"/>
            <a:ext cx="1711071" cy="310896"/>
          </a:xfrm>
          <a:prstGeom prst="roundRect">
            <a:avLst>
              <a:gd name="adj" fmla="val 50000"/>
            </a:avLst>
          </a:prstGeom>
          <a:solidFill>
            <a:srgbClr val="DF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오늘 다녀온 곳 말하기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" y="5065776"/>
            <a:ext cx="1244346" cy="310896"/>
          </a:xfrm>
          <a:prstGeom prst="roundRect">
            <a:avLst>
              <a:gd name="adj" fmla="val 50000"/>
            </a:avLst>
          </a:prstGeom>
          <a:solidFill>
            <a:srgbClr val="DF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속담 뜻 고르기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43400" y="3675888"/>
            <a:ext cx="3502152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526280" y="3803904"/>
            <a:ext cx="475488" cy="475488"/>
          </a:xfrm>
          <a:prstGeom prst="ellipse">
            <a:avLst/>
          </a:prstGeom>
          <a:solidFill>
            <a:srgbClr val="F7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81728" y="3959352"/>
            <a:ext cx="164592" cy="164592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48072" y="3840480"/>
            <a:ext cx="2560320" cy="332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89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시공간 · 순서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48072" y="4133088"/>
            <a:ext cx="25603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순서 구성 능력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62856" y="4443984"/>
            <a:ext cx="32004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기존 검사 · 겹친 도형 그리기 · 순서 따라하기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62856" y="4700016"/>
            <a:ext cx="1996820" cy="310896"/>
          </a:xfrm>
          <a:prstGeom prst="roundRect">
            <a:avLst>
              <a:gd name="adj" fmla="val 50000"/>
            </a:avLst>
          </a:prstGeom>
          <a:solidFill>
            <a:srgbClr val="F7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들은 순서대로 버튼 누르기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62856" y="5065776"/>
            <a:ext cx="1387221" cy="310896"/>
          </a:xfrm>
          <a:prstGeom prst="roundRect">
            <a:avLst>
              <a:gd name="adj" fmla="val 50000"/>
            </a:avLst>
          </a:prstGeom>
          <a:solidFill>
            <a:srgbClr val="F7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같은 그림 고르기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92440" y="3675888"/>
            <a:ext cx="3502152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275320" y="3803904"/>
            <a:ext cx="475488" cy="475488"/>
          </a:xfrm>
          <a:prstGeom prst="ellipse">
            <a:avLst/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430768" y="3959352"/>
            <a:ext cx="164592" cy="164592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97112" y="3840480"/>
            <a:ext cx="2560320" cy="3326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89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감정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7112" y="4133088"/>
            <a:ext cx="25603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기분 · 정서 관찰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11896" y="4443984"/>
            <a:ext cx="32004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기존 검사 · 기분 · 우울 선별 설문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11896" y="4700016"/>
            <a:ext cx="2177795" cy="310896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오늘 기분 네 자리에서 고르기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11896" y="5065776"/>
            <a:ext cx="1387221" cy="310896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오늘 하루 말하기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4360" y="5650992"/>
            <a:ext cx="11003249" cy="493776"/>
          </a:xfrm>
          <a:prstGeom prst="roundRect">
            <a:avLst>
              <a:gd name="adj" fmla="val 8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50392" y="5769864"/>
            <a:ext cx="256032" cy="256032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34440" y="5779007"/>
            <a:ext cx="3017520" cy="2559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확인 · 오늘의 수행으로 변화 관찰</a:t>
            </a:r>
          </a:p>
        </p:txBody>
      </p:sp>
      <p:sp>
        <p:nvSpPr>
          <p:cNvPr id="56" name="Isosceles Triangle 55"/>
          <p:cNvSpPr/>
          <p:nvPr/>
        </p:nvSpPr>
        <p:spPr>
          <a:xfrm rot="5400000">
            <a:off x="3963924" y="5820155"/>
            <a:ext cx="155448" cy="155448"/>
          </a:xfrm>
          <a:prstGeom prst="triangle">
            <a:avLst/>
          </a:prstGeom>
          <a:solidFill>
            <a:srgbClr val="9C8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315968" y="5769864"/>
            <a:ext cx="256032" cy="256032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00016" y="5779007"/>
            <a:ext cx="3017520" cy="2559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강화 · 매일의 반복으로 인지 훈련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5779007"/>
            <a:ext cx="3730752" cy="277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1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7일 × 하루 6개 = 42개 고정 활동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문항 체계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07</a:t>
            </a:r>
          </a:p>
        </p:txBody>
      </p:sp>
      <p:pic>
        <p:nvPicPr>
          <p:cNvPr id="63" name="Picture 6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DEVELOPMENT · 개발 완성도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 번의 응답이 </a:t>
            </a:r>
            <a:r>
              <a:rPr sz="315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다음 대화</a:t>
            </a:r>
            <a:r>
              <a:rPr sz="31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로 이어지는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8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음성 기록 · 개인 기억 재사용 · 보호자 및 전문가 리포트</a:t>
            </a:r>
          </a:p>
        </p:txBody>
      </p:sp>
      <p:pic>
        <p:nvPicPr>
          <p:cNvPr id="5" name="Picture 4" descr="sc_st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73936"/>
            <a:ext cx="1234198" cy="2194560"/>
          </a:xfrm>
          <a:prstGeom prst="rect">
            <a:avLst/>
          </a:prstGeom>
          <a:ln w="12700">
            <a:solidFill>
              <a:srgbClr val="C2B4A0"/>
            </a:solidFill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94360" y="4041648"/>
            <a:ext cx="4572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 spc="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224528"/>
            <a:ext cx="2651760" cy="2975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7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5분의 루틴 활동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64608"/>
            <a:ext cx="26974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규칙으로 매일 여섯 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7208" y="2706624"/>
            <a:ext cx="384048" cy="3228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39" b="0" lang="ko-KR" altLang="en-US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→</a:t>
            </a:r>
          </a:p>
        </p:txBody>
      </p:sp>
      <p:pic>
        <p:nvPicPr>
          <p:cNvPr id="10" name="Picture 9" descr="kiosk_spea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1773936"/>
            <a:ext cx="1233115" cy="2194560"/>
          </a:xfrm>
          <a:prstGeom prst="rect">
            <a:avLst/>
          </a:prstGeom>
          <a:ln w="12700">
            <a:solidFill>
              <a:srgbClr val="C2B4A0"/>
            </a:solidFill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3392424" y="4041648"/>
            <a:ext cx="4572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 spc="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4224528"/>
            <a:ext cx="2651760" cy="5402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7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버튼 입력과 말한 내용을</a:t>
            </a:r>
          </a:p>
          <a:p>
            <a:pPr algn="l">
              <a:lnSpc>
                <a:spcPct val="130000"/>
              </a:lnSpc>
            </a:pPr>
            <a:r>
              <a:rPr sz="147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정확하게 기록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424" y="4864608"/>
            <a:ext cx="26974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작은 목소리와 긴 쉼까지 그대로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5272" y="2706624"/>
            <a:ext cx="384048" cy="3228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39" b="0" lang="ko-KR" altLang="en-US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→</a:t>
            </a:r>
          </a:p>
        </p:txBody>
      </p:sp>
      <p:pic>
        <p:nvPicPr>
          <p:cNvPr id="15" name="Picture 14" descr="sc_caregiver.jpg"/>
          <p:cNvPicPr>
            <a:picLocks noChangeAspect="1"/>
          </p:cNvPicPr>
          <p:nvPr/>
        </p:nvPicPr>
        <p:blipFill>
          <a:blip r:embed="rId4"/>
          <a:srcRect b="47000"/>
          <a:stretch>
            <a:fillRect/>
          </a:stretch>
        </p:blipFill>
        <p:spPr>
          <a:xfrm>
            <a:off x="6190488" y="1773936"/>
            <a:ext cx="2103120" cy="1981993"/>
          </a:xfrm>
          <a:prstGeom prst="rect">
            <a:avLst/>
          </a:prstGeom>
          <a:ln w="12700">
            <a:solidFill>
              <a:srgbClr val="C2B4A0"/>
            </a:solidFill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6190488" y="4041648"/>
            <a:ext cx="4572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 spc="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4224528"/>
            <a:ext cx="2651760" cy="2975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7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보호자 리포트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4864608"/>
            <a:ext cx="26974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정성적인 이야기 + 출석률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706624"/>
            <a:ext cx="384048" cy="3228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39" b="0" lang="ko-KR" altLang="en-US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→</a:t>
            </a:r>
          </a:p>
        </p:txBody>
      </p:sp>
      <p:pic>
        <p:nvPicPr>
          <p:cNvPr id="20" name="Picture 19" descr="sc_counselor.jpg"/>
          <p:cNvPicPr>
            <a:picLocks noChangeAspect="1"/>
          </p:cNvPicPr>
          <p:nvPr/>
        </p:nvPicPr>
        <p:blipFill>
          <a:blip r:embed="rId5"/>
          <a:srcRect b="47000"/>
          <a:stretch>
            <a:fillRect/>
          </a:stretch>
        </p:blipFill>
        <p:spPr>
          <a:xfrm>
            <a:off x="8988552" y="1773936"/>
            <a:ext cx="2103120" cy="1981993"/>
          </a:xfrm>
          <a:prstGeom prst="rect">
            <a:avLst/>
          </a:prstGeom>
          <a:ln w="12700">
            <a:solidFill>
              <a:srgbClr val="C2B4A0"/>
            </a:solidFill>
          </a:ln>
          <a:effectLst/>
        </p:spPr>
      </p:pic>
      <p:sp>
        <p:nvSpPr>
          <p:cNvPr id="21" name="TextBox 20"/>
          <p:cNvSpPr txBox="1"/>
          <p:nvPr/>
        </p:nvSpPr>
        <p:spPr>
          <a:xfrm>
            <a:off x="8988552" y="4041648"/>
            <a:ext cx="4572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 spc="6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4224528"/>
            <a:ext cx="2651760" cy="2975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7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전문가 리포트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4864608"/>
            <a:ext cx="26974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정량화된 점수 및 수치 제공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19379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285232"/>
            <a:ext cx="4206240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 lang="ko-KR" altLang="en-US" spc="6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개발 완성도 CHECK LIST</a:t>
            </a:r>
          </a:p>
        </p:txBody>
      </p:sp>
      <p:sp>
        <p:nvSpPr>
          <p:cNvPr id="26" name="Oval 25"/>
          <p:cNvSpPr/>
          <p:nvPr/>
        </p:nvSpPr>
        <p:spPr>
          <a:xfrm>
            <a:off x="576072" y="5568696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8100000">
            <a:off x="647532" y="5681350"/>
            <a:ext cx="26426" cy="55961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520000">
            <a:off x="701939" y="5634715"/>
            <a:ext cx="26426" cy="108813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577840"/>
            <a:ext cx="1883664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음성인식 정확도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5797296"/>
            <a:ext cx="1883664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고도화 완료</a:t>
            </a:r>
          </a:p>
        </p:txBody>
      </p:sp>
      <p:sp>
        <p:nvSpPr>
          <p:cNvPr id="31" name="Oval 30"/>
          <p:cNvSpPr/>
          <p:nvPr/>
        </p:nvSpPr>
        <p:spPr>
          <a:xfrm>
            <a:off x="2770632" y="5568696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8100000">
            <a:off x="2842092" y="5681350"/>
            <a:ext cx="26426" cy="55961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2520000">
            <a:off x="2896499" y="5634715"/>
            <a:ext cx="26426" cy="108813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81527" y="5577840"/>
            <a:ext cx="1883664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NFC 태깅 기반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1527" y="5797296"/>
            <a:ext cx="1883664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데이터베이스화 완료</a:t>
            </a:r>
          </a:p>
        </p:txBody>
      </p:sp>
      <p:sp>
        <p:nvSpPr>
          <p:cNvPr id="36" name="Oval 35"/>
          <p:cNvSpPr/>
          <p:nvPr/>
        </p:nvSpPr>
        <p:spPr>
          <a:xfrm>
            <a:off x="4965192" y="5568696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8100000">
            <a:off x="5036652" y="5681350"/>
            <a:ext cx="26426" cy="55961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520000">
            <a:off x="5091059" y="5634715"/>
            <a:ext cx="26426" cy="108813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76088" y="5577840"/>
            <a:ext cx="1883664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개인정보 동의서 구성 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76088" y="5797296"/>
            <a:ext cx="1883664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보안 시스템 설계 완료</a:t>
            </a:r>
          </a:p>
        </p:txBody>
      </p:sp>
      <p:sp>
        <p:nvSpPr>
          <p:cNvPr id="41" name="Oval 40"/>
          <p:cNvSpPr/>
          <p:nvPr/>
        </p:nvSpPr>
        <p:spPr>
          <a:xfrm>
            <a:off x="7159752" y="5568696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8100000">
            <a:off x="7231212" y="5681350"/>
            <a:ext cx="26426" cy="55961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 rot="2520000">
            <a:off x="7285619" y="5634715"/>
            <a:ext cx="26426" cy="108813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70648" y="5577840"/>
            <a:ext cx="1883664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키오스크 목업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0648" y="5797296"/>
            <a:ext cx="1883664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제작 완료</a:t>
            </a:r>
          </a:p>
        </p:txBody>
      </p:sp>
      <p:sp>
        <p:nvSpPr>
          <p:cNvPr id="46" name="Oval 45"/>
          <p:cNvSpPr/>
          <p:nvPr/>
        </p:nvSpPr>
        <p:spPr>
          <a:xfrm>
            <a:off x="9354311" y="5568696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 rot="8100000">
            <a:off x="9425772" y="5681350"/>
            <a:ext cx="26426" cy="55961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 rot="2520000">
            <a:off x="9480179" y="5634715"/>
            <a:ext cx="26426" cy="108813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65208" y="5577840"/>
            <a:ext cx="1883664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AI 개인화 알고리즘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65208" y="5797296"/>
            <a:ext cx="1883664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설계 완료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개발 완성도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08</a:t>
            </a:r>
          </a:p>
        </p:txBody>
      </p:sp>
      <p:pic>
        <p:nvPicPr>
          <p:cNvPr id="54" name="Picture 53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READINESS · 실증 준비도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독립 실증을 위한 </a:t>
            </a:r>
            <a:r>
              <a:rPr sz="315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네 가지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8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연구근거 · 연구윤리 · 권리화 · 개인정보 운영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92224"/>
            <a:ext cx="3931920" cy="18836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103120"/>
            <a:ext cx="50292" cy="566928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29967"/>
            <a:ext cx="2377440" cy="3228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39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연구근거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6328" y="2048256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근거 정리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560320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505456"/>
            <a:ext cx="32461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고령자 UX · 인지 활동 문헌 검토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871215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2816351"/>
            <a:ext cx="32461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음성 처리 · 개인 기억 구조 검토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182111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3127247"/>
            <a:ext cx="32461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설계 결정마다 참고 근거 정리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1792224"/>
            <a:ext cx="3931920" cy="18836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45152" y="2103120"/>
            <a:ext cx="50292" cy="566928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2029967"/>
            <a:ext cx="2377440" cy="3228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39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연구윤리 · IRB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37120" y="2048256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F4A81D"/>
                </a:solidFill>
                <a:latin typeface="나눔스퀘어라운드 Bold"/>
                <a:ea typeface="나눔스퀘어라운드 Bold"/>
                <a:cs typeface="나눔스퀘어라운드 Bold"/>
              </a:rPr>
              <a:t>심의 신청</a:t>
            </a:r>
          </a:p>
        </p:txBody>
      </p:sp>
      <p:sp>
        <p:nvSpPr>
          <p:cNvPr id="19" name="Oval 18"/>
          <p:cNvSpPr/>
          <p:nvPr/>
        </p:nvSpPr>
        <p:spPr>
          <a:xfrm>
            <a:off x="4965192" y="2560320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75504" y="2505456"/>
            <a:ext cx="32461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이해관계 없는 목표 연령대 연구</a:t>
            </a:r>
          </a:p>
        </p:txBody>
      </p:sp>
      <p:sp>
        <p:nvSpPr>
          <p:cNvPr id="21" name="Oval 20"/>
          <p:cNvSpPr/>
          <p:nvPr/>
        </p:nvSpPr>
        <p:spPr>
          <a:xfrm>
            <a:off x="4965192" y="2871215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75504" y="2816351"/>
            <a:ext cx="32461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참여자 모집 · 동의 절차 설계</a:t>
            </a:r>
          </a:p>
        </p:txBody>
      </p:sp>
      <p:sp>
        <p:nvSpPr>
          <p:cNvPr id="23" name="Oval 22"/>
          <p:cNvSpPr/>
          <p:nvPr/>
        </p:nvSpPr>
        <p:spPr>
          <a:xfrm>
            <a:off x="4965192" y="3182111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5504" y="3127247"/>
            <a:ext cx="32461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승인 후 실행 예정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803904"/>
            <a:ext cx="3931920" cy="18836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114800"/>
            <a:ext cx="50292" cy="56692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4041648"/>
            <a:ext cx="2377440" cy="3228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39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권리화 · 특허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6328" y="4059936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출원 진행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572000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4712" y="4517136"/>
            <a:ext cx="32461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2×2 화면 · 버튼 위치 일치 구조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4882896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4712" y="4828032"/>
            <a:ext cx="32461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버튼 재입력 확정 구조</a:t>
            </a:r>
          </a:p>
        </p:txBody>
      </p:sp>
      <p:sp>
        <p:nvSpPr>
          <p:cNvPr id="33" name="Oval 32"/>
          <p:cNvSpPr/>
          <p:nvPr/>
        </p:nvSpPr>
        <p:spPr>
          <a:xfrm>
            <a:off x="914400" y="5193792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4712" y="5138928"/>
            <a:ext cx="32461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출원 후 후속 절차 진행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45152" y="3803904"/>
            <a:ext cx="3931920" cy="18836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45152" y="4114800"/>
            <a:ext cx="50292" cy="566928"/>
          </a:xfrm>
          <a:prstGeom prst="rect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0" y="4041648"/>
            <a:ext cx="2377440" cy="3228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39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 운영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37120" y="4059936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F7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운영 설계</a:t>
            </a:r>
          </a:p>
        </p:txBody>
      </p:sp>
      <p:sp>
        <p:nvSpPr>
          <p:cNvPr id="39" name="Oval 38"/>
          <p:cNvSpPr/>
          <p:nvPr/>
        </p:nvSpPr>
        <p:spPr>
          <a:xfrm>
            <a:off x="4965192" y="4572000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4517136"/>
            <a:ext cx="32461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복지관 등록 · 서비스 동의</a:t>
            </a:r>
          </a:p>
        </p:txBody>
      </p:sp>
      <p:sp>
        <p:nvSpPr>
          <p:cNvPr id="41" name="Oval 40"/>
          <p:cNvSpPr/>
          <p:nvPr/>
        </p:nvSpPr>
        <p:spPr>
          <a:xfrm>
            <a:off x="4965192" y="4882896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75504" y="4828032"/>
            <a:ext cx="32461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NFC 가명 ID · 식별정보 분리</a:t>
            </a:r>
          </a:p>
        </p:txBody>
      </p:sp>
      <p:sp>
        <p:nvSpPr>
          <p:cNvPr id="43" name="Oval 42"/>
          <p:cNvSpPr/>
          <p:nvPr/>
        </p:nvSpPr>
        <p:spPr>
          <a:xfrm>
            <a:off x="4965192" y="5193792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75504" y="5138928"/>
            <a:ext cx="32461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역할별 최소 공개 · 철회 및 삭제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40496" y="1810512"/>
            <a:ext cx="9525" cy="3913632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96528" y="1792224"/>
            <a:ext cx="2798064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진행 중인 공식 절차</a:t>
            </a:r>
          </a:p>
        </p:txBody>
      </p:sp>
      <p:pic>
        <p:nvPicPr>
          <p:cNvPr id="47" name="Picture 46" descr="form_ir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528" y="2139696"/>
            <a:ext cx="1242344" cy="1755648"/>
          </a:xfrm>
          <a:prstGeom prst="rect">
            <a:avLst/>
          </a:prstGeom>
          <a:ln w="12700">
            <a:solidFill>
              <a:srgbClr val="C2B4A0"/>
            </a:solidFill>
          </a:ln>
          <a:effectLst/>
        </p:spPr>
      </p:pic>
      <p:pic>
        <p:nvPicPr>
          <p:cNvPr id="48" name="Picture 47" descr="form_pat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55" y="2139696"/>
            <a:ext cx="1298448" cy="1696948"/>
          </a:xfrm>
          <a:prstGeom prst="rect">
            <a:avLst/>
          </a:prstGeom>
          <a:ln w="12700">
            <a:solidFill>
              <a:srgbClr val="C2B4A0"/>
            </a:solidFill>
          </a:ln>
          <a:effectLst/>
        </p:spPr>
      </p:pic>
      <p:sp>
        <p:nvSpPr>
          <p:cNvPr id="49" name="TextBox 48"/>
          <p:cNvSpPr txBox="1"/>
          <p:nvPr/>
        </p:nvSpPr>
        <p:spPr>
          <a:xfrm>
            <a:off x="8796528" y="3968496"/>
            <a:ext cx="12984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IRB 심의 신청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77855" y="3968496"/>
            <a:ext cx="12984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특허 출원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96528" y="4315968"/>
            <a:ext cx="2798064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96528" y="4480560"/>
            <a:ext cx="2798064" cy="1213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5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승인 후 목표 연령대 참여자로</a:t>
            </a:r>
          </a:p>
          <a:p>
            <a:pPr algn="l">
              <a:lnSpc>
                <a:spcPct val="15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독립 실증을 시작합니다.</a:t>
            </a:r>
          </a:p>
          <a:p>
            <a:pPr algn="l">
              <a:lnSpc>
                <a:spcPct val="15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/>
            </a:r>
          </a:p>
          <a:p>
            <a:pPr algn="l">
              <a:lnSpc>
                <a:spcPct val="15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결과는 국내 현장 적용과</a:t>
            </a:r>
          </a:p>
          <a:p>
            <a:pPr algn="l">
              <a:lnSpc>
                <a:spcPct val="15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 확장의 근거가 됩니다.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5888736"/>
            <a:ext cx="8046720" cy="2559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제품만 만든 것이 아니라, 독립 실증을 시작할 조건을 함께 준비했습니다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실증 준비도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09</a:t>
            </a:r>
          </a:p>
        </p:txBody>
      </p:sp>
      <p:pic>
        <p:nvPicPr>
          <p:cNvPr id="57" name="Picture 56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BUSINESS · 사업화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만들어</a:t>
            </a:r>
            <a:r>
              <a:rPr sz="31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기관에 공급합니다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8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B2B · B2G 설치 · 운영 · 리포트 구독 · 전 과정 자체 개발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00784"/>
            <a:ext cx="1463040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초기 고객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682496"/>
            <a:ext cx="739521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3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복지관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7777" y="1682496"/>
            <a:ext cx="1311021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3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주야간보호센터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6814" y="1682496"/>
            <a:ext cx="882396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3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요양시설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37226" y="1682496"/>
            <a:ext cx="1168146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3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치매안심센터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12848"/>
            <a:ext cx="1463040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운영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2157984"/>
            <a:ext cx="1700784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2304288"/>
            <a:ext cx="170078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기관 등록 · 동의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3662172" y="2327148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58768" y="2157984"/>
            <a:ext cx="1700784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2304288"/>
            <a:ext cx="170078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NFC 가명 ID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5600700" y="2327148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97296" y="2157984"/>
            <a:ext cx="1700784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97296" y="2304288"/>
            <a:ext cx="170078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하루 루틴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7539227" y="2327148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35824" y="2157984"/>
            <a:ext cx="1700784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35824" y="2304288"/>
            <a:ext cx="170078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역할별 리포트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9477756" y="2327148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74352" y="2157984"/>
            <a:ext cx="1700784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74352" y="2304288"/>
            <a:ext cx="170078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전문 상담 연계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871216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301752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3255264"/>
            <a:ext cx="50292" cy="65836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5528" y="314553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9304" y="3127248"/>
            <a:ext cx="2651760" cy="301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3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수익 구조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9304" y="3383280"/>
            <a:ext cx="265176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무엇으로 버는가</a:t>
            </a:r>
          </a:p>
        </p:txBody>
      </p:sp>
      <p:sp>
        <p:nvSpPr>
          <p:cNvPr id="31" name="Oval 30"/>
          <p:cNvSpPr/>
          <p:nvPr/>
        </p:nvSpPr>
        <p:spPr>
          <a:xfrm>
            <a:off x="795528" y="3794760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1" y="3749039"/>
            <a:ext cx="294436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기기 설치 · 유지보수</a:t>
            </a:r>
          </a:p>
        </p:txBody>
      </p:sp>
      <p:sp>
        <p:nvSpPr>
          <p:cNvPr id="33" name="Oval 32"/>
          <p:cNvSpPr/>
          <p:nvPr/>
        </p:nvSpPr>
        <p:spPr>
          <a:xfrm>
            <a:off x="795528" y="4142232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1" y="4096511"/>
            <a:ext cx="294436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콘텐츠 · 음성 업데이트 구독</a:t>
            </a:r>
          </a:p>
        </p:txBody>
      </p:sp>
      <p:sp>
        <p:nvSpPr>
          <p:cNvPr id="35" name="Oval 34"/>
          <p:cNvSpPr/>
          <p:nvPr/>
        </p:nvSpPr>
        <p:spPr>
          <a:xfrm>
            <a:off x="795528" y="4489704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1" y="4443983"/>
            <a:ext cx="294436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기관 사용자 관리 라이선스</a:t>
            </a:r>
          </a:p>
        </p:txBody>
      </p:sp>
      <p:sp>
        <p:nvSpPr>
          <p:cNvPr id="37" name="Oval 36"/>
          <p:cNvSpPr/>
          <p:nvPr/>
        </p:nvSpPr>
        <p:spPr>
          <a:xfrm>
            <a:off x="795528" y="4837176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1" y="4791455"/>
            <a:ext cx="294436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보호자 · 전문가 리포트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301752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255264"/>
            <a:ext cx="50292" cy="658368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44568" y="314553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38344" y="3127248"/>
            <a:ext cx="2651760" cy="301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3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개발 · 원가 절감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38344" y="3383280"/>
            <a:ext cx="265176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왜 싸게 공급할 수 있는가</a:t>
            </a:r>
          </a:p>
        </p:txBody>
      </p:sp>
      <p:sp>
        <p:nvSpPr>
          <p:cNvPr id="44" name="Oval 43"/>
          <p:cNvSpPr/>
          <p:nvPr/>
        </p:nvSpPr>
        <p:spPr>
          <a:xfrm>
            <a:off x="4544568" y="3794760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82312" y="3749039"/>
            <a:ext cx="294436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하드웨어 · 앱 · 음성 · 기억 전부 자체 개발</a:t>
            </a:r>
          </a:p>
        </p:txBody>
      </p:sp>
      <p:sp>
        <p:nvSpPr>
          <p:cNvPr id="46" name="Oval 45"/>
          <p:cNvSpPr/>
          <p:nvPr/>
        </p:nvSpPr>
        <p:spPr>
          <a:xfrm>
            <a:off x="4544568" y="4142232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82312" y="4096511"/>
            <a:ext cx="294436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외주 개발비 없이 시제품까지 제작</a:t>
            </a:r>
          </a:p>
        </p:txBody>
      </p:sp>
      <p:sp>
        <p:nvSpPr>
          <p:cNvPr id="48" name="Oval 47"/>
          <p:cNvSpPr/>
          <p:nvPr/>
        </p:nvSpPr>
        <p:spPr>
          <a:xfrm>
            <a:off x="4544568" y="4489704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82312" y="4443983"/>
            <a:ext cx="294436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설치 단가를 낮춰 기관 진입장벽 완화</a:t>
            </a:r>
          </a:p>
        </p:txBody>
      </p:sp>
      <p:sp>
        <p:nvSpPr>
          <p:cNvPr id="50" name="Oval 49"/>
          <p:cNvSpPr/>
          <p:nvPr/>
        </p:nvSpPr>
        <p:spPr>
          <a:xfrm>
            <a:off x="4544568" y="4837176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82312" y="4791455"/>
            <a:ext cx="294436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현장 요구를 팀이 직접 반영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92440" y="301752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92440" y="3255264"/>
            <a:ext cx="50292" cy="658368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293608" y="314553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87384" y="3127248"/>
            <a:ext cx="2651760" cy="301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3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사회적기업 운영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87384" y="3383280"/>
            <a:ext cx="265176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무엇을 우선하는가</a:t>
            </a:r>
          </a:p>
        </p:txBody>
      </p:sp>
      <p:sp>
        <p:nvSpPr>
          <p:cNvPr id="57" name="Oval 56"/>
          <p:cNvSpPr/>
          <p:nvPr/>
        </p:nvSpPr>
        <p:spPr>
          <a:xfrm>
            <a:off x="8293607" y="3794760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31352" y="3749039"/>
            <a:ext cx="294436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이익 극대화가 아닌 접근성 우선</a:t>
            </a:r>
          </a:p>
        </p:txBody>
      </p:sp>
      <p:sp>
        <p:nvSpPr>
          <p:cNvPr id="59" name="Oval 58"/>
          <p:cNvSpPr/>
          <p:nvPr/>
        </p:nvSpPr>
        <p:spPr>
          <a:xfrm>
            <a:off x="8293607" y="4142232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31352" y="4096511"/>
            <a:ext cx="294436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복지관 · 지자체 예산과 연계</a:t>
            </a:r>
          </a:p>
        </p:txBody>
      </p:sp>
      <p:sp>
        <p:nvSpPr>
          <p:cNvPr id="61" name="Oval 60"/>
          <p:cNvSpPr/>
          <p:nvPr/>
        </p:nvSpPr>
        <p:spPr>
          <a:xfrm>
            <a:off x="8293607" y="4489704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31352" y="4443983"/>
            <a:ext cx="294436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돌봄 취약 지역에 우선 배치</a:t>
            </a:r>
          </a:p>
        </p:txBody>
      </p:sp>
      <p:sp>
        <p:nvSpPr>
          <p:cNvPr id="63" name="Oval 62"/>
          <p:cNvSpPr/>
          <p:nvPr/>
        </p:nvSpPr>
        <p:spPr>
          <a:xfrm>
            <a:off x="8293607" y="4837176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31352" y="4791455"/>
            <a:ext cx="294436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충청권 지역과 함께 운영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" y="5413248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4360" y="5522976"/>
            <a:ext cx="219456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기관 협력 현황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77440" y="5541264"/>
            <a:ext cx="384048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10+ 복지관과 협업 논의 중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0" y="5468112"/>
            <a:ext cx="2377440" cy="566928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C2B4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5477256"/>
            <a:ext cx="2377440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 lang="ko-KR" altLang="en-US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협의 이메일 캡처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5769864"/>
            <a:ext cx="237744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확보 후 삽입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61120" y="5541264"/>
            <a:ext cx="2633472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4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매일 운영되는 공간부터 들어갑니다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사업화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10</a:t>
            </a:r>
          </a:p>
        </p:txBody>
      </p:sp>
      <p:pic>
        <p:nvPicPr>
          <p:cNvPr id="75" name="Picture 7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ROADMAP · 로드맵과 예산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개발 및 </a:t>
            </a:r>
            <a:r>
              <a:rPr sz="315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실증</a:t>
            </a:r>
            <a:r>
              <a:rPr sz="31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8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대회 일정에 맞춘 실행 순서와 상금 사용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8216" y="2377440"/>
            <a:ext cx="8735537" cy="31750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67968" y="1810512"/>
            <a:ext cx="920495" cy="292608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FFFFFF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2026.09</a:t>
            </a:r>
          </a:p>
        </p:txBody>
      </p:sp>
      <p:sp>
        <p:nvSpPr>
          <p:cNvPr id="7" name="Isosceles Triangle 6"/>
          <p:cNvSpPr/>
          <p:nvPr/>
        </p:nvSpPr>
        <p:spPr>
          <a:xfrm rot="5400000">
            <a:off x="2728718" y="2291486"/>
            <a:ext cx="182880" cy="182880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1912" y="2236622"/>
            <a:ext cx="292608" cy="292608"/>
          </a:xfrm>
          <a:prstGeom prst="ellipse">
            <a:avLst/>
          </a:prstGeom>
          <a:solidFill>
            <a:srgbClr val="F57265"/>
          </a:solidFill>
          <a:ln w="1905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3352" y="2328062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651760"/>
            <a:ext cx="2231136" cy="2893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7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마무리 개발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944368"/>
            <a:ext cx="2304288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44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키오스크 · 음성 · 기억 · 리포트</a:t>
            </a:r>
          </a:p>
          <a:p>
            <a:pPr algn="ctr">
              <a:lnSpc>
                <a:spcPct val="144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현장형 연결과 안정화</a:t>
            </a:r>
          </a:p>
          <a:p>
            <a:pPr algn="ctr">
              <a:lnSpc>
                <a:spcPct val="144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IRB 승인 목표 시점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1852" y="1810512"/>
            <a:ext cx="920495" cy="292608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2026.10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4912602" y="2291486"/>
            <a:ext cx="182880" cy="182880"/>
          </a:xfrm>
          <a:prstGeom prst="triangl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02372" y="2273198"/>
            <a:ext cx="219456" cy="219456"/>
          </a:xfrm>
          <a:prstGeom prst="ellipse">
            <a:avLst/>
          </a:prstGeom>
          <a:solidFill>
            <a:srgbClr val="FBF5E9"/>
          </a:solidFill>
          <a:ln w="19050">
            <a:solidFill>
              <a:srgbClr val="F4A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96532" y="2651760"/>
            <a:ext cx="2231136" cy="2893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7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국내 실증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9956" y="2944368"/>
            <a:ext cx="2304288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44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복지관 현장 · 목표 연령대</a:t>
            </a:r>
          </a:p>
          <a:p>
            <a:pPr algn="ctr">
              <a:lnSpc>
                <a:spcPct val="144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시작률 · 완료율 · 오입력</a:t>
            </a:r>
          </a:p>
          <a:p>
            <a:pPr algn="ctr">
              <a:lnSpc>
                <a:spcPct val="144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안내 이해 · 재사용 의향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35736" y="1810512"/>
            <a:ext cx="920495" cy="292608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2026.11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7096486" y="2291486"/>
            <a:ext cx="182880" cy="182880"/>
          </a:xfrm>
          <a:prstGeom prst="triangl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86256" y="2273198"/>
            <a:ext cx="219456" cy="219456"/>
          </a:xfrm>
          <a:prstGeom prst="ellipse">
            <a:avLst/>
          </a:prstGeom>
          <a:solidFill>
            <a:srgbClr val="FBF5E9"/>
          </a:solidFill>
          <a:ln w="19050">
            <a:solidFill>
              <a:srgbClr val="5E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0416" y="2651760"/>
            <a:ext cx="2231136" cy="2893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7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일본 실증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3840" y="2944368"/>
            <a:ext cx="2304288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44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일본어 · 경어 · 문화 문항 조정</a:t>
            </a:r>
          </a:p>
          <a:p>
            <a:pPr algn="ctr">
              <a:lnSpc>
                <a:spcPct val="144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현지 기관 협력으로 사용성 확인</a:t>
            </a:r>
          </a:p>
          <a:p>
            <a:pPr algn="ctr">
              <a:lnSpc>
                <a:spcPct val="144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한국과 동일 지표로 비교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9621" y="1810512"/>
            <a:ext cx="920495" cy="292608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2026.12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9280371" y="2291486"/>
            <a:ext cx="182880" cy="182880"/>
          </a:xfrm>
          <a:prstGeom prst="triangl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70141" y="2273198"/>
            <a:ext cx="219456" cy="219456"/>
          </a:xfrm>
          <a:prstGeom prst="ellipse">
            <a:avLst/>
          </a:prstGeom>
          <a:solidFill>
            <a:srgbClr val="FBF5E9"/>
          </a:solidFill>
          <a:ln w="19050">
            <a:solidFill>
              <a:srgbClr val="C841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64301" y="2651760"/>
            <a:ext cx="2231136" cy="2893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7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조정 ·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7725" y="2944368"/>
            <a:ext cx="2304288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44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실증 데이터 분석</a:t>
            </a:r>
          </a:p>
          <a:p>
            <a:pPr algn="ctr">
              <a:lnSpc>
                <a:spcPct val="144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제품 세부 조정</a:t>
            </a:r>
          </a:p>
          <a:p>
            <a:pPr algn="ctr">
              <a:lnSpc>
                <a:spcPct val="144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협력 기관 컨택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27318" y="1810512"/>
            <a:ext cx="872871" cy="292608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2027 초</a:t>
            </a:r>
          </a:p>
        </p:txBody>
      </p:sp>
      <p:sp>
        <p:nvSpPr>
          <p:cNvPr id="28" name="Oval 27"/>
          <p:cNvSpPr/>
          <p:nvPr/>
        </p:nvSpPr>
        <p:spPr>
          <a:xfrm>
            <a:off x="10354025" y="2273198"/>
            <a:ext cx="219456" cy="219456"/>
          </a:xfrm>
          <a:prstGeom prst="ellipse">
            <a:avLst/>
          </a:prstGeom>
          <a:solidFill>
            <a:srgbClr val="FBF5E9"/>
          </a:solidFill>
          <a:ln w="19050">
            <a:solidFill>
              <a:srgbClr val="4A7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8185" y="2651760"/>
            <a:ext cx="2231136" cy="2893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7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사업화 · 일본 진출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1609" y="2944368"/>
            <a:ext cx="2304288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44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기관형 설치 · 운영 패키지</a:t>
            </a:r>
          </a:p>
          <a:p>
            <a:pPr algn="ctr">
              <a:lnSpc>
                <a:spcPct val="144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특허 후속 · 논문 투고</a:t>
            </a:r>
          </a:p>
          <a:p>
            <a:pPr algn="ctr">
              <a:lnSpc>
                <a:spcPct val="144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 파트너와 현지 사업화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749039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877056"/>
            <a:ext cx="3657600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예산 사용 계획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224528"/>
            <a:ext cx="566928" cy="277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40%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16152" y="4279392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16152" y="4279392"/>
            <a:ext cx="1170432" cy="128016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4224528"/>
            <a:ext cx="39319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완성 목업 · 버튼 · 마이크 · 스피커 · 외관 고도화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572000"/>
            <a:ext cx="566928" cy="277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0" b="0" lang="ko-KR" altLang="en-US">
                <a:solidFill>
                  <a:srgbClr val="F4A81D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30%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16152" y="4626864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216152" y="4626864"/>
            <a:ext cx="877824" cy="128016"/>
          </a:xfrm>
          <a:prstGeom prst="roundRect">
            <a:avLst>
              <a:gd name="adj" fmla="val 50000"/>
            </a:avLst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4572000"/>
            <a:ext cx="39319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국내외 실증 운영 · 참여자 지원 · 기관 설치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919472"/>
            <a:ext cx="566928" cy="277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0" b="0" lang="ko-KR" altLang="en-US">
                <a:solidFill>
                  <a:srgbClr val="5E9A6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15%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16152" y="4974336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216152" y="4974336"/>
            <a:ext cx="438912" cy="128016"/>
          </a:xfrm>
          <a:prstGeom prst="roundRect">
            <a:avLst>
              <a:gd name="adj" fmla="val 50000"/>
            </a:avLst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3400" y="4919472"/>
            <a:ext cx="39319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 현지화 · 현지 기관 접촉 · 파일럿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266944"/>
            <a:ext cx="566928" cy="277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0" b="0" lang="ko-KR" altLang="en-US">
                <a:solidFill>
                  <a:srgbClr val="4A779B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15%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16152" y="5321807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216152" y="5321807"/>
            <a:ext cx="438912" cy="128016"/>
          </a:xfrm>
          <a:prstGeom prst="roundRect">
            <a:avLst>
              <a:gd name="adj" fmla="val 50000"/>
            </a:avLst>
          </a:prstGeom>
          <a:solidFill>
            <a:srgbClr val="4A7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43400" y="5266944"/>
            <a:ext cx="39319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특허 후속 · 연구 데이터 정리 · 논문화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73568" y="3858768"/>
            <a:ext cx="9525" cy="1700784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11312" y="3877056"/>
            <a:ext cx="3383280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이 일정의 전제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11312" y="4206240"/>
            <a:ext cx="56692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9월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33104" y="4206240"/>
            <a:ext cx="276148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IRB 승인 후 실증 착수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11312" y="4498848"/>
            <a:ext cx="56692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10월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33104" y="4498848"/>
            <a:ext cx="276148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복지관 현장 협조 확보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1312" y="4791456"/>
            <a:ext cx="56692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11월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33104" y="4791456"/>
            <a:ext cx="276148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대회 지원 일본 실증 참여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11312" y="5084064"/>
            <a:ext cx="56692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12월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33104" y="5084064"/>
            <a:ext cx="276148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실증 데이터 분석 · 기관 컨택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5376672"/>
            <a:ext cx="56692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27년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33104" y="5376672"/>
            <a:ext cx="276148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국내외 실증 결과로 제품 확정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94360" y="5614416"/>
            <a:ext cx="11003249" cy="493776"/>
          </a:xfrm>
          <a:prstGeom prst="roundRect">
            <a:avLst>
              <a:gd name="adj" fmla="val 8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78408" y="5696712"/>
            <a:ext cx="59664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개발</a:t>
            </a:r>
          </a:p>
        </p:txBody>
      </p:sp>
      <p:sp>
        <p:nvSpPr>
          <p:cNvPr id="63" name="Isosceles Triangle 62"/>
          <p:cNvSpPr/>
          <p:nvPr/>
        </p:nvSpPr>
        <p:spPr>
          <a:xfrm rot="5400000">
            <a:off x="1684782" y="5788152"/>
            <a:ext cx="146304" cy="146304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940814" y="5696712"/>
            <a:ext cx="92049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국내 실증</a:t>
            </a:r>
          </a:p>
        </p:txBody>
      </p:sp>
      <p:sp>
        <p:nvSpPr>
          <p:cNvPr id="65" name="Isosceles Triangle 64"/>
          <p:cNvSpPr/>
          <p:nvPr/>
        </p:nvSpPr>
        <p:spPr>
          <a:xfrm rot="5400000">
            <a:off x="2971038" y="5788152"/>
            <a:ext cx="146304" cy="146304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3227069" y="5696712"/>
            <a:ext cx="92049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일본 실증</a:t>
            </a:r>
          </a:p>
        </p:txBody>
      </p:sp>
      <p:sp>
        <p:nvSpPr>
          <p:cNvPr id="67" name="Isosceles Triangle 66"/>
          <p:cNvSpPr/>
          <p:nvPr/>
        </p:nvSpPr>
        <p:spPr>
          <a:xfrm rot="5400000">
            <a:off x="4257294" y="5788152"/>
            <a:ext cx="146304" cy="146304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513326" y="5696712"/>
            <a:ext cx="103479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조정 · 분석</a:t>
            </a:r>
          </a:p>
        </p:txBody>
      </p:sp>
      <p:sp>
        <p:nvSpPr>
          <p:cNvPr id="69" name="Isosceles Triangle 68"/>
          <p:cNvSpPr/>
          <p:nvPr/>
        </p:nvSpPr>
        <p:spPr>
          <a:xfrm rot="5400000">
            <a:off x="5657850" y="5788152"/>
            <a:ext cx="146304" cy="146304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913882" y="5696712"/>
            <a:ext cx="1501521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사업화 · 일본 진출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로드맵과 예산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11</a:t>
            </a:r>
          </a:p>
        </p:txBody>
      </p:sp>
      <p:pic>
        <p:nvPicPr>
          <p:cNvPr id="74" name="Picture 7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 spc="140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TEAM · 팀 실행력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역할이 분명한 4인이 </a:t>
            </a:r>
            <a:r>
              <a:rPr sz="315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전주기로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8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AI 연구 · 의학 · 기계설계 · 중국 · 일본 현지 경험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2606040" cy="343814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0664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팀장</a:t>
            </a:r>
          </a:p>
        </p:txBody>
      </p:sp>
      <p:pic>
        <p:nvPicPr>
          <p:cNvPr id="7" name="Picture 6" descr="team_k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291" y="2029968"/>
            <a:ext cx="811033" cy="932688"/>
          </a:xfrm>
          <a:prstGeom prst="rect">
            <a:avLst/>
          </a:prstGeom>
          <a:effectLst/>
        </p:spPr>
      </p:pic>
      <p:sp>
        <p:nvSpPr>
          <p:cNvPr id="8" name="TextBox 7"/>
          <p:cNvSpPr txBox="1"/>
          <p:nvPr/>
        </p:nvSpPr>
        <p:spPr>
          <a:xfrm>
            <a:off x="594360" y="3054096"/>
            <a:ext cx="2606040" cy="364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김현준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2423160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lang="ko-KR" altLang="en-US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KAIST 전산학부</a:t>
            </a:r>
          </a:p>
          <a:p>
            <a:pPr algn="ctr">
              <a:lnSpc>
                <a:spcPct val="128000"/>
              </a:lnSpc>
            </a:pPr>
            <a:r>
              <a:rPr sz="1200" b="0" lang="ko-KR" altLang="en-US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KIST AI 연구원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5157" y="3913632"/>
            <a:ext cx="2044446" cy="274320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F57265"/>
                </a:solidFill>
                <a:latin typeface="나눔스퀘어라운드 Bold"/>
                <a:ea typeface="나눔스퀘어라운드 Bold"/>
                <a:cs typeface="나눔스퀘어라운드 Bold"/>
              </a:rPr>
              <a:t>AI 논문 17편 · 인용 734회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352544"/>
            <a:ext cx="2423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창업대회 방위사업청장상</a:t>
            </a:r>
          </a:p>
          <a:p>
            <a:pPr algn="ctr">
              <a:lnSpc>
                <a:spcPct val="13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ACL 2025 · Nature 등 게재</a:t>
            </a:r>
          </a:p>
          <a:p>
            <a:pPr algn="ctr">
              <a:lnSpc>
                <a:spcPct val="13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AI 공모전 수상 다수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2424" y="1645920"/>
            <a:ext cx="2606040" cy="343814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38728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팀원</a:t>
            </a:r>
          </a:p>
        </p:txBody>
      </p:sp>
      <p:pic>
        <p:nvPicPr>
          <p:cNvPr id="15" name="Picture 14" descr="team_l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072" y="2029968"/>
            <a:ext cx="1097598" cy="932688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3392424" y="3054096"/>
            <a:ext cx="2606040" cy="364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이재우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3383280"/>
            <a:ext cx="2423160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lang="ko-KR" altLang="en-US">
                <a:solidFill>
                  <a:srgbClr val="F4A81D"/>
                </a:solidFill>
                <a:latin typeface="나눔스퀘어라운드 Bold"/>
                <a:ea typeface="나눔스퀘어라운드 Bold"/>
                <a:cs typeface="나눔스퀘어라운드 Bold"/>
              </a:rPr>
              <a:t>서울대 기계공학</a:t>
            </a:r>
          </a:p>
          <a:p>
            <a:pPr algn="ctr">
              <a:lnSpc>
                <a:spcPct val="128000"/>
              </a:lnSpc>
            </a:pPr>
            <a:r>
              <a:rPr sz="1200" b="0" lang="ko-KR" altLang="en-US">
                <a:solidFill>
                  <a:srgbClr val="F4A81D"/>
                </a:solidFill>
                <a:latin typeface="나눔스퀘어라운드 Bold"/>
                <a:ea typeface="나눔스퀘어라운드 Bold"/>
                <a:cs typeface="나눔스퀘어라운드 Bold"/>
              </a:rPr>
              <a:t>차의과학대 의전원 본4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01821" y="3913632"/>
            <a:ext cx="1587246" cy="274320"/>
          </a:xfrm>
          <a:prstGeom prst="roundRect">
            <a:avLst>
              <a:gd name="adj" fmla="val 50000"/>
            </a:avLst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F4A81D"/>
                </a:solidFill>
                <a:latin typeface="나눔스퀘어라운드 Bold"/>
                <a:ea typeface="나눔스퀘어라운드 Bold"/>
                <a:cs typeface="나눔스퀘어라운드 Bold"/>
              </a:rPr>
              <a:t>국방AI경진대회 1위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9663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3864" y="4352544"/>
            <a:ext cx="2423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창업대회 방위사업청장상</a:t>
            </a:r>
          </a:p>
          <a:p>
            <a:pPr algn="ctr">
              <a:lnSpc>
                <a:spcPct val="13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국방부장관상 · 육사 학교장 표창</a:t>
            </a:r>
          </a:p>
          <a:p>
            <a:pPr algn="ctr">
              <a:lnSpc>
                <a:spcPct val="13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K-Startup 2025 예비창업자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1645920"/>
            <a:ext cx="2606040" cy="343814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36792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팀원</a:t>
            </a:r>
          </a:p>
        </p:txBody>
      </p:sp>
      <p:pic>
        <p:nvPicPr>
          <p:cNvPr id="23" name="Picture 22" descr="team_ry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4073" y="2029968"/>
            <a:ext cx="1009724" cy="932688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6190488" y="3054096"/>
            <a:ext cx="2606040" cy="364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류다훈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3383280"/>
            <a:ext cx="2423160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lang="ko-KR" altLang="en-US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연세대 화학</a:t>
            </a:r>
          </a:p>
          <a:p>
            <a:pPr algn="ctr">
              <a:lnSpc>
                <a:spcPct val="128000"/>
              </a:lnSpc>
            </a:pPr>
            <a:r>
              <a:rPr sz="1200" b="0" lang="ko-KR" altLang="en-US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서울대 화학 석사과정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4147" y="3913632"/>
            <a:ext cx="1958721" cy="274320"/>
          </a:xfrm>
          <a:prstGeom prst="roundRect">
            <a:avLst>
              <a:gd name="adj" fmla="val 50000"/>
            </a:avLst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중국 전문가 · 초중고 현지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67728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8" y="4352544"/>
            <a:ext cx="2423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창업대회 방위사업청장상</a:t>
            </a:r>
          </a:p>
          <a:p>
            <a:pPr algn="ctr">
              <a:lnSpc>
                <a:spcPct val="13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K문샷 연구자부문 최우수상</a:t>
            </a:r>
          </a:p>
          <a:p>
            <a:pPr algn="ctr">
              <a:lnSpc>
                <a:spcPct val="13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창업대회 수상 다수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8552" y="1645920"/>
            <a:ext cx="2606040" cy="343814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34856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팀원</a:t>
            </a:r>
          </a:p>
        </p:txBody>
      </p:sp>
      <p:pic>
        <p:nvPicPr>
          <p:cNvPr id="31" name="Picture 30" descr="team_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3841" y="2029968"/>
            <a:ext cx="1126316" cy="932688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8988552" y="3054096"/>
            <a:ext cx="2606040" cy="364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5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나현우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9992" y="3383280"/>
            <a:ext cx="2423160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홋카이도대 기계공학</a:t>
            </a:r>
          </a:p>
          <a:p>
            <a:pPr algn="ctr">
              <a:lnSpc>
                <a:spcPct val="128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동 대학원 석 · 박사과정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69336" y="3913632"/>
            <a:ext cx="2244471" cy="274320"/>
          </a:xfrm>
          <a:prstGeom prst="roundRect">
            <a:avLst>
              <a:gd name="adj" fmla="val 50000"/>
            </a:avLst>
          </a:prstGeom>
          <a:solidFill>
            <a:srgbClr val="F7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일본 전문가 · 학 · 석 · 박 현지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65792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79992" y="4352544"/>
            <a:ext cx="2423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창업대회 방위사업청장상</a:t>
            </a:r>
          </a:p>
          <a:p>
            <a:pPr algn="ctr">
              <a:lnSpc>
                <a:spcPct val="13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대한기계학회 설계대회 은상</a:t>
            </a:r>
          </a:p>
          <a:p>
            <a:pPr algn="ctr">
              <a:lnSpc>
                <a:spcPct val="132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Tech Garage · 생체 디바이스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212080"/>
            <a:ext cx="11003249" cy="512064"/>
          </a:xfrm>
          <a:prstGeom prst="roundRect">
            <a:avLst>
              <a:gd name="adj" fmla="val 8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68680" y="5303520"/>
            <a:ext cx="59664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기획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1575054" y="5394960"/>
            <a:ext cx="146304" cy="146304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831086" y="5303520"/>
            <a:ext cx="59664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구현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2537460" y="5394960"/>
            <a:ext cx="146304" cy="146304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793492" y="5303520"/>
            <a:ext cx="1501521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의료 · 사용성 검토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404741" y="5394960"/>
            <a:ext cx="146304" cy="146304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660773" y="5303520"/>
            <a:ext cx="59664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실증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5367147" y="5394960"/>
            <a:ext cx="146304" cy="146304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623179" y="5303520"/>
            <a:ext cx="1501521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사업화 · 일본 확장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99020" y="5358384"/>
            <a:ext cx="3939539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4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24시간을 함께하며 전원이 개발 · 기획 · 실증에 참여합니다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5852160"/>
            <a:ext cx="11000232" cy="3641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네 개의 버튼으로, 매일의 기억을 다음 대화로 잇겠습니다.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팀 실행력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12</a:t>
            </a:r>
          </a:p>
        </p:txBody>
      </p:sp>
      <p:pic>
        <p:nvPicPr>
          <p:cNvPr id="52" name="Picture 51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5200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3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어르신 목소리, </a:t>
            </a:r>
            <a:r>
              <a:rPr sz="273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지금 알아듣는 수준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8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어르신 말씀이 어려운 이유 → 소리를 글자로 바꾸는 구조(STT) → 10월 현장 측정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541264" cy="3931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288249" cy="268833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4553712"/>
            <a:ext cx="5288249" cy="1115568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084064" cy="3582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2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① 어르신 말씀을 알아듣기 어려운 이유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93976"/>
            <a:ext cx="508406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집 안 소음 · 겹쳐 말하기 · 멀리서 말하기 · 느린 말속도와 긴 쉼</a:t>
            </a:r>
          </a:p>
        </p:txBody>
      </p:sp>
      <p:pic>
        <p:nvPicPr>
          <p:cNvPr id="10" name="Picture 9" descr="ap_stt_realen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" y="2331720"/>
            <a:ext cx="4291584" cy="3218688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6537960" y="1828800"/>
            <a:ext cx="4846320" cy="3582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2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② 소리를 글자로 바꾸는 현재 구조</a:t>
            </a:r>
          </a:p>
        </p:txBody>
      </p:sp>
      <p:pic>
        <p:nvPicPr>
          <p:cNvPr id="12" name="Picture 11" descr="ap_stt_syste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525" y="2139696"/>
            <a:ext cx="3850901" cy="2167128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6528816" y="4636008"/>
            <a:ext cx="4956048" cy="2814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③ 받아쓰기 100글자 중 틀린 글자 수로 엔진 선정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4828032"/>
            <a:ext cx="49560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공개된 한국어 음성 자료 · 적을수록 정확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5038344"/>
            <a:ext cx="100584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Qwen3-ASR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5074005"/>
            <a:ext cx="914400" cy="822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89520" y="5074005"/>
            <a:ext cx="637608" cy="82296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58784" y="5038344"/>
            <a:ext cx="4572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12.9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5225796"/>
            <a:ext cx="100584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FunASR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5261457"/>
            <a:ext cx="914400" cy="822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0" y="5261457"/>
            <a:ext cx="820488" cy="82296"/>
          </a:xfrm>
          <a:prstGeom prst="roundRect">
            <a:avLst>
              <a:gd name="adj" fmla="val 50000"/>
            </a:avLst>
          </a:prstGeom>
          <a:solidFill>
            <a:srgbClr val="9C8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58784" y="5225796"/>
            <a:ext cx="4572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16.6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5413248"/>
            <a:ext cx="100584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Whisper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5448909"/>
            <a:ext cx="914400" cy="822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0" y="5448909"/>
            <a:ext cx="914400" cy="82296"/>
          </a:xfrm>
          <a:prstGeom prst="roundRect">
            <a:avLst>
              <a:gd name="adj" fmla="val 50000"/>
            </a:avLst>
          </a:prstGeom>
          <a:solidFill>
            <a:srgbClr val="9C8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58784" y="5413248"/>
            <a:ext cx="4572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18.5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136" y="5076748"/>
            <a:ext cx="1207008" cy="4350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1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12.9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5374843"/>
            <a:ext cx="120700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일반 한국어 수치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4432" y="5166360"/>
            <a:ext cx="120700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10월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4432" y="5374843"/>
            <a:ext cx="120700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어르신 현장 측정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788152"/>
            <a:ext cx="11003249" cy="402336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97880"/>
            <a:ext cx="11003249" cy="2637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4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현재 구현: </a:t>
            </a:r>
            <a:r>
              <a:rPr sz="134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Qwen3-ASR 엔진 · 소리 크기 고르게 · 긴 쉼 그대로 보존 · 낮은 웅웅거림 제거</a:t>
            </a:r>
            <a:r>
              <a:rPr sz="134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   |   </a:t>
            </a:r>
            <a:r>
              <a:rPr sz="134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아직 미측정: </a:t>
            </a:r>
            <a:r>
              <a:rPr sz="134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어르신 실제 정확도 · 생활 소음 · 반응 시간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어르신 음성 인식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13</a:t>
            </a:r>
          </a:p>
        </p:txBody>
      </p:sp>
      <p:pic>
        <p:nvPicPr>
          <p:cNvPr id="36" name="Picture 3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5200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3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AI 개인화가 </a:t>
            </a:r>
            <a:r>
              <a:rPr sz="273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만들어지는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8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과거에 말씀하신 개인 이야기를 저장하고, 새 문항을 만들 때 관련 기억을 찾아 근거로 사용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2350008" cy="400507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883664"/>
            <a:ext cx="2020824" cy="2893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① 이야기 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39696"/>
            <a:ext cx="202082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문항에서 나온 개인 이야기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737360"/>
            <a:ext cx="2350008" cy="400507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83664"/>
            <a:ext cx="2020824" cy="2893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② 개인 기억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39696"/>
            <a:ext cx="202082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날짜와 함께 쌓이는 기억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737360"/>
            <a:ext cx="2350008" cy="400507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2032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83664"/>
            <a:ext cx="2020824" cy="2893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③ 관련 기억 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139696"/>
            <a:ext cx="202082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RAG 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5984" y="1737360"/>
            <a:ext cx="2350008" cy="400507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0576" y="1883664"/>
            <a:ext cx="2020824" cy="2893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④ 새 문항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576" y="2139696"/>
            <a:ext cx="202082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검색된 기억을 근거로</a:t>
            </a:r>
          </a:p>
        </p:txBody>
      </p:sp>
      <p:sp>
        <p:nvSpPr>
          <p:cNvPr id="17" name="Chevron 16"/>
          <p:cNvSpPr/>
          <p:nvPr/>
        </p:nvSpPr>
        <p:spPr>
          <a:xfrm>
            <a:off x="3090672" y="3502152"/>
            <a:ext cx="256032" cy="438912"/>
          </a:xfrm>
          <a:prstGeom prst="chevron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5897880" y="3502152"/>
            <a:ext cx="256032" cy="438912"/>
          </a:xfrm>
          <a:prstGeom prst="chevron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8705088" y="3502152"/>
            <a:ext cx="256032" cy="438912"/>
          </a:xfrm>
          <a:prstGeom prst="chevron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2505456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2560320"/>
            <a:ext cx="1728216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"어제 딸이랑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2798064"/>
            <a:ext cx="1728216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외식했어요"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273552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F3ECDE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3328416"/>
            <a:ext cx="1728216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"손자가 이번 주말에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566160"/>
            <a:ext cx="1728216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온대요"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041648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F3ECDE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4096511"/>
            <a:ext cx="1728216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"요즘 공원 산책을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334255"/>
            <a:ext cx="1728216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자주 해요"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956048"/>
            <a:ext cx="19842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말한 내용을 그대로 남기고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75504"/>
            <a:ext cx="19842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개인 기억의 재료로 사용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22191" y="2606040"/>
            <a:ext cx="1508760" cy="43891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822191" y="2724912"/>
            <a:ext cx="1508760" cy="43891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22191" y="2935224"/>
            <a:ext cx="1508760" cy="43891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566160" y="2724912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75887" y="2770632"/>
            <a:ext cx="4572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8/12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42232" y="2752344"/>
            <a:ext cx="1389888" cy="2381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딸 · 외식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42232" y="2980944"/>
            <a:ext cx="138988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본인이 말한 기록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3383280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75887" y="3429000"/>
            <a:ext cx="4572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8/14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42232" y="3410712"/>
            <a:ext cx="1389888" cy="2381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손자 · 방문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42232" y="3639312"/>
            <a:ext cx="138988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본인이 말한 기록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66160" y="4041648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75887" y="4087368"/>
            <a:ext cx="4572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8/15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42232" y="4069080"/>
            <a:ext cx="1389888" cy="2381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공원 · 산책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42232" y="4297680"/>
            <a:ext cx="138988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본인이 말한 기록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84448" y="4956048"/>
            <a:ext cx="19842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뜻이 비슷한 것끼리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84448" y="5175504"/>
            <a:ext cx="19842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찾을 수 있게 정리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91656" y="2496312"/>
            <a:ext cx="1984248" cy="475488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397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2542032"/>
            <a:ext cx="17830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새 문항 주제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2706624"/>
            <a:ext cx="17830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“최근 가족과 있었던 일”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28232" y="3136392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EAF3E4"/>
          </a:solidFill>
          <a:ln w="12700">
            <a:solidFill>
              <a:srgbClr val="5E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19672" y="3218688"/>
            <a:ext cx="256032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5E9A6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8272" y="3218688"/>
            <a:ext cx="12984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딸과 외식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28232" y="3575304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EAF3E4"/>
          </a:solidFill>
          <a:ln w="12700">
            <a:solidFill>
              <a:srgbClr val="5E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19672" y="3657600"/>
            <a:ext cx="256032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5E9A6A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48272" y="3657600"/>
            <a:ext cx="12984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손자 방문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28232" y="4014216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19672" y="4096512"/>
            <a:ext cx="256032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48272" y="4096512"/>
            <a:ext cx="12984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공원 산책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28232" y="4453128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19672" y="4535424"/>
            <a:ext cx="256032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48272" y="4535424"/>
            <a:ext cx="12984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병원 방문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91656" y="4956048"/>
            <a:ext cx="19842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지금 만들 문항과 뜻이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91656" y="5175504"/>
            <a:ext cx="19842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가까운 기록만 골라 옵니다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198864" y="2578608"/>
            <a:ext cx="1984248" cy="1993392"/>
          </a:xfrm>
          <a:prstGeom prst="roundRect">
            <a:avLst>
              <a:gd name="adj" fmla="val 16667"/>
            </a:avLst>
          </a:prstGeom>
          <a:solidFill>
            <a:srgbClr val="FFF7F2"/>
          </a:solidFill>
          <a:ln w="1778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45168" y="2761488"/>
            <a:ext cx="169164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Haru 개인화 문항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08592" y="3127248"/>
            <a:ext cx="1801368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“지난번에 따님과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08592" y="3383280"/>
            <a:ext cx="1801368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외식하셨다고 했는데,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08592" y="3639312"/>
            <a:ext cx="1801368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무엇을 드셨는지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08592" y="3895344"/>
            <a:ext cx="1801368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기억나시나요?”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98864" y="4956048"/>
            <a:ext cx="19842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골라 온 과거 기록을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98864" y="5175504"/>
            <a:ext cx="19842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질문을 만드는 근거로 사용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94360" y="5852160"/>
            <a:ext cx="11003249" cy="365760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5934456"/>
            <a:ext cx="475488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과거의 이야기  →  관련 기억 검색  →  근거 있는 다음 질문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77840" y="5943600"/>
            <a:ext cx="58704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42개 활동 중 18개가 개인화 문항 · 기기와 한 몸으로 잇는 작업은 진행 중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AI 개인화의 작동 방식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14</a:t>
            </a:r>
          </a:p>
        </p:txBody>
      </p:sp>
      <p:pic>
        <p:nvPicPr>
          <p:cNvPr id="79" name="Picture 7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5200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3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검사에서 가져온 것과 </a:t>
            </a:r>
            <a:r>
              <a:rPr sz="273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전달하는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8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MMSE · CIST가 다루는 인지 영역을 일상 문항으로 변형 · 판정은 전문 기관의 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493776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인지 영역별로 무엇을 바꿨나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118563"/>
            <a:ext cx="4937760" cy="12700"/>
          </a:xfrm>
          <a:prstGeom prst="rect">
            <a:avLst/>
          </a:prstGeom>
          <a:solidFill>
            <a:srgbClr val="6C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182571"/>
            <a:ext cx="1470355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인지 영역 · 문항 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9307" y="2182571"/>
            <a:ext cx="127284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원래 검사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182571"/>
            <a:ext cx="1865376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Haru 활동 문항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429459"/>
            <a:ext cx="49377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530043"/>
            <a:ext cx="1470355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시간 지남력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9307" y="2530043"/>
            <a:ext cx="127284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날짜 묻기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530043"/>
            <a:ext cx="1865376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무슨 요일인지 고르기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813507"/>
            <a:ext cx="4937760" cy="384048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2914091"/>
            <a:ext cx="1470355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회상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9307" y="2914091"/>
            <a:ext cx="127284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단어 지연 회상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914091"/>
            <a:ext cx="1865376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어제 외식 메뉴 말하기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298139"/>
            <a:ext cx="1470355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주의 · 계산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9307" y="3298139"/>
            <a:ext cx="127284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연속 빼기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298139"/>
            <a:ext cx="1865376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남은 사과 개수 고르기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581603"/>
            <a:ext cx="4937760" cy="384048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3682187"/>
            <a:ext cx="1470355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시공간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9307" y="3682187"/>
            <a:ext cx="127284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도형 그리기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682187"/>
            <a:ext cx="1865376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따라 그리기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066235"/>
            <a:ext cx="1470355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언어 이해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29307" y="4066235"/>
            <a:ext cx="127284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뜻 풀이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066235"/>
            <a:ext cx="1865376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속담 뜻 고르기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349699"/>
            <a:ext cx="4937760" cy="384048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" y="4450283"/>
            <a:ext cx="1470355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순서 기억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29307" y="4450283"/>
            <a:ext cx="127284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숫자 따라 외우기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450283"/>
            <a:ext cx="1865376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순서대로 다시 누르기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733747"/>
            <a:ext cx="49377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809744"/>
            <a:ext cx="493776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나머지 18개는 감정 · 개인 기억을 묻는 대화 문항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065776"/>
            <a:ext cx="493776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42개 중 28개가 채점되지만 어르신 화면에는 점수가 나오지 않음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1737360"/>
            <a:ext cx="269748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못 하는 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724144" y="2167331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34456" y="2118563"/>
            <a:ext cx="247802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치매 진단</a:t>
            </a:r>
          </a:p>
        </p:txBody>
      </p:sp>
      <p:sp>
        <p:nvSpPr>
          <p:cNvPr id="40" name="Oval 39"/>
          <p:cNvSpPr/>
          <p:nvPr/>
        </p:nvSpPr>
        <p:spPr>
          <a:xfrm>
            <a:off x="5724144" y="2423363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34456" y="2374595"/>
            <a:ext cx="247802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위험도 판정</a:t>
            </a:r>
          </a:p>
        </p:txBody>
      </p:sp>
      <p:sp>
        <p:nvSpPr>
          <p:cNvPr id="42" name="Oval 41"/>
          <p:cNvSpPr/>
          <p:nvPr/>
        </p:nvSpPr>
        <p:spPr>
          <a:xfrm>
            <a:off x="5724144" y="2679395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34456" y="2630627"/>
            <a:ext cx="247802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점수 통보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0" y="2871216"/>
            <a:ext cx="26974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판정은 전문 기관의 몫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15000" y="3145536"/>
            <a:ext cx="269748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15000" y="3255264"/>
            <a:ext cx="269748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하는 것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15000" y="3490163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724144" y="3685235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34456" y="3636467"/>
            <a:ext cx="247802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매일의 변화를 관찰 기록으로</a:t>
            </a:r>
          </a:p>
        </p:txBody>
      </p:sp>
      <p:sp>
        <p:nvSpPr>
          <p:cNvPr id="50" name="Oval 49"/>
          <p:cNvSpPr/>
          <p:nvPr/>
        </p:nvSpPr>
        <p:spPr>
          <a:xfrm>
            <a:off x="5724144" y="3941267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34456" y="3892499"/>
            <a:ext cx="247802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전문가 · 상담사가 참고</a:t>
            </a:r>
          </a:p>
        </p:txBody>
      </p:sp>
      <p:sp>
        <p:nvSpPr>
          <p:cNvPr id="52" name="Oval 51"/>
          <p:cNvSpPr/>
          <p:nvPr/>
        </p:nvSpPr>
        <p:spPr>
          <a:xfrm>
            <a:off x="5724144" y="4197299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34456" y="4148531"/>
            <a:ext cx="247802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보호자가 안부로 확인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15000" y="4462272"/>
            <a:ext cx="2697480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88736" y="4572000"/>
            <a:ext cx="235000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쉽게 말하면,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88736" y="4791456"/>
            <a:ext cx="235000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시험지를 베낀 것이 아니라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88736" y="5010912"/>
            <a:ext cx="235000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과목을 매일 조금씩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88736" y="5230368"/>
            <a:ext cx="235000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들여다보는 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1737360"/>
            <a:ext cx="2999232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무엇이 전달되나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595360" y="2103120"/>
            <a:ext cx="2999232" cy="969264"/>
          </a:xfrm>
          <a:prstGeom prst="roundRect">
            <a:avLst>
              <a:gd name="adj" fmla="val 8000"/>
            </a:avLst>
          </a:prstGeom>
          <a:solidFill>
            <a:srgbClr val="F3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59952" y="2212848"/>
            <a:ext cx="26700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“최근 '따라 말하기'에서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59952" y="2432304"/>
            <a:ext cx="26700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잠시 망설이는 모습이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59952" y="2651760"/>
            <a:ext cx="26700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늘었어요”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3145536"/>
            <a:ext cx="2999232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점수가 아니라 변화를 문장으로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3401568"/>
            <a:ext cx="2999232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보호자 화면 아래쪽</a:t>
            </a:r>
          </a:p>
        </p:txBody>
      </p:sp>
      <p:pic>
        <p:nvPicPr>
          <p:cNvPr id="67" name="Picture 66" descr="sc_caregiver_ref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3639312"/>
            <a:ext cx="2999232" cy="2070898"/>
          </a:xfrm>
          <a:prstGeom prst="rect">
            <a:avLst/>
          </a:prstGeom>
          <a:ln w="12700">
            <a:solidFill>
              <a:srgbClr val="C2B4A0"/>
            </a:solidFill>
          </a:ln>
          <a:effectLst/>
        </p:spPr>
      </p:pic>
      <p:sp>
        <p:nvSpPr>
          <p:cNvPr id="68" name="TextBox 67"/>
          <p:cNvSpPr txBox="1"/>
          <p:nvPr/>
        </p:nvSpPr>
        <p:spPr>
          <a:xfrm>
            <a:off x="594360" y="5815584"/>
            <a:ext cx="11003249" cy="2559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판정은 전문 기관 · Haru는 매일의 변화를 참고 정보로 전달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치매 검사와의 차이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15</a:t>
            </a:r>
          </a:p>
        </p:txBody>
      </p:sp>
      <p:pic>
        <p:nvPicPr>
          <p:cNvPr id="72" name="Picture 7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5200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3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기존 버튼 기기와의 </a:t>
            </a:r>
            <a:r>
              <a:rPr sz="273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구조적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8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화면 자리와 버튼 자리를 맞춘 구조 · 같은 버튼 한 번 더로 확정 · 기구까지 직접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39572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실물 목업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75104"/>
            <a:ext cx="239572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화면 자리 = 버튼 자리</a:t>
            </a:r>
          </a:p>
        </p:txBody>
      </p:sp>
      <p:pic>
        <p:nvPicPr>
          <p:cNvPr id="7" name="Picture 6" descr="kiosk_2x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34" y="2249424"/>
            <a:ext cx="2062379" cy="3108960"/>
          </a:xfrm>
          <a:prstGeom prst="rect">
            <a:avLst/>
          </a:prstGeom>
          <a:ln w="12700">
            <a:solidFill>
              <a:srgbClr val="C2B4A0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594360" y="5449823"/>
            <a:ext cx="239572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네 개 버튼이 화면 네 자리와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69279"/>
            <a:ext cx="239572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같은 배치로 놓여 있음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737360"/>
            <a:ext cx="416052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다른 점 세 가지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6120" y="211856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2283155"/>
            <a:ext cx="50292" cy="84124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5576" y="2228291"/>
            <a:ext cx="3840480" cy="2559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버튼에 뜻을 새기지 않음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2520899"/>
            <a:ext cx="38404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은행 기계는 '확인' '취소'처럼 버튼마다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2740355"/>
            <a:ext cx="38404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뜻이 정해져 있어 외워야 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2959811"/>
            <a:ext cx="38404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Haru는 보이는 자리를 그대로 누름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39872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6120" y="3563315"/>
            <a:ext cx="50292" cy="841248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65576" y="3508451"/>
            <a:ext cx="3840480" cy="2559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같은 버튼을 한 번 더 눌러야 확정됨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3801059"/>
            <a:ext cx="38404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잘못 눌러도 다른 자리를 누르면 옮겨짐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5576" y="4020515"/>
            <a:ext cx="38404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'취소' · '뒤로가기'를 배울 필요가 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5576" y="4239971"/>
            <a:ext cx="38404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확정 전에는 언제든 되돌릴 수 있음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467888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20" y="4843475"/>
            <a:ext cx="50292" cy="841248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65576" y="4788611"/>
            <a:ext cx="3840480" cy="2559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말하기도 같은 네 버튼으로 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5576" y="5081219"/>
            <a:ext cx="38404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말하기 활동에서는 A가 '다시 듣기',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5576" y="5300675"/>
            <a:ext cx="38404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B가 '말하기 시작'이 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65576" y="5520131"/>
            <a:ext cx="38404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새로 배울 조작이 늘지 않음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9831" y="1737360"/>
            <a:ext cx="379476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그린 기구 설계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99831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9831" y="2118563"/>
            <a:ext cx="379476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가로 300 × 세로 398 × 높이 610 mm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9831" y="2338019"/>
            <a:ext cx="379476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버튼은 USB 키보드와 같은 방식으로 붙어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9831" y="2557475"/>
            <a:ext cx="379476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기성 부품만으로 조립 가능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9831" y="2889504"/>
            <a:ext cx="379476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그린 조립 도면 · 시제품 기준</a:t>
            </a:r>
          </a:p>
        </p:txBody>
      </p:sp>
      <p:pic>
        <p:nvPicPr>
          <p:cNvPr id="36" name="Picture 35" descr="dz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1" y="3145536"/>
            <a:ext cx="3794760" cy="2629226"/>
          </a:xfrm>
          <a:prstGeom prst="rect">
            <a:avLst/>
          </a:prstGeom>
          <a:ln w="12700">
            <a:solidFill>
              <a:srgbClr val="C2B4A0"/>
            </a:solidFill>
          </a:ln>
          <a:effectLst/>
        </p:spPr>
      </p:pic>
      <p:sp>
        <p:nvSpPr>
          <p:cNvPr id="37" name="TextBox 36"/>
          <p:cNvSpPr txBox="1"/>
          <p:nvPr/>
        </p:nvSpPr>
        <p:spPr>
          <a:xfrm>
            <a:off x="7799831" y="5847914"/>
            <a:ext cx="379476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양산 도면이 아니라 시제품 제작용 도면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버튼 구조의 차이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16</a:t>
            </a:r>
          </a:p>
        </p:txBody>
      </p:sp>
      <p:pic>
        <p:nvPicPr>
          <p:cNvPr id="41" name="Picture 40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5200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3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어르신 20명 관찰의 </a:t>
            </a:r>
            <a:r>
              <a:rPr sz="273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성격과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8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제품의 형태를 바꾼 관찰 · 숫자를 낸 시험이 아님 · 진짜 측정은 10월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00784"/>
            <a:ext cx="11003249" cy="420624"/>
          </a:xfrm>
          <a:prstGeom prst="roundRect">
            <a:avLst>
              <a:gd name="adj" fmla="val 8000"/>
            </a:avLst>
          </a:prstGeom>
          <a:solidFill>
            <a:srgbClr val="FBE6B4"/>
          </a:solidFill>
          <a:ln w="12700">
            <a:solidFill>
              <a:srgbClr val="F4A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92224"/>
            <a:ext cx="11003249" cy="2795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정확히 말씀드리면 검증이 아니라 관찰 · 숫자를 낸 시험이 아님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04288"/>
            <a:ext cx="324612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실제로 한 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39187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3" y="2734259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685491"/>
            <a:ext cx="3026663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팀이 아는 어르신 20분께 부탁</a:t>
            </a:r>
          </a:p>
        </p:txBody>
      </p:sp>
      <p:sp>
        <p:nvSpPr>
          <p:cNvPr id="11" name="Oval 10"/>
          <p:cNvSpPr/>
          <p:nvPr/>
        </p:nvSpPr>
        <p:spPr>
          <a:xfrm>
            <a:off x="603503" y="3045155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996387"/>
            <a:ext cx="3026663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각자 스마트폰으로 주소에 접속</a:t>
            </a:r>
          </a:p>
        </p:txBody>
      </p:sp>
      <p:sp>
        <p:nvSpPr>
          <p:cNvPr id="13" name="Oval 12"/>
          <p:cNvSpPr/>
          <p:nvPr/>
        </p:nvSpPr>
        <p:spPr>
          <a:xfrm>
            <a:off x="603503" y="3356051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307283"/>
            <a:ext cx="3026663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여섯 개 활동을 직접 해보심</a:t>
            </a:r>
          </a:p>
        </p:txBody>
      </p:sp>
      <p:sp>
        <p:nvSpPr>
          <p:cNvPr id="15" name="Oval 14"/>
          <p:cNvSpPr/>
          <p:nvPr/>
        </p:nvSpPr>
        <p:spPr>
          <a:xfrm>
            <a:off x="603503" y="3666947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3618179"/>
            <a:ext cx="3026663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점수 없이 막힌 곳만 기록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059936"/>
            <a:ext cx="32461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169663"/>
            <a:ext cx="324612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점수를 세지 않은 이유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404563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50867"/>
            <a:ext cx="32461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그때는 안 되는 곳을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770323"/>
            <a:ext cx="32461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찾는 것이 목적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989779"/>
            <a:ext cx="32461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잘하는지 재는 자리가 아니었음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304288"/>
            <a:ext cx="416052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관찰이 바꾼 설계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539187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2685491"/>
            <a:ext cx="4160520" cy="12700"/>
          </a:xfrm>
          <a:prstGeom prst="rect">
            <a:avLst/>
          </a:prstGeom>
          <a:solidFill>
            <a:srgbClr val="6C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15383" y="2749499"/>
            <a:ext cx="1762505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어르신이 막힌 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7618" y="2749499"/>
            <a:ext cx="217855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바뀐 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2996387"/>
            <a:ext cx="41605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15383" y="3115259"/>
            <a:ext cx="1762505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화면이 작음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7618" y="3115259"/>
            <a:ext cx="217855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큰 세로 화면 기기로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3417011"/>
            <a:ext cx="4160520" cy="420624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15383" y="3535883"/>
            <a:ext cx="1762505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어디를 누를지 모름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7618" y="3535883"/>
            <a:ext cx="217855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메뉴 없이 버튼 네 개로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15383" y="3956507"/>
            <a:ext cx="1762505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듣는지 알 수 없음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7618" y="3956507"/>
            <a:ext cx="217855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붉은 듣기 표시와 파형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4258259"/>
            <a:ext cx="4160520" cy="420624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15383" y="4377131"/>
            <a:ext cx="1762505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실패가 내 탓 같음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7618" y="4377131"/>
            <a:ext cx="217855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다시 안내 · 안 되면 통과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15383" y="4797755"/>
            <a:ext cx="1762505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스마트폰이 없음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7618" y="4797755"/>
            <a:ext cx="217855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기관에 두는 기기로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5099507"/>
            <a:ext cx="41605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60520" y="5358384"/>
            <a:ext cx="41605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다섯 가지 막힘이 다섯 가지 설계 결정이 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13648" y="2304288"/>
            <a:ext cx="2980944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이 관찰의 한계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13648" y="2539187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622792" y="2734259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33104" y="2685491"/>
            <a:ext cx="2761487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아는 사이라 대표 표본이 아님</a:t>
            </a:r>
          </a:p>
        </p:txBody>
      </p:sp>
      <p:sp>
        <p:nvSpPr>
          <p:cNvPr id="47" name="Oval 46"/>
          <p:cNvSpPr/>
          <p:nvPr/>
        </p:nvSpPr>
        <p:spPr>
          <a:xfrm>
            <a:off x="8622792" y="3026867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33104" y="2978099"/>
            <a:ext cx="2761487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성공률을 세지 않았음</a:t>
            </a:r>
          </a:p>
        </p:txBody>
      </p:sp>
      <p:sp>
        <p:nvSpPr>
          <p:cNvPr id="49" name="Oval 48"/>
          <p:cNvSpPr/>
          <p:nvPr/>
        </p:nvSpPr>
        <p:spPr>
          <a:xfrm>
            <a:off x="8622792" y="3319475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33104" y="3270707"/>
            <a:ext cx="2761487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인지 기능 변화는 재지 않음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13648" y="3767328"/>
            <a:ext cx="2980944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13648" y="3877056"/>
            <a:ext cx="2980944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10월 측정 방법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13648" y="4111955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13648" y="4258259"/>
            <a:ext cx="298094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① 동의받은 자연 발화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13648" y="4477715"/>
            <a:ext cx="298094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모집한 어르신의 7일 사용 흐름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13648" y="4697171"/>
            <a:ext cx="298094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② 같은 음성을 두 번 받아쓰기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13648" y="4916627"/>
            <a:ext cx="298094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손질 전 · 후를 같은 입력으로 비교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13648" y="5136083"/>
            <a:ext cx="298094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③ 조건을 가린 사람 검토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13648" y="5355539"/>
            <a:ext cx="298094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쓸 수 있는 전사인지 사람이 확인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13648" y="5574995"/>
            <a:ext cx="298094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④ 실패한 이유까지 기록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13648" y="5794451"/>
            <a:ext cx="298094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소리 없음 · 인식 실패 · 취소 · 소감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" y="5760720"/>
            <a:ext cx="11003249" cy="2559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20명은 제품의 형태를 바꾼 관찰이지, 효과를 증명한 실험이 아님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20명 베타테스트의 성격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17</a:t>
            </a:r>
          </a:p>
        </p:txBody>
      </p:sp>
      <p:pic>
        <p:nvPicPr>
          <p:cNvPr id="66" name="Picture 6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5200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3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개인정보를 </a:t>
            </a:r>
            <a:r>
              <a:rPr sz="273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다루는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8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이름 대신 번호로 저장 · 역할마다 보이는 범위 제한 · 동의를 거두면 그 자리에서 중단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34290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개인정보가 지나가는 길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1856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82571"/>
            <a:ext cx="31272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① 복지관에서 직원이 등록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8432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48331"/>
            <a:ext cx="31272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② 동의서는 복지관이 보관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5008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14091"/>
            <a:ext cx="31272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③ 카드에서 읽는 것은 카드 번호 하나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1584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79851"/>
            <a:ext cx="31272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④ 그 번호를 어르신 번호에 연결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8160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45611"/>
            <a:ext cx="312724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⑤ 카드를 대면 바로 시작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986784"/>
            <a:ext cx="342900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096512"/>
            <a:ext cx="342900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이름이 있는 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31411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3" y="4526483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4477715"/>
            <a:ext cx="320954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이름 · 연락처는 복지관에만</a:t>
            </a:r>
          </a:p>
        </p:txBody>
      </p:sp>
      <p:sp>
        <p:nvSpPr>
          <p:cNvPr id="22" name="Oval 21"/>
          <p:cNvSpPr/>
          <p:nvPr/>
        </p:nvSpPr>
        <p:spPr>
          <a:xfrm>
            <a:off x="603503" y="4819091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770323"/>
            <a:ext cx="320954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기기에는 번호만 쌓임</a:t>
            </a:r>
          </a:p>
        </p:txBody>
      </p:sp>
      <p:sp>
        <p:nvSpPr>
          <p:cNvPr id="24" name="Oval 23"/>
          <p:cNvSpPr/>
          <p:nvPr/>
        </p:nvSpPr>
        <p:spPr>
          <a:xfrm>
            <a:off x="603503" y="5111699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5062931"/>
            <a:ext cx="320954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기기는 이름을 갖고 있지 않음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1737360"/>
            <a:ext cx="324612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역할별 열람 범위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2118563"/>
            <a:ext cx="3246120" cy="12700"/>
          </a:xfrm>
          <a:prstGeom prst="rect">
            <a:avLst/>
          </a:prstGeom>
          <a:solidFill>
            <a:srgbClr val="6C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98264" y="2173427"/>
            <a:ext cx="86410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역할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2099" y="2173427"/>
            <a:ext cx="2162556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볼 수 있는 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2411171"/>
            <a:ext cx="32461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98264" y="2475179"/>
            <a:ext cx="86410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어르신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72099" y="2475179"/>
            <a:ext cx="2162556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본인의 오늘 활동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2722067"/>
            <a:ext cx="3246120" cy="310896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98264" y="2786075"/>
            <a:ext cx="86410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보호자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72099" y="2786075"/>
            <a:ext cx="2162556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동의한 범위의 안부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98264" y="3096971"/>
            <a:ext cx="86410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전문가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72099" y="3096971"/>
            <a:ext cx="2162556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동의한 관찰 기록 요약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343859"/>
            <a:ext cx="3246120" cy="310896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98264" y="3407867"/>
            <a:ext cx="864108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복지관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72099" y="3407867"/>
            <a:ext cx="2162556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등록 · 동의 · 참여 여부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3654755"/>
            <a:ext cx="32461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43400" y="3685032"/>
            <a:ext cx="32461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전문가 = 상담사 · 의료 전문가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3886200"/>
            <a:ext cx="32461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복지관 = 등록과 사용법 안내 담당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43400" y="4169663"/>
            <a:ext cx="32461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43400" y="4279392"/>
            <a:ext cx="324612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무엇이 서버에 남는가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4514291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43400" y="4660595"/>
            <a:ext cx="32461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남음 · 번호 · 활동 기록 · 전사 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4898339"/>
            <a:ext cx="32461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Bold"/>
                <a:ea typeface="나눔스퀘어라운드 Bold"/>
                <a:cs typeface="나눔스퀘어라운드 Bold"/>
              </a:rPr>
              <a:t>남음 · 어르신 음성 원본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3400" y="5136083"/>
            <a:ext cx="32461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실험 단계에서는 자료를 모두 보관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3400" y="5373827"/>
            <a:ext cx="324612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남지 않음 · 이름 · 연락처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1737360"/>
            <a:ext cx="3593592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그만두고 싶을 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0100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010144" y="2167331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0456" y="2118563"/>
            <a:ext cx="3374136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얼마나 보관하는지 미리 알림</a:t>
            </a:r>
          </a:p>
        </p:txBody>
      </p:sp>
      <p:sp>
        <p:nvSpPr>
          <p:cNvPr id="56" name="Oval 55"/>
          <p:cNvSpPr/>
          <p:nvPr/>
        </p:nvSpPr>
        <p:spPr>
          <a:xfrm>
            <a:off x="8010144" y="2459939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0456" y="2411171"/>
            <a:ext cx="3374136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동의를 거두면 그 자리에서 수집 중단</a:t>
            </a:r>
          </a:p>
        </p:txBody>
      </p:sp>
      <p:sp>
        <p:nvSpPr>
          <p:cNvPr id="58" name="Oval 57"/>
          <p:cNvSpPr/>
          <p:nvPr/>
        </p:nvSpPr>
        <p:spPr>
          <a:xfrm>
            <a:off x="8010144" y="2752547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0456" y="2703779"/>
            <a:ext cx="3374136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그때까지 쌓인 기록은 파기가 원칙</a:t>
            </a:r>
          </a:p>
        </p:txBody>
      </p:sp>
      <p:sp>
        <p:nvSpPr>
          <p:cNvPr id="60" name="Oval 59"/>
          <p:cNvSpPr/>
          <p:nvPr/>
        </p:nvSpPr>
        <p:spPr>
          <a:xfrm>
            <a:off x="8010144" y="3045155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0456" y="2996387"/>
            <a:ext cx="3374136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지워졌는지 확인해 알려 줌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91272" y="3255264"/>
            <a:ext cx="3703320" cy="841248"/>
          </a:xfrm>
          <a:prstGeom prst="roundRect">
            <a:avLst>
              <a:gd name="adj" fmla="val 5500"/>
            </a:avLst>
          </a:prstGeom>
          <a:solidFill>
            <a:srgbClr val="FFF7F2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74152" y="3364992"/>
            <a:ext cx="333756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한 가지 예외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74152" y="3584448"/>
            <a:ext cx="333756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이름을 지운 뒤 분석에 들어간 자료는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74152" y="3803904"/>
            <a:ext cx="333756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되돌릴 수 없어 동의서에 미리 고지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01000" y="4206240"/>
            <a:ext cx="3593592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01000" y="4315968"/>
            <a:ext cx="3593592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카드 태깅 구현 상태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01000" y="4550867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01000" y="4697171"/>
            <a:ext cx="3593592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있음 · NFC 카드 리더기로 카드 인식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01000" y="4934915"/>
            <a:ext cx="3593592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5E9A6A"/>
                </a:solidFill>
                <a:latin typeface="나눔스퀘어라운드 Bold"/>
                <a:ea typeface="나눔스퀘어라운드 Bold"/>
                <a:cs typeface="나눔스퀘어라운드 Bold"/>
              </a:rPr>
              <a:t>있음 · 번호로만 저장하고 지우는 기능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01000" y="5172659"/>
            <a:ext cx="3593592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F4A81D"/>
                </a:solidFill>
                <a:latin typeface="나눔스퀘어라운드 Bold"/>
                <a:ea typeface="나눔스퀘어라운드 Bold"/>
                <a:cs typeface="나눔스퀘어라운드 Bold"/>
              </a:rPr>
              <a:t>다음 · 복지관 복지카드로 로그인 연동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" y="5760720"/>
            <a:ext cx="11003249" cy="2775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1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이름 대신 번호로 저장 · 동의를 거두면 그 자리에서 중단하고 파기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개인정보를 다루는 방식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18</a:t>
            </a:r>
          </a:p>
        </p:txBody>
      </p:sp>
      <p:pic>
        <p:nvPicPr>
          <p:cNvPr id="76" name="Picture 7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 lang="ko-KR" altLang="en-US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APPENDIX A07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5200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3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지금까지 만든 것과 </a:t>
            </a:r>
            <a:r>
              <a:rPr sz="2730" b="0" lang="ko-KR" altLang="en-US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다음 실험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80" b="0" lang="ko-KR" altLang="en-US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어르신 20명 베타테스트 · 2×2 키오스크 확정 · 특허 출원과 IRB 심의 · 모집 실험과 논문화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834640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지금 · 직접 만든 실물</a:t>
            </a:r>
          </a:p>
        </p:txBody>
      </p:sp>
      <p:pic>
        <p:nvPicPr>
          <p:cNvPr id="6" name="Picture 5" descr="mk_side_bl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590" y="1993392"/>
            <a:ext cx="1440180" cy="1920240"/>
          </a:xfrm>
          <a:prstGeom prst="rect">
            <a:avLst/>
          </a:prstGeom>
          <a:ln w="12700">
            <a:solidFill>
              <a:srgbClr val="C2B4A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594360" y="4059936"/>
            <a:ext cx="2834640" cy="24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목표 · 완성 형태 설계</a:t>
            </a:r>
          </a:p>
        </p:txBody>
      </p:sp>
      <p:pic>
        <p:nvPicPr>
          <p:cNvPr id="8" name="Picture 7" descr="dz_render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15968"/>
            <a:ext cx="2048255" cy="1536192"/>
          </a:xfrm>
          <a:prstGeom prst="rect">
            <a:avLst/>
          </a:prstGeom>
          <a:ln w="12700">
            <a:solidFill>
              <a:srgbClr val="C2B4A0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594360" y="5925312"/>
            <a:ext cx="283464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컨셉 렌더링 · 아직 제작 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737360"/>
            <a:ext cx="379476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지금까지 구현한 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58183" y="2167331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8496" y="2118563"/>
            <a:ext cx="357530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7일 42개 활동이 인터넷 없이 끝까지</a:t>
            </a:r>
          </a:p>
        </p:txBody>
      </p:sp>
      <p:sp>
        <p:nvSpPr>
          <p:cNvPr id="14" name="Oval 13"/>
          <p:cNvSpPr/>
          <p:nvPr/>
        </p:nvSpPr>
        <p:spPr>
          <a:xfrm>
            <a:off x="3758183" y="2441651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8496" y="2392883"/>
            <a:ext cx="357530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화면 네 자리와 버튼 네 개가 함께 동작</a:t>
            </a:r>
          </a:p>
        </p:txBody>
      </p:sp>
      <p:sp>
        <p:nvSpPr>
          <p:cNvPr id="16" name="Oval 15"/>
          <p:cNvSpPr/>
          <p:nvPr/>
        </p:nvSpPr>
        <p:spPr>
          <a:xfrm>
            <a:off x="3758183" y="2715971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2667203"/>
            <a:ext cx="357530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어르신 음성을 글자로 바꾸는 서버</a:t>
            </a:r>
          </a:p>
        </p:txBody>
      </p:sp>
      <p:sp>
        <p:nvSpPr>
          <p:cNvPr id="18" name="Oval 17"/>
          <p:cNvSpPr/>
          <p:nvPr/>
        </p:nvSpPr>
        <p:spPr>
          <a:xfrm>
            <a:off x="3758183" y="2990291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8496" y="2941523"/>
            <a:ext cx="357530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개인 기억 저장 · 검색 서버</a:t>
            </a:r>
          </a:p>
        </p:txBody>
      </p:sp>
      <p:sp>
        <p:nvSpPr>
          <p:cNvPr id="20" name="Oval 19"/>
          <p:cNvSpPr/>
          <p:nvPr/>
        </p:nvSpPr>
        <p:spPr>
          <a:xfrm>
            <a:off x="3758183" y="3264611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8496" y="3215843"/>
            <a:ext cx="357530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보호자용 · 전문가용 리포트 화면</a:t>
            </a:r>
          </a:p>
        </p:txBody>
      </p:sp>
      <p:sp>
        <p:nvSpPr>
          <p:cNvPr id="22" name="Oval 21"/>
          <p:cNvSpPr/>
          <p:nvPr/>
        </p:nvSpPr>
        <p:spPr>
          <a:xfrm>
            <a:off x="3758183" y="3538931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8496" y="3490163"/>
            <a:ext cx="357530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직접 설계 · 제작한 실물 기구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39" y="3858768"/>
            <a:ext cx="37947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3968496"/>
            <a:ext cx="379476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직접 만든 자동 점검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4203395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4349699"/>
            <a:ext cx="379476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105가지 전부 통과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4587443"/>
            <a:ext cx="379476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음성 처리 54가지 + 기억 저장 51가지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5062931"/>
            <a:ext cx="379476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단, 기능이 설계대로 도는지의 점검이지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300675"/>
            <a:ext cx="379476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C8410E"/>
                </a:solidFill>
                <a:latin typeface="나눔스퀘어라운드 Bold"/>
                <a:ea typeface="나눔스퀘어라운드 Bold"/>
                <a:cs typeface="나눔스퀘어라운드 Bold"/>
              </a:rPr>
              <a:t>어르신에게 효과가 있다는 증명은 아님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9831" y="1737360"/>
            <a:ext cx="379476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여기까지 온 과정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99831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08975" y="2167331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19288" y="2118563"/>
            <a:ext cx="357530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팀이 아는 어르신 20분께 베타테스트</a:t>
            </a:r>
          </a:p>
        </p:txBody>
      </p:sp>
      <p:sp>
        <p:nvSpPr>
          <p:cNvPr id="35" name="Oval 34"/>
          <p:cNvSpPr/>
          <p:nvPr/>
        </p:nvSpPr>
        <p:spPr>
          <a:xfrm>
            <a:off x="7808975" y="2478227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9288" y="2429459"/>
            <a:ext cx="357530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스마트폰 화면과 조작의 한계 확인</a:t>
            </a:r>
          </a:p>
        </p:txBody>
      </p:sp>
      <p:sp>
        <p:nvSpPr>
          <p:cNvPr id="37" name="Oval 36"/>
          <p:cNvSpPr/>
          <p:nvPr/>
        </p:nvSpPr>
        <p:spPr>
          <a:xfrm>
            <a:off x="7808975" y="2789123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19288" y="2740355"/>
            <a:ext cx="357530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2×2 키오스크 형태로 기기 확정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90104" y="3200400"/>
            <a:ext cx="3904487" cy="1883664"/>
          </a:xfrm>
          <a:prstGeom prst="roundRect">
            <a:avLst>
              <a:gd name="adj" fmla="val 5500"/>
            </a:avLst>
          </a:prstGeom>
          <a:solidFill>
            <a:srgbClr val="FFF7F2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72983" y="3310128"/>
            <a:ext cx="3611880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 lang="ko-KR" altLang="en-US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다음 실험 계획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72983" y="3545027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882127" y="3740099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3691331"/>
            <a:ext cx="339242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2×2 키오스크 제품으로 특허 출원</a:t>
            </a:r>
          </a:p>
        </p:txBody>
      </p:sp>
      <p:sp>
        <p:nvSpPr>
          <p:cNvPr id="44" name="Oval 43"/>
          <p:cNvSpPr/>
          <p:nvPr/>
        </p:nvSpPr>
        <p:spPr>
          <a:xfrm>
            <a:off x="7882127" y="4050995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2440" y="4002227"/>
            <a:ext cx="339242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IRB 심의 바탕으로 어르신 모집</a:t>
            </a:r>
          </a:p>
        </p:txBody>
      </p:sp>
      <p:sp>
        <p:nvSpPr>
          <p:cNvPr id="46" name="Oval 45"/>
          <p:cNvSpPr/>
          <p:nvPr/>
        </p:nvSpPr>
        <p:spPr>
          <a:xfrm>
            <a:off x="7882127" y="4361891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92440" y="4313123"/>
            <a:ext cx="339242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모집한 어르신 대상 실험 진행</a:t>
            </a:r>
          </a:p>
        </p:txBody>
      </p:sp>
      <p:sp>
        <p:nvSpPr>
          <p:cNvPr id="48" name="Oval 47"/>
          <p:cNvSpPr/>
          <p:nvPr/>
        </p:nvSpPr>
        <p:spPr>
          <a:xfrm>
            <a:off x="7882127" y="4672787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92440" y="4624019"/>
            <a:ext cx="3392424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결과를 KCI 논문으로 정리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5760720"/>
            <a:ext cx="7848569" cy="2559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lang="ko-KR" altLang="en-US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20명 베타테스트로 기기 형태를 확정 · 이제 모집한 어르신 대상 실험과 논문화 단계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OGASA Labs · Appendix · 구현 범위와 다음 계획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lang="ko-KR" altLang="en-US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19</a:t>
            </a:r>
          </a:p>
        </p:txBody>
      </p:sp>
      <p:pic>
        <p:nvPicPr>
          <p:cNvPr id="54" name="Picture 5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956</Words>
  <Application>Microsoft Office PowerPoint</Application>
  <PresentationFormat>와이드스크린</PresentationFormat>
  <Paragraphs>260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나눔스퀘어라운드 Light</vt:lpstr>
      <vt:lpstr>Arial</vt:lpstr>
      <vt:lpstr>나눔스퀘어라운드OTF ExtraBold</vt:lpstr>
      <vt:lpstr>Calibri</vt:lpstr>
      <vt:lpstr>Noto Sans KR Black</vt:lpstr>
      <vt:lpstr>Noto Sans KR</vt:lpstr>
      <vt:lpstr>나눔스퀘어라운드OTF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Hyenwoo Na</dc:creator>
  <cp:keywords/>
  <dc:description/>
  <cp:lastModifiedBy>羅　炫禹</cp:lastModifiedBy>
  <cp:revision>13</cp:revision>
  <dcterms:created xsi:type="dcterms:W3CDTF">2026-07-03T00:16:24Z</dcterms:created>
  <dcterms:modified xsi:type="dcterms:W3CDTF">2026-07-05T10:50:05Z</dcterms:modified>
  <cp:category/>
  <cp:contentStatus/>
  <dc:language/>
</cp:coreProperties>
</file>