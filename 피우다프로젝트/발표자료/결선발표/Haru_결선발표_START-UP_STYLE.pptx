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12E0B-CFA1-4833-97CB-9D3D949FCF5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113C0-61E4-4326-ADB2-18231D629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244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는 어르신이 화면과 같은 위치의 네 개 버튼으로 하루 활동을 진행하는 키오스크입니다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현재 라즈베리파이 기반 실물 목업과 오프라인 앱이 작동합니다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문제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인터페이스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구현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다음 현장 검증 순서로 보여드리겠습니다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25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사선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.jpeg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피우다중간발표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오가사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_Haru.pptx (Haru logo)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User-authored plan: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결선발표흐름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82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팀원 이재우는 치매 관련 센터 실습에서 일상 정보가 대면 질문과 수기로 남는 과정을 관찰했습니다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Haru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는 긴 일기 대신 짧은 활동으로 다음 대화를 시작할 정보를 남기는 구조를 지향합니다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field observation: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044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지인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20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명에게 초기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URL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을 열어 주요 문항을 수행하게 하고 막힌 지점을 기록했습니다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작은 화면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터치 부담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음성 상태 불명확을 확인해 큰 화면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2×2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물리 버튼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빨간 듣기 상태와 움직이는 파형으로 연결했습니다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가운데 자료는 이 개선 방향을 점검한 합성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리허설 화면이며 실제 사용자 성과 수치가 아닙니다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40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피우다중간발표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오가사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_Haru.pptx (initial web screenshots)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formative check status: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reference: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/Haru_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음성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사전검증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.pptx, slide 3 (UI design rehearsal only; all numeric results in the deck are synthetic)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Current app capture: assets/app/05_voice_waveform.png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89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메뉴 구조 대신 네 개 위치만 기억하도록 설계했습니다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화면의 좌상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우상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좌하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우하와 물리 버튼 위치가 항상 같고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한 번 눌러 선택한 뒤 같은 버튼으로 확정합니다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Current app capture: assets/app/01_mood_selected.png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정면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.jpeg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178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현재 데모에는 하루 여섯 개씩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총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42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개 활동이 준비돼 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감정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시간 확인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개인 기억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순서 기억을 짧게 반복합니다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라즈베리파이 데모는 오프라인 루틴을 담당하고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동의가 있는 현장 확장에서는 별도 로컬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STT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가 말하기 응답을 근거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Episode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로 연결합니다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Current app captures: assets/app/01_mood_selected.png through 06_sequence.png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raspberry-pi-demo/src/data/haru7DayExercises.ts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rag_backend/README.md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699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손으로 누른 물리 버튼이 화면 선택을 바꾸고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같은 버튼으로 확정한 뒤 다음 문항으로 이동합니다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화면 클릭 시연이 아니라 실제 키오스크 입력입니다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55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Embedded local video: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작동영상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.mp4, trimmed to 7.0–16.5 seconds and muted for presentation compatibility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25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20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명 사전 확인에서 음성 상태가 불명확하다는 관찰을 얻은 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화면 반응뿐 아니라 입력 처리도 고령자 발화에 맞췄습니다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현재 구현은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16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킬로헤르츠 단일 채널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DC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제거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80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헤르츠 고역통과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제한된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RMS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보정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무음 게이트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Qwen3-ASR,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강제 정렬을 포함합니다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자동화 테스트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54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개는 통과했지만 실제 고령자 정확도와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GPU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실모델 검증은 별도 과제입니다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45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backend/app/audio.py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backend/app/stt.py and backend/app/config.py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verification: npm run stt:test — 54 passed, 1 GPU/model smoke skipped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/STT.pptx, slide 2 embedded illustration (design conditions only; not Haru performance evidence)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2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가 오늘의 개인 이야기를 다음 문항과 상담으로 잇기 위해 개인 기억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를 구현했습니다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오늘의 선택과 음성 응답을 출처가 있는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Episode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Evidence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로 남기고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E5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의미 검색과 시간축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명시된 관계로 다시 찾습니다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이 근거로 다음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문항 초안과 상담용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QA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를 만들며 근거가 없으면 답하지 않습니다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45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rag_backend/docs/architecture.md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rag_backend/app/services/embedding.py, qa.py, question_generator.py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verification: npm run rag:test — 51 passed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/elder_memory_graph_business_insert_3slides.pptx, slide 2 embedded temporal graph image (concept reference only)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614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초기 웹에서 시작해 화면과 같은 위치의 물리 버튼을 갖춘 라즈베리파이 키오스크를 만들었습니다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여기에 시설 내부의 별도 로컬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GPU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서비스로 한국어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STT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와 개인 기억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를 구현했습니다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라즈베리파이 한 대가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Qwen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과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를 모두 실행한다는 의미는 아닙니다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35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피우다중간발표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오가사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_Haru.pptx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측면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.jpeg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backend/README.md and rag_backend/README.md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/elder_memory_graph_business_insert_3slides.pptx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066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복지관 적용은 기관 협의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서비스 등록과 연구 동의의 분리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NFC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가명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ID,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시설 내부 로컬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STT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RAG,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역할별 최소 요약의 순서로 준비합니다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기관 접촉과 운영 논의를 바탕으로 협력 기관을 확정하고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연구윤리심의 승인 뒤 독립 대상자 연구를 진행할 계획입니다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field outreach status and operating plan: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backend/README.md and rag_backend/README.md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Current app capture: assets/app/08_support_connection.png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344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인터페이스는 특허출원서를 제출했고 변리사와 후속 절차를 진행 중입니다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효과는 이해관계가 없는 목표 연령대 참여자에게 검증하기 위해 연구윤리심의를 신청했습니다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승인 후 결과에 따라 국내외 학술지 논문화를 추진할 계획입니다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40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status: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No filing screenshots shown; status is presented as user-provided process information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589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앱을 어려워한 사용자를 탓하지 않고 제품을 바꿨습니다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이미 작동하는 실물까지 만들었고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다음 지원은 완성 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NFC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운영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연구윤리심의 승인 후 독립 현장 검증에 재투자하겠습니다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[Timing]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30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초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피우다중간발표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오가사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_Haru.pptx (team portraits)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team and funding status: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714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본문의 결론을 뒷받침하는 기술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실증 상세 자료의 목차입니다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reference decks: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/Haru_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음성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사전검증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.pptx, STT.pptx, elder_memory_graph_business_insert_3slides.pptx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implementation: raspberry-pi-demo/, backend/, rag_backend/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30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일 동안 반복되는 여섯 활동군과 동일한 물리 상호작용 규칙을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raspberry-pi-demo/src/data/haru7DayExercises.ts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raspberry-pi-demo/README.md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15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시제품 설계 자산과 라즈베리파이 실행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입력 계약을 분리해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도면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_R004-GA01_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전체조립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치수도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.png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설계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렌더링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1.png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asset: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목업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후면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.jpeg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raspberry-pi-demo/config/runtime.json and README.md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203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외부 공개 벤치마크를 전체 맥락으로 제시하고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Qwen3-ASR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이 최저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CER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라는 과장을 피합니다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GigaSpeechBench v2 Table 2: https://arxiv.org/html/2606.28884v2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Qwen3-ASR technical report: https://arxiv.org/abs/2601.21337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Qwen3-ASR repository: https://github.com/QwenLM/Qwen3-ASR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/STT.pptx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51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실제 코드에 구현된 입력 안정화 상수와 느린 발화 보존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요청 제한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재시도 계약을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backend/app/audio.py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backend/app/config.py and backend/app/stt.py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verification: npm run stt:test — 54 passed, 1 GPU/model smoke skipped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External study chart reproduced in STT.pptx: https://www.manuscriptlink.com/society/kips/conference/ask2026/file/downloadSoConfManuscript/abs/KIPS_C2026A0002F (Whisper-medium result; not Haru/Qwen performance)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39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합성 데이터의 목적을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계측 리허설로 한정하고 실제 실증 성과와 분리합니다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/Haru_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음성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사전검증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.pptx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docs/voice-pilot-sample-20x7/manifest.json — dataKind: sample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syntheticVoicePilot.ts — is_synthetic: true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901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합성 사전검증 다음 단계인 실제 고령자 음성 파일럿의 비교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검토 계약을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/Haru_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음성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UX_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사전검증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.pptx, slide 5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IRB study direction: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991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개인 기억이 출처 있는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Episode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와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Evidence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로 보존되고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의미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시간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명시 관계 검색으로 확장되는 구조를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rag_backend/docs/architecture.md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rag_backend/app/services/embedding.py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/elder_memory_graph_business_insert_3slides.pptx, slide 2 embedded context-graph architecture image (concept reference only)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92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QA·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다음 문항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·Galaxy API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의 실제 구현 범위와 사용자 화면 미구현 범위를 분리합니다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rag_backend/app/services/qa.py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rag_backend/app/services/question_generator.py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rag_backend/README.md and docs/architecture.md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verification: npm run rag:test — 51 passed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Reference deck: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기존발표자료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/elder_memory_graph_business_insert_3slides.pptx, slide 3 embedded Galaxy and context-graph UI images (visual references only; Haru user-facing UI not implemented)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436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현재 오프라인 데모와 다음 현장실증의 데이터 처리 범위를 분리해 설명합니다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raspberry-pi-demo/README.md and source code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Local source: backend/README.md and rag_backend/README.md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User-authored operating plan: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02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특허 출원과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IRB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신청의 현재 상태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검증 대상과 아직 성립하지 않은 주장을 구분합니다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</a:p>
          <a:p>
            <a:endParaRPr lang="en-US" altLang="ko-KR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[Appendix]</a:t>
            </a:r>
          </a:p>
          <a:p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</a:t>
            </a:r>
          </a:p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[Sources]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User-provided status: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결선발표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_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요구사항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.txt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User clarification: patent application for the 2×2 older-adult interface; IRB application for independent target-age participants</a:t>
            </a:r>
          </a:p>
          <a:p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- No filing screenshots shown because current local </a:t>
            </a:r>
            <a:r>
              <a:rPr lang="ko-KR" altLang="en-US">
                <a:latin typeface="Noto Sans KR" panose="020B0200000000000000" pitchFamily="34" charset="-128"/>
                <a:ea typeface="Noto Sans KR" panose="020B0200000000000000" pitchFamily="34" charset="-128"/>
              </a:rPr>
              <a:t>신청서 </a:t>
            </a:r>
            <a:r>
              <a:rPr lang="en-US" altLang="ko-KR">
                <a:latin typeface="Noto Sans KR" panose="020B0200000000000000" pitchFamily="34" charset="-128"/>
                <a:ea typeface="Noto Sans KR" panose="020B0200000000000000" pitchFamily="34" charset="-128"/>
              </a:rPr>
              <a:t>images are not valid Haru evidence</a:t>
            </a:r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113C0-61E4-4326-ADB2-18231D62907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20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BF870-9542-B4CB-4BD4-599118C0A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DAFDC6-4E80-7825-9364-DD824F56D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9C3EFE-FA88-E1D6-8E90-415F3D38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3C42B-DD62-9CC3-D205-625BF194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86CD9-73D6-DB0A-BA53-FF04A8BA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16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33FC2-DE30-3BCC-7903-9CE365D8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33138-9A9B-607F-DE91-77D163680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08DAA2-40C5-4B9F-1822-729E0B7F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4D32F-B65A-14A1-2F3F-B60AC301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5E4B1-80A1-AB71-29D5-691E2664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4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839CB-DB07-BD71-582B-B62FB9C6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C4110A-4168-4F04-A38A-9977EC71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F3064-5048-7290-B092-7DF58EE9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482EAD-BC67-2D44-05DB-55136D96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DF828-2B99-456A-C1E3-ABA8F2B1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5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7A4B9-FF13-CBB4-2449-6E65CD12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4142D-40EE-4EF8-F1CD-AD9B96B53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EDCB3-5407-C8F8-3BD0-50DC675E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1F0482-108F-BDCD-276B-69A8FF69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EC1AE0-2058-BCD3-DFD7-4B8367C9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D10BF-2225-FD3B-237E-B8401B5E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6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3F831-DCD0-DE11-99F4-F7FD78F3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E7FCD-23BD-3E64-10F9-8E81ECFD2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A98755-960E-4A0E-D7C7-95AA9BF9D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883A14-8E17-2904-1841-B46F719B1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134E91-9F10-C60F-476A-AC71C28DA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B39F64-6075-6B68-86E9-CCE4F89B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E26101-F11A-2878-8D2C-50B2465B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AD817E-B57B-0161-EDEE-92660F7B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4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C75FE-523D-D345-6B65-FE0BEAEA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4370CA-0BFF-B5C2-B70E-74C3AFD6A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905849-36CC-7A60-F188-B5C071C6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0D94C2-417D-34A3-7E11-1449D73F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55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227BDE-164B-8F62-707A-4EC20AD7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1CE4BC-F339-F8CC-E757-9DFD221B2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234F3-EF97-09D1-E225-CBB404CB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08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F1B77-702C-2A3F-CA0F-4A64DCDD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DBDFD-CCAD-D1D8-50A0-AB19100C1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29DDB8-7099-68FA-C35E-C6FC8BD69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3ADA65-577B-187B-55E9-013AF1CD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DC9C0A-997A-73AD-2D57-BCA259A9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57681A-1E99-B57D-3190-FA75FF33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58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F018B-6984-4F52-469A-8DB5D504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D36E66-6968-7B0E-BAB3-6454C9BB2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3AAAB-0E6E-870E-20C3-59B1EE68B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513F2-E1B4-781A-1773-EC1B701D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9BED7E-00CE-3F01-F086-8EC75D8A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1E6496-12AD-93E6-BAEA-6714B238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9DF26-7D1F-1282-278B-6BB66609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73A4D5-5F2D-55A6-4C1D-C23C5BD9A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851C2E-7178-E1D3-9422-FE3083B7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566FB-B22F-3B0F-FC2F-A0FFB986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28FAA-4634-3EBF-88E6-5BAAC3D7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80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928FE7-3352-99E6-4872-B4F00A1CA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E88D26-30DE-4682-44B9-CC4B48A79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958BD-24AC-0C46-CC24-A7BBA0F46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4E77E-AF71-058E-6B1E-48A53EFD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8D251F-14F7-0FFA-3052-945659AA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48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5F143A-A2F0-C36F-2B69-D3541A9E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A39E1F-BFCD-94B9-8DE5-9FFE7DEF4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82F90-B2C5-5568-4F5F-717F9D308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894B3-7ADB-4705-BD0F-66BAD70D9906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54A73-0C25-FEE2-C061-28A8D2B26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A6EDC7-B7DB-AFAD-0C9E-E76BAA2C9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5D85A-FB61-4F26-A27E-384999BE38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1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Haru color logo">
            <a:extLst>
              <a:ext uri="{FF2B5EF4-FFF2-40B4-BE49-F238E27FC236}">
                <a16:creationId xmlns:a16="http://schemas.microsoft.com/office/drawing/2014/main" id="{A372AA96-293F-C20A-6A36-37ADEE567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68" y="609600"/>
            <a:ext cx="2598564" cy="1041400"/>
          </a:xfrm>
          <a:prstGeom prst="rect">
            <a:avLst/>
          </a:prstGeom>
        </p:spPr>
      </p:pic>
      <p:sp>
        <p:nvSpPr>
          <p:cNvPr id="4" name="cover-title">
            <a:extLst>
              <a:ext uri="{FF2B5EF4-FFF2-40B4-BE49-F238E27FC236}">
                <a16:creationId xmlns:a16="http://schemas.microsoft.com/office/drawing/2014/main" id="{7EED4701-BFB8-8EED-648F-8CD00EED13D7}"/>
              </a:ext>
            </a:extLst>
          </p:cNvPr>
          <p:cNvSpPr txBox="1"/>
          <p:nvPr/>
        </p:nvSpPr>
        <p:spPr>
          <a:xfrm>
            <a:off x="736600" y="2247900"/>
            <a:ext cx="603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네 개 버튼 기억 루틴 키오스크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5FF56-88E2-EB7C-562A-F456B1D4CCBE}"/>
              </a:ext>
            </a:extLst>
          </p:cNvPr>
          <p:cNvSpPr txBox="1"/>
          <p:nvPr/>
        </p:nvSpPr>
        <p:spPr>
          <a:xfrm>
            <a:off x="736600" y="3073400"/>
            <a:ext cx="603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1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어르신의 하루와 상담을 잇는 기억 루틴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0A8E26B-29DC-0FB2-90BB-1DFFA33A9C5D}"/>
              </a:ext>
            </a:extLst>
          </p:cNvPr>
          <p:cNvCxnSpPr/>
          <p:nvPr/>
        </p:nvCxnSpPr>
        <p:spPr>
          <a:xfrm>
            <a:off x="736600" y="3810000"/>
            <a:ext cx="5334000" cy="0"/>
          </a:xfrm>
          <a:prstGeom prst="line">
            <a:avLst/>
          </a:prstGeom>
          <a:ln w="38100">
            <a:solidFill>
              <a:srgbClr val="F57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9267BC-675F-6AD6-D5C1-A94929AB5683}"/>
              </a:ext>
            </a:extLst>
          </p:cNvPr>
          <p:cNvSpPr txBox="1"/>
          <p:nvPr/>
        </p:nvSpPr>
        <p:spPr>
          <a:xfrm>
            <a:off x="736600" y="4076700"/>
            <a:ext cx="577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매일 짧은 활동 </a:t>
            </a:r>
            <a:r>
              <a:rPr lang="en-US" altLang="ko-KR" sz="20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20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다음 대화의 기억 단서 후보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EDFDB3F-61B2-3B6C-F49A-41CD7CF328BF}"/>
              </a:ext>
            </a:extLst>
          </p:cNvPr>
          <p:cNvSpPr/>
          <p:nvPr/>
        </p:nvSpPr>
        <p:spPr>
          <a:xfrm>
            <a:off x="736600" y="4953000"/>
            <a:ext cx="1397000" cy="317500"/>
          </a:xfrm>
          <a:prstGeom prst="roundRect">
            <a:avLst/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1E8DF-E56E-7158-FB69-B7D1B454AA0C}"/>
              </a:ext>
            </a:extLst>
          </p:cNvPr>
          <p:cNvSpPr txBox="1"/>
          <p:nvPr/>
        </p:nvSpPr>
        <p:spPr>
          <a:xfrm>
            <a:off x="8636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 목업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A975C6B-E8BD-064F-CD91-234C3A31CAD3}"/>
              </a:ext>
            </a:extLst>
          </p:cNvPr>
          <p:cNvSpPr/>
          <p:nvPr/>
        </p:nvSpPr>
        <p:spPr>
          <a:xfrm>
            <a:off x="2286000" y="4953000"/>
            <a:ext cx="1714500" cy="317500"/>
          </a:xfrm>
          <a:prstGeom prst="roundRect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3CD80-12E4-2F79-5289-6DABEE942393}"/>
              </a:ext>
            </a:extLst>
          </p:cNvPr>
          <p:cNvSpPr txBox="1"/>
          <p:nvPr/>
        </p:nvSpPr>
        <p:spPr>
          <a:xfrm>
            <a:off x="2413000" y="49911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오프라인 작동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F7CD8-2E48-7042-27E0-2C020073AD73}"/>
              </a:ext>
            </a:extLst>
          </p:cNvPr>
          <p:cNvSpPr txBox="1"/>
          <p:nvPr/>
        </p:nvSpPr>
        <p:spPr>
          <a:xfrm>
            <a:off x="736600" y="60325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팀 오가사 </a:t>
            </a:r>
            <a:r>
              <a:rPr lang="en-US" altLang="ko-KR" sz="1400" b="1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충청권</a:t>
            </a:r>
          </a:p>
        </p:txBody>
      </p:sp>
      <p:pic>
        <p:nvPicPr>
          <p:cNvPr id="14" name="그림 13" descr="Working Haru kiosk prototype at an oblique angle">
            <a:extLst>
              <a:ext uri="{FF2B5EF4-FFF2-40B4-BE49-F238E27FC236}">
                <a16:creationId xmlns:a16="http://schemas.microsoft.com/office/drawing/2014/main" id="{980F5B34-76FD-7DD0-5E47-94C02EED6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450" y="863600"/>
            <a:ext cx="3848100" cy="51308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</p:spTree>
    <p:extLst>
      <p:ext uri="{BB962C8B-B14F-4D97-AF65-F5344CB8AC3E}">
        <p14:creationId xmlns:p14="http://schemas.microsoft.com/office/powerpoint/2010/main" val="398728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662AA-3C14-EEC3-DB17-7D8EA51C6547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PROBLEM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D9382-9BD9-AE78-5333-D79E931A24B4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2-title">
            <a:extLst>
              <a:ext uri="{FF2B5EF4-FFF2-40B4-BE49-F238E27FC236}">
                <a16:creationId xmlns:a16="http://schemas.microsoft.com/office/drawing/2014/main" id="{51948369-BA3A-5885-BE26-D7D73A5C0CB8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돌봄 현장의 일상 기억 기록 공백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B7C01-8DD4-D86B-BE7A-48EA22842E21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대면 문답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수기 기록 중심의 정보 단절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ADF2787-29B4-E7DE-2DD2-F4C27331BD90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3678B9-A956-2DBD-2E03-2A709CC3884A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6B899-3177-3FEC-D818-C49ABB58D498}"/>
              </a:ext>
            </a:extLst>
          </p:cNvPr>
          <p:cNvSpPr txBox="1"/>
          <p:nvPr/>
        </p:nvSpPr>
        <p:spPr>
          <a:xfrm>
            <a:off x="838200" y="20955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현장 관찰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CFCA6D-830A-A48A-4B85-DA8FBA421114}"/>
              </a:ext>
            </a:extLst>
          </p:cNvPr>
          <p:cNvCxnSpPr/>
          <p:nvPr/>
        </p:nvCxnSpPr>
        <p:spPr>
          <a:xfrm>
            <a:off x="1206500" y="3111500"/>
            <a:ext cx="4191000" cy="0"/>
          </a:xfrm>
          <a:prstGeom prst="line">
            <a:avLst/>
          </a:prstGeom>
          <a:ln w="381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36B81AFE-050E-B3E3-9442-723D96322604}"/>
              </a:ext>
            </a:extLst>
          </p:cNvPr>
          <p:cNvSpPr/>
          <p:nvPr/>
        </p:nvSpPr>
        <p:spPr>
          <a:xfrm>
            <a:off x="889000" y="2819400"/>
            <a:ext cx="584200" cy="584200"/>
          </a:xfrm>
          <a:prstGeom prst="ellipse">
            <a:avLst/>
          </a:prstGeom>
          <a:solidFill>
            <a:srgbClr val="FB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2F1D9-3223-F55F-BCC8-A26841F7AA42}"/>
              </a:ext>
            </a:extLst>
          </p:cNvPr>
          <p:cNvSpPr txBox="1"/>
          <p:nvPr/>
        </p:nvSpPr>
        <p:spPr>
          <a:xfrm>
            <a:off x="609600" y="359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9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대면 문답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C0CD75A-62CB-1656-E371-BA1927CA65F7}"/>
              </a:ext>
            </a:extLst>
          </p:cNvPr>
          <p:cNvSpPr/>
          <p:nvPr/>
        </p:nvSpPr>
        <p:spPr>
          <a:xfrm>
            <a:off x="2794000" y="2819400"/>
            <a:ext cx="584200" cy="584200"/>
          </a:xfrm>
          <a:prstGeom prst="ellipse">
            <a:avLst/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CD747F-8D41-57A6-4BE6-5BF824CB1D0C}"/>
              </a:ext>
            </a:extLst>
          </p:cNvPr>
          <p:cNvSpPr txBox="1"/>
          <p:nvPr/>
        </p:nvSpPr>
        <p:spPr>
          <a:xfrm>
            <a:off x="2514600" y="359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9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수기 기록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95EAFC4-A8D4-D76D-7D94-FAD840D3BD54}"/>
              </a:ext>
            </a:extLst>
          </p:cNvPr>
          <p:cNvSpPr/>
          <p:nvPr/>
        </p:nvSpPr>
        <p:spPr>
          <a:xfrm>
            <a:off x="4699000" y="2819400"/>
            <a:ext cx="584200" cy="584200"/>
          </a:xfrm>
          <a:prstGeom prst="ellipse">
            <a:avLst/>
          </a:prstGeom>
          <a:solidFill>
            <a:srgbClr val="FB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AEE74-E54C-5568-756D-79C12F18252E}"/>
              </a:ext>
            </a:extLst>
          </p:cNvPr>
          <p:cNvSpPr txBox="1"/>
          <p:nvPr/>
        </p:nvSpPr>
        <p:spPr>
          <a:xfrm>
            <a:off x="4419600" y="359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9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반복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1FBBD7-0C18-0179-246B-216C1B5F0185}"/>
              </a:ext>
            </a:extLst>
          </p:cNvPr>
          <p:cNvSpPr txBox="1"/>
          <p:nvPr/>
        </p:nvSpPr>
        <p:spPr>
          <a:xfrm>
            <a:off x="7429500" y="2235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2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짧은 활동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DC01C7-807D-AB1D-AFD6-712FFA1639E5}"/>
              </a:ext>
            </a:extLst>
          </p:cNvPr>
          <p:cNvSpPr txBox="1"/>
          <p:nvPr/>
        </p:nvSpPr>
        <p:spPr>
          <a:xfrm>
            <a:off x="8445500" y="2844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38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BCB526-AA60-2B9A-B812-1A77B83FDDD7}"/>
              </a:ext>
            </a:extLst>
          </p:cNvPr>
          <p:cNvSpPr txBox="1"/>
          <p:nvPr/>
        </p:nvSpPr>
        <p:spPr>
          <a:xfrm>
            <a:off x="7048500" y="3556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3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다음 상담의
기억 단서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2C90AA6-DACF-C085-35C0-AD454B47166E}"/>
              </a:ext>
            </a:extLst>
          </p:cNvPr>
          <p:cNvSpPr/>
          <p:nvPr/>
        </p:nvSpPr>
        <p:spPr>
          <a:xfrm>
            <a:off x="736600" y="5041900"/>
            <a:ext cx="5651500" cy="774700"/>
          </a:xfrm>
          <a:prstGeom prst="roundRect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279D7-03B8-87BD-AD5D-740F63223DA7}"/>
              </a:ext>
            </a:extLst>
          </p:cNvPr>
          <p:cNvSpPr txBox="1"/>
          <p:nvPr/>
        </p:nvSpPr>
        <p:spPr>
          <a:xfrm>
            <a:off x="965200" y="52959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스스로 기록의 어려움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834576-F6C3-8F3A-1FB1-03EEE8FE3155}"/>
              </a:ext>
            </a:extLst>
          </p:cNvPr>
          <p:cNvSpPr txBox="1"/>
          <p:nvPr/>
        </p:nvSpPr>
        <p:spPr>
          <a:xfrm>
            <a:off x="3403600" y="5295900"/>
            <a:ext cx="2755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돌봄 인력의 반복 확인 부담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110FF35-6DAB-4767-5146-95E40177161F}"/>
              </a:ext>
            </a:extLst>
          </p:cNvPr>
          <p:cNvSpPr/>
          <p:nvPr/>
        </p:nvSpPr>
        <p:spPr>
          <a:xfrm>
            <a:off x="7112000" y="5080000"/>
            <a:ext cx="3746500" cy="736600"/>
          </a:xfrm>
          <a:prstGeom prst="roundRect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E8F634-84F1-E301-F83C-81993AE6E3F2}"/>
              </a:ext>
            </a:extLst>
          </p:cNvPr>
          <p:cNvSpPr txBox="1"/>
          <p:nvPr/>
        </p:nvSpPr>
        <p:spPr>
          <a:xfrm>
            <a:off x="7366000" y="52832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 단서 </a:t>
            </a:r>
            <a:r>
              <a:rPr lang="en-US" altLang="ko-KR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= </a:t>
            </a:r>
            <a:r>
              <a:rPr lang="ko-KR" altLang="en-US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오늘의 기분</a:t>
            </a:r>
            <a:r>
              <a:rPr lang="en-US" altLang="ko-KR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장소</a:t>
            </a:r>
            <a:r>
              <a:rPr lang="en-US" altLang="ko-KR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활동</a:t>
            </a:r>
          </a:p>
        </p:txBody>
      </p:sp>
    </p:spTree>
    <p:extLst>
      <p:ext uri="{BB962C8B-B14F-4D97-AF65-F5344CB8AC3E}">
        <p14:creationId xmlns:p14="http://schemas.microsoft.com/office/powerpoint/2010/main" val="95668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C708F5-8B87-0FEE-1DC7-F4AFCBCB2FB3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LEARNING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CE381-4C5B-6F95-A9F9-B035CD67C698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3-title">
            <a:extLst>
              <a:ext uri="{FF2B5EF4-FFF2-40B4-BE49-F238E27FC236}">
                <a16:creationId xmlns:a16="http://schemas.microsoft.com/office/drawing/2014/main" id="{EEADF585-E9B4-11D7-F46B-C5A740EC0E45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20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 사용 흐름 사전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98585-4BA9-EE2C-B147-2D42AD355C69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지인 기반 기능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사용성 확인과 개선 근거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91EBD8-CBA0-69DF-66EC-FD8F9B291B1F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FFB190-3055-0A88-B17B-B209088C5A7C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Initial mobile questionnaire screen used in the 20-person formative flow check">
            <a:extLst>
              <a:ext uri="{FF2B5EF4-FFF2-40B4-BE49-F238E27FC236}">
                <a16:creationId xmlns:a16="http://schemas.microsoft.com/office/drawing/2014/main" id="{B7FAC9C1-23D1-E9E6-27A0-EA3E54910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57" y="2044700"/>
            <a:ext cx="1458686" cy="34036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FFFD7B-9035-3F71-F2D2-082D7EAB2661}"/>
              </a:ext>
            </a:extLst>
          </p:cNvPr>
          <p:cNvSpPr txBox="1"/>
          <p:nvPr/>
        </p:nvSpPr>
        <p:spPr>
          <a:xfrm>
            <a:off x="736600" y="55626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초기 흐름 관찰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90249-5DB0-F6D7-E004-279CF962F3C1}"/>
              </a:ext>
            </a:extLst>
          </p:cNvPr>
          <p:cNvSpPr txBox="1"/>
          <p:nvPr/>
        </p:nvSpPr>
        <p:spPr>
          <a:xfrm>
            <a:off x="2413000" y="3479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2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pic>
        <p:nvPicPr>
          <p:cNvPr id="13" name="그림 12" descr="Voice UX design rehearsal from the original validation deck">
            <a:extLst>
              <a:ext uri="{FF2B5EF4-FFF2-40B4-BE49-F238E27FC236}">
                <a16:creationId xmlns:a16="http://schemas.microsoft.com/office/drawing/2014/main" id="{214A53F0-5F91-43F4-001F-47385C574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2212975"/>
            <a:ext cx="4572000" cy="257175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2203EC-428E-2305-8DE7-87B8285DAE93}"/>
              </a:ext>
            </a:extLst>
          </p:cNvPr>
          <p:cNvSpPr txBox="1"/>
          <p:nvPr/>
        </p:nvSpPr>
        <p:spPr>
          <a:xfrm>
            <a:off x="2921000" y="49276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합성 음성 </a:t>
            </a:r>
            <a:r>
              <a:rPr lang="en-US" altLang="ko-KR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UX </a:t>
            </a:r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설계 리허설 </a:t>
            </a:r>
            <a:r>
              <a:rPr lang="en-US" altLang="ko-KR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사용자 성과 아님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E5FB8-3F38-699C-13AD-09083C8AE96C}"/>
              </a:ext>
            </a:extLst>
          </p:cNvPr>
          <p:cNvSpPr txBox="1"/>
          <p:nvPr/>
        </p:nvSpPr>
        <p:spPr>
          <a:xfrm>
            <a:off x="2921000" y="5257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보이는 상태 </a:t>
            </a:r>
            <a:r>
              <a:rPr lang="en-US" altLang="ko-KR" sz="13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부담 완화 </a:t>
            </a:r>
            <a:r>
              <a:rPr lang="en-US" altLang="ko-KR" sz="13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제한 보정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6F8DC0-6EBC-EC8A-97B4-C6FA35DEC158}"/>
              </a:ext>
            </a:extLst>
          </p:cNvPr>
          <p:cNvSpPr txBox="1"/>
          <p:nvPr/>
        </p:nvSpPr>
        <p:spPr>
          <a:xfrm>
            <a:off x="7747000" y="3479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2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pic>
        <p:nvPicPr>
          <p:cNvPr id="18" name="그림 17" descr="Current Haru listening screen with a visible waveform">
            <a:extLst>
              <a:ext uri="{FF2B5EF4-FFF2-40B4-BE49-F238E27FC236}">
                <a16:creationId xmlns:a16="http://schemas.microsoft.com/office/drawing/2014/main" id="{1EBD073B-445E-0D54-CF10-802CB6C20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300" y="2016477"/>
            <a:ext cx="2260600" cy="4018845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4E230CD-D86E-509A-E659-DEF2DCA8266A}"/>
              </a:ext>
            </a:extLst>
          </p:cNvPr>
          <p:cNvSpPr txBox="1"/>
          <p:nvPr/>
        </p:nvSpPr>
        <p:spPr>
          <a:xfrm>
            <a:off x="8356600" y="6096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화면 반영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66AF3-5EB6-922A-4E79-98488F17FEE1}"/>
              </a:ext>
            </a:extLst>
          </p:cNvPr>
          <p:cNvSpPr txBox="1"/>
          <p:nvPr/>
        </p:nvSpPr>
        <p:spPr>
          <a:xfrm>
            <a:off x="10668000" y="21082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지인 </a:t>
            </a:r>
            <a:r>
              <a:rPr lang="en-US" altLang="ko-KR" sz="17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20</a:t>
            </a:r>
            <a:r>
              <a:rPr lang="ko-KR" altLang="en-US" sz="17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C2C8D-3182-3895-8236-DAC1458177F4}"/>
              </a:ext>
            </a:extLst>
          </p:cNvPr>
          <p:cNvSpPr txBox="1"/>
          <p:nvPr/>
        </p:nvSpPr>
        <p:spPr>
          <a:xfrm>
            <a:off x="10693400" y="26797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URL 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접속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4AD02-1A4D-6C5C-A3D5-F0648A2DC08E}"/>
              </a:ext>
            </a:extLst>
          </p:cNvPr>
          <p:cNvSpPr txBox="1"/>
          <p:nvPr/>
        </p:nvSpPr>
        <p:spPr>
          <a:xfrm>
            <a:off x="10693400" y="3175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 수행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8DA13-A94F-3E28-5B06-A07C4D54B094}"/>
              </a:ext>
            </a:extLst>
          </p:cNvPr>
          <p:cNvSpPr txBox="1"/>
          <p:nvPr/>
        </p:nvSpPr>
        <p:spPr>
          <a:xfrm>
            <a:off x="10693400" y="36703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막힘 기록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831AA3D-7F71-329E-B2D1-9650C9B2891B}"/>
              </a:ext>
            </a:extLst>
          </p:cNvPr>
          <p:cNvCxnSpPr/>
          <p:nvPr/>
        </p:nvCxnSpPr>
        <p:spPr>
          <a:xfrm>
            <a:off x="10795000" y="4216400"/>
            <a:ext cx="8382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B1E1C1-370B-937E-51A2-8535875B9C75}"/>
              </a:ext>
            </a:extLst>
          </p:cNvPr>
          <p:cNvSpPr txBox="1"/>
          <p:nvPr/>
        </p:nvSpPr>
        <p:spPr>
          <a:xfrm>
            <a:off x="10693400" y="4445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큰 화면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63CA22-416B-C4E0-4996-3957528A79C5}"/>
              </a:ext>
            </a:extLst>
          </p:cNvPr>
          <p:cNvSpPr txBox="1"/>
          <p:nvPr/>
        </p:nvSpPr>
        <p:spPr>
          <a:xfrm>
            <a:off x="10693400" y="48514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버튼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A874D3-C20E-D1D0-7FB3-8D8C37E421F8}"/>
              </a:ext>
            </a:extLst>
          </p:cNvPr>
          <p:cNvSpPr txBox="1"/>
          <p:nvPr/>
        </p:nvSpPr>
        <p:spPr>
          <a:xfrm>
            <a:off x="10693400" y="5257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반응 파형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A7F3AB-0385-8459-CDB2-32515A63B721}"/>
              </a:ext>
            </a:extLst>
          </p:cNvPr>
          <p:cNvSpPr txBox="1"/>
          <p:nvPr/>
        </p:nvSpPr>
        <p:spPr>
          <a:xfrm>
            <a:off x="9982200" y="5867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대상자 효과 검증 아님</a:t>
            </a:r>
          </a:p>
        </p:txBody>
      </p:sp>
    </p:spTree>
    <p:extLst>
      <p:ext uri="{BB962C8B-B14F-4D97-AF65-F5344CB8AC3E}">
        <p14:creationId xmlns:p14="http://schemas.microsoft.com/office/powerpoint/2010/main" val="107505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83AAB-66A1-C657-C091-7DE0E954C822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SOLUTION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67CF-AF3C-9B50-6F23-8B72F853FABC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4-title">
            <a:extLst>
              <a:ext uri="{FF2B5EF4-FFF2-40B4-BE49-F238E27FC236}">
                <a16:creationId xmlns:a16="http://schemas.microsoft.com/office/drawing/2014/main" id="{69B274A5-E1DF-8087-0508-1BA35191529E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화면과 버튼의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위치 일치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1C60B-C763-60FC-848B-F004C94129DE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번 선택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같은 버튼 확정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즉시 피드백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8DEC91-5572-B24A-91F1-46EEAF8885A0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2714CF-264D-B8A5-CE90-AB38BA3E0E52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8B16ACA-43D5-74B8-8237-9DCB26B5B2E7}"/>
              </a:ext>
            </a:extLst>
          </p:cNvPr>
          <p:cNvCxnSpPr/>
          <p:nvPr/>
        </p:nvCxnSpPr>
        <p:spPr>
          <a:xfrm>
            <a:off x="4114800" y="2743200"/>
            <a:ext cx="3860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72ED8A-9C22-605F-0152-E20EEDE9245E}"/>
              </a:ext>
            </a:extLst>
          </p:cNvPr>
          <p:cNvCxnSpPr/>
          <p:nvPr/>
        </p:nvCxnSpPr>
        <p:spPr>
          <a:xfrm>
            <a:off x="4114800" y="3530600"/>
            <a:ext cx="3860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CD318B7-7C70-7434-ED23-900CC8282FC7}"/>
              </a:ext>
            </a:extLst>
          </p:cNvPr>
          <p:cNvCxnSpPr/>
          <p:nvPr/>
        </p:nvCxnSpPr>
        <p:spPr>
          <a:xfrm>
            <a:off x="4114800" y="4470400"/>
            <a:ext cx="3860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352183F-2CB5-EBA4-3808-F33932584A29}"/>
              </a:ext>
            </a:extLst>
          </p:cNvPr>
          <p:cNvCxnSpPr/>
          <p:nvPr/>
        </p:nvCxnSpPr>
        <p:spPr>
          <a:xfrm>
            <a:off x="4114800" y="5257800"/>
            <a:ext cx="3860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Current Haru 2x2 choice screen with selected answer">
            <a:extLst>
              <a:ext uri="{FF2B5EF4-FFF2-40B4-BE49-F238E27FC236}">
                <a16:creationId xmlns:a16="http://schemas.microsoft.com/office/drawing/2014/main" id="{74AFAB0C-0E41-8A52-A550-A28F7363B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986844"/>
            <a:ext cx="2336800" cy="4154311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pic>
        <p:nvPicPr>
          <p:cNvPr id="15" name="그림 14" descr="Front view of Haru kiosk with four physical buttons">
            <a:extLst>
              <a:ext uri="{FF2B5EF4-FFF2-40B4-BE49-F238E27FC236}">
                <a16:creationId xmlns:a16="http://schemas.microsoft.com/office/drawing/2014/main" id="{E382C554-0132-E1B9-EBB9-73F98634F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600" y="1964267"/>
            <a:ext cx="3149600" cy="4199467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872EC7-71D2-DA59-7C61-2348DA8B8D81}"/>
              </a:ext>
            </a:extLst>
          </p:cNvPr>
          <p:cNvSpPr txBox="1"/>
          <p:nvPr/>
        </p:nvSpPr>
        <p:spPr>
          <a:xfrm>
            <a:off x="5334000" y="2895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3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</a:t>
            </a:r>
            <a:endParaRPr lang="ko-KR" altLang="en-US" sz="38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09C584-1579-2C1D-F625-ED5B105BD7C0}"/>
              </a:ext>
            </a:extLst>
          </p:cNvPr>
          <p:cNvSpPr/>
          <p:nvPr/>
        </p:nvSpPr>
        <p:spPr>
          <a:xfrm>
            <a:off x="5435600" y="3937000"/>
            <a:ext cx="533400" cy="533400"/>
          </a:xfrm>
          <a:prstGeom prst="ellipse">
            <a:avLst/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EC35913-85F8-7593-35D2-BCF738DD64BC}"/>
              </a:ext>
            </a:extLst>
          </p:cNvPr>
          <p:cNvSpPr/>
          <p:nvPr/>
        </p:nvSpPr>
        <p:spPr>
          <a:xfrm>
            <a:off x="6223000" y="3937000"/>
            <a:ext cx="533400" cy="533400"/>
          </a:xfrm>
          <a:prstGeom prst="ellipse">
            <a:avLst/>
          </a:prstGeom>
          <a:solidFill>
            <a:srgbClr val="FFF6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B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E7D5C6-1A04-C2BB-5DE1-E8661B346291}"/>
              </a:ext>
            </a:extLst>
          </p:cNvPr>
          <p:cNvSpPr/>
          <p:nvPr/>
        </p:nvSpPr>
        <p:spPr>
          <a:xfrm>
            <a:off x="5435600" y="4724400"/>
            <a:ext cx="533400" cy="533400"/>
          </a:xfrm>
          <a:prstGeom prst="ellipse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BBE5492-A2D5-D32E-C903-2675836C9837}"/>
              </a:ext>
            </a:extLst>
          </p:cNvPr>
          <p:cNvSpPr/>
          <p:nvPr/>
        </p:nvSpPr>
        <p:spPr>
          <a:xfrm>
            <a:off x="6223000" y="4724400"/>
            <a:ext cx="533400" cy="533400"/>
          </a:xfrm>
          <a:prstGeom prst="ellipse">
            <a:avLst/>
          </a:prstGeom>
          <a:solidFill>
            <a:srgbClr val="EAF3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D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4F3ADF-A2CF-C2DD-38C2-94D1AA46557B}"/>
              </a:ext>
            </a:extLst>
          </p:cNvPr>
          <p:cNvSpPr txBox="1"/>
          <p:nvPr/>
        </p:nvSpPr>
        <p:spPr>
          <a:xfrm>
            <a:off x="4445000" y="56769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화면 </a:t>
            </a:r>
            <a:r>
              <a:rPr lang="en-US" altLang="ko-KR" sz="17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7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문항 </a:t>
            </a:r>
            <a:r>
              <a:rPr lang="en-US" altLang="ko-KR" sz="17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7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같은 위치</a:t>
            </a:r>
          </a:p>
        </p:txBody>
      </p:sp>
    </p:spTree>
    <p:extLst>
      <p:ext uri="{BB962C8B-B14F-4D97-AF65-F5344CB8AC3E}">
        <p14:creationId xmlns:p14="http://schemas.microsoft.com/office/powerpoint/2010/main" val="30242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8B744-5BBA-1E9F-A1BE-0EBED1B67F32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PRODUCT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A49D-CF42-245C-7C59-C62ED41F7454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5-title">
            <a:extLst>
              <a:ext uri="{FF2B5EF4-FFF2-40B4-BE49-F238E27FC236}">
                <a16:creationId xmlns:a16="http://schemas.microsoft.com/office/drawing/2014/main" id="{4279B6FA-FB86-DC98-8355-2F777C986C6F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하루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6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·7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42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 기억 루틴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B80B2-5FB9-255E-2CEB-308334817159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계산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순서 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9C095A9-D01C-B4AB-9B7E-DD54AE750301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D35C9-F6B3-E1C8-88A4-9893B785096E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05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Haru mood activity screen">
            <a:extLst>
              <a:ext uri="{FF2B5EF4-FFF2-40B4-BE49-F238E27FC236}">
                <a16:creationId xmlns:a16="http://schemas.microsoft.com/office/drawing/2014/main" id="{24D6CE92-084B-9F99-5BD0-D33714B6A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1975556"/>
            <a:ext cx="2463800" cy="4380089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pic>
        <p:nvPicPr>
          <p:cNvPr id="11" name="그림 10" descr="Haru activity: 요일">
            <a:extLst>
              <a:ext uri="{FF2B5EF4-FFF2-40B4-BE49-F238E27FC236}">
                <a16:creationId xmlns:a16="http://schemas.microsoft.com/office/drawing/2014/main" id="{0B907DDF-9C9C-2FDE-8AA2-8B03E00BB6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00" y="2901950"/>
            <a:ext cx="1143000" cy="20320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DAD073-FA30-66CC-47F1-0ABD620F4602}"/>
              </a:ext>
            </a:extLst>
          </p:cNvPr>
          <p:cNvSpPr txBox="1"/>
          <p:nvPr/>
        </p:nvSpPr>
        <p:spPr>
          <a:xfrm>
            <a:off x="3810000" y="5118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pic>
        <p:nvPicPr>
          <p:cNvPr id="14" name="그림 13" descr="Haru activity: 기억">
            <a:extLst>
              <a:ext uri="{FF2B5EF4-FFF2-40B4-BE49-F238E27FC236}">
                <a16:creationId xmlns:a16="http://schemas.microsoft.com/office/drawing/2014/main" id="{A5B836F0-6E4D-DF13-8C4D-0D319A1CE2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2901950"/>
            <a:ext cx="1143000" cy="20320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6C53BD-3C27-9CBE-CC35-FC6F4E592763}"/>
              </a:ext>
            </a:extLst>
          </p:cNvPr>
          <p:cNvSpPr txBox="1"/>
          <p:nvPr/>
        </p:nvSpPr>
        <p:spPr>
          <a:xfrm>
            <a:off x="5257800" y="5118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pic>
        <p:nvPicPr>
          <p:cNvPr id="17" name="그림 16" descr="Haru activity: 계산">
            <a:extLst>
              <a:ext uri="{FF2B5EF4-FFF2-40B4-BE49-F238E27FC236}">
                <a16:creationId xmlns:a16="http://schemas.microsoft.com/office/drawing/2014/main" id="{3C8CC6BE-6617-CEDB-AD64-3026FB9747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2901950"/>
            <a:ext cx="1143000" cy="20320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1BCC33-A0C9-24B9-A9F9-613085C921AF}"/>
              </a:ext>
            </a:extLst>
          </p:cNvPr>
          <p:cNvSpPr txBox="1"/>
          <p:nvPr/>
        </p:nvSpPr>
        <p:spPr>
          <a:xfrm>
            <a:off x="6705600" y="5118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계산</a:t>
            </a:r>
          </a:p>
        </p:txBody>
      </p:sp>
      <p:pic>
        <p:nvPicPr>
          <p:cNvPr id="20" name="그림 19" descr="Haru activity: 말하기">
            <a:extLst>
              <a:ext uri="{FF2B5EF4-FFF2-40B4-BE49-F238E27FC236}">
                <a16:creationId xmlns:a16="http://schemas.microsoft.com/office/drawing/2014/main" id="{38739AF5-1C8C-29A8-E5D6-6BB58718B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800" y="2901950"/>
            <a:ext cx="1143000" cy="20320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64077A-F43A-83AB-A9E1-F6E2F2E38679}"/>
              </a:ext>
            </a:extLst>
          </p:cNvPr>
          <p:cNvSpPr txBox="1"/>
          <p:nvPr/>
        </p:nvSpPr>
        <p:spPr>
          <a:xfrm>
            <a:off x="8153400" y="5118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</a:p>
        </p:txBody>
      </p:sp>
      <p:pic>
        <p:nvPicPr>
          <p:cNvPr id="23" name="그림 22" descr="Haru activity: 순서">
            <a:extLst>
              <a:ext uri="{FF2B5EF4-FFF2-40B4-BE49-F238E27FC236}">
                <a16:creationId xmlns:a16="http://schemas.microsoft.com/office/drawing/2014/main" id="{A02BD7A3-F8CB-63C7-6E2C-757AF20832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0" y="2901950"/>
            <a:ext cx="1143000" cy="20320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32EA855-4A12-340D-6FCE-4CBBE3A0FD36}"/>
              </a:ext>
            </a:extLst>
          </p:cNvPr>
          <p:cNvSpPr txBox="1"/>
          <p:nvPr/>
        </p:nvSpPr>
        <p:spPr>
          <a:xfrm>
            <a:off x="9601200" y="5118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순서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1B58A3-283A-4326-04A4-F3C4B5E6BED5}"/>
              </a:ext>
            </a:extLst>
          </p:cNvPr>
          <p:cNvSpPr txBox="1"/>
          <p:nvPr/>
        </p:nvSpPr>
        <p:spPr>
          <a:xfrm>
            <a:off x="9588500" y="18034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50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42</a:t>
            </a:r>
            <a:endParaRPr lang="ko-KR" altLang="en-US" sz="50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341C6-981F-0833-A525-CD4E323841D8}"/>
              </a:ext>
            </a:extLst>
          </p:cNvPr>
          <p:cNvSpPr txBox="1"/>
          <p:nvPr/>
        </p:nvSpPr>
        <p:spPr>
          <a:xfrm>
            <a:off x="10795000" y="21082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 활동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9C9F71-FD01-9522-1A2D-71A987B621B1}"/>
              </a:ext>
            </a:extLst>
          </p:cNvPr>
          <p:cNvSpPr txBox="1"/>
          <p:nvPr/>
        </p:nvSpPr>
        <p:spPr>
          <a:xfrm>
            <a:off x="8636000" y="2413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 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× 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하루 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6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737433-A7EB-B0CD-55AD-6CF06ECEE9F3}"/>
              </a:ext>
            </a:extLst>
          </p:cNvPr>
          <p:cNvSpPr txBox="1"/>
          <p:nvPr/>
        </p:nvSpPr>
        <p:spPr>
          <a:xfrm>
            <a:off x="3619500" y="5765800"/>
            <a:ext cx="793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현장 확장 시 </a:t>
            </a:r>
            <a:r>
              <a:rPr lang="en-US" altLang="ko-KR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오늘의 선택</a:t>
            </a:r>
            <a:r>
              <a:rPr lang="en-US" altLang="ko-KR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 → </a:t>
            </a:r>
            <a:r>
              <a:rPr lang="en-US" altLang="ko-KR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 </a:t>
            </a:r>
            <a:r>
              <a:rPr lang="ko-KR" altLang="en-US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후보 → 다음 문항</a:t>
            </a:r>
            <a:r>
              <a:rPr lang="en-US" altLang="ko-KR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상담 준비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011CC4-6854-3D50-F832-4F364BA65EF7}"/>
              </a:ext>
            </a:extLst>
          </p:cNvPr>
          <p:cNvSpPr txBox="1"/>
          <p:nvPr/>
        </p:nvSpPr>
        <p:spPr>
          <a:xfrm>
            <a:off x="3987800" y="6121400"/>
            <a:ext cx="730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진단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공식 인지검사가 아닌 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 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일상 루틴</a:t>
            </a:r>
          </a:p>
        </p:txBody>
      </p:sp>
    </p:spTree>
    <p:extLst>
      <p:ext uri="{BB962C8B-B14F-4D97-AF65-F5344CB8AC3E}">
        <p14:creationId xmlns:p14="http://schemas.microsoft.com/office/powerpoint/2010/main" val="403427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BFBAAD-C9BC-4FEC-256D-728BAB6FD0C0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PROOF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4E086-C21A-0A7E-BDD3-17781A3DC012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6-title">
            <a:extLst>
              <a:ext uri="{FF2B5EF4-FFF2-40B4-BE49-F238E27FC236}">
                <a16:creationId xmlns:a16="http://schemas.microsoft.com/office/drawing/2014/main" id="{BAEB3683-CE09-7002-8F8F-4B353A859189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 키오스크의 실제 작동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618F5-9D96-3B62-50FE-C81EEB5B4380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물리 입력부터 다음 문항까지의 연결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0F3A131-0034-F35E-0969-93A473454EB9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AC9CAC-D493-FB40-F4DD-2E5861C5BEF3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06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8" name="embedded-haru-demo-video" descr="Embedded 9.5-second silent video of physical button selection and confirmation on the Haru kiosk">
            <a:hlinkClick r:id="" action="ppaction://media"/>
            <a:extLst>
              <a:ext uri="{FF2B5EF4-FFF2-40B4-BE49-F238E27FC236}">
                <a16:creationId xmlns:a16="http://schemas.microsoft.com/office/drawing/2014/main" id="{AFA926B9-BCB1-781B-5488-D68AD414ED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2500" y="1943100"/>
            <a:ext cx="2414587" cy="42926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DF6308F-A7DA-F5FB-1B71-AA8667156B2F}"/>
              </a:ext>
            </a:extLst>
          </p:cNvPr>
          <p:cNvSpPr/>
          <p:nvPr/>
        </p:nvSpPr>
        <p:spPr>
          <a:xfrm>
            <a:off x="1016000" y="5664200"/>
            <a:ext cx="2286000" cy="317500"/>
          </a:xfrm>
          <a:prstGeom prst="roundRect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6F76A-8A11-8066-89FF-C2F0955E228B}"/>
              </a:ext>
            </a:extLst>
          </p:cNvPr>
          <p:cNvSpPr txBox="1"/>
          <p:nvPr/>
        </p:nvSpPr>
        <p:spPr>
          <a:xfrm>
            <a:off x="1143000" y="57023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9.5</a:t>
            </a:r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 실제 작동 영상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488AD-BCF5-0867-C2ED-98B58043B069}"/>
              </a:ext>
            </a:extLst>
          </p:cNvPr>
          <p:cNvSpPr txBox="1"/>
          <p:nvPr/>
        </p:nvSpPr>
        <p:spPr>
          <a:xfrm>
            <a:off x="4889500" y="2133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5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48A75-FADB-BAC5-66B8-EC7065BD230C}"/>
              </a:ext>
            </a:extLst>
          </p:cNvPr>
          <p:cNvSpPr txBox="1"/>
          <p:nvPr/>
        </p:nvSpPr>
        <p:spPr>
          <a:xfrm>
            <a:off x="5613400" y="20574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버튼 누름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86D673-9FB9-6796-227A-C9AA51669A5F}"/>
              </a:ext>
            </a:extLst>
          </p:cNvPr>
          <p:cNvCxnSpPr/>
          <p:nvPr/>
        </p:nvCxnSpPr>
        <p:spPr>
          <a:xfrm>
            <a:off x="5080000" y="2616200"/>
            <a:ext cx="0" cy="355600"/>
          </a:xfrm>
          <a:prstGeom prst="line">
            <a:avLst/>
          </a:prstGeom>
          <a:ln w="254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6756BF9-E181-24C7-2CF0-301ABD9EC81E}"/>
              </a:ext>
            </a:extLst>
          </p:cNvPr>
          <p:cNvSpPr txBox="1"/>
          <p:nvPr/>
        </p:nvSpPr>
        <p:spPr>
          <a:xfrm>
            <a:off x="4889500" y="3086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5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4FABFD-30DE-CBF7-58DA-0F7170547F77}"/>
              </a:ext>
            </a:extLst>
          </p:cNvPr>
          <p:cNvSpPr txBox="1"/>
          <p:nvPr/>
        </p:nvSpPr>
        <p:spPr>
          <a:xfrm>
            <a:off x="5613400" y="30099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 선택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E67FBCF-9458-70DF-BF96-CCE67125ED1E}"/>
              </a:ext>
            </a:extLst>
          </p:cNvPr>
          <p:cNvCxnSpPr/>
          <p:nvPr/>
        </p:nvCxnSpPr>
        <p:spPr>
          <a:xfrm>
            <a:off x="5080000" y="3568700"/>
            <a:ext cx="0" cy="355600"/>
          </a:xfrm>
          <a:prstGeom prst="line">
            <a:avLst/>
          </a:prstGeom>
          <a:ln w="254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587212-420B-ACD7-BC03-EA09E8B8A533}"/>
              </a:ext>
            </a:extLst>
          </p:cNvPr>
          <p:cNvSpPr txBox="1"/>
          <p:nvPr/>
        </p:nvSpPr>
        <p:spPr>
          <a:xfrm>
            <a:off x="4889500" y="4038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5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B2B8E-316B-177C-FDB9-30BE2FBA6557}"/>
              </a:ext>
            </a:extLst>
          </p:cNvPr>
          <p:cNvSpPr txBox="1"/>
          <p:nvPr/>
        </p:nvSpPr>
        <p:spPr>
          <a:xfrm>
            <a:off x="5613400" y="39624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같은 버튼 확정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B9B08FA-C57B-6D6D-56AE-A7AB5BDE9718}"/>
              </a:ext>
            </a:extLst>
          </p:cNvPr>
          <p:cNvCxnSpPr/>
          <p:nvPr/>
        </p:nvCxnSpPr>
        <p:spPr>
          <a:xfrm>
            <a:off x="5080000" y="4521200"/>
            <a:ext cx="0" cy="355600"/>
          </a:xfrm>
          <a:prstGeom prst="line">
            <a:avLst/>
          </a:prstGeom>
          <a:ln w="254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B8D678E-4659-CF3B-8A08-7E6A08877A78}"/>
              </a:ext>
            </a:extLst>
          </p:cNvPr>
          <p:cNvSpPr txBox="1"/>
          <p:nvPr/>
        </p:nvSpPr>
        <p:spPr>
          <a:xfrm>
            <a:off x="4889500" y="4991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5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A8A8B-EAF2-EB41-E386-024008DB275D}"/>
              </a:ext>
            </a:extLst>
          </p:cNvPr>
          <p:cNvSpPr txBox="1"/>
          <p:nvPr/>
        </p:nvSpPr>
        <p:spPr>
          <a:xfrm>
            <a:off x="5613400" y="49149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다음 문항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35032E-D46D-C514-6AA7-7C7EF95DADD7}"/>
              </a:ext>
            </a:extLst>
          </p:cNvPr>
          <p:cNvSpPr txBox="1"/>
          <p:nvPr/>
        </p:nvSpPr>
        <p:spPr>
          <a:xfrm>
            <a:off x="4889500" y="5943600"/>
            <a:ext cx="622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라즈베리파이 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= 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앱을 오프라인으로 실행하는 소형 컴퓨터</a:t>
            </a:r>
          </a:p>
        </p:txBody>
      </p:sp>
    </p:spTree>
    <p:extLst>
      <p:ext uri="{BB962C8B-B14F-4D97-AF65-F5344CB8AC3E}">
        <p14:creationId xmlns:p14="http://schemas.microsoft.com/office/powerpoint/2010/main" val="14673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06C20-7D41-E477-BB7D-F4757709013A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VOICE AI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1120B-31DA-F3C9-05DE-DCE6E622E674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7-title">
            <a:extLst>
              <a:ext uri="{FF2B5EF4-FFF2-40B4-BE49-F238E27FC236}">
                <a16:creationId xmlns:a16="http://schemas.microsoft.com/office/drawing/2014/main" id="{EC8D062F-2361-5C8A-BEFD-B29C0F072AA5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 발화를 고려한 한국어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</a:t>
            </a:r>
            <a:endParaRPr lang="ko-KR" altLang="en-US" sz="3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5CF28-A6A6-351B-9BBB-205E66107AC6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Qwen3-ASR·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느린 발화 보존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입력 안정화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시간축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644AE1-D86E-85F3-A95F-327BF85F8604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B62B37-92C8-E88B-73FB-6E36714873CC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07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Original STT deck illustration of real-world Korean older-adult speech conditions">
            <a:extLst>
              <a:ext uri="{FF2B5EF4-FFF2-40B4-BE49-F238E27FC236}">
                <a16:creationId xmlns:a16="http://schemas.microsoft.com/office/drawing/2014/main" id="{7A475194-0AB0-D95D-0471-597314658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046288"/>
            <a:ext cx="4635500" cy="3476625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300231-20BB-D573-48F2-8DABC4CB46A3}"/>
              </a:ext>
            </a:extLst>
          </p:cNvPr>
          <p:cNvSpPr txBox="1"/>
          <p:nvPr/>
        </p:nvSpPr>
        <p:spPr>
          <a:xfrm>
            <a:off x="736600" y="5676900"/>
            <a:ext cx="463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 발화 설계 조건 </a:t>
            </a:r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구현 성능 증거 아님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FD1010D-2382-D18F-7EEF-9F5E15FB2798}"/>
              </a:ext>
            </a:extLst>
          </p:cNvPr>
          <p:cNvCxnSpPr/>
          <p:nvPr/>
        </p:nvCxnSpPr>
        <p:spPr>
          <a:xfrm>
            <a:off x="5969000" y="3009900"/>
            <a:ext cx="4927600" cy="0"/>
          </a:xfrm>
          <a:prstGeom prst="line">
            <a:avLst/>
          </a:prstGeom>
          <a:ln w="254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AB3A49A7-AD79-3DAC-6A87-F96404353846}"/>
              </a:ext>
            </a:extLst>
          </p:cNvPr>
          <p:cNvSpPr/>
          <p:nvPr/>
        </p:nvSpPr>
        <p:spPr>
          <a:xfrm>
            <a:off x="6248400" y="2832100"/>
            <a:ext cx="355600" cy="355600"/>
          </a:xfrm>
          <a:prstGeom prst="ellipse">
            <a:avLst/>
          </a:prstGeom>
          <a:solidFill>
            <a:srgbClr val="F572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15E4A-4502-4D0E-9CBC-B2D4C032389F}"/>
              </a:ext>
            </a:extLst>
          </p:cNvPr>
          <p:cNvSpPr txBox="1"/>
          <p:nvPr/>
        </p:nvSpPr>
        <p:spPr>
          <a:xfrm>
            <a:off x="5613400" y="34163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입력 안정화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9F032-2952-EEB1-DFF2-A3176C995F4C}"/>
              </a:ext>
            </a:extLst>
          </p:cNvPr>
          <p:cNvSpPr txBox="1"/>
          <p:nvPr/>
        </p:nvSpPr>
        <p:spPr>
          <a:xfrm>
            <a:off x="5575300" y="38608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작은 목소리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긴 쉼 보존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730B48D-7C32-9BDA-ED22-18E602DD9EB9}"/>
              </a:ext>
            </a:extLst>
          </p:cNvPr>
          <p:cNvSpPr/>
          <p:nvPr/>
        </p:nvSpPr>
        <p:spPr>
          <a:xfrm>
            <a:off x="8191500" y="2832100"/>
            <a:ext cx="355600" cy="3556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25464-659B-2062-9FCD-33223FB334F2}"/>
              </a:ext>
            </a:extLst>
          </p:cNvPr>
          <p:cNvSpPr txBox="1"/>
          <p:nvPr/>
        </p:nvSpPr>
        <p:spPr>
          <a:xfrm>
            <a:off x="7556500" y="34163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Qwen3-ASR</a:t>
            </a:r>
            <a:endParaRPr lang="ko-KR" altLang="en-US" sz="17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3BA44B-0CA4-6160-28E3-7616DCA3657C}"/>
              </a:ext>
            </a:extLst>
          </p:cNvPr>
          <p:cNvSpPr txBox="1"/>
          <p:nvPr/>
        </p:nvSpPr>
        <p:spPr>
          <a:xfrm>
            <a:off x="7518400" y="38608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시설 내부 로컬 전사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0DAE844-5FB2-1B1B-91ED-E30B271DA72D}"/>
              </a:ext>
            </a:extLst>
          </p:cNvPr>
          <p:cNvSpPr/>
          <p:nvPr/>
        </p:nvSpPr>
        <p:spPr>
          <a:xfrm>
            <a:off x="10134600" y="2832100"/>
            <a:ext cx="355600" cy="355600"/>
          </a:xfrm>
          <a:prstGeom prst="ellipse">
            <a:avLst/>
          </a:prstGeom>
          <a:solidFill>
            <a:srgbClr val="77A9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782E92-FC3C-2727-A932-6CC990FB69EA}"/>
              </a:ext>
            </a:extLst>
          </p:cNvPr>
          <p:cNvSpPr txBox="1"/>
          <p:nvPr/>
        </p:nvSpPr>
        <p:spPr>
          <a:xfrm>
            <a:off x="9499600" y="34163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시간축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B89EDE-C664-703F-6B5E-03E4832D7A86}"/>
              </a:ext>
            </a:extLst>
          </p:cNvPr>
          <p:cNvSpPr txBox="1"/>
          <p:nvPr/>
        </p:nvSpPr>
        <p:spPr>
          <a:xfrm>
            <a:off x="9461500" y="38608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ForcedAligner 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정렬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DA78353-89C0-57E8-1068-0F82D5A7D098}"/>
              </a:ext>
            </a:extLst>
          </p:cNvPr>
          <p:cNvCxnSpPr/>
          <p:nvPr/>
        </p:nvCxnSpPr>
        <p:spPr>
          <a:xfrm>
            <a:off x="5613400" y="4673600"/>
            <a:ext cx="5765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932FA7-25F3-218D-04CC-C57FC1E17E1C}"/>
              </a:ext>
            </a:extLst>
          </p:cNvPr>
          <p:cNvSpPr txBox="1"/>
          <p:nvPr/>
        </p:nvSpPr>
        <p:spPr>
          <a:xfrm>
            <a:off x="5613400" y="49276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구현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A3A24-FF78-6D08-7939-EE5022A327CB}"/>
              </a:ext>
            </a:extLst>
          </p:cNvPr>
          <p:cNvSpPr txBox="1"/>
          <p:nvPr/>
        </p:nvSpPr>
        <p:spPr>
          <a:xfrm>
            <a:off x="6756400" y="49149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16 kHz mono·DC/80 Hz/RMS·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무음 게이트</a:t>
            </a:r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실패 비차단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BA11B-210A-BEE7-1597-DDA5B029FFDA}"/>
              </a:ext>
            </a:extLst>
          </p:cNvPr>
          <p:cNvSpPr txBox="1"/>
          <p:nvPr/>
        </p:nvSpPr>
        <p:spPr>
          <a:xfrm>
            <a:off x="5613400" y="5397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검증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9BA4FE-DA8C-156A-A163-AD8E2C8FC6D6}"/>
              </a:ext>
            </a:extLst>
          </p:cNvPr>
          <p:cNvSpPr txBox="1"/>
          <p:nvPr/>
        </p:nvSpPr>
        <p:spPr>
          <a:xfrm>
            <a:off x="6756400" y="53848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자동화 </a:t>
            </a:r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54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 통과</a:t>
            </a:r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·GPU 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실모델 </a:t>
            </a:r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smoke 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미실행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72CE40-DE7E-8909-732D-27A84A91BD3C}"/>
              </a:ext>
            </a:extLst>
          </p:cNvPr>
          <p:cNvSpPr txBox="1"/>
          <p:nvPr/>
        </p:nvSpPr>
        <p:spPr>
          <a:xfrm>
            <a:off x="5613400" y="58674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다음 실증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7D5D60-F880-C5B4-88A7-1F9F4D5D4530}"/>
              </a:ext>
            </a:extLst>
          </p:cNvPr>
          <p:cNvSpPr txBox="1"/>
          <p:nvPr/>
        </p:nvSpPr>
        <p:spPr>
          <a:xfrm>
            <a:off x="6756400" y="58547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목표 연령대 동일 음원 </a:t>
            </a:r>
            <a:r>
              <a:rPr lang="en-US" altLang="ko-KR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A/B·</a:t>
            </a:r>
            <a:r>
              <a:rPr lang="ko-KR" altLang="en-US" sz="1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블라인드 검토</a:t>
            </a:r>
          </a:p>
        </p:txBody>
      </p:sp>
    </p:spTree>
    <p:extLst>
      <p:ext uri="{BB962C8B-B14F-4D97-AF65-F5344CB8AC3E}">
        <p14:creationId xmlns:p14="http://schemas.microsoft.com/office/powerpoint/2010/main" val="340046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534AF-D921-46B5-5465-457CB7452369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MEMORY AI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1CE88-1178-9A57-E35F-FDA8F0A128E3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8-title">
            <a:extLst>
              <a:ext uri="{FF2B5EF4-FFF2-40B4-BE49-F238E27FC236}">
                <a16:creationId xmlns:a16="http://schemas.microsoft.com/office/drawing/2014/main" id="{71D8B549-1303-A5C0-3609-79807DCA251F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말한 이야기를 되살리는 개인 기억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endParaRPr lang="ko-KR" altLang="en-US" sz="3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3E999-BAB4-0C34-BB39-9BD9AC277470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의미 검색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개인화 문항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상담 준비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48B17F7-C0F7-3F6E-29EB-2B8955128A01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198420-E6E5-16CC-1008-DE6A8F912DA5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08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Temporal memory graph concept image from the original RAG deck">
            <a:extLst>
              <a:ext uri="{FF2B5EF4-FFF2-40B4-BE49-F238E27FC236}">
                <a16:creationId xmlns:a16="http://schemas.microsoft.com/office/drawing/2014/main" id="{EBD6E83F-A120-DF31-C00A-426D8A8E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2209800"/>
            <a:ext cx="5324553" cy="27305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AA9E38-09D6-CE28-3860-033E2372E2B9}"/>
              </a:ext>
            </a:extLst>
          </p:cNvPr>
          <p:cNvSpPr txBox="1"/>
          <p:nvPr/>
        </p:nvSpPr>
        <p:spPr>
          <a:xfrm>
            <a:off x="736600" y="5067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시간축</a:t>
            </a:r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관계 그래프 개념 참고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88E74-792F-4CB5-E578-9F168DD9B929}"/>
              </a:ext>
            </a:extLst>
          </p:cNvPr>
          <p:cNvSpPr txBox="1"/>
          <p:nvPr/>
        </p:nvSpPr>
        <p:spPr>
          <a:xfrm>
            <a:off x="6807200" y="2209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4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C3AD7-29AC-B285-8824-92CF2657BFF4}"/>
              </a:ext>
            </a:extLst>
          </p:cNvPr>
          <p:cNvSpPr txBox="1"/>
          <p:nvPr/>
        </p:nvSpPr>
        <p:spPr>
          <a:xfrm>
            <a:off x="7442200" y="21717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Episode·Evidence </a:t>
            </a:r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저장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3A1682-98DB-EBDA-09B4-8BBF22EF5B1C}"/>
              </a:ext>
            </a:extLst>
          </p:cNvPr>
          <p:cNvSpPr txBox="1"/>
          <p:nvPr/>
        </p:nvSpPr>
        <p:spPr>
          <a:xfrm>
            <a:off x="7442200" y="26416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원문</a:t>
            </a:r>
            <a:r>
              <a:rPr lang="en-US" altLang="ko-KR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시각</a:t>
            </a:r>
            <a:r>
              <a:rPr lang="en-US" altLang="ko-KR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출처를 </a:t>
            </a:r>
            <a:r>
              <a:rPr lang="en-US" altLang="ko-KR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SQLite </a:t>
            </a:r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기준 저장소에 보존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3C4421F-FB9F-F3E8-6CBE-FCE835C7D163}"/>
              </a:ext>
            </a:extLst>
          </p:cNvPr>
          <p:cNvCxnSpPr/>
          <p:nvPr/>
        </p:nvCxnSpPr>
        <p:spPr>
          <a:xfrm>
            <a:off x="6807200" y="3187700"/>
            <a:ext cx="4572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0F58040-21F5-543B-FFBF-EA21234AFA7E}"/>
              </a:ext>
            </a:extLst>
          </p:cNvPr>
          <p:cNvSpPr txBox="1"/>
          <p:nvPr/>
        </p:nvSpPr>
        <p:spPr>
          <a:xfrm>
            <a:off x="6807200" y="3378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4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5EE61-9488-8564-DFAD-5FE8337A1792}"/>
              </a:ext>
            </a:extLst>
          </p:cNvPr>
          <p:cNvSpPr txBox="1"/>
          <p:nvPr/>
        </p:nvSpPr>
        <p:spPr>
          <a:xfrm>
            <a:off x="7442200" y="33401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E5 </a:t>
            </a:r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의미</a:t>
            </a:r>
            <a:r>
              <a:rPr lang="en-US" altLang="ko-KR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 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BEC0D-F6A4-D45B-7D1F-0C4C6E3CB2A7}"/>
              </a:ext>
            </a:extLst>
          </p:cNvPr>
          <p:cNvSpPr txBox="1"/>
          <p:nvPr/>
        </p:nvSpPr>
        <p:spPr>
          <a:xfrm>
            <a:off x="7442200" y="38100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개인 기억을 의미와 시간축으로 다시 찾기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CC42701-EC34-B0E0-6848-5989A485ACC8}"/>
              </a:ext>
            </a:extLst>
          </p:cNvPr>
          <p:cNvCxnSpPr/>
          <p:nvPr/>
        </p:nvCxnSpPr>
        <p:spPr>
          <a:xfrm>
            <a:off x="6807200" y="4356100"/>
            <a:ext cx="4572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D1224E-77DD-637C-6B0C-92B218AA07B7}"/>
              </a:ext>
            </a:extLst>
          </p:cNvPr>
          <p:cNvSpPr txBox="1"/>
          <p:nvPr/>
        </p:nvSpPr>
        <p:spPr>
          <a:xfrm>
            <a:off x="6807200" y="4546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4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46CBC-6FC8-DF9D-22E4-A0DAA843F519}"/>
              </a:ext>
            </a:extLst>
          </p:cNvPr>
          <p:cNvSpPr txBox="1"/>
          <p:nvPr/>
        </p:nvSpPr>
        <p:spPr>
          <a:xfrm>
            <a:off x="7442200" y="45085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</a:t>
            </a:r>
            <a:r>
              <a:rPr lang="en-US" altLang="ko-KR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상담 근거 활용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EBA66-62E8-F1D5-32BC-CE117DF23AED}"/>
              </a:ext>
            </a:extLst>
          </p:cNvPr>
          <p:cNvSpPr txBox="1"/>
          <p:nvPr/>
        </p:nvSpPr>
        <p:spPr>
          <a:xfrm>
            <a:off x="7442200" y="49784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검토형 </a:t>
            </a:r>
            <a:r>
              <a:rPr lang="en-US" altLang="ko-KR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문항과 출처가 보이는 </a:t>
            </a:r>
            <a:r>
              <a:rPr lang="en-US" altLang="ko-KR" sz="1300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QA</a:t>
            </a:r>
            <a:endParaRPr lang="ko-KR" altLang="en-US" sz="1300">
              <a:solidFill>
                <a:srgbClr val="4B474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9D5BC51-D4E3-65CE-CCB7-A9100DBED46C}"/>
              </a:ext>
            </a:extLst>
          </p:cNvPr>
          <p:cNvCxnSpPr/>
          <p:nvPr/>
        </p:nvCxnSpPr>
        <p:spPr>
          <a:xfrm>
            <a:off x="736600" y="5689600"/>
            <a:ext cx="10642600" cy="0"/>
          </a:xfrm>
          <a:prstGeom prst="line">
            <a:avLst/>
          </a:prstGeom>
          <a:ln w="25400">
            <a:solidFill>
              <a:srgbClr val="2A20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DB7088-3BEA-DAED-8B65-771DFA114E02}"/>
              </a:ext>
            </a:extLst>
          </p:cNvPr>
          <p:cNvSpPr txBox="1"/>
          <p:nvPr/>
        </p:nvSpPr>
        <p:spPr>
          <a:xfrm>
            <a:off x="736600" y="58420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없음 → 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no_answer</a:t>
            </a:r>
            <a:endParaRPr lang="ko-KR" altLang="en-US" sz="17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4AB2FD-6CAE-E5D4-FE86-B5D2106A90FB}"/>
              </a:ext>
            </a:extLst>
          </p:cNvPr>
          <p:cNvSpPr txBox="1"/>
          <p:nvPr/>
        </p:nvSpPr>
        <p:spPr>
          <a:xfrm>
            <a:off x="4241800" y="5867400"/>
            <a:ext cx="713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51 tests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통과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Galaxy API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구현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사용자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3D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화면은 다음 단계</a:t>
            </a:r>
          </a:p>
        </p:txBody>
      </p:sp>
    </p:spTree>
    <p:extLst>
      <p:ext uri="{BB962C8B-B14F-4D97-AF65-F5344CB8AC3E}">
        <p14:creationId xmlns:p14="http://schemas.microsoft.com/office/powerpoint/2010/main" val="69148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23F1F-05F1-2C51-6995-B7207171A355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EXECUTION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77A00-08CF-3AE0-8FE2-601D917DF445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9-title">
            <a:extLst>
              <a:ext uri="{FF2B5EF4-FFF2-40B4-BE49-F238E27FC236}">
                <a16:creationId xmlns:a16="http://schemas.microsoft.com/office/drawing/2014/main" id="{18AE0FF6-5901-B96D-FC44-C454695E0AAC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웹에서 로컬 </a:t>
            </a:r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AI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까지의 개발 진척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28541-9A82-EFA3-CB35-5251D72A629E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초기 웹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·2×2 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기억 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endParaRPr lang="ko-KR" altLang="en-US" sz="19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D1607A1-7D98-F85F-772E-714666F9B41E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ADEEE4-AEB0-6074-5C72-83B067A17833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09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7E24EC-78B0-4155-E666-E89C6D3B5D6B}"/>
              </a:ext>
            </a:extLst>
          </p:cNvPr>
          <p:cNvCxnSpPr/>
          <p:nvPr/>
        </p:nvCxnSpPr>
        <p:spPr>
          <a:xfrm>
            <a:off x="1651000" y="4559300"/>
            <a:ext cx="8890000" cy="0"/>
          </a:xfrm>
          <a:prstGeom prst="line">
            <a:avLst/>
          </a:prstGeom>
          <a:ln w="381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초기 웹">
            <a:extLst>
              <a:ext uri="{FF2B5EF4-FFF2-40B4-BE49-F238E27FC236}">
                <a16:creationId xmlns:a16="http://schemas.microsoft.com/office/drawing/2014/main" id="{8F73D390-10CC-E035-645A-E1495E8C4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032000"/>
            <a:ext cx="990600" cy="23114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A414373B-44DC-F346-C9FF-54A0DA9022E0}"/>
              </a:ext>
            </a:extLst>
          </p:cNvPr>
          <p:cNvSpPr/>
          <p:nvPr/>
        </p:nvSpPr>
        <p:spPr>
          <a:xfrm>
            <a:off x="1727200" y="4381500"/>
            <a:ext cx="355600" cy="355600"/>
          </a:xfrm>
          <a:prstGeom prst="ellipse">
            <a:avLst/>
          </a:prstGeom>
          <a:solidFill>
            <a:srgbClr val="F572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0DB40B-E386-DBCE-8BEA-2C1B15345E85}"/>
              </a:ext>
            </a:extLst>
          </p:cNvPr>
          <p:cNvSpPr txBox="1"/>
          <p:nvPr/>
        </p:nvSpPr>
        <p:spPr>
          <a:xfrm>
            <a:off x="736600" y="4902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초기 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387EBC-16E8-3658-7FBA-4D9C862D04EA}"/>
              </a:ext>
            </a:extLst>
          </p:cNvPr>
          <p:cNvSpPr txBox="1"/>
          <p:nvPr/>
        </p:nvSpPr>
        <p:spPr>
          <a:xfrm>
            <a:off x="736600" y="5321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URL 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기반 작동</a:t>
            </a:r>
          </a:p>
        </p:txBody>
      </p:sp>
      <p:pic>
        <p:nvPicPr>
          <p:cNvPr id="15" name="그림 14" descr="2×2 실물">
            <a:extLst>
              <a:ext uri="{FF2B5EF4-FFF2-40B4-BE49-F238E27FC236}">
                <a16:creationId xmlns:a16="http://schemas.microsoft.com/office/drawing/2014/main" id="{899F3B7D-F744-C83D-47C5-60927D2D3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800" y="2095500"/>
            <a:ext cx="1638300" cy="21844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FF8A6D8B-0058-C883-65C2-C376399CB1AC}"/>
              </a:ext>
            </a:extLst>
          </p:cNvPr>
          <p:cNvSpPr/>
          <p:nvPr/>
        </p:nvSpPr>
        <p:spPr>
          <a:xfrm>
            <a:off x="4521200" y="4381500"/>
            <a:ext cx="355600" cy="355600"/>
          </a:xfrm>
          <a:prstGeom prst="ellipse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71A36D-DBFC-21DD-5D7C-8BCEA5B4A1C0}"/>
              </a:ext>
            </a:extLst>
          </p:cNvPr>
          <p:cNvSpPr txBox="1"/>
          <p:nvPr/>
        </p:nvSpPr>
        <p:spPr>
          <a:xfrm>
            <a:off x="3530600" y="4902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2B6723-439B-3CA8-06B1-AB79F6DE8E74}"/>
              </a:ext>
            </a:extLst>
          </p:cNvPr>
          <p:cNvSpPr txBox="1"/>
          <p:nvPr/>
        </p:nvSpPr>
        <p:spPr>
          <a:xfrm>
            <a:off x="3530600" y="5321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라즈베리파이 오프라인</a:t>
            </a:r>
          </a:p>
        </p:txBody>
      </p:sp>
      <p:pic>
        <p:nvPicPr>
          <p:cNvPr id="20" name="그림 19" descr="로컬 STT">
            <a:extLst>
              <a:ext uri="{FF2B5EF4-FFF2-40B4-BE49-F238E27FC236}">
                <a16:creationId xmlns:a16="http://schemas.microsoft.com/office/drawing/2014/main" id="{60411F62-6732-1F19-6AA5-AC38A87A0E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2058811"/>
            <a:ext cx="1270000" cy="2257778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1C44CE48-1780-F97D-5129-4037DC3A87C1}"/>
              </a:ext>
            </a:extLst>
          </p:cNvPr>
          <p:cNvSpPr/>
          <p:nvPr/>
        </p:nvSpPr>
        <p:spPr>
          <a:xfrm>
            <a:off x="7315200" y="4381500"/>
            <a:ext cx="355600" cy="3556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A6A68F-81AF-A6C0-9640-F9B6DAC24E56}"/>
              </a:ext>
            </a:extLst>
          </p:cNvPr>
          <p:cNvSpPr txBox="1"/>
          <p:nvPr/>
        </p:nvSpPr>
        <p:spPr>
          <a:xfrm>
            <a:off x="6324600" y="4902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</a:t>
            </a:r>
            <a:endParaRPr lang="ko-KR" altLang="en-US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FD55B9-38A3-28A0-E460-89BAD5B7506A}"/>
              </a:ext>
            </a:extLst>
          </p:cNvPr>
          <p:cNvSpPr txBox="1"/>
          <p:nvPr/>
        </p:nvSpPr>
        <p:spPr>
          <a:xfrm>
            <a:off x="6324600" y="5321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Qwen3-ASR·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시간축</a:t>
            </a:r>
          </a:p>
        </p:txBody>
      </p:sp>
      <p:pic>
        <p:nvPicPr>
          <p:cNvPr id="25" name="그림 24" descr="로컬 기억 RAG">
            <a:extLst>
              <a:ext uri="{FF2B5EF4-FFF2-40B4-BE49-F238E27FC236}">
                <a16:creationId xmlns:a16="http://schemas.microsoft.com/office/drawing/2014/main" id="{684ADFD2-3DD2-5714-E2AF-ACE56E1A9F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933" y="2362200"/>
            <a:ext cx="2099734" cy="11811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FE312024-2416-42A3-2B6E-0687DD917492}"/>
              </a:ext>
            </a:extLst>
          </p:cNvPr>
          <p:cNvSpPr/>
          <p:nvPr/>
        </p:nvSpPr>
        <p:spPr>
          <a:xfrm>
            <a:off x="10109200" y="4381500"/>
            <a:ext cx="355600" cy="355600"/>
          </a:xfrm>
          <a:prstGeom prst="ellipse">
            <a:avLst/>
          </a:prstGeom>
          <a:solidFill>
            <a:srgbClr val="77A9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7A3ABA-5351-B90B-DE51-A090311D0A92}"/>
              </a:ext>
            </a:extLst>
          </p:cNvPr>
          <p:cNvSpPr txBox="1"/>
          <p:nvPr/>
        </p:nvSpPr>
        <p:spPr>
          <a:xfrm>
            <a:off x="9118600" y="49022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기억 </a:t>
            </a:r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RAG</a:t>
            </a:r>
            <a:endParaRPr lang="ko-KR" altLang="en-US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281986-2EA3-45AF-1811-AF843E816587}"/>
              </a:ext>
            </a:extLst>
          </p:cNvPr>
          <p:cNvSpPr txBox="1"/>
          <p:nvPr/>
        </p:nvSpPr>
        <p:spPr>
          <a:xfrm>
            <a:off x="9118600" y="53213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검색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AC2B459-11E3-5EF6-C60F-991079A74F2D}"/>
              </a:ext>
            </a:extLst>
          </p:cNvPr>
          <p:cNvSpPr/>
          <p:nvPr/>
        </p:nvSpPr>
        <p:spPr>
          <a:xfrm>
            <a:off x="1333500" y="5918200"/>
            <a:ext cx="2984500" cy="317500"/>
          </a:xfrm>
          <a:prstGeom prst="roundRect">
            <a:avLst/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2530EB-F4EF-904F-8585-6FE91D7455FE}"/>
              </a:ext>
            </a:extLst>
          </p:cNvPr>
          <p:cNvSpPr txBox="1"/>
          <p:nvPr/>
        </p:nvSpPr>
        <p:spPr>
          <a:xfrm>
            <a:off x="1460500" y="59563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기기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: Raspberry Pi 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키오스크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3E1C540-1366-77A2-93B1-950068EFCAEA}"/>
              </a:ext>
            </a:extLst>
          </p:cNvPr>
          <p:cNvSpPr/>
          <p:nvPr/>
        </p:nvSpPr>
        <p:spPr>
          <a:xfrm>
            <a:off x="6997700" y="5918200"/>
            <a:ext cx="3860800" cy="317500"/>
          </a:xfrm>
          <a:prstGeom prst="roundRect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9E79C6-3AF0-499D-D723-FAC7F98CE8AA}"/>
              </a:ext>
            </a:extLst>
          </p:cNvPr>
          <p:cNvSpPr txBox="1"/>
          <p:nvPr/>
        </p:nvSpPr>
        <p:spPr>
          <a:xfrm>
            <a:off x="7124700" y="5956300"/>
            <a:ext cx="360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시설 서버</a:t>
            </a:r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별도 로컬 </a:t>
            </a:r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GPU STT·RAG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52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E9418D-5265-92F9-AA31-DF5BA8255121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FIELD PATH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109EA-98E6-9860-E8E6-3AD6374BD07F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10-title">
            <a:extLst>
              <a:ext uri="{FF2B5EF4-FFF2-40B4-BE49-F238E27FC236}">
                <a16:creationId xmlns:a16="http://schemas.microsoft.com/office/drawing/2014/main" id="{569728A3-0A06-461B-7BDC-1E0C249CA9BB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복지관 현장 적용 경로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FF731-5703-E4B7-6D59-1CEED314D283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등록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가명 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ID·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처리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역할별 최소 요약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643598D-5756-F0D2-151D-262E10DA0485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F6D3064-2C2A-2856-C707-64CE65A0399D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10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C6E1811-C1CF-0BDF-8C9C-62A90175A5CB}"/>
              </a:ext>
            </a:extLst>
          </p:cNvPr>
          <p:cNvSpPr/>
          <p:nvPr/>
        </p:nvSpPr>
        <p:spPr>
          <a:xfrm>
            <a:off x="9652000" y="1320800"/>
            <a:ext cx="1676400" cy="317500"/>
          </a:xfrm>
          <a:prstGeom prst="roundRect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9FFEF-64A3-31B3-4711-AE9F66DF6768}"/>
              </a:ext>
            </a:extLst>
          </p:cNvPr>
          <p:cNvSpPr txBox="1"/>
          <p:nvPr/>
        </p:nvSpPr>
        <p:spPr>
          <a:xfrm>
            <a:off x="9779000" y="1358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현장 적용 계획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6C4546F-6FC2-1BDF-02E1-0F89666A55CE}"/>
              </a:ext>
            </a:extLst>
          </p:cNvPr>
          <p:cNvCxnSpPr/>
          <p:nvPr/>
        </p:nvCxnSpPr>
        <p:spPr>
          <a:xfrm>
            <a:off x="1473200" y="3708400"/>
            <a:ext cx="7899400" cy="0"/>
          </a:xfrm>
          <a:prstGeom prst="line">
            <a:avLst/>
          </a:prstGeom>
          <a:ln w="381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55BE6E63-A24E-3EE7-1244-081F67664F3B}"/>
              </a:ext>
            </a:extLst>
          </p:cNvPr>
          <p:cNvSpPr/>
          <p:nvPr/>
        </p:nvSpPr>
        <p:spPr>
          <a:xfrm>
            <a:off x="1308100" y="3530600"/>
            <a:ext cx="355600" cy="355600"/>
          </a:xfrm>
          <a:prstGeom prst="ellipse">
            <a:avLst/>
          </a:prstGeom>
          <a:solidFill>
            <a:srgbClr val="F572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82919-6CCE-910B-5BCC-889583E2176E}"/>
              </a:ext>
            </a:extLst>
          </p:cNvPr>
          <p:cNvSpPr txBox="1"/>
          <p:nvPr/>
        </p:nvSpPr>
        <p:spPr>
          <a:xfrm>
            <a:off x="736600" y="4114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기관 협의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C058E-49C5-064F-568C-D6199447BAF7}"/>
              </a:ext>
            </a:extLst>
          </p:cNvPr>
          <p:cNvSpPr txBox="1"/>
          <p:nvPr/>
        </p:nvSpPr>
        <p:spPr>
          <a:xfrm>
            <a:off x="736600" y="4533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설치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C772BAE-6576-F0EA-E508-8BD13B4F4CF6}"/>
              </a:ext>
            </a:extLst>
          </p:cNvPr>
          <p:cNvSpPr/>
          <p:nvPr/>
        </p:nvSpPr>
        <p:spPr>
          <a:xfrm>
            <a:off x="3009900" y="3530600"/>
            <a:ext cx="355600" cy="355600"/>
          </a:xfrm>
          <a:prstGeom prst="ellipse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E38FF-9389-9563-842F-1BD7CF8E5660}"/>
              </a:ext>
            </a:extLst>
          </p:cNvPr>
          <p:cNvSpPr txBox="1"/>
          <p:nvPr/>
        </p:nvSpPr>
        <p:spPr>
          <a:xfrm>
            <a:off x="2438400" y="4114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등록</a:t>
            </a:r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7F8C7-EE8F-A999-2322-2F365656DC6F}"/>
              </a:ext>
            </a:extLst>
          </p:cNvPr>
          <p:cNvSpPr txBox="1"/>
          <p:nvPr/>
        </p:nvSpPr>
        <p:spPr>
          <a:xfrm>
            <a:off x="2438400" y="4533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서비스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 분리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432ECD7-21A0-EA2A-4E48-B399A353D6F7}"/>
              </a:ext>
            </a:extLst>
          </p:cNvPr>
          <p:cNvSpPr/>
          <p:nvPr/>
        </p:nvSpPr>
        <p:spPr>
          <a:xfrm>
            <a:off x="4711700" y="3530600"/>
            <a:ext cx="355600" cy="3556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2A288-343C-899B-CE3A-DD314FA074D8}"/>
              </a:ext>
            </a:extLst>
          </p:cNvPr>
          <p:cNvSpPr txBox="1"/>
          <p:nvPr/>
        </p:nvSpPr>
        <p:spPr>
          <a:xfrm>
            <a:off x="4140200" y="4114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가명 </a:t>
            </a:r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ID</a:t>
            </a:r>
            <a:endParaRPr lang="ko-KR" altLang="en-US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AF22B-3EAB-A790-9373-06E2AB6229AD}"/>
              </a:ext>
            </a:extLst>
          </p:cNvPr>
          <p:cNvSpPr txBox="1"/>
          <p:nvPr/>
        </p:nvSpPr>
        <p:spPr>
          <a:xfrm>
            <a:off x="4140200" y="4533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NFC 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운영안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860C1BA-930D-0209-E04F-F6A24EC645EB}"/>
              </a:ext>
            </a:extLst>
          </p:cNvPr>
          <p:cNvSpPr/>
          <p:nvPr/>
        </p:nvSpPr>
        <p:spPr>
          <a:xfrm>
            <a:off x="6413500" y="3530600"/>
            <a:ext cx="355600" cy="355600"/>
          </a:xfrm>
          <a:prstGeom prst="ellipse">
            <a:avLst/>
          </a:prstGeom>
          <a:solidFill>
            <a:srgbClr val="77A9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9D3D85-AAAB-0997-A2FB-4E77A8BE2D4D}"/>
              </a:ext>
            </a:extLst>
          </p:cNvPr>
          <p:cNvSpPr txBox="1"/>
          <p:nvPr/>
        </p:nvSpPr>
        <p:spPr>
          <a:xfrm>
            <a:off x="5842000" y="4114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처리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3304E7-9CDB-5CDE-D9FB-AF155DAD7C15}"/>
              </a:ext>
            </a:extLst>
          </p:cNvPr>
          <p:cNvSpPr txBox="1"/>
          <p:nvPr/>
        </p:nvSpPr>
        <p:spPr>
          <a:xfrm>
            <a:off x="5842000" y="4533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STT·RAG</a:t>
            </a:r>
            <a:endParaRPr lang="ko-KR" altLang="en-US" sz="1300">
              <a:solidFill>
                <a:srgbClr val="A9A39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5A18B8D-F8AC-E925-B970-B0CBBF42C825}"/>
              </a:ext>
            </a:extLst>
          </p:cNvPr>
          <p:cNvSpPr/>
          <p:nvPr/>
        </p:nvSpPr>
        <p:spPr>
          <a:xfrm>
            <a:off x="8115300" y="3530600"/>
            <a:ext cx="355600" cy="355600"/>
          </a:xfrm>
          <a:prstGeom prst="ellipse">
            <a:avLst/>
          </a:prstGeom>
          <a:solidFill>
            <a:srgbClr val="4B47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</a:t>
            </a:r>
            <a:endParaRPr lang="ko-KR" altLang="en-US" sz="10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CC054C-29BF-D871-2544-115BC444B282}"/>
              </a:ext>
            </a:extLst>
          </p:cNvPr>
          <p:cNvSpPr txBox="1"/>
          <p:nvPr/>
        </p:nvSpPr>
        <p:spPr>
          <a:xfrm>
            <a:off x="7543800" y="4114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최소 요약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B241D-A96F-DB92-7AF8-FEC75B0DA625}"/>
              </a:ext>
            </a:extLst>
          </p:cNvPr>
          <p:cNvSpPr txBox="1"/>
          <p:nvPr/>
        </p:nvSpPr>
        <p:spPr>
          <a:xfrm>
            <a:off x="7543800" y="45339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보호자</a:t>
            </a:r>
            <a:r>
              <a:rPr lang="en-US" altLang="ko-KR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상담사</a:t>
            </a:r>
          </a:p>
        </p:txBody>
      </p:sp>
      <p:pic>
        <p:nvPicPr>
          <p:cNvPr id="27" name="그림 26" descr="Local caregiver and counselor connection preview">
            <a:extLst>
              <a:ext uri="{FF2B5EF4-FFF2-40B4-BE49-F238E27FC236}">
                <a16:creationId xmlns:a16="http://schemas.microsoft.com/office/drawing/2014/main" id="{0101A7A5-D063-3F3B-01A1-889B9EC85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300" y="2238022"/>
            <a:ext cx="1397000" cy="2483556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CF453EA-9149-C86D-4206-618965853EA7}"/>
              </a:ext>
            </a:extLst>
          </p:cNvPr>
          <p:cNvSpPr txBox="1"/>
          <p:nvPr/>
        </p:nvSpPr>
        <p:spPr>
          <a:xfrm>
            <a:off x="9779000" y="4953000"/>
            <a:ext cx="162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연결 화면 미리보기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CD96B40-3718-1DCA-61D0-C90D376A315D}"/>
              </a:ext>
            </a:extLst>
          </p:cNvPr>
          <p:cNvSpPr/>
          <p:nvPr/>
        </p:nvSpPr>
        <p:spPr>
          <a:xfrm>
            <a:off x="736600" y="5486400"/>
            <a:ext cx="10591800" cy="762000"/>
          </a:xfrm>
          <a:prstGeom prst="roundRect">
            <a:avLst/>
          </a:prstGeom>
          <a:solidFill>
            <a:srgbClr val="FBF5E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F12ED1-7674-B4BF-9F38-0D58CC31C987}"/>
              </a:ext>
            </a:extLst>
          </p:cNvPr>
          <p:cNvSpPr txBox="1"/>
          <p:nvPr/>
        </p:nvSpPr>
        <p:spPr>
          <a:xfrm>
            <a:off x="1016000" y="57150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기관 접촉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 논의 → 협력 기관 확정 → 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IRB 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독립 대상자 연구</a:t>
            </a:r>
          </a:p>
        </p:txBody>
      </p:sp>
    </p:spTree>
    <p:extLst>
      <p:ext uri="{BB962C8B-B14F-4D97-AF65-F5344CB8AC3E}">
        <p14:creationId xmlns:p14="http://schemas.microsoft.com/office/powerpoint/2010/main" val="2333501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AA736-1956-A524-C8DC-462AD25E22F0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DEFENSIBILITY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8D29C-8A22-34B5-EF07-E91C93AA90A6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11-title">
            <a:extLst>
              <a:ext uri="{FF2B5EF4-FFF2-40B4-BE49-F238E27FC236}">
                <a16:creationId xmlns:a16="http://schemas.microsoft.com/office/drawing/2014/main" id="{8F57BE39-C890-ACF7-9196-BA83C00B2786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인터페이스의 권리화와 독립 검증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7E8D7-19EC-5990-91A2-45678E846101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특허 출원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연구윤리심의 신청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대상자 연구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496C60B-BA9A-E2DA-1C31-76CB420091D1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3450D1-B48A-6E24-6554-FFD3CA987729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11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D8C0323-5EDF-955D-E7A6-296E0E70E46C}"/>
              </a:ext>
            </a:extLst>
          </p:cNvPr>
          <p:cNvSpPr/>
          <p:nvPr/>
        </p:nvSpPr>
        <p:spPr>
          <a:xfrm>
            <a:off x="736600" y="1993900"/>
            <a:ext cx="5003800" cy="31750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D2823-39F2-218C-CDE8-D9636AADFA2C}"/>
              </a:ext>
            </a:extLst>
          </p:cNvPr>
          <p:cNvSpPr txBox="1"/>
          <p:nvPr/>
        </p:nvSpPr>
        <p:spPr>
          <a:xfrm>
            <a:off x="1041400" y="22479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24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7EAC77F-A3C4-8416-1492-00A0D0CABBDD}"/>
              </a:ext>
            </a:extLst>
          </p:cNvPr>
          <p:cNvSpPr/>
          <p:nvPr/>
        </p:nvSpPr>
        <p:spPr>
          <a:xfrm>
            <a:off x="4140200" y="2209800"/>
            <a:ext cx="1244600" cy="31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C7C8E-5A3E-5843-1F35-E1E8D20D18E6}"/>
              </a:ext>
            </a:extLst>
          </p:cNvPr>
          <p:cNvSpPr txBox="1"/>
          <p:nvPr/>
        </p:nvSpPr>
        <p:spPr>
          <a:xfrm>
            <a:off x="4267200" y="22479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출원 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3CE5F-643A-ADF5-1D16-02699550F1CB}"/>
              </a:ext>
            </a:extLst>
          </p:cNvPr>
          <p:cNvSpPr txBox="1"/>
          <p:nvPr/>
        </p:nvSpPr>
        <p:spPr>
          <a:xfrm>
            <a:off x="1041400" y="2870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물리 인터페이스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2BA094-C654-E5B0-5720-9E7F52389D89}"/>
              </a:ext>
            </a:extLst>
          </p:cNvPr>
          <p:cNvSpPr txBox="1"/>
          <p:nvPr/>
        </p:nvSpPr>
        <p:spPr>
          <a:xfrm>
            <a:off x="1041400" y="3644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</a:t>
            </a:r>
            <a:r>
              <a:rPr lang="en-US" altLang="ko-KR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버튼의 고정 위치 일치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5D79D-33B1-6B16-4C2F-DE13713BA58C}"/>
              </a:ext>
            </a:extLst>
          </p:cNvPr>
          <p:cNvSpPr txBox="1"/>
          <p:nvPr/>
        </p:nvSpPr>
        <p:spPr>
          <a:xfrm>
            <a:off x="1041400" y="4140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선택 후 같은 버튼 재입력 확정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17140-3934-BDAD-62EE-BE2EC95C009D}"/>
              </a:ext>
            </a:extLst>
          </p:cNvPr>
          <p:cNvSpPr txBox="1"/>
          <p:nvPr/>
        </p:nvSpPr>
        <p:spPr>
          <a:xfrm>
            <a:off x="1041400" y="4686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변리사 상담</a:t>
            </a:r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출원서 제출 상태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3480C89-1F52-A8CB-5650-102567DDEFD0}"/>
              </a:ext>
            </a:extLst>
          </p:cNvPr>
          <p:cNvSpPr/>
          <p:nvPr/>
        </p:nvSpPr>
        <p:spPr>
          <a:xfrm>
            <a:off x="6451600" y="1993900"/>
            <a:ext cx="5003800" cy="31750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5E9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499CC3-FE9E-4336-8627-47A6E5636AD4}"/>
              </a:ext>
            </a:extLst>
          </p:cNvPr>
          <p:cNvSpPr txBox="1"/>
          <p:nvPr/>
        </p:nvSpPr>
        <p:spPr>
          <a:xfrm>
            <a:off x="6756400" y="22479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24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F9F57F3-5017-FCEB-E1C5-3A85EF93B0D0}"/>
              </a:ext>
            </a:extLst>
          </p:cNvPr>
          <p:cNvSpPr/>
          <p:nvPr/>
        </p:nvSpPr>
        <p:spPr>
          <a:xfrm>
            <a:off x="9702800" y="2209800"/>
            <a:ext cx="1397000" cy="31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3F220-2F74-F01D-EB53-0D878D0DD0C4}"/>
              </a:ext>
            </a:extLst>
          </p:cNvPr>
          <p:cNvSpPr txBox="1"/>
          <p:nvPr/>
        </p:nvSpPr>
        <p:spPr>
          <a:xfrm>
            <a:off x="9829800" y="2247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심의 신청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03BE53-DED1-AC0D-F496-6B46B1BD5074}"/>
              </a:ext>
            </a:extLst>
          </p:cNvPr>
          <p:cNvSpPr txBox="1"/>
          <p:nvPr/>
        </p:nvSpPr>
        <p:spPr>
          <a:xfrm>
            <a:off x="6756400" y="2870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대상자 현장 연구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4E3255-0281-D8DA-B5C5-32D0CB08F742}"/>
              </a:ext>
            </a:extLst>
          </p:cNvPr>
          <p:cNvSpPr txBox="1"/>
          <p:nvPr/>
        </p:nvSpPr>
        <p:spPr>
          <a:xfrm>
            <a:off x="6756400" y="3644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이해관계 없는 목표 연령대 모집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E1410-3624-7F33-3B9B-6012C396BBB8}"/>
              </a:ext>
            </a:extLst>
          </p:cNvPr>
          <p:cNvSpPr txBox="1"/>
          <p:nvPr/>
        </p:nvSpPr>
        <p:spPr>
          <a:xfrm>
            <a:off x="6756400" y="41402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사용성</a:t>
            </a:r>
            <a:r>
              <a:rPr lang="en-US" altLang="ko-KR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보조 필요도</a:t>
            </a:r>
            <a:r>
              <a:rPr lang="en-US" altLang="ko-KR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7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참여 경험 검증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62BAD-0669-CE29-BDB9-0B0F212D666D}"/>
              </a:ext>
            </a:extLst>
          </p:cNvPr>
          <p:cNvSpPr txBox="1"/>
          <p:nvPr/>
        </p:nvSpPr>
        <p:spPr>
          <a:xfrm>
            <a:off x="6756400" y="4686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KCI·SCI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논문화 추진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73086D-070C-277A-3DBA-586493897E3E}"/>
              </a:ext>
            </a:extLst>
          </p:cNvPr>
          <p:cNvSpPr txBox="1"/>
          <p:nvPr/>
        </p:nvSpPr>
        <p:spPr>
          <a:xfrm>
            <a:off x="2921000" y="53467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특허 등록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·IRB 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효과 입증 상태 아님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49563C7-88B9-3EB4-8038-D9FB985CF6D2}"/>
              </a:ext>
            </a:extLst>
          </p:cNvPr>
          <p:cNvCxnSpPr/>
          <p:nvPr/>
        </p:nvCxnSpPr>
        <p:spPr>
          <a:xfrm>
            <a:off x="1079500" y="5740400"/>
            <a:ext cx="10033000" cy="0"/>
          </a:xfrm>
          <a:prstGeom prst="line">
            <a:avLst/>
          </a:prstGeom>
          <a:ln w="254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662E012A-6B09-6540-5D2D-3A6FE2F49B1D}"/>
              </a:ext>
            </a:extLst>
          </p:cNvPr>
          <p:cNvSpPr/>
          <p:nvPr/>
        </p:nvSpPr>
        <p:spPr>
          <a:xfrm>
            <a:off x="1828800" y="5562600"/>
            <a:ext cx="355600" cy="355600"/>
          </a:xfrm>
          <a:prstGeom prst="ellipse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523B3C-D6F8-CB90-0485-6A3206400A60}"/>
              </a:ext>
            </a:extLst>
          </p:cNvPr>
          <p:cNvSpPr txBox="1"/>
          <p:nvPr/>
        </p:nvSpPr>
        <p:spPr>
          <a:xfrm>
            <a:off x="889000" y="6007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지인 사전 확인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00041737-B624-6741-6B1B-30F62B8B29D9}"/>
              </a:ext>
            </a:extLst>
          </p:cNvPr>
          <p:cNvSpPr/>
          <p:nvPr/>
        </p:nvSpPr>
        <p:spPr>
          <a:xfrm>
            <a:off x="4559300" y="5562600"/>
            <a:ext cx="355600" cy="355600"/>
          </a:xfrm>
          <a:prstGeom prst="ellipse">
            <a:avLst/>
          </a:prstGeom>
          <a:solidFill>
            <a:srgbClr val="EAF3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7AF6A6-5F41-03E3-6F68-E7DF5313EC91}"/>
              </a:ext>
            </a:extLst>
          </p:cNvPr>
          <p:cNvSpPr txBox="1"/>
          <p:nvPr/>
        </p:nvSpPr>
        <p:spPr>
          <a:xfrm>
            <a:off x="3619500" y="6007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 키오스크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25E32EB-6E95-CDAA-53B9-6D73A8438E47}"/>
              </a:ext>
            </a:extLst>
          </p:cNvPr>
          <p:cNvSpPr/>
          <p:nvPr/>
        </p:nvSpPr>
        <p:spPr>
          <a:xfrm>
            <a:off x="7289800" y="5562600"/>
            <a:ext cx="355600" cy="355600"/>
          </a:xfrm>
          <a:prstGeom prst="ellipse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DFE26-4369-80EF-B9D6-EE1D0BCFDE33}"/>
              </a:ext>
            </a:extLst>
          </p:cNvPr>
          <p:cNvSpPr txBox="1"/>
          <p:nvPr/>
        </p:nvSpPr>
        <p:spPr>
          <a:xfrm>
            <a:off x="6350000" y="6007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독립 연구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59F1486-99A0-A53D-8BDB-797710FE9BCE}"/>
              </a:ext>
            </a:extLst>
          </p:cNvPr>
          <p:cNvSpPr/>
          <p:nvPr/>
        </p:nvSpPr>
        <p:spPr>
          <a:xfrm>
            <a:off x="10020300" y="5562600"/>
            <a:ext cx="355600" cy="355600"/>
          </a:xfrm>
          <a:prstGeom prst="ellipse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</a:t>
            </a:r>
            <a:endParaRPr lang="ko-KR" altLang="en-US" sz="11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B0CAB8-3057-D5DB-B56D-F52D8BD7B9D0}"/>
              </a:ext>
            </a:extLst>
          </p:cNvPr>
          <p:cNvSpPr txBox="1"/>
          <p:nvPr/>
        </p:nvSpPr>
        <p:spPr>
          <a:xfrm>
            <a:off x="9080500" y="60071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결과 기반 논문화</a:t>
            </a:r>
          </a:p>
        </p:txBody>
      </p:sp>
    </p:spTree>
    <p:extLst>
      <p:ext uri="{BB962C8B-B14F-4D97-AF65-F5344CB8AC3E}">
        <p14:creationId xmlns:p14="http://schemas.microsoft.com/office/powerpoint/2010/main" val="201181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D5C89-7A5D-B5F3-49CE-6D3226B9726A}"/>
              </a:ext>
            </a:extLst>
          </p:cNvPr>
          <p:cNvSpPr txBox="1"/>
          <p:nvPr/>
        </p:nvSpPr>
        <p:spPr>
          <a:xfrm>
            <a:off x="736600" y="31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THE ASK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D0476-5604-7A63-A360-F9FC7F4AD380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slide-12-title">
            <a:extLst>
              <a:ext uri="{FF2B5EF4-FFF2-40B4-BE49-F238E27FC236}">
                <a16:creationId xmlns:a16="http://schemas.microsoft.com/office/drawing/2014/main" id="{929A6401-9C6F-01B2-7093-F9E3333C8AF4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충청권 현장 검증을 위한 다음 투자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583B1-A3B0-1E02-536D-D5350A4D44E6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완성 목업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·NFC 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복지관 적용</a:t>
            </a:r>
            <a:r>
              <a:rPr lang="en-US" altLang="ko-KR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9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연구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EB1751A-D4CB-CB00-840D-7257CE662961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743E4E-DD9D-EE4F-BAAB-60FEC226F4DE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12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911A7-F753-0A90-01B0-6B6A5A873391}"/>
              </a:ext>
            </a:extLst>
          </p:cNvPr>
          <p:cNvSpPr txBox="1"/>
          <p:nvPr/>
        </p:nvSpPr>
        <p:spPr>
          <a:xfrm>
            <a:off x="6172200" y="1955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네 개의 버튼으로</a:t>
            </a:r>
            <a:r>
              <a:rPr lang="en-US" altLang="ko-KR" sz="2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
</a:t>
            </a:r>
            <a:r>
              <a:rPr lang="ko-KR" altLang="en-US" sz="2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매일의 기억 단서를
남기겠습니다</a:t>
            </a:r>
            <a:r>
              <a:rPr lang="en-US" altLang="ko-KR" sz="2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28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D238F47-8482-4EA5-3463-F658F3416946}"/>
              </a:ext>
            </a:extLst>
          </p:cNvPr>
          <p:cNvCxnSpPr/>
          <p:nvPr/>
        </p:nvCxnSpPr>
        <p:spPr>
          <a:xfrm>
            <a:off x="6172200" y="3695700"/>
            <a:ext cx="5054600" cy="0"/>
          </a:xfrm>
          <a:prstGeom prst="line">
            <a:avLst/>
          </a:prstGeom>
          <a:ln w="38100">
            <a:solidFill>
              <a:srgbClr val="F57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7B0883-8C49-9A57-9406-6B0B7C2E3496}"/>
              </a:ext>
            </a:extLst>
          </p:cNvPr>
          <p:cNvSpPr txBox="1"/>
          <p:nvPr/>
        </p:nvSpPr>
        <p:spPr>
          <a:xfrm>
            <a:off x="6172200" y="4000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0D01B-C0F1-2FDD-9265-B24996A9FF9C}"/>
              </a:ext>
            </a:extLst>
          </p:cNvPr>
          <p:cNvSpPr txBox="1"/>
          <p:nvPr/>
        </p:nvSpPr>
        <p:spPr>
          <a:xfrm>
            <a:off x="6807200" y="39497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완성 목업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010736-18CC-0BD6-943C-5F73FA252DE5}"/>
              </a:ext>
            </a:extLst>
          </p:cNvPr>
          <p:cNvSpPr txBox="1"/>
          <p:nvPr/>
        </p:nvSpPr>
        <p:spPr>
          <a:xfrm>
            <a:off x="8788400" y="40005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아크릴</a:t>
            </a:r>
            <a:r>
              <a:rPr lang="en-US" altLang="ko-KR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우드락 맞춤 제작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229E15-3B6F-ACCF-8155-8B5D74B385E8}"/>
              </a:ext>
            </a:extLst>
          </p:cNvPr>
          <p:cNvSpPr txBox="1"/>
          <p:nvPr/>
        </p:nvSpPr>
        <p:spPr>
          <a:xfrm>
            <a:off x="6172200" y="47371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3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403D2-29E4-ECCB-C769-89C076A60E27}"/>
              </a:ext>
            </a:extLst>
          </p:cNvPr>
          <p:cNvSpPr txBox="1"/>
          <p:nvPr/>
        </p:nvSpPr>
        <p:spPr>
          <a:xfrm>
            <a:off x="6807200" y="46863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NFC </a:t>
            </a:r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92F5E-1982-9E48-DE59-665B89BA293B}"/>
              </a:ext>
            </a:extLst>
          </p:cNvPr>
          <p:cNvSpPr txBox="1"/>
          <p:nvPr/>
        </p:nvSpPr>
        <p:spPr>
          <a:xfrm>
            <a:off x="8788400" y="4737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시설 등록</a:t>
            </a:r>
            <a:r>
              <a:rPr lang="en-US" altLang="ko-KR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카드 시작 흐름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5C558-0C22-A4F2-F593-D2EFC06BF461}"/>
              </a:ext>
            </a:extLst>
          </p:cNvPr>
          <p:cNvSpPr txBox="1"/>
          <p:nvPr/>
        </p:nvSpPr>
        <p:spPr>
          <a:xfrm>
            <a:off x="6172200" y="54737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3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79320-1A05-9814-B686-72AEA9A55BEB}"/>
              </a:ext>
            </a:extLst>
          </p:cNvPr>
          <p:cNvSpPr txBox="1"/>
          <p:nvPr/>
        </p:nvSpPr>
        <p:spPr>
          <a:xfrm>
            <a:off x="6807200" y="54229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현장 검증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61D3C9-E74B-9C2F-4473-7ECD3831BC03}"/>
              </a:ext>
            </a:extLst>
          </p:cNvPr>
          <p:cNvSpPr txBox="1"/>
          <p:nvPr/>
        </p:nvSpPr>
        <p:spPr>
          <a:xfrm>
            <a:off x="8788400" y="54737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복지관 적용</a:t>
            </a:r>
            <a:r>
              <a:rPr lang="en-US" altLang="ko-KR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연구</a:t>
            </a:r>
          </a:p>
        </p:txBody>
      </p:sp>
      <p:pic>
        <p:nvPicPr>
          <p:cNvPr id="20" name="그림 19" descr="Team member 김현준">
            <a:extLst>
              <a:ext uri="{FF2B5EF4-FFF2-40B4-BE49-F238E27FC236}">
                <a16:creationId xmlns:a16="http://schemas.microsoft.com/office/drawing/2014/main" id="{0AAF0A0E-680C-A671-1FF4-E9B112ACE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565106"/>
            <a:ext cx="1143000" cy="13025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99BDA6F-7F98-3B6B-4AF3-5FC2AAD99790}"/>
              </a:ext>
            </a:extLst>
          </p:cNvPr>
          <p:cNvSpPr txBox="1"/>
          <p:nvPr/>
        </p:nvSpPr>
        <p:spPr>
          <a:xfrm>
            <a:off x="609600" y="4991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김현준</a:t>
            </a:r>
          </a:p>
        </p:txBody>
      </p:sp>
      <p:pic>
        <p:nvPicPr>
          <p:cNvPr id="23" name="그림 22" descr="Team member 이재우">
            <a:extLst>
              <a:ext uri="{FF2B5EF4-FFF2-40B4-BE49-F238E27FC236}">
                <a16:creationId xmlns:a16="http://schemas.microsoft.com/office/drawing/2014/main" id="{B34D9686-7669-DD14-930F-A9331B33B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21" y="3835400"/>
            <a:ext cx="1183957" cy="1016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35C55E-8F1E-BDC6-ABC3-91F2C3E501A6}"/>
              </a:ext>
            </a:extLst>
          </p:cNvPr>
          <p:cNvSpPr txBox="1"/>
          <p:nvPr/>
        </p:nvSpPr>
        <p:spPr>
          <a:xfrm>
            <a:off x="1968500" y="4991100"/>
            <a:ext cx="124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이재우</a:t>
            </a:r>
          </a:p>
        </p:txBody>
      </p:sp>
      <p:pic>
        <p:nvPicPr>
          <p:cNvPr id="26" name="그림 25" descr="Team member 류다훈">
            <a:extLst>
              <a:ext uri="{FF2B5EF4-FFF2-40B4-BE49-F238E27FC236}">
                <a16:creationId xmlns:a16="http://schemas.microsoft.com/office/drawing/2014/main" id="{BE5A4221-0EED-1168-6F6A-24B17F348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401" y="3759200"/>
            <a:ext cx="1190599" cy="11049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5F0CC25-946B-722B-E7AC-0A123BF3524A}"/>
              </a:ext>
            </a:extLst>
          </p:cNvPr>
          <p:cNvSpPr txBox="1"/>
          <p:nvPr/>
        </p:nvSpPr>
        <p:spPr>
          <a:xfrm>
            <a:off x="3327400" y="4991100"/>
            <a:ext cx="124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류다훈</a:t>
            </a:r>
          </a:p>
        </p:txBody>
      </p:sp>
      <p:pic>
        <p:nvPicPr>
          <p:cNvPr id="29" name="그림 28" descr="Team member 나현우">
            <a:extLst>
              <a:ext uri="{FF2B5EF4-FFF2-40B4-BE49-F238E27FC236}">
                <a16:creationId xmlns:a16="http://schemas.microsoft.com/office/drawing/2014/main" id="{D42A101D-6884-3F7D-2309-9CE060C6EA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217" y="3848100"/>
            <a:ext cx="1182766" cy="990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950FE47-544B-55E4-2EAC-6B23A3754DD7}"/>
              </a:ext>
            </a:extLst>
          </p:cNvPr>
          <p:cNvSpPr txBox="1"/>
          <p:nvPr/>
        </p:nvSpPr>
        <p:spPr>
          <a:xfrm>
            <a:off x="4686300" y="4991100"/>
            <a:ext cx="124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나현우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F7678B0-AC23-3916-9CF6-58A13A7C5D17}"/>
              </a:ext>
            </a:extLst>
          </p:cNvPr>
          <p:cNvSpPr/>
          <p:nvPr/>
        </p:nvSpPr>
        <p:spPr>
          <a:xfrm>
            <a:off x="1244600" y="5461000"/>
            <a:ext cx="2286000" cy="317500"/>
          </a:xfrm>
          <a:prstGeom prst="roundRect">
            <a:avLst/>
          </a:prstGeom>
          <a:solidFill>
            <a:srgbClr val="FF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6C361-A053-271B-8E87-284F5390F856}"/>
              </a:ext>
            </a:extLst>
          </p:cNvPr>
          <p:cNvSpPr txBox="1"/>
          <p:nvPr/>
        </p:nvSpPr>
        <p:spPr>
          <a:xfrm>
            <a:off x="1371600" y="5499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약 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50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만원 자체 투자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0C50D1-4CB5-5939-790F-59A26761B39B}"/>
              </a:ext>
            </a:extLst>
          </p:cNvPr>
          <p:cNvSpPr txBox="1"/>
          <p:nvPr/>
        </p:nvSpPr>
        <p:spPr>
          <a:xfrm>
            <a:off x="635000" y="5956300"/>
            <a:ext cx="518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육군본부 소속 팀 오가사 </a:t>
            </a:r>
            <a:r>
              <a:rPr lang="en-US" altLang="ko-KR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왕중왕전 충청권 대표</a:t>
            </a:r>
          </a:p>
        </p:txBody>
      </p:sp>
    </p:spTree>
    <p:extLst>
      <p:ext uri="{BB962C8B-B14F-4D97-AF65-F5344CB8AC3E}">
        <p14:creationId xmlns:p14="http://schemas.microsoft.com/office/powerpoint/2010/main" val="126777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1D95D8-B0B5-CA55-B49E-A843FD975661}"/>
              </a:ext>
            </a:extLst>
          </p:cNvPr>
          <p:cNvSpPr/>
          <p:nvPr/>
        </p:nvSpPr>
        <p:spPr>
          <a:xfrm>
            <a:off x="0" y="0"/>
            <a:ext cx="3962400" cy="6858000"/>
          </a:xfrm>
          <a:prstGeom prst="rect">
            <a:avLst/>
          </a:prstGeom>
          <a:solidFill>
            <a:srgbClr val="EAF3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85FA6-82EF-00C1-49BD-3904DCFCC0A6}"/>
              </a:ext>
            </a:extLst>
          </p:cNvPr>
          <p:cNvSpPr txBox="1"/>
          <p:nvPr/>
        </p:nvSpPr>
        <p:spPr>
          <a:xfrm>
            <a:off x="736600" y="787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</a:t>
            </a:r>
            <a:endParaRPr lang="ko-KR" altLang="en-US" sz="14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C509D-3F3E-6386-A9F2-FA1CDB7D092D}"/>
              </a:ext>
            </a:extLst>
          </p:cNvPr>
          <p:cNvSpPr txBox="1"/>
          <p:nvPr/>
        </p:nvSpPr>
        <p:spPr>
          <a:xfrm>
            <a:off x="736600" y="21463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기술</a:t>
            </a:r>
            <a:r>
              <a:rPr lang="en-US" altLang="ko-KR" sz="3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38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실증
근거 부록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1B60B08-4231-0454-C292-515DFD921DDC}"/>
              </a:ext>
            </a:extLst>
          </p:cNvPr>
          <p:cNvCxnSpPr/>
          <p:nvPr/>
        </p:nvCxnSpPr>
        <p:spPr>
          <a:xfrm>
            <a:off x="736600" y="4064000"/>
            <a:ext cx="2438400" cy="0"/>
          </a:xfrm>
          <a:prstGeom prst="line">
            <a:avLst/>
          </a:prstGeom>
          <a:ln w="38100">
            <a:solidFill>
              <a:srgbClr val="F57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54D34E-CE46-A82C-5D5B-541929D8FF74}"/>
              </a:ext>
            </a:extLst>
          </p:cNvPr>
          <p:cNvSpPr txBox="1"/>
          <p:nvPr/>
        </p:nvSpPr>
        <p:spPr>
          <a:xfrm>
            <a:off x="736600" y="4318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질의응답용 상세 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82F9B-526F-52FB-D286-6E3468D483EC}"/>
              </a:ext>
            </a:extLst>
          </p:cNvPr>
          <p:cNvSpPr txBox="1"/>
          <p:nvPr/>
        </p:nvSpPr>
        <p:spPr>
          <a:xfrm>
            <a:off x="4699000" y="15748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A02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B5C58-E309-8D01-16C6-AC6B2B1C0430}"/>
              </a:ext>
            </a:extLst>
          </p:cNvPr>
          <p:cNvSpPr txBox="1"/>
          <p:nvPr/>
        </p:nvSpPr>
        <p:spPr>
          <a:xfrm>
            <a:off x="5359400" y="1524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·42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 활동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51BE30-CC70-24DC-0564-4F696510E586}"/>
              </a:ext>
            </a:extLst>
          </p:cNvPr>
          <p:cNvCxnSpPr/>
          <p:nvPr/>
        </p:nvCxnSpPr>
        <p:spPr>
          <a:xfrm>
            <a:off x="4699000" y="20447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7C67F1-7E22-3FD0-A8D3-128E420CF18C}"/>
              </a:ext>
            </a:extLst>
          </p:cNvPr>
          <p:cNvSpPr txBox="1"/>
          <p:nvPr/>
        </p:nvSpPr>
        <p:spPr>
          <a:xfrm>
            <a:off x="4699000" y="24892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A03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35041-6C55-CFD4-1950-0E6A23D70DE1}"/>
              </a:ext>
            </a:extLst>
          </p:cNvPr>
          <p:cNvSpPr txBox="1"/>
          <p:nvPr/>
        </p:nvSpPr>
        <p:spPr>
          <a:xfrm>
            <a:off x="5359400" y="2438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하드웨어 설계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10BD9DD-57ED-7BA1-4ACB-581BF5D13904}"/>
              </a:ext>
            </a:extLst>
          </p:cNvPr>
          <p:cNvCxnSpPr/>
          <p:nvPr/>
        </p:nvCxnSpPr>
        <p:spPr>
          <a:xfrm>
            <a:off x="4699000" y="29591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1BFE5D-7630-F159-F531-581D1C4151C2}"/>
              </a:ext>
            </a:extLst>
          </p:cNvPr>
          <p:cNvSpPr txBox="1"/>
          <p:nvPr/>
        </p:nvSpPr>
        <p:spPr>
          <a:xfrm>
            <a:off x="4699000" y="34036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A04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9800A-F7DE-6F5C-9F4D-167C73BBD047}"/>
              </a:ext>
            </a:extLst>
          </p:cNvPr>
          <p:cNvSpPr txBox="1"/>
          <p:nvPr/>
        </p:nvSpPr>
        <p:spPr>
          <a:xfrm>
            <a:off x="5359400" y="3352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 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모델 선택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A17DA53-2F5C-2011-FAE3-DDF4B5031B98}"/>
              </a:ext>
            </a:extLst>
          </p:cNvPr>
          <p:cNvCxnSpPr/>
          <p:nvPr/>
        </p:nvCxnSpPr>
        <p:spPr>
          <a:xfrm>
            <a:off x="4699000" y="38735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C37D42-D416-62EF-CC4F-D4C63876756B}"/>
              </a:ext>
            </a:extLst>
          </p:cNvPr>
          <p:cNvSpPr txBox="1"/>
          <p:nvPr/>
        </p:nvSpPr>
        <p:spPr>
          <a:xfrm>
            <a:off x="4699000" y="43180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A05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C450B-982C-52F1-9477-E3B78653A096}"/>
              </a:ext>
            </a:extLst>
          </p:cNvPr>
          <p:cNvSpPr txBox="1"/>
          <p:nvPr/>
        </p:nvSpPr>
        <p:spPr>
          <a:xfrm>
            <a:off x="5359400" y="4267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 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입력 안정화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75E640A-BDA0-DF4C-83B0-A330A06184F7}"/>
              </a:ext>
            </a:extLst>
          </p:cNvPr>
          <p:cNvCxnSpPr/>
          <p:nvPr/>
        </p:nvCxnSpPr>
        <p:spPr>
          <a:xfrm>
            <a:off x="4699000" y="47879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FC61EB-A2CC-2A12-FB93-ABF700948841}"/>
              </a:ext>
            </a:extLst>
          </p:cNvPr>
          <p:cNvSpPr txBox="1"/>
          <p:nvPr/>
        </p:nvSpPr>
        <p:spPr>
          <a:xfrm>
            <a:off x="4699000" y="52324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A06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13A0A7-D1AE-DA8E-8ECF-89276C00D399}"/>
              </a:ext>
            </a:extLst>
          </p:cNvPr>
          <p:cNvSpPr txBox="1"/>
          <p:nvPr/>
        </p:nvSpPr>
        <p:spPr>
          <a:xfrm>
            <a:off x="5359400" y="5181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음성 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UX 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시뮬레이션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73518-BACB-0328-B80F-18E4D932D7E1}"/>
              </a:ext>
            </a:extLst>
          </p:cNvPr>
          <p:cNvSpPr txBox="1"/>
          <p:nvPr/>
        </p:nvSpPr>
        <p:spPr>
          <a:xfrm>
            <a:off x="7950200" y="15748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A07</a:t>
            </a:r>
            <a:endParaRPr lang="ko-KR" altLang="en-US" sz="11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B2127D-5D6E-B76C-2151-0738BD778589}"/>
              </a:ext>
            </a:extLst>
          </p:cNvPr>
          <p:cNvSpPr txBox="1"/>
          <p:nvPr/>
        </p:nvSpPr>
        <p:spPr>
          <a:xfrm>
            <a:off x="8610600" y="1524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음성 파일럿 설계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EA7AD7F-26E9-03DE-EEA8-C0CCD29D2288}"/>
              </a:ext>
            </a:extLst>
          </p:cNvPr>
          <p:cNvCxnSpPr/>
          <p:nvPr/>
        </p:nvCxnSpPr>
        <p:spPr>
          <a:xfrm>
            <a:off x="7950200" y="20447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4BFB4B6-5C6A-5176-71F0-2A925AC28BDF}"/>
              </a:ext>
            </a:extLst>
          </p:cNvPr>
          <p:cNvSpPr txBox="1"/>
          <p:nvPr/>
        </p:nvSpPr>
        <p:spPr>
          <a:xfrm>
            <a:off x="7950200" y="24892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A08</a:t>
            </a:r>
            <a:endParaRPr lang="ko-KR" altLang="en-US" sz="11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500D1D-F892-75CF-406F-D01095930CD9}"/>
              </a:ext>
            </a:extLst>
          </p:cNvPr>
          <p:cNvSpPr txBox="1"/>
          <p:nvPr/>
        </p:nvSpPr>
        <p:spPr>
          <a:xfrm>
            <a:off x="8610600" y="2438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RAG 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데이터 구조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DDFA4E2-88C8-2DEA-59E4-1C4820917804}"/>
              </a:ext>
            </a:extLst>
          </p:cNvPr>
          <p:cNvCxnSpPr/>
          <p:nvPr/>
        </p:nvCxnSpPr>
        <p:spPr>
          <a:xfrm>
            <a:off x="7950200" y="29591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86EBC9-6F40-3EC7-8572-C27C675F40F1}"/>
              </a:ext>
            </a:extLst>
          </p:cNvPr>
          <p:cNvSpPr txBox="1"/>
          <p:nvPr/>
        </p:nvSpPr>
        <p:spPr>
          <a:xfrm>
            <a:off x="7950200" y="34036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A09</a:t>
            </a:r>
            <a:endParaRPr lang="ko-KR" altLang="en-US" sz="11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6FA944-4665-3CB3-8007-5494F56334F9}"/>
              </a:ext>
            </a:extLst>
          </p:cNvPr>
          <p:cNvSpPr txBox="1"/>
          <p:nvPr/>
        </p:nvSpPr>
        <p:spPr>
          <a:xfrm>
            <a:off x="8610600" y="3352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</a:t>
            </a:r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QA·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다음 문항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04A1006-A4CD-AFAC-08E1-B3346AD5403E}"/>
              </a:ext>
            </a:extLst>
          </p:cNvPr>
          <p:cNvCxnSpPr/>
          <p:nvPr/>
        </p:nvCxnSpPr>
        <p:spPr>
          <a:xfrm>
            <a:off x="7950200" y="38735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E1885A5-04AD-1551-E5FE-71E4F15244D5}"/>
              </a:ext>
            </a:extLst>
          </p:cNvPr>
          <p:cNvSpPr txBox="1"/>
          <p:nvPr/>
        </p:nvSpPr>
        <p:spPr>
          <a:xfrm>
            <a:off x="7950200" y="43180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A10</a:t>
            </a:r>
            <a:endParaRPr lang="ko-KR" altLang="en-US" sz="11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1A14DF-A4D5-1AFB-8BBB-AAF65A3BC375}"/>
              </a:ext>
            </a:extLst>
          </p:cNvPr>
          <p:cNvSpPr txBox="1"/>
          <p:nvPr/>
        </p:nvSpPr>
        <p:spPr>
          <a:xfrm>
            <a:off x="8610600" y="4267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NFC·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개인정보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63AAD0E-BE95-21CA-C440-297E53960C42}"/>
              </a:ext>
            </a:extLst>
          </p:cNvPr>
          <p:cNvCxnSpPr/>
          <p:nvPr/>
        </p:nvCxnSpPr>
        <p:spPr>
          <a:xfrm>
            <a:off x="7950200" y="4787900"/>
            <a:ext cx="2921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99A83C-49C0-843C-6E6A-BC475F568C58}"/>
              </a:ext>
            </a:extLst>
          </p:cNvPr>
          <p:cNvSpPr txBox="1"/>
          <p:nvPr/>
        </p:nvSpPr>
        <p:spPr>
          <a:xfrm>
            <a:off x="7950200" y="5232400"/>
            <a:ext cx="58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A11</a:t>
            </a:r>
            <a:endParaRPr lang="ko-KR" altLang="en-US" sz="11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E998D4-5565-836F-CA60-1DC0D8901996}"/>
              </a:ext>
            </a:extLst>
          </p:cNvPr>
          <p:cNvSpPr txBox="1"/>
          <p:nvPr/>
        </p:nvSpPr>
        <p:spPr>
          <a:xfrm>
            <a:off x="8610600" y="5181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IRB·</a:t>
            </a:r>
            <a:r>
              <a:rPr lang="ko-KR" altLang="en-US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특허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559CF4-F29F-2F9A-2B02-DDD6595F15DF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A01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07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6E96CC-E168-4161-19EF-F2DCEBF4683C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PRODUCT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BBCEC-1926-76DD-7C36-5D9CC6D565A1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2-title">
            <a:extLst>
              <a:ext uri="{FF2B5EF4-FFF2-40B4-BE49-F238E27FC236}">
                <a16:creationId xmlns:a16="http://schemas.microsoft.com/office/drawing/2014/main" id="{9C27F587-3AC9-8C34-1E13-D8E3FBBB0AE8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</a:t>
            </a:r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·42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 활동의 전체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ABD17-B262-FB00-0163-70A6AC981049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일차별 활동 유형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 순서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상호작용 방식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7D28D2F-B175-4D87-E1B1-F6497E73D4AE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A9AF44-D451-3EDE-08BA-1B4682A07251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A02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BE220-4D2C-6E77-BF73-DF53F4E7FE18}"/>
              </a:ext>
            </a:extLst>
          </p:cNvPr>
          <p:cNvSpPr txBox="1"/>
          <p:nvPr/>
        </p:nvSpPr>
        <p:spPr>
          <a:xfrm>
            <a:off x="22098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A5C63-BF83-BDCE-25A4-F1AC45851099}"/>
              </a:ext>
            </a:extLst>
          </p:cNvPr>
          <p:cNvSpPr txBox="1"/>
          <p:nvPr/>
        </p:nvSpPr>
        <p:spPr>
          <a:xfrm>
            <a:off x="37084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7252A0-08EB-551C-FC75-D6E3AFAE636C}"/>
              </a:ext>
            </a:extLst>
          </p:cNvPr>
          <p:cNvSpPr txBox="1"/>
          <p:nvPr/>
        </p:nvSpPr>
        <p:spPr>
          <a:xfrm>
            <a:off x="52070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07D9C-D1D7-089C-7701-383B111D4C71}"/>
              </a:ext>
            </a:extLst>
          </p:cNvPr>
          <p:cNvSpPr txBox="1"/>
          <p:nvPr/>
        </p:nvSpPr>
        <p:spPr>
          <a:xfrm>
            <a:off x="67056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99274B-4856-06DB-303A-2124E0C8F90B}"/>
              </a:ext>
            </a:extLst>
          </p:cNvPr>
          <p:cNvSpPr txBox="1"/>
          <p:nvPr/>
        </p:nvSpPr>
        <p:spPr>
          <a:xfrm>
            <a:off x="82042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F258-3C39-1259-C127-A1B1F2C3D9E6}"/>
              </a:ext>
            </a:extLst>
          </p:cNvPr>
          <p:cNvSpPr txBox="1"/>
          <p:nvPr/>
        </p:nvSpPr>
        <p:spPr>
          <a:xfrm>
            <a:off x="9702800" y="2006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순서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81494C-535C-6D04-CCA1-56C0D194C11C}"/>
              </a:ext>
            </a:extLst>
          </p:cNvPr>
          <p:cNvSpPr txBox="1"/>
          <p:nvPr/>
        </p:nvSpPr>
        <p:spPr>
          <a:xfrm>
            <a:off x="863600" y="25527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</a:t>
            </a:r>
            <a:r>
              <a:rPr lang="ko-KR" altLang="en-US" sz="16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D6B5D0F-36A6-D245-E7E5-4B92118F1456}"/>
              </a:ext>
            </a:extLst>
          </p:cNvPr>
          <p:cNvSpPr/>
          <p:nvPr/>
        </p:nvSpPr>
        <p:spPr>
          <a:xfrm>
            <a:off x="2209800" y="2463800"/>
            <a:ext cx="1270000" cy="431800"/>
          </a:xfrm>
          <a:prstGeom prst="roundRect">
            <a:avLst/>
          </a:prstGeom>
          <a:solidFill>
            <a:srgbClr val="FFF0ED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FC161-358E-1984-4A1B-317223C5F758}"/>
              </a:ext>
            </a:extLst>
          </p:cNvPr>
          <p:cNvSpPr txBox="1"/>
          <p:nvPr/>
        </p:nvSpPr>
        <p:spPr>
          <a:xfrm>
            <a:off x="22733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21B65BE-2745-7351-C700-B224FCA00AC6}"/>
              </a:ext>
            </a:extLst>
          </p:cNvPr>
          <p:cNvSpPr/>
          <p:nvPr/>
        </p:nvSpPr>
        <p:spPr>
          <a:xfrm>
            <a:off x="3708400" y="2463800"/>
            <a:ext cx="1270000" cy="431800"/>
          </a:xfrm>
          <a:prstGeom prst="roundRect">
            <a:avLst/>
          </a:prstGeom>
          <a:solidFill>
            <a:srgbClr val="FFF6D9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4CDA7D-A8FB-15C0-CA78-0058114E033B}"/>
              </a:ext>
            </a:extLst>
          </p:cNvPr>
          <p:cNvSpPr txBox="1"/>
          <p:nvPr/>
        </p:nvSpPr>
        <p:spPr>
          <a:xfrm>
            <a:off x="37719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4CBA91D-BA2F-0A12-DA28-DACCB39084E4}"/>
              </a:ext>
            </a:extLst>
          </p:cNvPr>
          <p:cNvSpPr/>
          <p:nvPr/>
        </p:nvSpPr>
        <p:spPr>
          <a:xfrm>
            <a:off x="5207000" y="2463800"/>
            <a:ext cx="1270000" cy="431800"/>
          </a:xfrm>
          <a:prstGeom prst="roundRect">
            <a:avLst/>
          </a:prstGeom>
          <a:solidFill>
            <a:srgbClr val="EAF3E4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26D81-620D-6BFA-DDC3-790EEC873516}"/>
              </a:ext>
            </a:extLst>
          </p:cNvPr>
          <p:cNvSpPr txBox="1"/>
          <p:nvPr/>
        </p:nvSpPr>
        <p:spPr>
          <a:xfrm>
            <a:off x="52705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D876856-16CC-D8F5-BDE8-87E156F3235B}"/>
              </a:ext>
            </a:extLst>
          </p:cNvPr>
          <p:cNvSpPr/>
          <p:nvPr/>
        </p:nvSpPr>
        <p:spPr>
          <a:xfrm>
            <a:off x="6705600" y="2463800"/>
            <a:ext cx="1270000" cy="43180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ACEFC-095B-B6AD-4C36-A84DA300DB07}"/>
              </a:ext>
            </a:extLst>
          </p:cNvPr>
          <p:cNvSpPr txBox="1"/>
          <p:nvPr/>
        </p:nvSpPr>
        <p:spPr>
          <a:xfrm>
            <a:off x="67691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DC7ADCB-0AD5-ECCF-A9DB-4369A36893CE}"/>
              </a:ext>
            </a:extLst>
          </p:cNvPr>
          <p:cNvSpPr/>
          <p:nvPr/>
        </p:nvSpPr>
        <p:spPr>
          <a:xfrm>
            <a:off x="8204200" y="2463800"/>
            <a:ext cx="1270000" cy="431800"/>
          </a:xfrm>
          <a:prstGeom prst="roundRect">
            <a:avLst/>
          </a:prstGeom>
          <a:solidFill>
            <a:srgbClr val="FFF0ED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237489-F51F-6ED9-A4DF-36D88727935C}"/>
              </a:ext>
            </a:extLst>
          </p:cNvPr>
          <p:cNvSpPr txBox="1"/>
          <p:nvPr/>
        </p:nvSpPr>
        <p:spPr>
          <a:xfrm>
            <a:off x="82677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801ECD1-69ED-DB0F-FECA-34F6052BB05B}"/>
              </a:ext>
            </a:extLst>
          </p:cNvPr>
          <p:cNvSpPr/>
          <p:nvPr/>
        </p:nvSpPr>
        <p:spPr>
          <a:xfrm>
            <a:off x="9702800" y="2463800"/>
            <a:ext cx="1270000" cy="431800"/>
          </a:xfrm>
          <a:prstGeom prst="roundRect">
            <a:avLst/>
          </a:prstGeom>
          <a:solidFill>
            <a:srgbClr val="F4F3F1"/>
          </a:solidFill>
          <a:ln w="1905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D274D7-1D36-E7C3-FD91-5FCEEE4BFC12}"/>
              </a:ext>
            </a:extLst>
          </p:cNvPr>
          <p:cNvSpPr txBox="1"/>
          <p:nvPr/>
        </p:nvSpPr>
        <p:spPr>
          <a:xfrm>
            <a:off x="9766300" y="2552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E0E26B-98E7-DC1A-9427-9532D528279C}"/>
              </a:ext>
            </a:extLst>
          </p:cNvPr>
          <p:cNvSpPr txBox="1"/>
          <p:nvPr/>
        </p:nvSpPr>
        <p:spPr>
          <a:xfrm>
            <a:off x="863600" y="30861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2EF91C6-574C-A16F-67DF-0DC7AF38DE59}"/>
              </a:ext>
            </a:extLst>
          </p:cNvPr>
          <p:cNvSpPr/>
          <p:nvPr/>
        </p:nvSpPr>
        <p:spPr>
          <a:xfrm>
            <a:off x="2209800" y="29972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F5C416-204F-C33D-8A1B-6840F67F3ED4}"/>
              </a:ext>
            </a:extLst>
          </p:cNvPr>
          <p:cNvSpPr txBox="1"/>
          <p:nvPr/>
        </p:nvSpPr>
        <p:spPr>
          <a:xfrm>
            <a:off x="22733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7D5A1C9-3668-8B05-8716-38923E849C05}"/>
              </a:ext>
            </a:extLst>
          </p:cNvPr>
          <p:cNvSpPr/>
          <p:nvPr/>
        </p:nvSpPr>
        <p:spPr>
          <a:xfrm>
            <a:off x="3708400" y="29972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9DC834-ACE4-EDFE-C2FF-3EB1BF388730}"/>
              </a:ext>
            </a:extLst>
          </p:cNvPr>
          <p:cNvSpPr txBox="1"/>
          <p:nvPr/>
        </p:nvSpPr>
        <p:spPr>
          <a:xfrm>
            <a:off x="37719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8176E2A-5714-C097-663E-AF185A41CFC5}"/>
              </a:ext>
            </a:extLst>
          </p:cNvPr>
          <p:cNvSpPr/>
          <p:nvPr/>
        </p:nvSpPr>
        <p:spPr>
          <a:xfrm>
            <a:off x="5207000" y="29972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0959C-22FE-C997-B0E3-7623243788FD}"/>
              </a:ext>
            </a:extLst>
          </p:cNvPr>
          <p:cNvSpPr txBox="1"/>
          <p:nvPr/>
        </p:nvSpPr>
        <p:spPr>
          <a:xfrm>
            <a:off x="52705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6E6A8E6-98BC-019A-2B0C-2578E32D7114}"/>
              </a:ext>
            </a:extLst>
          </p:cNvPr>
          <p:cNvSpPr/>
          <p:nvPr/>
        </p:nvSpPr>
        <p:spPr>
          <a:xfrm>
            <a:off x="6705600" y="29972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72D83A-C845-6465-409E-A66153A4A904}"/>
              </a:ext>
            </a:extLst>
          </p:cNvPr>
          <p:cNvSpPr txBox="1"/>
          <p:nvPr/>
        </p:nvSpPr>
        <p:spPr>
          <a:xfrm>
            <a:off x="67691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7FA5123-1957-2165-C8A7-E3947A31F3F4}"/>
              </a:ext>
            </a:extLst>
          </p:cNvPr>
          <p:cNvSpPr/>
          <p:nvPr/>
        </p:nvSpPr>
        <p:spPr>
          <a:xfrm>
            <a:off x="8204200" y="29972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D1E990-FC31-0C65-CF63-D730CC6FCB03}"/>
              </a:ext>
            </a:extLst>
          </p:cNvPr>
          <p:cNvSpPr txBox="1"/>
          <p:nvPr/>
        </p:nvSpPr>
        <p:spPr>
          <a:xfrm>
            <a:off x="82677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3149D10-038E-623B-CA7A-BC87E378D71A}"/>
              </a:ext>
            </a:extLst>
          </p:cNvPr>
          <p:cNvSpPr/>
          <p:nvPr/>
        </p:nvSpPr>
        <p:spPr>
          <a:xfrm>
            <a:off x="9702800" y="29972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19BA0F-BF1B-DCC0-DFFE-425E60DEFFCB}"/>
              </a:ext>
            </a:extLst>
          </p:cNvPr>
          <p:cNvSpPr txBox="1"/>
          <p:nvPr/>
        </p:nvSpPr>
        <p:spPr>
          <a:xfrm>
            <a:off x="9766300" y="3086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200B1E-6941-47AB-4F9F-DA8743CA24EB}"/>
              </a:ext>
            </a:extLst>
          </p:cNvPr>
          <p:cNvSpPr txBox="1"/>
          <p:nvPr/>
        </p:nvSpPr>
        <p:spPr>
          <a:xfrm>
            <a:off x="863600" y="36195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C29F107-60AC-F836-0987-403D61E79387}"/>
              </a:ext>
            </a:extLst>
          </p:cNvPr>
          <p:cNvSpPr/>
          <p:nvPr/>
        </p:nvSpPr>
        <p:spPr>
          <a:xfrm>
            <a:off x="2209800" y="35306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5FD1D4-7842-8CFB-EB36-78160B78447E}"/>
              </a:ext>
            </a:extLst>
          </p:cNvPr>
          <p:cNvSpPr txBox="1"/>
          <p:nvPr/>
        </p:nvSpPr>
        <p:spPr>
          <a:xfrm>
            <a:off x="22733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C6CF99B-4371-23B0-F479-8FDEFE309D20}"/>
              </a:ext>
            </a:extLst>
          </p:cNvPr>
          <p:cNvSpPr/>
          <p:nvPr/>
        </p:nvSpPr>
        <p:spPr>
          <a:xfrm>
            <a:off x="3708400" y="35306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AC0BFB-710D-1F5A-1914-80A8A4D9AC3D}"/>
              </a:ext>
            </a:extLst>
          </p:cNvPr>
          <p:cNvSpPr txBox="1"/>
          <p:nvPr/>
        </p:nvSpPr>
        <p:spPr>
          <a:xfrm>
            <a:off x="37719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6FFCC16-711C-3FE0-FA5B-63BA72E4EAA6}"/>
              </a:ext>
            </a:extLst>
          </p:cNvPr>
          <p:cNvSpPr/>
          <p:nvPr/>
        </p:nvSpPr>
        <p:spPr>
          <a:xfrm>
            <a:off x="5207000" y="35306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0B8BD4-BF54-231C-7DEF-50898126A2E8}"/>
              </a:ext>
            </a:extLst>
          </p:cNvPr>
          <p:cNvSpPr txBox="1"/>
          <p:nvPr/>
        </p:nvSpPr>
        <p:spPr>
          <a:xfrm>
            <a:off x="52705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5A64DC6-8C6B-1EB9-7B1B-A9150275AC45}"/>
              </a:ext>
            </a:extLst>
          </p:cNvPr>
          <p:cNvSpPr/>
          <p:nvPr/>
        </p:nvSpPr>
        <p:spPr>
          <a:xfrm>
            <a:off x="6705600" y="35306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C053EA-5171-32D4-158D-60DC91A34500}"/>
              </a:ext>
            </a:extLst>
          </p:cNvPr>
          <p:cNvSpPr txBox="1"/>
          <p:nvPr/>
        </p:nvSpPr>
        <p:spPr>
          <a:xfrm>
            <a:off x="67691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7389A9-D2F1-5A07-B7AE-06E6FDF279EB}"/>
              </a:ext>
            </a:extLst>
          </p:cNvPr>
          <p:cNvSpPr/>
          <p:nvPr/>
        </p:nvSpPr>
        <p:spPr>
          <a:xfrm>
            <a:off x="8204200" y="35306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4CC19F-B5CF-FE13-5FC3-EB6D15B3F375}"/>
              </a:ext>
            </a:extLst>
          </p:cNvPr>
          <p:cNvSpPr txBox="1"/>
          <p:nvPr/>
        </p:nvSpPr>
        <p:spPr>
          <a:xfrm>
            <a:off x="82677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548DF29-CA31-2135-EB0C-DEAFD39DE081}"/>
              </a:ext>
            </a:extLst>
          </p:cNvPr>
          <p:cNvSpPr/>
          <p:nvPr/>
        </p:nvSpPr>
        <p:spPr>
          <a:xfrm>
            <a:off x="9702800" y="35306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41B9C6-59D7-8058-C9F8-6DC741E2D0CD}"/>
              </a:ext>
            </a:extLst>
          </p:cNvPr>
          <p:cNvSpPr txBox="1"/>
          <p:nvPr/>
        </p:nvSpPr>
        <p:spPr>
          <a:xfrm>
            <a:off x="9766300" y="3619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E34B94-C34E-A9DE-FC0E-298E398925C5}"/>
              </a:ext>
            </a:extLst>
          </p:cNvPr>
          <p:cNvSpPr txBox="1"/>
          <p:nvPr/>
        </p:nvSpPr>
        <p:spPr>
          <a:xfrm>
            <a:off x="863600" y="41529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F87E8FF-EFE8-58E0-6BC8-70649C7557E8}"/>
              </a:ext>
            </a:extLst>
          </p:cNvPr>
          <p:cNvSpPr/>
          <p:nvPr/>
        </p:nvSpPr>
        <p:spPr>
          <a:xfrm>
            <a:off x="2209800" y="40640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116248-C789-A80F-F4AF-CA42F4A7A2DE}"/>
              </a:ext>
            </a:extLst>
          </p:cNvPr>
          <p:cNvSpPr txBox="1"/>
          <p:nvPr/>
        </p:nvSpPr>
        <p:spPr>
          <a:xfrm>
            <a:off x="22733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DCBD13D-3724-43C1-779A-9C962A374F92}"/>
              </a:ext>
            </a:extLst>
          </p:cNvPr>
          <p:cNvSpPr/>
          <p:nvPr/>
        </p:nvSpPr>
        <p:spPr>
          <a:xfrm>
            <a:off x="3708400" y="40640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39206D-23A7-686D-A843-727E429C23A6}"/>
              </a:ext>
            </a:extLst>
          </p:cNvPr>
          <p:cNvSpPr txBox="1"/>
          <p:nvPr/>
        </p:nvSpPr>
        <p:spPr>
          <a:xfrm>
            <a:off x="37719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CD72B39-FAB3-1177-7C0E-442A3F106FAB}"/>
              </a:ext>
            </a:extLst>
          </p:cNvPr>
          <p:cNvSpPr/>
          <p:nvPr/>
        </p:nvSpPr>
        <p:spPr>
          <a:xfrm>
            <a:off x="5207000" y="40640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CD369E-77EC-8591-FB82-252525DD9A17}"/>
              </a:ext>
            </a:extLst>
          </p:cNvPr>
          <p:cNvSpPr txBox="1"/>
          <p:nvPr/>
        </p:nvSpPr>
        <p:spPr>
          <a:xfrm>
            <a:off x="52705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52E013E-9972-47C9-8B27-C503FBAD28BD}"/>
              </a:ext>
            </a:extLst>
          </p:cNvPr>
          <p:cNvSpPr/>
          <p:nvPr/>
        </p:nvSpPr>
        <p:spPr>
          <a:xfrm>
            <a:off x="6705600" y="40640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48BE69-6017-75B9-8831-918CD549B72B}"/>
              </a:ext>
            </a:extLst>
          </p:cNvPr>
          <p:cNvSpPr txBox="1"/>
          <p:nvPr/>
        </p:nvSpPr>
        <p:spPr>
          <a:xfrm>
            <a:off x="67691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17DEA7D-04D1-B9B6-8BE1-C183AF0071F2}"/>
              </a:ext>
            </a:extLst>
          </p:cNvPr>
          <p:cNvSpPr/>
          <p:nvPr/>
        </p:nvSpPr>
        <p:spPr>
          <a:xfrm>
            <a:off x="8204200" y="40640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D12941-9F6F-BB1F-5739-FC0CBF05C305}"/>
              </a:ext>
            </a:extLst>
          </p:cNvPr>
          <p:cNvSpPr txBox="1"/>
          <p:nvPr/>
        </p:nvSpPr>
        <p:spPr>
          <a:xfrm>
            <a:off x="82677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4816A40-181C-3AAF-75D0-43DE0C18D68E}"/>
              </a:ext>
            </a:extLst>
          </p:cNvPr>
          <p:cNvSpPr/>
          <p:nvPr/>
        </p:nvSpPr>
        <p:spPr>
          <a:xfrm>
            <a:off x="9702800" y="40640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A2340F-097B-3F9A-721F-7A4108B52B77}"/>
              </a:ext>
            </a:extLst>
          </p:cNvPr>
          <p:cNvSpPr txBox="1"/>
          <p:nvPr/>
        </p:nvSpPr>
        <p:spPr>
          <a:xfrm>
            <a:off x="9766300" y="415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BB6EB9-0294-5AB3-CEC9-8D64BE27C841}"/>
              </a:ext>
            </a:extLst>
          </p:cNvPr>
          <p:cNvSpPr txBox="1"/>
          <p:nvPr/>
        </p:nvSpPr>
        <p:spPr>
          <a:xfrm>
            <a:off x="863600" y="46863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5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0E3051E-67AC-67CE-C7C4-202422C2DA7D}"/>
              </a:ext>
            </a:extLst>
          </p:cNvPr>
          <p:cNvSpPr/>
          <p:nvPr/>
        </p:nvSpPr>
        <p:spPr>
          <a:xfrm>
            <a:off x="2209800" y="45974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1FF848-B838-4ED7-82E4-A2640B68EDB8}"/>
              </a:ext>
            </a:extLst>
          </p:cNvPr>
          <p:cNvSpPr txBox="1"/>
          <p:nvPr/>
        </p:nvSpPr>
        <p:spPr>
          <a:xfrm>
            <a:off x="22733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2C67C05-36C5-E7AB-BDD5-3AC795563C2F}"/>
              </a:ext>
            </a:extLst>
          </p:cNvPr>
          <p:cNvSpPr/>
          <p:nvPr/>
        </p:nvSpPr>
        <p:spPr>
          <a:xfrm>
            <a:off x="3708400" y="45974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6CC7AD-BD8C-66B5-2B3F-0C2AA91C695F}"/>
              </a:ext>
            </a:extLst>
          </p:cNvPr>
          <p:cNvSpPr txBox="1"/>
          <p:nvPr/>
        </p:nvSpPr>
        <p:spPr>
          <a:xfrm>
            <a:off x="37719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A38F11B-4AAB-FBFA-3EDC-8724E97FDC2F}"/>
              </a:ext>
            </a:extLst>
          </p:cNvPr>
          <p:cNvSpPr/>
          <p:nvPr/>
        </p:nvSpPr>
        <p:spPr>
          <a:xfrm>
            <a:off x="5207000" y="45974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628283-30ED-EBFF-2585-340955FE4572}"/>
              </a:ext>
            </a:extLst>
          </p:cNvPr>
          <p:cNvSpPr txBox="1"/>
          <p:nvPr/>
        </p:nvSpPr>
        <p:spPr>
          <a:xfrm>
            <a:off x="52705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F8E2561-0720-15A3-1069-8C39270B34B7}"/>
              </a:ext>
            </a:extLst>
          </p:cNvPr>
          <p:cNvSpPr/>
          <p:nvPr/>
        </p:nvSpPr>
        <p:spPr>
          <a:xfrm>
            <a:off x="6705600" y="45974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E023A4-98D3-D234-D6C7-0AAEAA16768D}"/>
              </a:ext>
            </a:extLst>
          </p:cNvPr>
          <p:cNvSpPr txBox="1"/>
          <p:nvPr/>
        </p:nvSpPr>
        <p:spPr>
          <a:xfrm>
            <a:off x="67691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3263A424-7B0D-E5C6-E890-B0B2FDBB18BD}"/>
              </a:ext>
            </a:extLst>
          </p:cNvPr>
          <p:cNvSpPr/>
          <p:nvPr/>
        </p:nvSpPr>
        <p:spPr>
          <a:xfrm>
            <a:off x="8204200" y="45974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73788AE-D4D4-C58D-2DB7-DA9502715269}"/>
              </a:ext>
            </a:extLst>
          </p:cNvPr>
          <p:cNvSpPr txBox="1"/>
          <p:nvPr/>
        </p:nvSpPr>
        <p:spPr>
          <a:xfrm>
            <a:off x="82677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79B6F5D-66D7-E15F-6157-932E26DB7B3D}"/>
              </a:ext>
            </a:extLst>
          </p:cNvPr>
          <p:cNvSpPr/>
          <p:nvPr/>
        </p:nvSpPr>
        <p:spPr>
          <a:xfrm>
            <a:off x="9702800" y="45974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BE16AC-413B-177A-DF91-DA717C6A0503}"/>
              </a:ext>
            </a:extLst>
          </p:cNvPr>
          <p:cNvSpPr txBox="1"/>
          <p:nvPr/>
        </p:nvSpPr>
        <p:spPr>
          <a:xfrm>
            <a:off x="97663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B499AA-04A7-5A8F-AC39-E545858A9ED6}"/>
              </a:ext>
            </a:extLst>
          </p:cNvPr>
          <p:cNvSpPr txBox="1"/>
          <p:nvPr/>
        </p:nvSpPr>
        <p:spPr>
          <a:xfrm>
            <a:off x="863600" y="52197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6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299AD127-2595-864E-ABC0-E315FBF44D81}"/>
              </a:ext>
            </a:extLst>
          </p:cNvPr>
          <p:cNvSpPr/>
          <p:nvPr/>
        </p:nvSpPr>
        <p:spPr>
          <a:xfrm>
            <a:off x="2209800" y="51308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DBAD33-E4CC-5E5C-F863-815079197ACD}"/>
              </a:ext>
            </a:extLst>
          </p:cNvPr>
          <p:cNvSpPr txBox="1"/>
          <p:nvPr/>
        </p:nvSpPr>
        <p:spPr>
          <a:xfrm>
            <a:off x="22733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4584E99-F55E-C218-D117-9DFAE834E0EF}"/>
              </a:ext>
            </a:extLst>
          </p:cNvPr>
          <p:cNvSpPr/>
          <p:nvPr/>
        </p:nvSpPr>
        <p:spPr>
          <a:xfrm>
            <a:off x="3708400" y="51308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476F6A-4D35-D2C8-4225-A3E975F0BF91}"/>
              </a:ext>
            </a:extLst>
          </p:cNvPr>
          <p:cNvSpPr txBox="1"/>
          <p:nvPr/>
        </p:nvSpPr>
        <p:spPr>
          <a:xfrm>
            <a:off x="37719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8BF8FFF-0EE5-EF38-C66E-A03E90CFFD73}"/>
              </a:ext>
            </a:extLst>
          </p:cNvPr>
          <p:cNvSpPr/>
          <p:nvPr/>
        </p:nvSpPr>
        <p:spPr>
          <a:xfrm>
            <a:off x="5207000" y="51308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AA6DB6B-CC59-6AAC-1A43-5DA10F60C623}"/>
              </a:ext>
            </a:extLst>
          </p:cNvPr>
          <p:cNvSpPr txBox="1"/>
          <p:nvPr/>
        </p:nvSpPr>
        <p:spPr>
          <a:xfrm>
            <a:off x="52705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4085AFCA-8ACA-172B-3E9B-4255011F8112}"/>
              </a:ext>
            </a:extLst>
          </p:cNvPr>
          <p:cNvSpPr/>
          <p:nvPr/>
        </p:nvSpPr>
        <p:spPr>
          <a:xfrm>
            <a:off x="6705600" y="51308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9B1D2E-4178-218E-809B-79327247DA0A}"/>
              </a:ext>
            </a:extLst>
          </p:cNvPr>
          <p:cNvSpPr txBox="1"/>
          <p:nvPr/>
        </p:nvSpPr>
        <p:spPr>
          <a:xfrm>
            <a:off x="67691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A2606A93-7A9C-0E21-A797-9EB5DDDEF60B}"/>
              </a:ext>
            </a:extLst>
          </p:cNvPr>
          <p:cNvSpPr/>
          <p:nvPr/>
        </p:nvSpPr>
        <p:spPr>
          <a:xfrm>
            <a:off x="8204200" y="51308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8A921C-8F30-96B8-695F-409F95BFA226}"/>
              </a:ext>
            </a:extLst>
          </p:cNvPr>
          <p:cNvSpPr txBox="1"/>
          <p:nvPr/>
        </p:nvSpPr>
        <p:spPr>
          <a:xfrm>
            <a:off x="82677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9BF943F-89F5-DB90-8694-BAAE1B50BBEB}"/>
              </a:ext>
            </a:extLst>
          </p:cNvPr>
          <p:cNvSpPr/>
          <p:nvPr/>
        </p:nvSpPr>
        <p:spPr>
          <a:xfrm>
            <a:off x="9702800" y="51308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EFA9C10-A505-A2C0-0FEF-A20E0418F03D}"/>
              </a:ext>
            </a:extLst>
          </p:cNvPr>
          <p:cNvSpPr txBox="1"/>
          <p:nvPr/>
        </p:nvSpPr>
        <p:spPr>
          <a:xfrm>
            <a:off x="9766300" y="5219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EDA2B9F-55DB-F120-EF2D-4E326EE7F1ED}"/>
              </a:ext>
            </a:extLst>
          </p:cNvPr>
          <p:cNvSpPr txBox="1"/>
          <p:nvPr/>
        </p:nvSpPr>
        <p:spPr>
          <a:xfrm>
            <a:off x="863600" y="57531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7</a:t>
            </a:r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일차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86EAC893-0D11-8FCB-624C-0D7304418ED9}"/>
              </a:ext>
            </a:extLst>
          </p:cNvPr>
          <p:cNvSpPr/>
          <p:nvPr/>
        </p:nvSpPr>
        <p:spPr>
          <a:xfrm>
            <a:off x="2209800" y="56642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320D46-62EC-5425-72FD-DB1302EB11B0}"/>
              </a:ext>
            </a:extLst>
          </p:cNvPr>
          <p:cNvSpPr txBox="1"/>
          <p:nvPr/>
        </p:nvSpPr>
        <p:spPr>
          <a:xfrm>
            <a:off x="22733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기분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ACAA3204-E660-52AF-4CAD-C65C00E5DD7D}"/>
              </a:ext>
            </a:extLst>
          </p:cNvPr>
          <p:cNvSpPr/>
          <p:nvPr/>
        </p:nvSpPr>
        <p:spPr>
          <a:xfrm>
            <a:off x="3708400" y="5664200"/>
            <a:ext cx="1270000" cy="431800"/>
          </a:xfrm>
          <a:prstGeom prst="roundRect">
            <a:avLst/>
          </a:prstGeom>
          <a:solidFill>
            <a:srgbClr val="FFF6D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1C23821-0616-D47A-3D8E-762531FA45E9}"/>
              </a:ext>
            </a:extLst>
          </p:cNvPr>
          <p:cNvSpPr txBox="1"/>
          <p:nvPr/>
        </p:nvSpPr>
        <p:spPr>
          <a:xfrm>
            <a:off x="37719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요일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23ACA95B-B19C-F827-9C4C-0E8F21928944}"/>
              </a:ext>
            </a:extLst>
          </p:cNvPr>
          <p:cNvSpPr/>
          <p:nvPr/>
        </p:nvSpPr>
        <p:spPr>
          <a:xfrm>
            <a:off x="5207000" y="5664200"/>
            <a:ext cx="1270000" cy="4318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305037D-B34F-FF37-1A86-BE0EA17C21FB}"/>
              </a:ext>
            </a:extLst>
          </p:cNvPr>
          <p:cNvSpPr txBox="1"/>
          <p:nvPr/>
        </p:nvSpPr>
        <p:spPr>
          <a:xfrm>
            <a:off x="52705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기억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F0C0F033-39BD-95E6-B9FC-3B21F778E986}"/>
              </a:ext>
            </a:extLst>
          </p:cNvPr>
          <p:cNvSpPr/>
          <p:nvPr/>
        </p:nvSpPr>
        <p:spPr>
          <a:xfrm>
            <a:off x="6705600" y="5664200"/>
            <a:ext cx="1270000" cy="4318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D7791DD-F43A-6963-F542-890B5E4A1FC3}"/>
              </a:ext>
            </a:extLst>
          </p:cNvPr>
          <p:cNvSpPr txBox="1"/>
          <p:nvPr/>
        </p:nvSpPr>
        <p:spPr>
          <a:xfrm>
            <a:off x="67691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생활 계산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BFDC34DE-0638-A692-DC2F-E13AD260F76C}"/>
              </a:ext>
            </a:extLst>
          </p:cNvPr>
          <p:cNvSpPr/>
          <p:nvPr/>
        </p:nvSpPr>
        <p:spPr>
          <a:xfrm>
            <a:off x="8204200" y="5664200"/>
            <a:ext cx="1270000" cy="4318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BF42C7E-1909-05C5-5D0B-C2E90EDF52D2}"/>
              </a:ext>
            </a:extLst>
          </p:cNvPr>
          <p:cNvSpPr txBox="1"/>
          <p:nvPr/>
        </p:nvSpPr>
        <p:spPr>
          <a:xfrm>
            <a:off x="82677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</a:t>
            </a:r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파형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76AD340A-82AD-1C09-AE4D-BAE2E0CA39B9}"/>
              </a:ext>
            </a:extLst>
          </p:cNvPr>
          <p:cNvSpPr/>
          <p:nvPr/>
        </p:nvSpPr>
        <p:spPr>
          <a:xfrm>
            <a:off x="9702800" y="5664200"/>
            <a:ext cx="1270000" cy="4318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C3325F8-8E41-CB02-7E8F-3B2CF1265C9D}"/>
              </a:ext>
            </a:extLst>
          </p:cNvPr>
          <p:cNvSpPr txBox="1"/>
          <p:nvPr/>
        </p:nvSpPr>
        <p:spPr>
          <a:xfrm>
            <a:off x="9766300" y="575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단어 순서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02EB1F74-37DB-130A-7911-E34A2C6E9578}"/>
              </a:ext>
            </a:extLst>
          </p:cNvPr>
          <p:cNvSpPr/>
          <p:nvPr/>
        </p:nvSpPr>
        <p:spPr>
          <a:xfrm>
            <a:off x="863600" y="6388100"/>
            <a:ext cx="10033000" cy="317500"/>
          </a:xfrm>
          <a:prstGeom prst="roundRect">
            <a:avLst/>
          </a:prstGeom>
          <a:solidFill>
            <a:srgbClr val="FB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4F984D3-640C-30EE-2B8E-262521F8102F}"/>
              </a:ext>
            </a:extLst>
          </p:cNvPr>
          <p:cNvSpPr txBox="1"/>
          <p:nvPr/>
        </p:nvSpPr>
        <p:spPr>
          <a:xfrm>
            <a:off x="1117600" y="64389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화면</a:t>
            </a:r>
            <a:r>
              <a:rPr lang="en-US" altLang="ko-KR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문항 </a:t>
            </a:r>
            <a:r>
              <a:rPr lang="en-US" altLang="ko-KR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같은 위치 선택 </a:t>
            </a:r>
            <a:r>
              <a:rPr lang="en-US" altLang="ko-KR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같은 버튼 재입력 확정</a:t>
            </a:r>
          </a:p>
        </p:txBody>
      </p:sp>
    </p:spTree>
    <p:extLst>
      <p:ext uri="{BB962C8B-B14F-4D97-AF65-F5344CB8AC3E}">
        <p14:creationId xmlns:p14="http://schemas.microsoft.com/office/powerpoint/2010/main" val="1012305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1668F-6B31-5DB9-C482-B2D00836F347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HARDWARE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B3F79-3CCC-A0E6-CCC9-5B29EA92E3C3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3-title">
            <a:extLst>
              <a:ext uri="{FF2B5EF4-FFF2-40B4-BE49-F238E27FC236}">
                <a16:creationId xmlns:a16="http://schemas.microsoft.com/office/drawing/2014/main" id="{C195BF29-2AFA-87EE-CDEA-F2EB3F5261DF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하드웨어 구조와 설계 자산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B408B-9967-7B27-0F98-138B18820DEA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치수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조립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서비스 개방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라즈베리파이 입력 구조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425B07-32EA-E8D2-4F46-211373BC0CE3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0AAEB6-BE7B-8CAA-8B59-BB5409F0B143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A03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Prototype dimension and assembly drawing">
            <a:extLst>
              <a:ext uri="{FF2B5EF4-FFF2-40B4-BE49-F238E27FC236}">
                <a16:creationId xmlns:a16="http://schemas.microsoft.com/office/drawing/2014/main" id="{3772D293-A89D-77F8-B928-4F27BDC85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57" y="2044700"/>
            <a:ext cx="4289687" cy="29718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AB0D66-DD73-1D06-099B-B941611C4A6F}"/>
              </a:ext>
            </a:extLst>
          </p:cNvPr>
          <p:cNvSpPr txBox="1"/>
          <p:nvPr/>
        </p:nvSpPr>
        <p:spPr>
          <a:xfrm>
            <a:off x="736600" y="5232400"/>
            <a:ext cx="439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시제품 치수</a:t>
            </a:r>
            <a:r>
              <a:rPr lang="en-US" altLang="ko-KR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조립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A08D7-B3BF-0E2B-817B-E73E9350015F}"/>
              </a:ext>
            </a:extLst>
          </p:cNvPr>
          <p:cNvSpPr txBox="1"/>
          <p:nvPr/>
        </p:nvSpPr>
        <p:spPr>
          <a:xfrm>
            <a:off x="736600" y="5638800"/>
            <a:ext cx="439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TEMPORARY · NOT FOR PRODUCTION</a:t>
            </a:r>
            <a:endParaRPr lang="ko-KR" altLang="en-US" sz="11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3" name="그림 12" descr="Rear view of the Haru prototype">
            <a:extLst>
              <a:ext uri="{FF2B5EF4-FFF2-40B4-BE49-F238E27FC236}">
                <a16:creationId xmlns:a16="http://schemas.microsoft.com/office/drawing/2014/main" id="{A0B1E8C0-8F48-31F5-4780-A47A7168D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2074333"/>
            <a:ext cx="2565400" cy="3420533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pic>
        <p:nvPicPr>
          <p:cNvPr id="15" name="그림 14" descr="Prototype design rendering">
            <a:extLst>
              <a:ext uri="{FF2B5EF4-FFF2-40B4-BE49-F238E27FC236}">
                <a16:creationId xmlns:a16="http://schemas.microsoft.com/office/drawing/2014/main" id="{DA97FC7C-A446-31C7-DF94-BF1084994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2044700"/>
            <a:ext cx="2743200" cy="20574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6ABD3C-36B7-54FB-B033-4BB4F9F88C12}"/>
              </a:ext>
            </a:extLst>
          </p:cNvPr>
          <p:cNvSpPr txBox="1"/>
          <p:nvPr/>
        </p:nvSpPr>
        <p:spPr>
          <a:xfrm>
            <a:off x="8610600" y="4191000"/>
            <a:ext cx="284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설계 렌더링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9A64B2-33A3-E1AA-3E38-A22CEB1E7F0C}"/>
              </a:ext>
            </a:extLst>
          </p:cNvPr>
          <p:cNvSpPr/>
          <p:nvPr/>
        </p:nvSpPr>
        <p:spPr>
          <a:xfrm>
            <a:off x="8763000" y="4521200"/>
            <a:ext cx="177800" cy="1778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6C5FFF-44A9-3540-B483-688CCF86436B}"/>
              </a:ext>
            </a:extLst>
          </p:cNvPr>
          <p:cNvSpPr txBox="1"/>
          <p:nvPr/>
        </p:nvSpPr>
        <p:spPr>
          <a:xfrm>
            <a:off x="9080500" y="44577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1080×1920 </a:t>
            </a:r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세로 화면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F338FD5-D8BE-1BFF-2829-3B10EF05C031}"/>
              </a:ext>
            </a:extLst>
          </p:cNvPr>
          <p:cNvSpPr/>
          <p:nvPr/>
        </p:nvSpPr>
        <p:spPr>
          <a:xfrm>
            <a:off x="8763000" y="4965700"/>
            <a:ext cx="177800" cy="1778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11AD8-D00A-2228-85B8-2E6EE0860724}"/>
              </a:ext>
            </a:extLst>
          </p:cNvPr>
          <p:cNvSpPr txBox="1"/>
          <p:nvPr/>
        </p:nvSpPr>
        <p:spPr>
          <a:xfrm>
            <a:off x="9080500" y="49022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USB HID 1·2·3·4 </a:t>
            </a:r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입력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D1BA5BE-1054-2134-4278-7CC37DB2B962}"/>
              </a:ext>
            </a:extLst>
          </p:cNvPr>
          <p:cNvSpPr/>
          <p:nvPr/>
        </p:nvSpPr>
        <p:spPr>
          <a:xfrm>
            <a:off x="8763000" y="5410200"/>
            <a:ext cx="177800" cy="177800"/>
          </a:xfrm>
          <a:prstGeom prst="ellipse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9CA4AD-64C5-C7B7-3895-98C3651C3843}"/>
              </a:ext>
            </a:extLst>
          </p:cNvPr>
          <p:cNvSpPr txBox="1"/>
          <p:nvPr/>
        </p:nvSpPr>
        <p:spPr>
          <a:xfrm>
            <a:off x="9080500" y="53467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Chromium·127.0.0.1 </a:t>
            </a:r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CFAB2AC-D9A2-A4D9-EEC7-590E216A863D}"/>
              </a:ext>
            </a:extLst>
          </p:cNvPr>
          <p:cNvSpPr/>
          <p:nvPr/>
        </p:nvSpPr>
        <p:spPr>
          <a:xfrm>
            <a:off x="8763000" y="5854700"/>
            <a:ext cx="177800" cy="177800"/>
          </a:xfrm>
          <a:prstGeom prst="ellipse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FCFD55-CA98-4851-B38A-6DF0183F98EA}"/>
              </a:ext>
            </a:extLst>
          </p:cNvPr>
          <p:cNvSpPr txBox="1"/>
          <p:nvPr/>
        </p:nvSpPr>
        <p:spPr>
          <a:xfrm>
            <a:off x="9080500" y="57912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오프라인 음원</a:t>
            </a:r>
            <a:r>
              <a:rPr lang="en-US" altLang="ko-KR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 번들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0C5F9A-CF6B-A399-E14E-5E1998E266F6}"/>
              </a:ext>
            </a:extLst>
          </p:cNvPr>
          <p:cNvSpPr txBox="1"/>
          <p:nvPr/>
        </p:nvSpPr>
        <p:spPr>
          <a:xfrm>
            <a:off x="5562600" y="5740400"/>
            <a:ext cx="264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실물 목업 후면</a:t>
            </a:r>
          </a:p>
        </p:txBody>
      </p:sp>
    </p:spTree>
    <p:extLst>
      <p:ext uri="{BB962C8B-B14F-4D97-AF65-F5344CB8AC3E}">
        <p14:creationId xmlns:p14="http://schemas.microsoft.com/office/powerpoint/2010/main" val="270253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789CE4-7E60-C7FF-4BB7-ED58F41657DF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STT MODEL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68780-172D-19EE-B830-10DA52D13B3B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4-title">
            <a:extLst>
              <a:ext uri="{FF2B5EF4-FFF2-40B4-BE49-F238E27FC236}">
                <a16:creationId xmlns:a16="http://schemas.microsoft.com/office/drawing/2014/main" id="{ADCCE778-415A-07E0-548D-7225AC792972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한국어 </a:t>
            </a:r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모델 선택 근거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3053D-8D93-7DEE-35E1-1F1925798C4A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공개 벤치마크 비교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·Qwen3-ASR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채택 범위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검증 한계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C629A3F-2B95-F8C9-8436-5A7CDF4DF389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B91CAB-370A-2B41-2563-0E5FADDB06E4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A04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Original STT deck chart comparing three Korean CER values">
            <a:extLst>
              <a:ext uri="{FF2B5EF4-FFF2-40B4-BE49-F238E27FC236}">
                <a16:creationId xmlns:a16="http://schemas.microsoft.com/office/drawing/2014/main" id="{6D84A956-E13B-B239-CDCC-903A64B29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59" y="2070100"/>
            <a:ext cx="6459483" cy="37465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132D0-501C-92BA-4807-C3D161EE6D6E}"/>
              </a:ext>
            </a:extLst>
          </p:cNvPr>
          <p:cNvSpPr txBox="1"/>
          <p:nvPr/>
        </p:nvSpPr>
        <p:spPr>
          <a:xfrm>
            <a:off x="736600" y="59182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선정 당시 </a:t>
            </a:r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3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종 비교 차트 </a:t>
            </a:r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전체 리더보드 아님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F7338-0610-9356-A5B3-9D518C9A9FCD}"/>
              </a:ext>
            </a:extLst>
          </p:cNvPr>
          <p:cNvSpPr txBox="1"/>
          <p:nvPr/>
        </p:nvSpPr>
        <p:spPr>
          <a:xfrm>
            <a:off x="7874000" y="2082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수치 해석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B43E2-64C2-BEF8-1465-B31FD4810659}"/>
              </a:ext>
            </a:extLst>
          </p:cNvPr>
          <p:cNvSpPr txBox="1"/>
          <p:nvPr/>
        </p:nvSpPr>
        <p:spPr>
          <a:xfrm>
            <a:off x="7874000" y="2667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Qwen3-ASR-1.7B</a:t>
            </a:r>
            <a:endParaRPr lang="ko-KR" altLang="en-US" sz="16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A475F7-F529-5C18-D25F-99A1B1C54F1F}"/>
              </a:ext>
            </a:extLst>
          </p:cNvPr>
          <p:cNvSpPr txBox="1"/>
          <p:nvPr/>
        </p:nvSpPr>
        <p:spPr>
          <a:xfrm>
            <a:off x="7874000" y="30353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KOR CER 12.90</a:t>
            </a:r>
            <a:endParaRPr lang="ko-KR" altLang="en-US" sz="15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736A6-CE94-B118-27FE-FB7C406C3C84}"/>
              </a:ext>
            </a:extLst>
          </p:cNvPr>
          <p:cNvSpPr txBox="1"/>
          <p:nvPr/>
        </p:nvSpPr>
        <p:spPr>
          <a:xfrm>
            <a:off x="7874000" y="3632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FunASR-Realtime</a:t>
            </a:r>
            <a:endParaRPr lang="ko-KR" altLang="en-US" sz="16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92987-A23F-0225-3B6D-B89F128BC1CC}"/>
              </a:ext>
            </a:extLst>
          </p:cNvPr>
          <p:cNvSpPr txBox="1"/>
          <p:nvPr/>
        </p:nvSpPr>
        <p:spPr>
          <a:xfrm>
            <a:off x="7874000" y="400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KOR CER 9.92</a:t>
            </a:r>
            <a:endParaRPr lang="ko-KR" altLang="en-US" sz="1500" b="1">
              <a:solidFill>
                <a:srgbClr val="4B474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28742A4-0C76-9E7A-C352-FB8D8626B62B}"/>
              </a:ext>
            </a:extLst>
          </p:cNvPr>
          <p:cNvCxnSpPr/>
          <p:nvPr/>
        </p:nvCxnSpPr>
        <p:spPr>
          <a:xfrm>
            <a:off x="7874000" y="4495800"/>
            <a:ext cx="3429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561363-F61E-0110-88AE-C0DD3CC09778}"/>
              </a:ext>
            </a:extLst>
          </p:cNvPr>
          <p:cNvSpPr txBox="1"/>
          <p:nvPr/>
        </p:nvSpPr>
        <p:spPr>
          <a:xfrm>
            <a:off x="7874000" y="4724400"/>
            <a:ext cx="133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채택 이유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3FDB1-E296-0D29-2F62-CD893F7333B4}"/>
              </a:ext>
            </a:extLst>
          </p:cNvPr>
          <p:cNvSpPr txBox="1"/>
          <p:nvPr/>
        </p:nvSpPr>
        <p:spPr>
          <a:xfrm>
            <a:off x="7874000" y="5143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GPU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Apache 2.0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92DECD-1F14-E686-395B-9CED7364583A}"/>
              </a:ext>
            </a:extLst>
          </p:cNvPr>
          <p:cNvSpPr txBox="1"/>
          <p:nvPr/>
        </p:nvSpPr>
        <p:spPr>
          <a:xfrm>
            <a:off x="7874000" y="5524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ForcedAligner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연계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운영성 균형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E2770-A5A9-EBE6-86B7-510D7C706741}"/>
              </a:ext>
            </a:extLst>
          </p:cNvPr>
          <p:cNvSpPr txBox="1"/>
          <p:nvPr/>
        </p:nvSpPr>
        <p:spPr>
          <a:xfrm>
            <a:off x="7493000" y="59944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일반 한국어 벤치마크 </a:t>
            </a:r>
            <a:r>
              <a:rPr lang="en-US" altLang="ko-KR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Haru </a:t>
            </a:r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 결과 아님</a:t>
            </a:r>
          </a:p>
        </p:txBody>
      </p:sp>
    </p:spTree>
    <p:extLst>
      <p:ext uri="{BB962C8B-B14F-4D97-AF65-F5344CB8AC3E}">
        <p14:creationId xmlns:p14="http://schemas.microsoft.com/office/powerpoint/2010/main" val="332278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F946F-21B1-163D-AD6F-246A90F88EC0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STT PIPELINE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CAAFB-1D06-0DA2-A040-760A10097DE9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5-title">
            <a:extLst>
              <a:ext uri="{FF2B5EF4-FFF2-40B4-BE49-F238E27FC236}">
                <a16:creationId xmlns:a16="http://schemas.microsoft.com/office/drawing/2014/main" id="{B9F3E6C6-2FF9-69D2-C99E-381FA6F3E5D1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입력 안정화와 런타임 안전장치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6C301-9F9F-67C2-06B9-30EC0B37BADE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16 kHz mono·DC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제거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·80 Hz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고역통과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·RMS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정규화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9939C5-DA08-A52B-8337-7B4C5FE1C99D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8761A8-3CB2-D895-DAED-C6FD4BD2B3C8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A05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External study chart comparing raw and preprocessed elderly and adult speech">
            <a:extLst>
              <a:ext uri="{FF2B5EF4-FFF2-40B4-BE49-F238E27FC236}">
                <a16:creationId xmlns:a16="http://schemas.microsoft.com/office/drawing/2014/main" id="{38759924-4016-59D1-34BA-F9E6C0B69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10" y="2222500"/>
            <a:ext cx="4915581" cy="32385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A1904-0693-A904-E454-F57AC3A8CD6B}"/>
              </a:ext>
            </a:extLst>
          </p:cNvPr>
          <p:cNvSpPr txBox="1"/>
          <p:nvPr/>
        </p:nvSpPr>
        <p:spPr>
          <a:xfrm>
            <a:off x="736600" y="55880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외부 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Whisper-medium 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선행연구 </a:t>
            </a:r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Haru/Qwen </a:t>
            </a:r>
            <a:r>
              <a:rPr lang="ko-KR" altLang="en-US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결과 아님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5AC4C-9402-E6A0-E796-35C50A546BAA}"/>
              </a:ext>
            </a:extLst>
          </p:cNvPr>
          <p:cNvSpPr txBox="1"/>
          <p:nvPr/>
        </p:nvSpPr>
        <p:spPr>
          <a:xfrm>
            <a:off x="6477000" y="2057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0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구현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7F28B7E-CDB2-802F-2C11-A39F2F6EF1C9}"/>
              </a:ext>
            </a:extLst>
          </p:cNvPr>
          <p:cNvSpPr/>
          <p:nvPr/>
        </p:nvSpPr>
        <p:spPr>
          <a:xfrm>
            <a:off x="6502400" y="26289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D7E2C-37C5-72DD-73F8-E17CF1C3AF5C}"/>
              </a:ext>
            </a:extLst>
          </p:cNvPr>
          <p:cNvSpPr txBox="1"/>
          <p:nvPr/>
        </p:nvSpPr>
        <p:spPr>
          <a:xfrm>
            <a:off x="6807200" y="2552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16 kHz mono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형식 통일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07C1C43-8C5C-3206-C6CB-9A78F4700C65}"/>
              </a:ext>
            </a:extLst>
          </p:cNvPr>
          <p:cNvSpPr/>
          <p:nvPr/>
        </p:nvSpPr>
        <p:spPr>
          <a:xfrm>
            <a:off x="6502400" y="30988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F4932-577A-6304-C285-B6743D5EC999}"/>
              </a:ext>
            </a:extLst>
          </p:cNvPr>
          <p:cNvSpPr txBox="1"/>
          <p:nvPr/>
        </p:nvSpPr>
        <p:spPr>
          <a:xfrm>
            <a:off x="6807200" y="3022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DC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제거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·80 Hz 1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차 고역통과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E0367EA-68C8-FA81-859D-76BD397E3AF4}"/>
              </a:ext>
            </a:extLst>
          </p:cNvPr>
          <p:cNvSpPr/>
          <p:nvPr/>
        </p:nvSpPr>
        <p:spPr>
          <a:xfrm>
            <a:off x="6502400" y="35687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606B90-38BF-E97C-C289-882671AFC61A}"/>
              </a:ext>
            </a:extLst>
          </p:cNvPr>
          <p:cNvSpPr txBox="1"/>
          <p:nvPr/>
        </p:nvSpPr>
        <p:spPr>
          <a:xfrm>
            <a:off x="6807200" y="3492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RMS 0.08·gain 0.5–3.0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50AC21F-91F0-3CBC-B6E1-AE5E3363FF08}"/>
              </a:ext>
            </a:extLst>
          </p:cNvPr>
          <p:cNvSpPr/>
          <p:nvPr/>
        </p:nvSpPr>
        <p:spPr>
          <a:xfrm>
            <a:off x="6502400" y="40386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DFBEAA-CA57-B6A7-A5A3-CBD51A718ACB}"/>
              </a:ext>
            </a:extLst>
          </p:cNvPr>
          <p:cNvSpPr txBox="1"/>
          <p:nvPr/>
        </p:nvSpPr>
        <p:spPr>
          <a:xfrm>
            <a:off x="6807200" y="3962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peak 0.98 guard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616A7DA-1998-C49C-ED5A-21E88316CA00}"/>
              </a:ext>
            </a:extLst>
          </p:cNvPr>
          <p:cNvSpPr/>
          <p:nvPr/>
        </p:nvSpPr>
        <p:spPr>
          <a:xfrm>
            <a:off x="6502400" y="45085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E4FD32-C6FA-5700-3C55-D7079484AAF6}"/>
              </a:ext>
            </a:extLst>
          </p:cNvPr>
          <p:cNvSpPr txBox="1"/>
          <p:nvPr/>
        </p:nvSpPr>
        <p:spPr>
          <a:xfrm>
            <a:off x="6807200" y="4432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VAD trimming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없음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전체 발화 무음 게이트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86AB842-CE3B-6D58-E992-AFFABB29C0F1}"/>
              </a:ext>
            </a:extLst>
          </p:cNvPr>
          <p:cNvSpPr/>
          <p:nvPr/>
        </p:nvSpPr>
        <p:spPr>
          <a:xfrm>
            <a:off x="6502400" y="4978400"/>
            <a:ext cx="152400" cy="1524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CA60B-CEE3-1F44-2001-C8D1C5136025}"/>
              </a:ext>
            </a:extLst>
          </p:cNvPr>
          <p:cNvSpPr txBox="1"/>
          <p:nvPr/>
        </p:nvSpPr>
        <p:spPr>
          <a:xfrm>
            <a:off x="6807200" y="4902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ForcedAligner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시간축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실패 비차단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8D3FF9E-EC00-9A07-4C25-7A6F01F8DB48}"/>
              </a:ext>
            </a:extLst>
          </p:cNvPr>
          <p:cNvCxnSpPr/>
          <p:nvPr/>
        </p:nvCxnSpPr>
        <p:spPr>
          <a:xfrm>
            <a:off x="6477000" y="5499100"/>
            <a:ext cx="48260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2FBEB69-F8DE-EFCB-77EC-7C2B8CD710CB}"/>
              </a:ext>
            </a:extLst>
          </p:cNvPr>
          <p:cNvSpPr txBox="1"/>
          <p:nvPr/>
        </p:nvSpPr>
        <p:spPr>
          <a:xfrm>
            <a:off x="6477000" y="5689600"/>
            <a:ext cx="133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미구현</a:t>
            </a:r>
            <a:r>
              <a:rPr lang="en-US" altLang="ko-KR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후속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53A28E-06EB-10EF-9488-00ECF557D3ED}"/>
              </a:ext>
            </a:extLst>
          </p:cNvPr>
          <p:cNvSpPr txBox="1"/>
          <p:nvPr/>
        </p:nvSpPr>
        <p:spPr>
          <a:xfrm>
            <a:off x="7874000" y="56769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5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streaming · </a:t>
            </a:r>
            <a:r>
              <a:rPr lang="ko-KR" altLang="en-US" sz="115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 </a:t>
            </a:r>
            <a:r>
              <a:rPr lang="en-US" altLang="ko-KR" sz="115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fine-tuning · </a:t>
            </a:r>
            <a:r>
              <a:rPr lang="ko-KR" altLang="en-US" sz="115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조건부 재인식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C1E8A1-48C5-B5CC-2EFE-6F0CC4ACD22C}"/>
              </a:ext>
            </a:extLst>
          </p:cNvPr>
          <p:cNvSpPr txBox="1"/>
          <p:nvPr/>
        </p:nvSpPr>
        <p:spPr>
          <a:xfrm>
            <a:off x="736600" y="6121400"/>
            <a:ext cx="1056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45</a:t>
            </a:r>
            <a:r>
              <a:rPr lang="ko-KR" altLang="en-US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 </a:t>
            </a:r>
            <a:r>
              <a:rPr lang="en-US" altLang="ko-KR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client · 25 MB/65</a:t>
            </a:r>
            <a:r>
              <a:rPr lang="ko-KR" altLang="en-US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 </a:t>
            </a:r>
            <a:r>
              <a:rPr lang="en-US" altLang="ko-KR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backend · GPU 1 active+2 pending · durable retry</a:t>
            </a:r>
            <a:endParaRPr lang="ko-KR" altLang="en-US" sz="1150" b="1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0567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2979C5-F607-AE73-C489-FD5F79AB843C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VOICE UX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19577-1072-8EC8-DBCE-E0A44B9504CE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6-title">
            <a:extLst>
              <a:ext uri="{FF2B5EF4-FFF2-40B4-BE49-F238E27FC236}">
                <a16:creationId xmlns:a16="http://schemas.microsoft.com/office/drawing/2014/main" id="{F1B7451F-4D47-3084-F77A-DFF37EA68EEB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음성 </a:t>
            </a:r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UX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합성 사전검증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A37F4-4A8E-92E3-2AFD-71B6FBCE5401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가상 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20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·140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세션의 의사결정용 시뮬레이션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FC624D-F126-E497-1285-DC3161013710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849A1B-1078-804B-4334-EE703D4358DF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A06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DB68C-9F7E-F712-7AE7-3FAA37D34788}"/>
              </a:ext>
            </a:extLst>
          </p:cNvPr>
          <p:cNvCxnSpPr/>
          <p:nvPr/>
        </p:nvCxnSpPr>
        <p:spPr>
          <a:xfrm>
            <a:off x="736600" y="2006600"/>
            <a:ext cx="10718800" cy="0"/>
          </a:xfrm>
          <a:prstGeom prst="line">
            <a:avLst/>
          </a:prstGeom>
          <a:ln w="38100">
            <a:solidFill>
              <a:srgbClr val="F57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7DC4C1-35CC-1D63-5DF2-F757C37BB1F8}"/>
              </a:ext>
            </a:extLst>
          </p:cNvPr>
          <p:cNvSpPr txBox="1"/>
          <p:nvPr/>
        </p:nvSpPr>
        <p:spPr>
          <a:xfrm>
            <a:off x="736600" y="21082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합성 시뮬레이션 </a:t>
            </a:r>
            <a:r>
              <a:rPr lang="en-US" altLang="ko-KR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사용자</a:t>
            </a:r>
            <a:r>
              <a:rPr lang="en-US" altLang="ko-KR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 sz="14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음성 결과 아님</a:t>
            </a:r>
          </a:p>
        </p:txBody>
      </p:sp>
      <p:pic>
        <p:nvPicPr>
          <p:cNvPr id="11" name="그림 10" descr="Synthetic voice UX rehearsal: 흐름 계측 설계">
            <a:extLst>
              <a:ext uri="{FF2B5EF4-FFF2-40B4-BE49-F238E27FC236}">
                <a16:creationId xmlns:a16="http://schemas.microsoft.com/office/drawing/2014/main" id="{98EE67B8-377B-1D2A-28A4-F23E85AA7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22" y="2540000"/>
            <a:ext cx="3296356" cy="18542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10E43-53E1-8182-3F31-3074D19D0969}"/>
              </a:ext>
            </a:extLst>
          </p:cNvPr>
          <p:cNvSpPr txBox="1"/>
          <p:nvPr/>
        </p:nvSpPr>
        <p:spPr>
          <a:xfrm>
            <a:off x="736600" y="4495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흐름 계측 설계</a:t>
            </a:r>
          </a:p>
        </p:txBody>
      </p:sp>
      <p:pic>
        <p:nvPicPr>
          <p:cNvPr id="14" name="그림 13" descr="Synthetic voice UX rehearsal: 이탈 구간 가설">
            <a:extLst>
              <a:ext uri="{FF2B5EF4-FFF2-40B4-BE49-F238E27FC236}">
                <a16:creationId xmlns:a16="http://schemas.microsoft.com/office/drawing/2014/main" id="{82771959-58C4-9DEB-9AF6-AE19A5998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822" y="2540000"/>
            <a:ext cx="3296356" cy="18542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2DE0AB-C25B-2D54-86B0-DE95970094D0}"/>
              </a:ext>
            </a:extLst>
          </p:cNvPr>
          <p:cNvSpPr txBox="1"/>
          <p:nvPr/>
        </p:nvSpPr>
        <p:spPr>
          <a:xfrm>
            <a:off x="4445000" y="4495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이탈 구간 가설</a:t>
            </a:r>
          </a:p>
        </p:txBody>
      </p:sp>
      <p:pic>
        <p:nvPicPr>
          <p:cNvPr id="17" name="그림 16" descr="Synthetic voice UX rehearsal: A/B 판정 기준">
            <a:extLst>
              <a:ext uri="{FF2B5EF4-FFF2-40B4-BE49-F238E27FC236}">
                <a16:creationId xmlns:a16="http://schemas.microsoft.com/office/drawing/2014/main" id="{FF708609-5B4A-DF54-47BC-27C2E1B3F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222" y="2540000"/>
            <a:ext cx="3296356" cy="185420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33A79A-DCDE-1F3C-4259-5F45E9AD5E0E}"/>
              </a:ext>
            </a:extLst>
          </p:cNvPr>
          <p:cNvSpPr txBox="1"/>
          <p:nvPr/>
        </p:nvSpPr>
        <p:spPr>
          <a:xfrm>
            <a:off x="8153400" y="4495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A/B </a:t>
            </a:r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판정 기준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DECDF9-E539-172A-F565-1A68423C60A9}"/>
              </a:ext>
            </a:extLst>
          </p:cNvPr>
          <p:cNvCxnSpPr/>
          <p:nvPr/>
        </p:nvCxnSpPr>
        <p:spPr>
          <a:xfrm>
            <a:off x="736600" y="49657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237E48-F8A7-D0A7-BAA8-BED16D2A27C0}"/>
              </a:ext>
            </a:extLst>
          </p:cNvPr>
          <p:cNvSpPr txBox="1"/>
          <p:nvPr/>
        </p:nvSpPr>
        <p:spPr>
          <a:xfrm>
            <a:off x="736600" y="5194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설계에 사용한 내용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3D5000-068F-DCED-8FCF-C56BE858D416}"/>
              </a:ext>
            </a:extLst>
          </p:cNvPr>
          <p:cNvSpPr txBox="1"/>
          <p:nvPr/>
        </p:nvSpPr>
        <p:spPr>
          <a:xfrm>
            <a:off x="736600" y="5638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흐름 계측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상태 표시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이탈 원인 코드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동일 음성 </a:t>
            </a:r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A/B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8632A-24F1-62EE-44B4-E138409828BD}"/>
              </a:ext>
            </a:extLst>
          </p:cNvPr>
          <p:cNvSpPr txBox="1"/>
          <p:nvPr/>
        </p:nvSpPr>
        <p:spPr>
          <a:xfrm>
            <a:off x="6400800" y="51943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7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성과로 사용하지 않은 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FA2AC6-CBE9-C988-C071-5BFA51C6744A}"/>
              </a:ext>
            </a:extLst>
          </p:cNvPr>
          <p:cNvSpPr txBox="1"/>
          <p:nvPr/>
        </p:nvSpPr>
        <p:spPr>
          <a:xfrm>
            <a:off x="6400800" y="56388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4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20·140·832·5,328 · 78.6→91.4% · +12.9%p</a:t>
            </a:r>
            <a:endParaRPr lang="ko-KR" altLang="en-US" sz="14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D51593-BCCE-F3F8-7061-E41D0A6088BB}"/>
              </a:ext>
            </a:extLst>
          </p:cNvPr>
          <p:cNvSpPr txBox="1"/>
          <p:nvPr/>
        </p:nvSpPr>
        <p:spPr>
          <a:xfrm>
            <a:off x="6400800" y="5994400"/>
            <a:ext cx="505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모두 의사결정용 합성 값</a:t>
            </a:r>
          </a:p>
        </p:txBody>
      </p:sp>
    </p:spTree>
    <p:extLst>
      <p:ext uri="{BB962C8B-B14F-4D97-AF65-F5344CB8AC3E}">
        <p14:creationId xmlns:p14="http://schemas.microsoft.com/office/powerpoint/2010/main" val="1904092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458367-DC6B-E40F-8076-A02969038F53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VOICE PILOT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E4682-1F0E-8D34-8ED7-E259047AF728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7-title">
            <a:extLst>
              <a:ext uri="{FF2B5EF4-FFF2-40B4-BE49-F238E27FC236}">
                <a16:creationId xmlns:a16="http://schemas.microsoft.com/office/drawing/2014/main" id="{B422BDC7-5BF7-3A20-DDAF-621A895589F4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 음성 파일럿 검증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09851-0F50-8E55-B5A3-A412D623D195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동일 음원 이중 전사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블라인드 검토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실패 원인 분류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37BDCBB-7A1B-B17F-A78B-421400CD790A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735F86-E749-9FFF-3653-119F4CFA244E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A07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E44109A-0A65-6FED-F8D7-63B857CF33BC}"/>
              </a:ext>
            </a:extLst>
          </p:cNvPr>
          <p:cNvSpPr/>
          <p:nvPr/>
        </p:nvSpPr>
        <p:spPr>
          <a:xfrm>
            <a:off x="9448800" y="1320800"/>
            <a:ext cx="1905000" cy="317500"/>
          </a:xfrm>
          <a:prstGeom prst="roundRect">
            <a:avLst/>
          </a:prstGeom>
          <a:solidFill>
            <a:srgbClr val="F4F3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4587C-B51E-33DD-4F7A-C28EB1D4CF68}"/>
              </a:ext>
            </a:extLst>
          </p:cNvPr>
          <p:cNvSpPr txBox="1"/>
          <p:nvPr/>
        </p:nvSpPr>
        <p:spPr>
          <a:xfrm>
            <a:off x="9575800" y="13589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IRB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실행</a:t>
            </a:r>
          </a:p>
        </p:txBody>
      </p:sp>
      <p:pic>
        <p:nvPicPr>
          <p:cNvPr id="11" name="그림 10" descr="Original voice pilot protocol rehearsal slide">
            <a:extLst>
              <a:ext uri="{FF2B5EF4-FFF2-40B4-BE49-F238E27FC236}">
                <a16:creationId xmlns:a16="http://schemas.microsoft.com/office/drawing/2014/main" id="{765AC87A-E517-BE2D-7F82-007461834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12194"/>
            <a:ext cx="4445000" cy="2500312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00E2CE-E384-847C-5DF1-CA23FC99661A}"/>
              </a:ext>
            </a:extLst>
          </p:cNvPr>
          <p:cNvSpPr txBox="1"/>
          <p:nvPr/>
        </p:nvSpPr>
        <p:spPr>
          <a:xfrm>
            <a:off x="736600" y="49403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합성 파일럿 리허설 원본 </a:t>
            </a:r>
            <a:r>
              <a:rPr lang="en-US" altLang="ko-KR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15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실행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16B70-BBFC-D596-D0D4-2EAA86AE2D5B}"/>
              </a:ext>
            </a:extLst>
          </p:cNvPr>
          <p:cNvSpPr txBox="1"/>
          <p:nvPr/>
        </p:nvSpPr>
        <p:spPr>
          <a:xfrm>
            <a:off x="736600" y="5295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원본의 지인</a:t>
            </a:r>
            <a:r>
              <a:rPr lang="en-US" altLang="ko-KR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가족 모집안은 미실행
실제 연구</a:t>
            </a:r>
            <a:r>
              <a:rPr lang="en-US" altLang="ko-KR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: IRB </a:t>
            </a:r>
            <a:r>
              <a:rPr lang="ko-KR" altLang="en-US" sz="115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독립 대상자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9FE3D-A70C-4A8C-2D3A-A75CF709B3B3}"/>
              </a:ext>
            </a:extLst>
          </p:cNvPr>
          <p:cNvSpPr txBox="1"/>
          <p:nvPr/>
        </p:nvSpPr>
        <p:spPr>
          <a:xfrm>
            <a:off x="6858000" y="21336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B6BA2-1798-09D0-68AD-F6CD806466E2}"/>
              </a:ext>
            </a:extLst>
          </p:cNvPr>
          <p:cNvSpPr txBox="1"/>
          <p:nvPr/>
        </p:nvSpPr>
        <p:spPr>
          <a:xfrm>
            <a:off x="7442200" y="20955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 기반 녹음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77F446-B121-3DE1-88DE-827DE89ED6D6}"/>
              </a:ext>
            </a:extLst>
          </p:cNvPr>
          <p:cNvSpPr txBox="1"/>
          <p:nvPr/>
        </p:nvSpPr>
        <p:spPr>
          <a:xfrm>
            <a:off x="7442200" y="24257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이해관계 없는 목표 연령대 자연 발화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4F1110-F7F0-DE72-88B9-A671BF547FFE}"/>
              </a:ext>
            </a:extLst>
          </p:cNvPr>
          <p:cNvSpPr txBox="1"/>
          <p:nvPr/>
        </p:nvSpPr>
        <p:spPr>
          <a:xfrm>
            <a:off x="6858000" y="28829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2B84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F2B84B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6B504-28CA-D317-5F42-ABADF9781564}"/>
              </a:ext>
            </a:extLst>
          </p:cNvPr>
          <p:cNvSpPr txBox="1"/>
          <p:nvPr/>
        </p:nvSpPr>
        <p:spPr>
          <a:xfrm>
            <a:off x="7442200" y="28448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동일 음원 </a:t>
            </a:r>
            <a:r>
              <a:rPr lang="en-US" altLang="ko-KR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A/B</a:t>
            </a:r>
            <a:endParaRPr lang="ko-KR" altLang="en-US" sz="16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59CA35-4123-E2B1-97F8-14B8A662AB93}"/>
              </a:ext>
            </a:extLst>
          </p:cNvPr>
          <p:cNvSpPr txBox="1"/>
          <p:nvPr/>
        </p:nvSpPr>
        <p:spPr>
          <a:xfrm>
            <a:off x="7442200" y="31750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전처리 전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후 이중 전사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DADC53-D11C-F54B-39D2-EA11F2329AE1}"/>
              </a:ext>
            </a:extLst>
          </p:cNvPr>
          <p:cNvSpPr txBox="1"/>
          <p:nvPr/>
        </p:nvSpPr>
        <p:spPr>
          <a:xfrm>
            <a:off x="6858000" y="3632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88BA01-2314-2B8F-3C57-477844F3A67E}"/>
              </a:ext>
            </a:extLst>
          </p:cNvPr>
          <p:cNvSpPr txBox="1"/>
          <p:nvPr/>
        </p:nvSpPr>
        <p:spPr>
          <a:xfrm>
            <a:off x="7442200" y="3594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블라인드 검토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B593A9-BD7A-1DCD-25DC-BDE17ECBDFCA}"/>
              </a:ext>
            </a:extLst>
          </p:cNvPr>
          <p:cNvSpPr txBox="1"/>
          <p:nvPr/>
        </p:nvSpPr>
        <p:spPr>
          <a:xfrm>
            <a:off x="7442200" y="39243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조건 비공개 사람 평가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FD0296-68E5-62BE-3EC7-DCDAE6B70971}"/>
              </a:ext>
            </a:extLst>
          </p:cNvPr>
          <p:cNvSpPr txBox="1"/>
          <p:nvPr/>
        </p:nvSpPr>
        <p:spPr>
          <a:xfrm>
            <a:off x="6858000" y="4381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2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C779CD-93F5-1DDF-510A-7D64DD14D5D8}"/>
              </a:ext>
            </a:extLst>
          </p:cNvPr>
          <p:cNvSpPr txBox="1"/>
          <p:nvPr/>
        </p:nvSpPr>
        <p:spPr>
          <a:xfrm>
            <a:off x="7442200" y="43434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오류 원인 분류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F0C0E-AC25-9B27-9721-CBDFC74A3752}"/>
              </a:ext>
            </a:extLst>
          </p:cNvPr>
          <p:cNvSpPr txBox="1"/>
          <p:nvPr/>
        </p:nvSpPr>
        <p:spPr>
          <a:xfrm>
            <a:off x="7442200" y="46736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무응답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누락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치환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이탈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4B2675-86AA-3356-4F8A-278B849BBD17}"/>
              </a:ext>
            </a:extLst>
          </p:cNvPr>
          <p:cNvSpPr txBox="1"/>
          <p:nvPr/>
        </p:nvSpPr>
        <p:spPr>
          <a:xfrm>
            <a:off x="6858000" y="51308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05</a:t>
            </a:r>
            <a:endParaRPr lang="ko-KR" altLang="en-US" sz="1200" b="1">
              <a:solidFill>
                <a:srgbClr val="4B474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661531-CF80-D46A-733F-9AA3CDDE98EA}"/>
              </a:ext>
            </a:extLst>
          </p:cNvPr>
          <p:cNvSpPr txBox="1"/>
          <p:nvPr/>
        </p:nvSpPr>
        <p:spPr>
          <a:xfrm>
            <a:off x="7442200" y="5092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6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채택 판단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E2A5A1-F5FA-AD7F-56A9-19B173056DBD}"/>
              </a:ext>
            </a:extLst>
          </p:cNvPr>
          <p:cNvSpPr txBox="1"/>
          <p:nvPr/>
        </p:nvSpPr>
        <p:spPr>
          <a:xfrm>
            <a:off x="7442200" y="5422900"/>
            <a:ext cx="383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효과와 부작용 함께 검토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1495695-297A-96FE-82A8-7FE8AB3F6DB4}"/>
              </a:ext>
            </a:extLst>
          </p:cNvPr>
          <p:cNvCxnSpPr/>
          <p:nvPr/>
        </p:nvCxnSpPr>
        <p:spPr>
          <a:xfrm>
            <a:off x="736600" y="5918200"/>
            <a:ext cx="10718800" cy="0"/>
          </a:xfrm>
          <a:prstGeom prst="line">
            <a:avLst/>
          </a:prstGeom>
          <a:ln w="25400">
            <a:solidFill>
              <a:srgbClr val="5E9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51A238F-1D24-DB18-0EB3-F9232C6BE39D}"/>
              </a:ext>
            </a:extLst>
          </p:cNvPr>
          <p:cNvSpPr txBox="1"/>
          <p:nvPr/>
        </p:nvSpPr>
        <p:spPr>
          <a:xfrm>
            <a:off x="736600" y="60579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평가 지표 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| 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완전 일치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핵심 의미 보존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무응답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재시도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 이탈 </a:t>
            </a:r>
            <a:r>
              <a:rPr lang="en-US" altLang="ko-KR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오류 유형</a:t>
            </a:r>
          </a:p>
        </p:txBody>
      </p:sp>
    </p:spTree>
    <p:extLst>
      <p:ext uri="{BB962C8B-B14F-4D97-AF65-F5344CB8AC3E}">
        <p14:creationId xmlns:p14="http://schemas.microsoft.com/office/powerpoint/2010/main" val="1074464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1C2BB-A4E0-0539-7DEF-64923847A87C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MEMORY RAG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E3D56-A447-6CF8-AF13-CD5A7DDBB1C9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8-title">
            <a:extLst>
              <a:ext uri="{FF2B5EF4-FFF2-40B4-BE49-F238E27FC236}">
                <a16:creationId xmlns:a16="http://schemas.microsoft.com/office/drawing/2014/main" id="{C159D704-2D27-E5F7-6E58-118A84D640F1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개인 기억 </a:t>
            </a:r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RAG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데이터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E5A5A-73A9-24FC-AEA4-FDD158D9572A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불변 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Episode·Evidence·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명시 관계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시간축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932D45-B2E8-F5FB-572D-9CF1A3562EB4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CF3F29-75D2-6C02-2389-DC5F9E3C6F05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A08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Context graph architecture reference image from the original RAG deck">
            <a:extLst>
              <a:ext uri="{FF2B5EF4-FFF2-40B4-BE49-F238E27FC236}">
                <a16:creationId xmlns:a16="http://schemas.microsoft.com/office/drawing/2014/main" id="{7B4DD4C0-75F1-1515-B06A-51C40DD92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47386"/>
            <a:ext cx="5334000" cy="3125227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8A3EAF-4342-6103-7BEC-53CD65DC2B9D}"/>
              </a:ext>
            </a:extLst>
          </p:cNvPr>
          <p:cNvSpPr txBox="1"/>
          <p:nvPr/>
        </p:nvSpPr>
        <p:spPr>
          <a:xfrm>
            <a:off x="736600" y="55880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초기 구조 참고 이미지 </a:t>
            </a:r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Haru 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저장 구조는 우측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4135F-8503-8399-84C3-E4E715F0D784}"/>
              </a:ext>
            </a:extLst>
          </p:cNvPr>
          <p:cNvSpPr txBox="1"/>
          <p:nvPr/>
        </p:nvSpPr>
        <p:spPr>
          <a:xfrm>
            <a:off x="6731000" y="2057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0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 </a:t>
            </a:r>
            <a:r>
              <a:rPr lang="ko-KR" altLang="en-US" sz="20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실제 구현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1F4EBD2-622E-50C5-BE09-375E1CDD75D0}"/>
              </a:ext>
            </a:extLst>
          </p:cNvPr>
          <p:cNvSpPr/>
          <p:nvPr/>
        </p:nvSpPr>
        <p:spPr>
          <a:xfrm>
            <a:off x="6756400" y="2667000"/>
            <a:ext cx="165100" cy="165100"/>
          </a:xfrm>
          <a:prstGeom prst="ellipse">
            <a:avLst/>
          </a:prstGeom>
          <a:solidFill>
            <a:srgbClr val="F5726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5BAD1-9109-D2EE-6ED0-1CDBF661BF59}"/>
              </a:ext>
            </a:extLst>
          </p:cNvPr>
          <p:cNvSpPr txBox="1"/>
          <p:nvPr/>
        </p:nvSpPr>
        <p:spPr>
          <a:xfrm>
            <a:off x="7086600" y="25781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Canonical Snapshot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DD32B-1ABA-1F0C-2985-670AE3A686CA}"/>
              </a:ext>
            </a:extLst>
          </p:cNvPr>
          <p:cNvSpPr txBox="1"/>
          <p:nvPr/>
        </p:nvSpPr>
        <p:spPr>
          <a:xfrm>
            <a:off x="7086600" y="2895600"/>
            <a:ext cx="414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수정 불가 원본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·SQLite 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기준 저장소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7947526-2A86-999C-059A-40AEFE6E928D}"/>
              </a:ext>
            </a:extLst>
          </p:cNvPr>
          <p:cNvSpPr/>
          <p:nvPr/>
        </p:nvSpPr>
        <p:spPr>
          <a:xfrm>
            <a:off x="6756400" y="3340100"/>
            <a:ext cx="165100" cy="165100"/>
          </a:xfrm>
          <a:prstGeom prst="ellipse">
            <a:avLst/>
          </a:prstGeom>
          <a:solidFill>
            <a:srgbClr val="F2B8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2F3BD5-76AE-1F78-ECD9-F20C23A12317}"/>
              </a:ext>
            </a:extLst>
          </p:cNvPr>
          <p:cNvSpPr txBox="1"/>
          <p:nvPr/>
        </p:nvSpPr>
        <p:spPr>
          <a:xfrm>
            <a:off x="7086600" y="325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Episode·Evidence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312D2-EDF3-0340-79A6-20C59DDA854D}"/>
              </a:ext>
            </a:extLst>
          </p:cNvPr>
          <p:cNvSpPr txBox="1"/>
          <p:nvPr/>
        </p:nvSpPr>
        <p:spPr>
          <a:xfrm>
            <a:off x="7086600" y="3568700"/>
            <a:ext cx="414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선택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순서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음성 등 모든 응답 근거화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5DA4A9A-4F07-643A-D212-80F977A7E185}"/>
              </a:ext>
            </a:extLst>
          </p:cNvPr>
          <p:cNvSpPr/>
          <p:nvPr/>
        </p:nvSpPr>
        <p:spPr>
          <a:xfrm>
            <a:off x="6756400" y="4013200"/>
            <a:ext cx="165100" cy="165100"/>
          </a:xfrm>
          <a:prstGeom prst="ellipse">
            <a:avLst/>
          </a:prstGeom>
          <a:solidFill>
            <a:srgbClr val="5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09192D-48A7-E656-2774-7E87711E7D5A}"/>
              </a:ext>
            </a:extLst>
          </p:cNvPr>
          <p:cNvSpPr txBox="1"/>
          <p:nvPr/>
        </p:nvSpPr>
        <p:spPr>
          <a:xfrm>
            <a:off x="7086600" y="39243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E5·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시간축 검색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8918CC-AD65-B6B3-4502-CACFD0080378}"/>
              </a:ext>
            </a:extLst>
          </p:cNvPr>
          <p:cNvSpPr txBox="1"/>
          <p:nvPr/>
        </p:nvSpPr>
        <p:spPr>
          <a:xfrm>
            <a:off x="7086600" y="4241800"/>
            <a:ext cx="414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의미 검색과 시간 순서 회수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1E6DFFE-FD7F-8619-2DAC-C236B4BF3DD8}"/>
              </a:ext>
            </a:extLst>
          </p:cNvPr>
          <p:cNvSpPr/>
          <p:nvPr/>
        </p:nvSpPr>
        <p:spPr>
          <a:xfrm>
            <a:off x="6756400" y="4686300"/>
            <a:ext cx="165100" cy="165100"/>
          </a:xfrm>
          <a:prstGeom prst="ellipse">
            <a:avLst/>
          </a:prstGeom>
          <a:solidFill>
            <a:srgbClr val="77A9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D7F3A-E28A-C8EC-7BE5-E7C4D1450BF9}"/>
              </a:ext>
            </a:extLst>
          </p:cNvPr>
          <p:cNvSpPr txBox="1"/>
          <p:nvPr/>
        </p:nvSpPr>
        <p:spPr>
          <a:xfrm>
            <a:off x="7086600" y="4597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명시 관계만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Graph</a:t>
            </a:r>
            <a:endParaRPr lang="ko-KR" altLang="en-US" sz="15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44B033-54A1-263D-9DFC-B2D14F463259}"/>
              </a:ext>
            </a:extLst>
          </p:cNvPr>
          <p:cNvSpPr txBox="1"/>
          <p:nvPr/>
        </p:nvSpPr>
        <p:spPr>
          <a:xfrm>
            <a:off x="7086600" y="4914900"/>
            <a:ext cx="414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voice annotation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만 관계화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·Neo4j 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선택 미러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6C48346-89E7-EB4E-F1D5-4911B1B290F5}"/>
              </a:ext>
            </a:extLst>
          </p:cNvPr>
          <p:cNvSpPr/>
          <p:nvPr/>
        </p:nvSpPr>
        <p:spPr>
          <a:xfrm>
            <a:off x="6756400" y="5359400"/>
            <a:ext cx="165100" cy="165100"/>
          </a:xfrm>
          <a:prstGeom prst="ellipse">
            <a:avLst/>
          </a:prstGeom>
          <a:solidFill>
            <a:srgbClr val="4B47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D55D33-FACD-2526-6DC8-ACAE5750D7C2}"/>
              </a:ext>
            </a:extLst>
          </p:cNvPr>
          <p:cNvSpPr txBox="1"/>
          <p:nvPr/>
        </p:nvSpPr>
        <p:spPr>
          <a:xfrm>
            <a:off x="7086600" y="52705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민감정보 관리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952F1F-3B5F-79C8-36BD-437BF59679B7}"/>
              </a:ext>
            </a:extLst>
          </p:cNvPr>
          <p:cNvSpPr txBox="1"/>
          <p:nvPr/>
        </p:nvSpPr>
        <p:spPr>
          <a:xfrm>
            <a:off x="7086600" y="5588000"/>
            <a:ext cx="414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기본 검색 제외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검토 상태</a:t>
            </a:r>
            <a:r>
              <a:rPr lang="en-US" altLang="ko-KR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>
                <a:solidFill>
                  <a:srgbClr val="A9A39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명시적 삭제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DFD3E8A-2E2F-EAC4-8CCB-F655D3A86420}"/>
              </a:ext>
            </a:extLst>
          </p:cNvPr>
          <p:cNvCxnSpPr/>
          <p:nvPr/>
        </p:nvCxnSpPr>
        <p:spPr>
          <a:xfrm>
            <a:off x="6731000" y="6007100"/>
            <a:ext cx="4597400" cy="0"/>
          </a:xfrm>
          <a:prstGeom prst="line">
            <a:avLst/>
          </a:prstGeom>
          <a:ln w="25400">
            <a:solidFill>
              <a:srgbClr val="5E9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828020C-64F0-0252-DC9D-D5A2A0115847}"/>
              </a:ext>
            </a:extLst>
          </p:cNvPr>
          <p:cNvSpPr txBox="1"/>
          <p:nvPr/>
        </p:nvSpPr>
        <p:spPr>
          <a:xfrm>
            <a:off x="6731000" y="61468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개인정보는 “많이 저장”이 아니라 출처</a:t>
            </a:r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</a:t>
            </a:r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삭제 가능성으로 관리</a:t>
            </a:r>
          </a:p>
        </p:txBody>
      </p:sp>
    </p:spTree>
    <p:extLst>
      <p:ext uri="{BB962C8B-B14F-4D97-AF65-F5344CB8AC3E}">
        <p14:creationId xmlns:p14="http://schemas.microsoft.com/office/powerpoint/2010/main" val="1352147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A28013-DC28-D966-3D56-247C8B3FE7C2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RAG OUTPUT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B0700-4002-47DE-6168-E25B0C027F62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9-title">
            <a:extLst>
              <a:ext uri="{FF2B5EF4-FFF2-40B4-BE49-F238E27FC236}">
                <a16:creationId xmlns:a16="http://schemas.microsoft.com/office/drawing/2014/main" id="{E61548FD-0553-A0E8-E581-29FBD8F80C84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기반 </a:t>
            </a:r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QA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와 다음 문항 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CE567-28D9-DC1D-E6D3-7E0A306346B0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E5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검색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무근거 응답 차단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검토 필요 초안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·Galaxy 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투영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A3B93F-0657-5A8E-745C-B417B9EA887C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0262BB4-728F-F4DE-A6BF-3C0537BE8D75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A09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9" name="그림 8" descr="Memory Galaxy reference visualization from the original RAG deck">
            <a:extLst>
              <a:ext uri="{FF2B5EF4-FFF2-40B4-BE49-F238E27FC236}">
                <a16:creationId xmlns:a16="http://schemas.microsoft.com/office/drawing/2014/main" id="{E1824F70-E55E-4772-0BE4-F0840CBEB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135320"/>
            <a:ext cx="5016500" cy="2612760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FC4A24-151F-4265-C430-4216A9C27399}"/>
              </a:ext>
            </a:extLst>
          </p:cNvPr>
          <p:cNvSpPr txBox="1"/>
          <p:nvPr/>
        </p:nvSpPr>
        <p:spPr>
          <a:xfrm>
            <a:off x="736600" y="4889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Galaxy </a:t>
            </a:r>
            <a:r>
              <a:rPr lang="ko-KR" altLang="en-US" sz="12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시각 참고</a:t>
            </a:r>
          </a:p>
        </p:txBody>
      </p:sp>
      <p:pic>
        <p:nvPicPr>
          <p:cNvPr id="12" name="그림 11" descr="Context graph application reference UI from the original RAG deck">
            <a:extLst>
              <a:ext uri="{FF2B5EF4-FFF2-40B4-BE49-F238E27FC236}">
                <a16:creationId xmlns:a16="http://schemas.microsoft.com/office/drawing/2014/main" id="{5A6F40B9-CF74-E017-B59E-F40387F27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44237"/>
            <a:ext cx="2336800" cy="1394927"/>
          </a:xfrm>
          <a:prstGeom prst="rect">
            <a:avLst/>
          </a:prstGeom>
          <a:ln w="12700">
            <a:solidFill>
              <a:srgbClr val="A9A39A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BBC289-FF3B-7F47-00C3-F8CE6F464264}"/>
              </a:ext>
            </a:extLst>
          </p:cNvPr>
          <p:cNvSpPr txBox="1"/>
          <p:nvPr/>
        </p:nvSpPr>
        <p:spPr>
          <a:xfrm>
            <a:off x="6172200" y="48895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참고 </a:t>
            </a:r>
            <a:r>
              <a:rPr lang="en-US" altLang="ko-KR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UI · Haru </a:t>
            </a:r>
            <a:r>
              <a:rPr lang="ko-KR" altLang="en-US" sz="11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 미구현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CFB7F-A9AD-C50A-ECE6-7926FC1D08F3}"/>
              </a:ext>
            </a:extLst>
          </p:cNvPr>
          <p:cNvSpPr txBox="1"/>
          <p:nvPr/>
        </p:nvSpPr>
        <p:spPr>
          <a:xfrm>
            <a:off x="9017000" y="21717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E83DC-D45C-8212-5D76-B589C38E0869}"/>
              </a:ext>
            </a:extLst>
          </p:cNvPr>
          <p:cNvSpPr txBox="1"/>
          <p:nvPr/>
        </p:nvSpPr>
        <p:spPr>
          <a:xfrm>
            <a:off x="9575800" y="2133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Grounded QA</a:t>
            </a:r>
            <a:endParaRPr lang="ko-KR" altLang="en-US" sz="17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5BF681-EC88-3055-BBD6-23E8E622CCDC}"/>
              </a:ext>
            </a:extLst>
          </p:cNvPr>
          <p:cNvSpPr txBox="1"/>
          <p:nvPr/>
        </p:nvSpPr>
        <p:spPr>
          <a:xfrm>
            <a:off x="9017000" y="25654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E5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근거 검색</a:t>
            </a:r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·Evidence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출처</a:t>
            </a:r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·no_answer</a:t>
            </a:r>
            <a:endParaRPr lang="ko-KR" altLang="en-US" sz="1200" b="1">
              <a:solidFill>
                <a:srgbClr val="4B474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92E4457-72D2-2863-ACCA-3C1FD095FD36}"/>
              </a:ext>
            </a:extLst>
          </p:cNvPr>
          <p:cNvCxnSpPr/>
          <p:nvPr/>
        </p:nvCxnSpPr>
        <p:spPr>
          <a:xfrm>
            <a:off x="9017000" y="3162300"/>
            <a:ext cx="23114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53B311-6EF2-222A-B492-749F4970B8B0}"/>
              </a:ext>
            </a:extLst>
          </p:cNvPr>
          <p:cNvSpPr txBox="1"/>
          <p:nvPr/>
        </p:nvSpPr>
        <p:spPr>
          <a:xfrm>
            <a:off x="9017000" y="33655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EBFC9-9BDE-D78D-9A65-8F77B1B97D4A}"/>
              </a:ext>
            </a:extLst>
          </p:cNvPr>
          <p:cNvSpPr txBox="1"/>
          <p:nvPr/>
        </p:nvSpPr>
        <p:spPr>
          <a:xfrm>
            <a:off x="9575800" y="3327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Next Question</a:t>
            </a:r>
            <a:endParaRPr lang="ko-KR" altLang="en-US" sz="17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9CB507-5E2E-3714-76BF-914EDFBFE9BD}"/>
              </a:ext>
            </a:extLst>
          </p:cNvPr>
          <p:cNvSpPr txBox="1"/>
          <p:nvPr/>
        </p:nvSpPr>
        <p:spPr>
          <a:xfrm>
            <a:off x="9017000" y="37592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 확인</a:t>
            </a:r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·2×2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초안</a:t>
            </a:r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·requires_review</a:t>
            </a:r>
            <a:endParaRPr lang="ko-KR" altLang="en-US" sz="1200" b="1">
              <a:solidFill>
                <a:srgbClr val="4B4742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36C1FE-62E3-B02C-71F2-C511810D5EF0}"/>
              </a:ext>
            </a:extLst>
          </p:cNvPr>
          <p:cNvCxnSpPr/>
          <p:nvPr/>
        </p:nvCxnSpPr>
        <p:spPr>
          <a:xfrm>
            <a:off x="9017000" y="4356100"/>
            <a:ext cx="23114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06A25E-67CB-2E5E-DB67-51EE53A409A1}"/>
              </a:ext>
            </a:extLst>
          </p:cNvPr>
          <p:cNvSpPr txBox="1"/>
          <p:nvPr/>
        </p:nvSpPr>
        <p:spPr>
          <a:xfrm>
            <a:off x="9017000" y="45593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2191AF-019C-B460-B479-2FFD1D396412}"/>
              </a:ext>
            </a:extLst>
          </p:cNvPr>
          <p:cNvSpPr txBox="1"/>
          <p:nvPr/>
        </p:nvSpPr>
        <p:spPr>
          <a:xfrm>
            <a:off x="9575800" y="45212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7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Memory Galaxy</a:t>
            </a:r>
            <a:endParaRPr lang="ko-KR" altLang="en-US" sz="1700" b="1">
              <a:solidFill>
                <a:srgbClr val="2A20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6F691E-AC87-A124-75F1-3C12B39D2D35}"/>
              </a:ext>
            </a:extLst>
          </p:cNvPr>
          <p:cNvSpPr txBox="1"/>
          <p:nvPr/>
        </p:nvSpPr>
        <p:spPr>
          <a:xfrm>
            <a:off x="9017000" y="49530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timeline/graph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투영 </a:t>
            </a:r>
            <a:r>
              <a:rPr lang="en-US" altLang="ko-KR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API·3D </a:t>
            </a:r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좌표 구현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17E035F-E268-F2CE-F3C6-EB3B105FC45F}"/>
              </a:ext>
            </a:extLst>
          </p:cNvPr>
          <p:cNvCxnSpPr/>
          <p:nvPr/>
        </p:nvCxnSpPr>
        <p:spPr>
          <a:xfrm>
            <a:off x="736600" y="5765800"/>
            <a:ext cx="10718800" cy="0"/>
          </a:xfrm>
          <a:prstGeom prst="line">
            <a:avLst/>
          </a:prstGeom>
          <a:ln w="25400">
            <a:solidFill>
              <a:srgbClr val="2A20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7FA428-BD64-D549-AA18-632E4D560EDD}"/>
              </a:ext>
            </a:extLst>
          </p:cNvPr>
          <p:cNvSpPr txBox="1"/>
          <p:nvPr/>
        </p:nvSpPr>
        <p:spPr>
          <a:xfrm>
            <a:off x="736600" y="59309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생성형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LLM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답변 없음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출처 없는 개인 사실 생성 없음</a:t>
            </a:r>
          </a:p>
        </p:txBody>
      </p:sp>
    </p:spTree>
    <p:extLst>
      <p:ext uri="{BB962C8B-B14F-4D97-AF65-F5344CB8AC3E}">
        <p14:creationId xmlns:p14="http://schemas.microsoft.com/office/powerpoint/2010/main" val="451491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E997D-F9D4-7AE9-7DF4-A33FDAD832B0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PRIVACY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50404-6724-EAD7-B75E-43884352EEC5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10-title">
            <a:extLst>
              <a:ext uri="{FF2B5EF4-FFF2-40B4-BE49-F238E27FC236}">
                <a16:creationId xmlns:a16="http://schemas.microsoft.com/office/drawing/2014/main" id="{C84929CC-C9DB-E5EC-64B6-DE17B26905D9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NFC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운영과 개인정보 보호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51081-0AB4-C218-442B-A10490D7D54D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가명 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ID·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식별정보 분리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최소수집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동의 철회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삭제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E225480-57F1-4024-3805-F8CD3B981414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5022F5-6252-D06C-36FC-A2AD4AA12B7F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A10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982D81-B3E0-C333-6DA4-A66CB4164E1E}"/>
              </a:ext>
            </a:extLst>
          </p:cNvPr>
          <p:cNvSpPr/>
          <p:nvPr/>
        </p:nvSpPr>
        <p:spPr>
          <a:xfrm>
            <a:off x="736600" y="2070100"/>
            <a:ext cx="4800600" cy="35560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5E9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723FE6E-FFA5-0F6F-8DEB-4FC358E9E77C}"/>
              </a:ext>
            </a:extLst>
          </p:cNvPr>
          <p:cNvSpPr/>
          <p:nvPr/>
        </p:nvSpPr>
        <p:spPr>
          <a:xfrm>
            <a:off x="1041400" y="2324100"/>
            <a:ext cx="2565400" cy="31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1FA63-E403-0079-A812-9AB5FCE25ABD}"/>
              </a:ext>
            </a:extLst>
          </p:cNvPr>
          <p:cNvSpPr txBox="1"/>
          <p:nvPr/>
        </p:nvSpPr>
        <p:spPr>
          <a:xfrm>
            <a:off x="1168400" y="23622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</a:t>
            </a:r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Raspberry Pi </a:t>
            </a:r>
            <a:r>
              <a:rPr lang="ko-KR" altLang="en-US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데모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FF45D-50B9-2E6F-1550-3994BBB62C62}"/>
              </a:ext>
            </a:extLst>
          </p:cNvPr>
          <p:cNvSpPr txBox="1"/>
          <p:nvPr/>
        </p:nvSpPr>
        <p:spPr>
          <a:xfrm>
            <a:off x="1066800" y="30607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9F3DA9-51C8-D756-99D0-09388CFD0980}"/>
              </a:ext>
            </a:extLst>
          </p:cNvPr>
          <p:cNvSpPr txBox="1"/>
          <p:nvPr/>
        </p:nvSpPr>
        <p:spPr>
          <a:xfrm>
            <a:off x="1625600" y="30099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기기 내 정적 앱 실행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9EBF2E-22B7-A855-4512-162E4ABCB1D0}"/>
              </a:ext>
            </a:extLst>
          </p:cNvPr>
          <p:cNvSpPr txBox="1"/>
          <p:nvPr/>
        </p:nvSpPr>
        <p:spPr>
          <a:xfrm>
            <a:off x="1066800" y="3606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4E3BB-E206-FD10-252C-368D0DA9D84B}"/>
              </a:ext>
            </a:extLst>
          </p:cNvPr>
          <p:cNvSpPr txBox="1"/>
          <p:nvPr/>
        </p:nvSpPr>
        <p:spPr>
          <a:xfrm>
            <a:off x="1625600" y="35560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외부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API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요청 없음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EC6B67-7EA6-B3BB-3110-A4F1233920A0}"/>
              </a:ext>
            </a:extLst>
          </p:cNvPr>
          <p:cNvSpPr txBox="1"/>
          <p:nvPr/>
        </p:nvSpPr>
        <p:spPr>
          <a:xfrm>
            <a:off x="1066800" y="41529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40867-F467-3E92-2793-DB4EAFDA61F9}"/>
              </a:ext>
            </a:extLst>
          </p:cNvPr>
          <p:cNvSpPr txBox="1"/>
          <p:nvPr/>
        </p:nvSpPr>
        <p:spPr>
          <a:xfrm>
            <a:off x="1625600" y="41021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말하기 음성 미저장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미전사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A307A-351A-324E-C5DC-B7DB92146DD8}"/>
              </a:ext>
            </a:extLst>
          </p:cNvPr>
          <p:cNvSpPr txBox="1"/>
          <p:nvPr/>
        </p:nvSpPr>
        <p:spPr>
          <a:xfrm>
            <a:off x="1066800" y="4699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0D9F7C-6958-DDD4-F109-EFC593677D13}"/>
              </a:ext>
            </a:extLst>
          </p:cNvPr>
          <p:cNvSpPr txBox="1"/>
          <p:nvPr/>
        </p:nvSpPr>
        <p:spPr>
          <a:xfrm>
            <a:off x="1625600" y="46482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진행 상태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localStorage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저장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9402119-D1DE-186B-D50C-F6BDF82F0F4B}"/>
              </a:ext>
            </a:extLst>
          </p:cNvPr>
          <p:cNvSpPr/>
          <p:nvPr/>
        </p:nvSpPr>
        <p:spPr>
          <a:xfrm>
            <a:off x="5918200" y="2070100"/>
            <a:ext cx="5537200" cy="3556000"/>
          </a:xfrm>
          <a:prstGeom prst="roundRect">
            <a:avLst/>
          </a:prstGeom>
          <a:solidFill>
            <a:srgbClr val="F4F3F1"/>
          </a:solidFill>
          <a:ln w="12700">
            <a:solidFill>
              <a:srgbClr val="A9A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60A3FA2-1EA4-26EB-42EE-8026A66D2303}"/>
              </a:ext>
            </a:extLst>
          </p:cNvPr>
          <p:cNvSpPr/>
          <p:nvPr/>
        </p:nvSpPr>
        <p:spPr>
          <a:xfrm>
            <a:off x="6223000" y="2324100"/>
            <a:ext cx="2159000" cy="31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91B26-1D79-1C33-33B9-32A2C29EFD4F}"/>
              </a:ext>
            </a:extLst>
          </p:cNvPr>
          <p:cNvSpPr txBox="1"/>
          <p:nvPr/>
        </p:nvSpPr>
        <p:spPr>
          <a:xfrm>
            <a:off x="6350000" y="236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>
                <a:solidFill>
                  <a:srgbClr val="4B474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현장실증 확장 설계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BDFF58-4DD4-F5B8-2CA9-44C2A6FCF37C}"/>
              </a:ext>
            </a:extLst>
          </p:cNvPr>
          <p:cNvSpPr txBox="1"/>
          <p:nvPr/>
        </p:nvSpPr>
        <p:spPr>
          <a:xfrm>
            <a:off x="6248400" y="30607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AF94D7-A5D9-009B-090C-A86F4E3DCB90}"/>
              </a:ext>
            </a:extLst>
          </p:cNvPr>
          <p:cNvSpPr txBox="1"/>
          <p:nvPr/>
        </p:nvSpPr>
        <p:spPr>
          <a:xfrm>
            <a:off x="6807200" y="30099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서비스 동의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 동의 분리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984043-60DC-D569-1A19-8166CA8FA2C2}"/>
              </a:ext>
            </a:extLst>
          </p:cNvPr>
          <p:cNvSpPr txBox="1"/>
          <p:nvPr/>
        </p:nvSpPr>
        <p:spPr>
          <a:xfrm>
            <a:off x="6248400" y="3606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2B16C-8980-488F-5BD4-44D8024E598B}"/>
              </a:ext>
            </a:extLst>
          </p:cNvPr>
          <p:cNvSpPr txBox="1"/>
          <p:nvPr/>
        </p:nvSpPr>
        <p:spPr>
          <a:xfrm>
            <a:off x="6807200" y="35560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NFC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가명 토큰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식별정보 분리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C9679-1504-C698-37F5-7A9D460A1518}"/>
              </a:ext>
            </a:extLst>
          </p:cNvPr>
          <p:cNvSpPr txBox="1"/>
          <p:nvPr/>
        </p:nvSpPr>
        <p:spPr>
          <a:xfrm>
            <a:off x="6248400" y="41529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9CF2F6-A6C5-0DB0-21BB-103A131E4246}"/>
              </a:ext>
            </a:extLst>
          </p:cNvPr>
          <p:cNvSpPr txBox="1"/>
          <p:nvPr/>
        </p:nvSpPr>
        <p:spPr>
          <a:xfrm>
            <a:off x="6807200" y="41021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로컬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STT·RAG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와 역할별 최소 공개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36BAA5-0AEA-58A3-6F08-F884FDFADCA7}"/>
              </a:ext>
            </a:extLst>
          </p:cNvPr>
          <p:cNvSpPr txBox="1"/>
          <p:nvPr/>
        </p:nvSpPr>
        <p:spPr>
          <a:xfrm>
            <a:off x="6248400" y="4699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6A27F7-DC00-8559-6440-0458F8C04ADF}"/>
              </a:ext>
            </a:extLst>
          </p:cNvPr>
          <p:cNvSpPr txBox="1"/>
          <p:nvPr/>
        </p:nvSpPr>
        <p:spPr>
          <a:xfrm>
            <a:off x="6807200" y="46482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철회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기간 종료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삭제 요청 처리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4126210-5969-176F-CB07-0F7CE94A4F28}"/>
              </a:ext>
            </a:extLst>
          </p:cNvPr>
          <p:cNvSpPr/>
          <p:nvPr/>
        </p:nvSpPr>
        <p:spPr>
          <a:xfrm>
            <a:off x="2032000" y="5930900"/>
            <a:ext cx="8128000" cy="431800"/>
          </a:xfrm>
          <a:prstGeom prst="roundRect">
            <a:avLst/>
          </a:prstGeom>
          <a:solidFill>
            <a:srgbClr val="FBF5E9"/>
          </a:solidFill>
          <a:ln w="12700">
            <a:solidFill>
              <a:srgbClr val="E7D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17C469-240A-1549-9A64-179B15F03BAA}"/>
              </a:ext>
            </a:extLst>
          </p:cNvPr>
          <p:cNvSpPr txBox="1"/>
          <p:nvPr/>
        </p:nvSpPr>
        <p:spPr>
          <a:xfrm>
            <a:off x="2286000" y="6019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300" b="1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데모와 현장 확장 설계의 데이터 범위를 혼합하지 않는 원칙</a:t>
            </a:r>
          </a:p>
        </p:txBody>
      </p:sp>
    </p:spTree>
    <p:extLst>
      <p:ext uri="{BB962C8B-B14F-4D97-AF65-F5344CB8AC3E}">
        <p14:creationId xmlns:p14="http://schemas.microsoft.com/office/powerpoint/2010/main" val="119540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E5D26A-243F-680A-DF2C-C7E25EEC6F74}"/>
              </a:ext>
            </a:extLst>
          </p:cNvPr>
          <p:cNvSpPr txBox="1"/>
          <p:nvPr/>
        </p:nvSpPr>
        <p:spPr>
          <a:xfrm>
            <a:off x="736600" y="317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100" b="1">
                <a:solidFill>
                  <a:srgbClr val="77A9D7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APPENDIX · VALIDATION</a:t>
            </a:r>
            <a:endParaRPr lang="ko-KR" altLang="en-US" sz="1100" b="1">
              <a:solidFill>
                <a:srgbClr val="77A9D7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34093-0AC0-4221-80A4-58825C1994D8}"/>
              </a:ext>
            </a:extLst>
          </p:cNvPr>
          <p:cNvSpPr txBox="1"/>
          <p:nvPr/>
        </p:nvSpPr>
        <p:spPr>
          <a:xfrm>
            <a:off x="10795000" y="304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Haru</a:t>
            </a:r>
            <a:endParaRPr lang="ko-KR" altLang="en-US" sz="13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appendix-11-title">
            <a:extLst>
              <a:ext uri="{FF2B5EF4-FFF2-40B4-BE49-F238E27FC236}">
                <a16:creationId xmlns:a16="http://schemas.microsoft.com/office/drawing/2014/main" id="{7DA4C07D-CD9C-C46D-0053-7C3D78326C62}"/>
              </a:ext>
            </a:extLst>
          </p:cNvPr>
          <p:cNvSpPr txBox="1"/>
          <p:nvPr/>
        </p:nvSpPr>
        <p:spPr>
          <a:xfrm>
            <a:off x="736600" y="6096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IRB </a:t>
            </a:r>
            <a:r>
              <a:rPr lang="ko-KR" altLang="en-US" sz="33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연구와 특허 권리화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F4C40-B655-0CD4-15C4-CDEE0E31555C}"/>
              </a:ext>
            </a:extLst>
          </p:cNvPr>
          <p:cNvSpPr txBox="1"/>
          <p:nvPr/>
        </p:nvSpPr>
        <p:spPr>
          <a:xfrm>
            <a:off x="736600" y="1270000"/>
            <a:ext cx="1071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대상자 검증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출원 중 인터페이스</a:t>
            </a:r>
            <a:r>
              <a:rPr lang="en-US" altLang="ko-KR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논문화 경로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600EC97-F848-7F24-8F41-6B4E7DC14765}"/>
              </a:ext>
            </a:extLst>
          </p:cNvPr>
          <p:cNvCxnSpPr/>
          <p:nvPr/>
        </p:nvCxnSpPr>
        <p:spPr>
          <a:xfrm>
            <a:off x="736600" y="1727200"/>
            <a:ext cx="10718800" cy="0"/>
          </a:xfrm>
          <a:prstGeom prst="line">
            <a:avLst/>
          </a:prstGeom>
          <a:ln w="12700">
            <a:solidFill>
              <a:srgbClr val="E7DB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CA9AE7-D162-E093-8C36-1E04DB2060DF}"/>
              </a:ext>
            </a:extLst>
          </p:cNvPr>
          <p:cNvSpPr txBox="1"/>
          <p:nvPr/>
        </p:nvSpPr>
        <p:spPr>
          <a:xfrm>
            <a:off x="10693400" y="6426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100">
                <a:solidFill>
                  <a:srgbClr val="6C5D4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A11</a:t>
            </a:r>
            <a:endParaRPr lang="ko-KR" altLang="en-US" sz="1100">
              <a:solidFill>
                <a:srgbClr val="6C5D4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7C88DE0-9083-D2EB-EBFD-60D996129216}"/>
              </a:ext>
            </a:extLst>
          </p:cNvPr>
          <p:cNvSpPr/>
          <p:nvPr/>
        </p:nvSpPr>
        <p:spPr>
          <a:xfrm>
            <a:off x="736600" y="2070100"/>
            <a:ext cx="5054600" cy="3556000"/>
          </a:xfrm>
          <a:prstGeom prst="roundRect">
            <a:avLst/>
          </a:prstGeom>
          <a:solidFill>
            <a:srgbClr val="FFF0ED"/>
          </a:solidFill>
          <a:ln w="12700">
            <a:solidFill>
              <a:srgbClr val="F572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DE68C-72B4-2941-BF98-AF338C9F0B50}"/>
              </a:ext>
            </a:extLst>
          </p:cNvPr>
          <p:cNvSpPr txBox="1"/>
          <p:nvPr/>
        </p:nvSpPr>
        <p:spPr>
          <a:xfrm>
            <a:off x="1041400" y="2387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3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특허 권리화 범위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6BCC3-9628-C1A5-8C8B-B823C7D165C5}"/>
              </a:ext>
            </a:extLst>
          </p:cNvPr>
          <p:cNvSpPr txBox="1"/>
          <p:nvPr/>
        </p:nvSpPr>
        <p:spPr>
          <a:xfrm>
            <a:off x="1066800" y="3200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07741-DE0C-A827-7FDB-CA46DB7657D2}"/>
              </a:ext>
            </a:extLst>
          </p:cNvPr>
          <p:cNvSpPr txBox="1"/>
          <p:nvPr/>
        </p:nvSpPr>
        <p:spPr>
          <a:xfrm>
            <a:off x="1625600" y="3149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화면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물리 버튼의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고정 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41C19-AE96-6ED3-F426-EAA206FB6280}"/>
              </a:ext>
            </a:extLst>
          </p:cNvPr>
          <p:cNvSpPr txBox="1"/>
          <p:nvPr/>
        </p:nvSpPr>
        <p:spPr>
          <a:xfrm>
            <a:off x="1066800" y="3733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0CDE9-3415-F6B6-A52B-2ED024DEE569}"/>
              </a:ext>
            </a:extLst>
          </p:cNvPr>
          <p:cNvSpPr txBox="1"/>
          <p:nvPr/>
        </p:nvSpPr>
        <p:spPr>
          <a:xfrm>
            <a:off x="1625600" y="3683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선택 후 같은 버튼 재입력 확정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0B8F68-6232-EA5D-A4CB-2B67BFC7499C}"/>
              </a:ext>
            </a:extLst>
          </p:cNvPr>
          <p:cNvSpPr txBox="1"/>
          <p:nvPr/>
        </p:nvSpPr>
        <p:spPr>
          <a:xfrm>
            <a:off x="1066800" y="4267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C513E-D104-BB89-409E-0983BD4B8D70}"/>
              </a:ext>
            </a:extLst>
          </p:cNvPr>
          <p:cNvSpPr txBox="1"/>
          <p:nvPr/>
        </p:nvSpPr>
        <p:spPr>
          <a:xfrm>
            <a:off x="1625600" y="421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고령자용 단순 상호작용 흐름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DDFC2-911C-9C91-4EE6-CB790E3C78B3}"/>
              </a:ext>
            </a:extLst>
          </p:cNvPr>
          <p:cNvSpPr txBox="1"/>
          <p:nvPr/>
        </p:nvSpPr>
        <p:spPr>
          <a:xfrm>
            <a:off x="1066800" y="4800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200" b="1">
              <a:solidFill>
                <a:srgbClr val="F57265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7E3EA-CD75-4A8B-D46A-1DA26BDB23D2}"/>
              </a:ext>
            </a:extLst>
          </p:cNvPr>
          <p:cNvSpPr txBox="1"/>
          <p:nvPr/>
        </p:nvSpPr>
        <p:spPr>
          <a:xfrm>
            <a:off x="1625600" y="474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현재 상태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: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출원서 제출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변리사 상담 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6A68D52-A0BA-21B5-4C3E-B6337AF94C26}"/>
              </a:ext>
            </a:extLst>
          </p:cNvPr>
          <p:cNvSpPr/>
          <p:nvPr/>
        </p:nvSpPr>
        <p:spPr>
          <a:xfrm>
            <a:off x="6400800" y="2070100"/>
            <a:ext cx="5054600" cy="3556000"/>
          </a:xfrm>
          <a:prstGeom prst="roundRect">
            <a:avLst/>
          </a:prstGeom>
          <a:solidFill>
            <a:srgbClr val="EAF3E4"/>
          </a:solidFill>
          <a:ln w="12700">
            <a:solidFill>
              <a:srgbClr val="5E9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E168F-4283-A465-857D-ED1DCA37376E}"/>
              </a:ext>
            </a:extLst>
          </p:cNvPr>
          <p:cNvSpPr txBox="1"/>
          <p:nvPr/>
        </p:nvSpPr>
        <p:spPr>
          <a:xfrm>
            <a:off x="6705600" y="2387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IRB </a:t>
            </a:r>
            <a:r>
              <a:rPr lang="ko-KR" altLang="en-US" sz="23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독립 연구 범위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A784F-D43B-2233-087D-AF75947E110E}"/>
              </a:ext>
            </a:extLst>
          </p:cNvPr>
          <p:cNvSpPr txBox="1"/>
          <p:nvPr/>
        </p:nvSpPr>
        <p:spPr>
          <a:xfrm>
            <a:off x="6731000" y="3200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01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87541-A713-27C9-8583-66031D9C4C0F}"/>
              </a:ext>
            </a:extLst>
          </p:cNvPr>
          <p:cNvSpPr txBox="1"/>
          <p:nvPr/>
        </p:nvSpPr>
        <p:spPr>
          <a:xfrm>
            <a:off x="7289800" y="3149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이해관계 없는 목표 연령대 참여자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9941AC-2C50-C7D8-11CB-D4FDDCB1AC84}"/>
              </a:ext>
            </a:extLst>
          </p:cNvPr>
          <p:cNvSpPr txBox="1"/>
          <p:nvPr/>
        </p:nvSpPr>
        <p:spPr>
          <a:xfrm>
            <a:off x="6731000" y="3733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02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D330C2-0479-5435-E637-375944DCD7B0}"/>
              </a:ext>
            </a:extLst>
          </p:cNvPr>
          <p:cNvSpPr txBox="1"/>
          <p:nvPr/>
        </p:nvSpPr>
        <p:spPr>
          <a:xfrm>
            <a:off x="7289800" y="3683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2×2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문항 수행의 사용성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보조 필요도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B42328-F4A2-8D3E-4C53-1744AD6B4822}"/>
              </a:ext>
            </a:extLst>
          </p:cNvPr>
          <p:cNvSpPr txBox="1"/>
          <p:nvPr/>
        </p:nvSpPr>
        <p:spPr>
          <a:xfrm>
            <a:off x="6731000" y="4267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03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4777AF-3375-CF0F-001B-F132D2811330}"/>
              </a:ext>
            </a:extLst>
          </p:cNvPr>
          <p:cNvSpPr txBox="1"/>
          <p:nvPr/>
        </p:nvSpPr>
        <p:spPr>
          <a:xfrm>
            <a:off x="7289800" y="4216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참여 경험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오류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재시도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이탈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304EE5-9640-9AD1-95E0-58FB524AD658}"/>
              </a:ext>
            </a:extLst>
          </p:cNvPr>
          <p:cNvSpPr txBox="1"/>
          <p:nvPr/>
        </p:nvSpPr>
        <p:spPr>
          <a:xfrm>
            <a:off x="6731000" y="4800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b="1">
                <a:solidFill>
                  <a:srgbClr val="5E9A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04</a:t>
            </a:r>
            <a:endParaRPr lang="ko-KR" altLang="en-US" sz="1200" b="1">
              <a:solidFill>
                <a:srgbClr val="5E9A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C90B71-714D-51E5-C37D-0D651E0090D8}"/>
              </a:ext>
            </a:extLst>
          </p:cNvPr>
          <p:cNvSpPr txBox="1"/>
          <p:nvPr/>
        </p:nvSpPr>
        <p:spPr>
          <a:xfrm>
            <a:off x="7289800" y="474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 후 결과 기반 </a:t>
            </a:r>
            <a:r>
              <a:rPr lang="en-US" altLang="ko-KR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KCI·SCI </a:t>
            </a:r>
            <a:r>
              <a:rPr lang="ko-KR" altLang="en-US" sz="1500" b="1">
                <a:solidFill>
                  <a:srgbClr val="2A20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논문화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3831F6-11C2-E759-4652-2464DBFFBB3F}"/>
              </a:ext>
            </a:extLst>
          </p:cNvPr>
          <p:cNvSpPr txBox="1"/>
          <p:nvPr/>
        </p:nvSpPr>
        <p:spPr>
          <a:xfrm>
            <a:off x="2921000" y="5943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특허 등록</a:t>
            </a:r>
            <a:r>
              <a:rPr lang="en-US" altLang="ko-KR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·IRB </a:t>
            </a:r>
            <a:r>
              <a:rPr lang="ko-KR" altLang="en-US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승인</a:t>
            </a:r>
            <a:r>
              <a:rPr lang="en-US" altLang="ko-KR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500" b="1">
                <a:solidFill>
                  <a:srgbClr val="F57265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효과 입증 상태 아님</a:t>
            </a:r>
          </a:p>
        </p:txBody>
      </p:sp>
    </p:spTree>
    <p:extLst>
      <p:ext uri="{BB962C8B-B14F-4D97-AF65-F5344CB8AC3E}">
        <p14:creationId xmlns:p14="http://schemas.microsoft.com/office/powerpoint/2010/main" val="3750004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3772</Words>
  <Application>Microsoft Office PowerPoint</Application>
  <PresentationFormat>사용자 지정</PresentationFormat>
  <Paragraphs>696</Paragraphs>
  <Slides>23</Slides>
  <Notes>23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Hyunjun Kim</dc:creator>
  <cp:lastModifiedBy>Hyunjun Kim</cp:lastModifiedBy>
  <cp:revision>1</cp:revision>
  <dcterms:created xsi:type="dcterms:W3CDTF">2026-08-16T11:19:47Z</dcterms:created>
  <dcterms:modified xsi:type="dcterms:W3CDTF">2026-08-16T11:19:47Z</dcterms:modified>
</cp:coreProperties>
</file>