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"/>
            <a:ext cx="1554480" cy="329184"/>
          </a:xfrm>
          <a:prstGeom prst="round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왜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5"/>
                </a:solidFill>
                <a:latin typeface="Malgun Gothic"/>
              </a:defRPr>
            </a:pPr>
            <a:r>
              <a:t>노인 사용자의 ‘개인적 이야기’를 장기 기억 자산으로 전환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C79"/>
                </a:solidFill>
                <a:latin typeface="Malgun Gothic"/>
              </a:defRPr>
            </a:pPr>
            <a:r>
              <a:t>매일의 회상형 문항 응답을 시간축 기반 Episode와 Knowledge Graph로 축적하면, 추후 상담·리마인드·개인화 서비스의 공통 인프라가 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37947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27048"/>
            <a:ext cx="3465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사업 맥락에서의 의미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342900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노인 사용자는 일상적인 ‘개인적 이야기’를 말하는 문항에 더 자연스럽게 반응합니다.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이 답변을 단순 저장하지 않고, 날짜·인물·장소·활동·감정 단위로 구조화하면 장기적인 개인 기억 데이터베이스가 됩니다.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축적된 기억은 향후 새로운 문항 생성, 상담사 QA, 이상 징후 파악, 가족 커뮤니케이션에 재활용됩니다.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핵심은 ‘기억 데이터’가 아니라 ‘검색 가능하고 설명 가능한 개인 기억 자산’을 만드는 것입니다.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413248"/>
            <a:ext cx="3493008" cy="493776"/>
          </a:xfrm>
          <a:prstGeom prst="roundRect">
            <a:avLst/>
          </a:prstGeom>
          <a:solidFill>
            <a:srgbClr val="FF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핵심 메시지</a:t>
            </a:r>
          </a:p>
          <a:p>
            <a:pPr>
              <a:defRPr sz="1100">
                <a:solidFill>
                  <a:srgbClr val="263238"/>
                </a:solidFill>
                <a:latin typeface="Malgun Gothic"/>
              </a:defRPr>
            </a:pPr>
            <a:r>
              <a:t>질문 → 이야기 → 구조화 기억 → 근거 기반 서비스</a:t>
            </a:r>
          </a:p>
        </p:txBody>
      </p:sp>
      <p:pic>
        <p:nvPicPr>
          <p:cNvPr id="11" name="Picture 10" descr="09_grounded_memory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75534"/>
            <a:ext cx="7269480" cy="300985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34840" y="1417320"/>
            <a:ext cx="7269480" cy="4526280"/>
          </a:xfrm>
          <a:prstGeom prst="roundRect">
            <a:avLst/>
          </a:prstGeom>
          <a:noFill/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553212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06C79"/>
                </a:solidFill>
                <a:latin typeface="Malgun Gothic"/>
              </a:defRPr>
            </a:pPr>
            <a:r>
              <a:t>메시지 포인트: 입력(일상 문항 응답) → 저장/구조화 → 자연어 회상·QA 로 이어지는 전체 플로우를 한 장으로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9"/>
                </a:solidFill>
                <a:latin typeface="Malgun Gothic"/>
              </a:defRPr>
            </a:pPr>
            <a:r>
              <a:t>참고 이미지: Grounded Memory for Multimodal Retrieval-Augmented Personal AI Agents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"/>
            <a:ext cx="1554480" cy="329184"/>
          </a:xfrm>
          <a:prstGeom prst="round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어떻게 구현하나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5"/>
                </a:solidFill>
                <a:latin typeface="Malgun Gothic"/>
              </a:defRPr>
            </a:pPr>
            <a:r>
              <a:t>제안 기술 스택: Temporal Memory Graph + Hybrid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C79"/>
                </a:solidFill>
                <a:latin typeface="Malgun Gothic"/>
              </a:defRPr>
            </a:pPr>
            <a:r>
              <a:t>우리 서비스는 ‘개인 기억 그래프’와 ‘벡터 검색’을 결합해, 신뢰 가능한 QA와 개인화 문항 생성을 동시에 지원합니다.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749039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81328"/>
            <a:ext cx="3419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권장 아키텍처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3383279" cy="4160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① Episode 저장: 사용자의 일별 응답 원문을 날짜별 event log로 저장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② KG 추출: 인물·장소·활동·음식·감정·계획 등을 엔티티/관계로 추출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③ Vector Index: 원문과 요약을 임베딩해 의미 기반 검색 가능하게 구성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④ Provenance: 모든 답변은 원문 episode로 역추적 가능해야 함</a:t>
            </a:r>
          </a:p>
          <a:p>
            <a:pPr>
              <a:spcAft>
                <a:spcPts val="800"/>
              </a:spcAft>
              <a:defRPr sz="1250">
                <a:solidFill>
                  <a:srgbClr val="263238"/>
                </a:solidFill>
                <a:latin typeface="Malgun Gothic"/>
              </a:defRPr>
            </a:pPr>
            <a:r>
              <a:t>⑤ Safety Layer: 민감 정보와 낮은 STT 신뢰도는 검토 큐로 분리</a:t>
            </a:r>
          </a:p>
        </p:txBody>
      </p:sp>
      <p:pic>
        <p:nvPicPr>
          <p:cNvPr id="10" name="Picture 9" descr="01_neo4j_memory_graph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77" y="1325880"/>
            <a:ext cx="4457764" cy="2286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89120" y="1325880"/>
            <a:ext cx="7269480" cy="2286000"/>
          </a:xfrm>
          <a:prstGeom prst="roundRect">
            <a:avLst/>
          </a:prstGeom>
          <a:noFill/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context_graph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136" y="3794760"/>
            <a:ext cx="3433447" cy="20116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89120" y="3794760"/>
            <a:ext cx="7269480" cy="2011680"/>
          </a:xfrm>
          <a:prstGeom prst="roundRect">
            <a:avLst/>
          </a:prstGeom>
          <a:noFill/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6217920"/>
            <a:ext cx="1097280" cy="384048"/>
          </a:xfrm>
          <a:prstGeom prst="roundRect">
            <a:avLst/>
          </a:prstGeom>
          <a:solidFill>
            <a:srgbClr val="E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Application</a:t>
            </a:r>
          </a:p>
          <a:p>
            <a:pPr>
              <a:defRPr sz="1100">
                <a:solidFill>
                  <a:srgbClr val="263238"/>
                </a:solidFill>
                <a:latin typeface="Malgun Gothic"/>
              </a:defRPr>
            </a:pPr>
            <a:r>
              <a:t>개인화 문항 생성 · 상담사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6217920"/>
            <a:ext cx="1097280" cy="384048"/>
          </a:xfrm>
          <a:prstGeom prst="roundRect">
            <a:avLst/>
          </a:prstGeom>
          <a:solidFill>
            <a:srgbClr val="E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Memory Core</a:t>
            </a:r>
          </a:p>
          <a:p>
            <a:pPr>
              <a:defRPr sz="1100">
                <a:solidFill>
                  <a:srgbClr val="263238"/>
                </a:solidFill>
                <a:latin typeface="Malgun Gothic"/>
              </a:defRPr>
            </a:pPr>
            <a:r>
              <a:t>KG + Vector +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6217920"/>
            <a:ext cx="1097280" cy="384048"/>
          </a:xfrm>
          <a:prstGeom prst="roundRect">
            <a:avLst/>
          </a:prstGeom>
          <a:solidFill>
            <a:srgbClr val="FF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B45"/>
                </a:solidFill>
                <a:latin typeface="Malgun Gothic"/>
              </a:defRPr>
            </a:pPr>
            <a:r>
              <a:t>Trust</a:t>
            </a:r>
          </a:p>
          <a:p>
            <a:pPr>
              <a:defRPr sz="1100">
                <a:solidFill>
                  <a:srgbClr val="263238"/>
                </a:solidFill>
                <a:latin typeface="Malgun Gothic"/>
              </a:defRPr>
            </a:pPr>
            <a:r>
              <a:t>근거 원문 · 검토 큐 · 설명 가능성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9"/>
                </a:solidFill>
                <a:latin typeface="Malgun Gothic"/>
              </a:defRPr>
            </a:pPr>
            <a:r>
              <a:t>참고 이미지: Neo4j Agent Memory / Create Context Graph / Graphiti 등 공개 연구·Repo 기반 재구성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8016"/>
            <a:ext cx="1554480" cy="329184"/>
          </a:xfrm>
          <a:prstGeom prst="roundRect">
            <a:avLst/>
          </a:prstGeom>
          <a:solidFill>
            <a:srgbClr val="219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무엇을 보여줄까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5"/>
                </a:solidFill>
                <a:latin typeface="Malgun Gothic"/>
              </a:defRPr>
            </a:pPr>
            <a:r>
              <a:t>VC Demo 포인트: ‘보이는 기억’이 곧 제품 차별화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06C79"/>
                </a:solidFill>
                <a:latin typeface="Malgun Gothic"/>
              </a:defRPr>
            </a:pPr>
            <a:r>
              <a:t>3D 공간에 개인 기억이 유사도 기반으로 배치되고, 클릭 시 근거 문장·연관 엔티티·상담용 QA가 연결되면 기술과 사업성을 동시에 전달할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6187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19EBC"/>
                </a:solidFill>
                <a:latin typeface="Malgun Gothic"/>
              </a:defRPr>
            </a:pPr>
            <a:r>
              <a:t>3D Memory Galaxy</a:t>
            </a:r>
          </a:p>
          <a:p>
            <a:pPr algn="ctr">
              <a:defRPr sz="1050">
                <a:solidFill>
                  <a:srgbClr val="606C79"/>
                </a:solidFill>
                <a:latin typeface="Malgun Gothic"/>
              </a:defRPr>
            </a:pPr>
            <a:r>
              <a:t>개인의 반복 루틴·관계·추억이 군집으로 보임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6187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19EBC"/>
                </a:solidFill>
                <a:latin typeface="Malgun Gothic"/>
              </a:defRPr>
            </a:pPr>
            <a:r>
              <a:t>Grounded QA</a:t>
            </a:r>
          </a:p>
          <a:p>
            <a:pPr algn="ctr">
              <a:defRPr sz="1050">
                <a:solidFill>
                  <a:srgbClr val="606C79"/>
                </a:solidFill>
                <a:latin typeface="Malgun Gothic"/>
              </a:defRPr>
            </a:pPr>
            <a:r>
              <a:t>상담사는 ‘원문 근거 포함’ 답변을 즉시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6187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19EBC"/>
                </a:solidFill>
                <a:latin typeface="Malgun Gothic"/>
              </a:defRPr>
            </a:pPr>
            <a:r>
              <a:t>Next Question</a:t>
            </a:r>
          </a:p>
          <a:p>
            <a:pPr algn="ctr">
              <a:defRPr sz="1050">
                <a:solidFill>
                  <a:srgbClr val="606C79"/>
                </a:solidFill>
                <a:latin typeface="Malgun Gothic"/>
              </a:defRPr>
            </a:pPr>
            <a:r>
              <a:t>전날 기억과 장기 프로필을 활용해 다음 문항 자동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261872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19EBC"/>
                </a:solidFill>
                <a:latin typeface="Malgun Gothic"/>
              </a:defRPr>
            </a:pPr>
            <a:r>
              <a:t>Care Insight</a:t>
            </a:r>
          </a:p>
          <a:p>
            <a:pPr algn="ctr">
              <a:defRPr sz="1050">
                <a:solidFill>
                  <a:srgbClr val="606C79"/>
                </a:solidFill>
                <a:latin typeface="Malgun Gothic"/>
              </a:defRPr>
            </a:pPr>
            <a:r>
              <a:t>변화 감지·관심사 파악·상담 준비 시간을 단축</a:t>
            </a:r>
          </a:p>
        </p:txBody>
      </p:sp>
      <p:pic>
        <p:nvPicPr>
          <p:cNvPr id="11" name="Picture 10" descr="12_react_force_graph_3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96978"/>
            <a:ext cx="4983480" cy="25955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2240280"/>
            <a:ext cx="4983480" cy="3108960"/>
          </a:xfrm>
          <a:prstGeom prst="roundRect">
            <a:avLst/>
          </a:prstGeom>
          <a:noFill/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context_graph_app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53" y="2240280"/>
            <a:ext cx="5208172" cy="3108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0" y="2240280"/>
            <a:ext cx="5989320" cy="3108960"/>
          </a:xfrm>
          <a:prstGeom prst="roundRect">
            <a:avLst/>
          </a:prstGeom>
          <a:noFill/>
          <a:ln w="12700">
            <a:solidFill>
              <a:srgbClr val="D7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5504688"/>
            <a:ext cx="11155680" cy="676656"/>
          </a:xfrm>
          <a:prstGeom prst="roundRect">
            <a:avLst/>
          </a:prstGeom>
          <a:solidFill>
            <a:srgbClr val="E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22B45"/>
                </a:solidFill>
                <a:latin typeface="Malgun Gothic"/>
              </a:defRPr>
            </a:pPr>
            <a:r>
              <a:t>발표 메시지 예시: “우리는 노인의 개인적인 이야기를 단순 대화 로그로 남기지 않습니다. 기억 그래프와 RAG를 통해 재사용 가능한 ‘개인 기억 인프라’를 만들고, 이를 상담 효율·개인화·리텐션으로 연결합니다.”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19088"/>
            <a:ext cx="11384280" cy="1828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06C79"/>
                </a:solidFill>
                <a:latin typeface="Malgun Gothic"/>
              </a:defRPr>
            </a:pPr>
            <a:r>
              <a:t>참고 이미지: react-force-graph / Create Context Graph 기반 UI 예시. 실제 데모는 사용자별 벡터-유사도 배치와 근거 패널을 결합해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