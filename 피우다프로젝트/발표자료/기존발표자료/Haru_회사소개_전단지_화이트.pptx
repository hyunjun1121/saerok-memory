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236AD-0F3C-AF3B-8625-2C00341FB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960" y="1749795"/>
            <a:ext cx="5669756" cy="3722335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D6D327-5D2A-4ADA-77E7-1A90A42A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10" indent="0" algn="ctr">
              <a:buNone/>
              <a:defRPr sz="1240"/>
            </a:lvl2pPr>
            <a:lvl3pPr marL="567019" indent="0" algn="ctr">
              <a:buNone/>
              <a:defRPr sz="1116"/>
            </a:lvl3pPr>
            <a:lvl4pPr marL="850529" indent="0" algn="ctr">
              <a:buNone/>
              <a:defRPr sz="992"/>
            </a:lvl4pPr>
            <a:lvl5pPr marL="1134039" indent="0" algn="ctr">
              <a:buNone/>
              <a:defRPr sz="992"/>
            </a:lvl5pPr>
            <a:lvl6pPr marL="1417549" indent="0" algn="ctr">
              <a:buNone/>
              <a:defRPr sz="992"/>
            </a:lvl6pPr>
            <a:lvl7pPr marL="1701058" indent="0" algn="ctr">
              <a:buNone/>
              <a:defRPr sz="992"/>
            </a:lvl7pPr>
            <a:lvl8pPr marL="1984568" indent="0" algn="ctr">
              <a:buNone/>
              <a:defRPr sz="992"/>
            </a:lvl8pPr>
            <a:lvl9pPr marL="2268078" indent="0" algn="ctr">
              <a:buNone/>
              <a:defRPr sz="992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6399D-7F60-D30D-2ECF-D12DD1FA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97B75-6C95-51B2-C07B-2BF95051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DFF9-28E9-FCD1-F775-9971EB8C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1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05EFF-594B-BFFB-1A24-24473565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21759-6C6C-5037-1D77-B8EA9B631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D214E-B51E-387E-5456-E26FCB49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FB92A1-8CE7-3FD5-5AD6-F27E17D5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1641C1-3FA5-F197-AE1D-6CC888BC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74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27CC5-351F-12AE-45C4-65621ED6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790" y="2665532"/>
            <a:ext cx="6520220" cy="4447496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9BE0B3-2862-0158-2FE0-AA61C0ADE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790" y="7155103"/>
            <a:ext cx="6520220" cy="2338833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1pPr>
            <a:lvl2pPr marL="283510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2pPr>
            <a:lvl3pPr marL="56701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3pPr>
            <a:lvl4pPr marL="85052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4pPr>
            <a:lvl5pPr marL="113403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5pPr>
            <a:lvl6pPr marL="141754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6pPr>
            <a:lvl7pPr marL="170105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7pPr>
            <a:lvl8pPr marL="198456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8pPr>
            <a:lvl9pPr marL="226807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5665D-6530-E506-13BB-963DD102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83B3AB-632D-9182-278C-29016F8C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A310F-9FC3-018F-9220-ED5FFE03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83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7BD68-B10D-3106-EACF-74CD195D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9F586-744D-BF4A-36CA-1F779938E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46867B-B4A4-DB4F-4377-6EF26108F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9D9CB1-C3B8-66C5-F4F5-5E664A10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D9566D-B9FF-1F8D-223F-C020EADD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069D0-CE73-E1CD-A6B0-E536CD6A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70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44B10-A64C-D8A8-97C8-7F5A3519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37844E-1A96-E45D-2CD9-D8C607193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FAD843-4055-C549-1D4B-BA307E31E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7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80F4D8-FCB8-81D4-BBC0-7D82271E0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CCAFB4-CECD-87C3-9428-523E46142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D72CD8-731C-1422-8176-3375F3EF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25DBB0-02DC-378A-5961-C6C1A5FA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7DD084-0F52-EBDD-9EB0-1B68FB78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31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A3003-7E7A-AC3D-9181-D90180A2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F6D897-159C-10EE-7F60-3B5FD319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B9376C-AC48-008C-3619-997E1A58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EB5A85-002D-C926-437D-C0BD0806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68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899EA6-15CD-74F0-2788-251DCFA5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2703E0-D4F4-DC25-C8E4-23A2822E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6F7AA-0F2F-FF86-1B66-57402C6C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35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9EA7B-C72C-DD37-AF36-744C5C55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9A3CD-9B6D-E1A7-C7B2-6AED83F1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8902A-4821-5F54-0BB1-77C5396AC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50B9F3-77C9-2C7E-4A9A-068C829A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E0CE2B-5C27-1A14-D769-11ECD4B3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B66136-CDC0-0239-6138-3A77D2B1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5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D4735-4136-FDA1-2007-0B070809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7A58CB-E987-B320-ED97-C3331898E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 marL="0" indent="0">
              <a:buNone/>
              <a:defRPr sz="1984"/>
            </a:lvl1pPr>
            <a:lvl2pPr marL="283510" indent="0">
              <a:buNone/>
              <a:defRPr sz="1736"/>
            </a:lvl2pPr>
            <a:lvl3pPr marL="567019" indent="0">
              <a:buNone/>
              <a:defRPr sz="1488"/>
            </a:lvl3pPr>
            <a:lvl4pPr marL="850529" indent="0">
              <a:buNone/>
              <a:defRPr sz="1240"/>
            </a:lvl4pPr>
            <a:lvl5pPr marL="1134039" indent="0">
              <a:buNone/>
              <a:defRPr sz="1240"/>
            </a:lvl5pPr>
            <a:lvl6pPr marL="1417549" indent="0">
              <a:buNone/>
              <a:defRPr sz="1240"/>
            </a:lvl6pPr>
            <a:lvl7pPr marL="1701058" indent="0">
              <a:buNone/>
              <a:defRPr sz="1240"/>
            </a:lvl7pPr>
            <a:lvl8pPr marL="1984568" indent="0">
              <a:buNone/>
              <a:defRPr sz="1240"/>
            </a:lvl8pPr>
            <a:lvl9pPr marL="2268078" indent="0">
              <a:buNone/>
              <a:defRPr sz="124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EE2215-DAC0-DB54-829B-2D2A1AB2C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1B63B-84E4-836D-FEB4-F65437EE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76A713-DB40-6851-16E1-A0FD7C7E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F9BD4-62A5-33DA-FC88-69ED2BE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18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8FDD3-68AA-FAB2-C057-2FAB5234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6736A9-86E9-9500-9C24-6CD9F850D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4995E-8EB1-1516-77B3-6E295476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6A753-B9DF-5671-B018-0234B84E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27B87-D776-CBB2-8D95-0593E57E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69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547B9D-1205-B772-769C-9ECEC2A9A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1136F2-188D-B381-F11A-9ACD26B87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729" y="569240"/>
            <a:ext cx="4795669" cy="9060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9FF5B0-3409-0ED8-EFFA-01C016DF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E50817-7053-C10F-24C9-EB6EC9AE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3B58B-A675-3949-34E3-1B713E57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29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0C00AB-5229-636E-D249-EC309250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198735-0E09-9A0C-5928-551FFB88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FC81F-0A7B-125E-7BA0-247E5DD63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729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D4EBF-D039-407F-AA73-3C7E3570900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FF631C-CE5F-2D5C-2FE1-D9853621D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C39C33-301B-758F-EC63-A29DAB231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785C5-5FED-4235-8FFD-147CAF47D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24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7019" rtl="0" eaLnBrk="1" latinLnBrk="1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1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fif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992A9D-0769-EA84-2995-5FE8E7ACD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64" y="292100"/>
            <a:ext cx="971971" cy="495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5462F2-17CD-FCFD-8570-EEF51CD845F2}"/>
              </a:ext>
            </a:extLst>
          </p:cNvPr>
          <p:cNvSpPr txBox="1"/>
          <p:nvPr/>
        </p:nvSpPr>
        <p:spPr>
          <a:xfrm>
            <a:off x="4533900" y="457200"/>
            <a:ext cx="2501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8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AI </a:t>
            </a:r>
            <a:r>
              <a:rPr lang="ko-KR" altLang="en-US" sz="88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기반 어르신 맞춤 기억</a:t>
            </a:r>
            <a:r>
              <a:rPr lang="en-US" altLang="ko-KR" sz="88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88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인지 루틴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38E084B-613B-5ACB-B006-08D0E6011B67}"/>
              </a:ext>
            </a:extLst>
          </p:cNvPr>
          <p:cNvCxnSpPr/>
          <p:nvPr/>
        </p:nvCxnSpPr>
        <p:spPr>
          <a:xfrm>
            <a:off x="514350" y="838200"/>
            <a:ext cx="6527800" cy="0"/>
          </a:xfrm>
          <a:prstGeom prst="line">
            <a:avLst/>
          </a:prstGeom>
          <a:ln w="10160">
            <a:solidFill>
              <a:srgbClr val="D7E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32AACB-A7B1-299A-B690-0B19AC731653}"/>
              </a:ext>
            </a:extLst>
          </p:cNvPr>
          <p:cNvSpPr txBox="1"/>
          <p:nvPr/>
        </p:nvSpPr>
        <p:spPr>
          <a:xfrm>
            <a:off x="514350" y="990600"/>
            <a:ext cx="262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b="1">
                <a:solidFill>
                  <a:srgbClr val="F16F6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PERSONAL MEMORY ROUTINE</a:t>
            </a:r>
            <a:endParaRPr lang="ko-KR" altLang="en-US" sz="750" b="1">
              <a:solidFill>
                <a:srgbClr val="F16F61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72217-A3AC-2708-81C5-EAC3B599C621}"/>
              </a:ext>
            </a:extLst>
          </p:cNvPr>
          <p:cNvSpPr txBox="1"/>
          <p:nvPr/>
        </p:nvSpPr>
        <p:spPr>
          <a:xfrm>
            <a:off x="514350" y="1244600"/>
            <a:ext cx="262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오늘의 이야기가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2D860-9F98-55A3-BA47-625276CE86E4}"/>
              </a:ext>
            </a:extLst>
          </p:cNvPr>
          <p:cNvSpPr txBox="1"/>
          <p:nvPr/>
        </p:nvSpPr>
        <p:spPr>
          <a:xfrm>
            <a:off x="514350" y="1600200"/>
            <a:ext cx="275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내일의 문항이 됩니다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7BDBA-6386-0920-E1E3-E780A202802F}"/>
              </a:ext>
            </a:extLst>
          </p:cNvPr>
          <p:cNvSpPr txBox="1"/>
          <p:nvPr/>
        </p:nvSpPr>
        <p:spPr>
          <a:xfrm>
            <a:off x="514350" y="2082800"/>
            <a:ext cx="262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Haru</a:t>
            </a:r>
            <a:r>
              <a:rPr lang="ko-KR" altLang="en-US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는 말하고</a:t>
            </a:r>
            <a:r>
              <a:rPr lang="en-US" altLang="ko-KR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고르고</a:t>
            </a:r>
            <a:r>
              <a:rPr lang="en-US" altLang="ko-KR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기억하는 짧은 활동을
개인의 기억과 응답에 맞춘 매일의 루틴으로 연결합니다</a:t>
            </a:r>
            <a:r>
              <a:rPr lang="en-US" altLang="ko-KR" sz="93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930">
              <a:solidFill>
                <a:srgbClr val="687875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51B23-086C-1DD5-CA21-C39C90F71B06}"/>
              </a:ext>
            </a:extLst>
          </p:cNvPr>
          <p:cNvSpPr txBox="1"/>
          <p:nvPr/>
        </p:nvSpPr>
        <p:spPr>
          <a:xfrm>
            <a:off x="514350" y="2755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  </a:t>
            </a:r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쉬운 하루 루틴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B0CC0-BF3A-A13B-9329-93A0D0B894ED}"/>
              </a:ext>
            </a:extLst>
          </p:cNvPr>
          <p:cNvSpPr txBox="1"/>
          <p:nvPr/>
        </p:nvSpPr>
        <p:spPr>
          <a:xfrm>
            <a:off x="1689100" y="27559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큰 글자</a:t>
            </a:r>
            <a:r>
              <a:rPr lang="en-US" altLang="ko-KR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쉬운 선택</a:t>
            </a:r>
            <a:r>
              <a:rPr lang="en-US" altLang="ko-KR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음성 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6A353-FEE3-C082-A4DE-CD50A8D9D5CD}"/>
              </a:ext>
            </a:extLst>
          </p:cNvPr>
          <p:cNvSpPr txBox="1"/>
          <p:nvPr/>
        </p:nvSpPr>
        <p:spPr>
          <a:xfrm>
            <a:off x="514350" y="3035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  </a:t>
            </a:r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개인 기억 기반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6C38F-E8D8-4FB9-F742-7E43ADA0E1FF}"/>
              </a:ext>
            </a:extLst>
          </p:cNvPr>
          <p:cNvSpPr txBox="1"/>
          <p:nvPr/>
        </p:nvSpPr>
        <p:spPr>
          <a:xfrm>
            <a:off x="1689100" y="30353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남긴 이야기를 다음 활동에 반영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60F8E-FF49-1A03-AF53-5F131C357F7A}"/>
              </a:ext>
            </a:extLst>
          </p:cNvPr>
          <p:cNvSpPr txBox="1"/>
          <p:nvPr/>
        </p:nvSpPr>
        <p:spPr>
          <a:xfrm>
            <a:off x="514350" y="3314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  </a:t>
            </a:r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함께 보는 기록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12EC7-1E34-CFB1-7F12-33BC3B3E6265}"/>
              </a:ext>
            </a:extLst>
          </p:cNvPr>
          <p:cNvSpPr txBox="1"/>
          <p:nvPr/>
        </p:nvSpPr>
        <p:spPr>
          <a:xfrm>
            <a:off x="1689100" y="33147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가족</a:t>
            </a:r>
            <a:r>
              <a:rPr lang="en-US" altLang="ko-KR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750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상담사와 참여 흐름 공유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FC85E7F-4E0A-4259-2B87-71EACF7A4B57}"/>
              </a:ext>
            </a:extLst>
          </p:cNvPr>
          <p:cNvSpPr/>
          <p:nvPr/>
        </p:nvSpPr>
        <p:spPr>
          <a:xfrm>
            <a:off x="3371850" y="990600"/>
            <a:ext cx="3670300" cy="2730500"/>
          </a:xfrm>
          <a:prstGeom prst="roundRect">
            <a:avLst/>
          </a:prstGeom>
          <a:solidFill>
            <a:srgbClr val="F3F8F6"/>
          </a:solidFill>
          <a:ln w="9525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039F59-9BC0-0368-62E2-4CD0B630F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799" y="1000125"/>
            <a:ext cx="3580402" cy="27114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26660C-7B60-3EDD-8646-BD00F00C88CF}"/>
              </a:ext>
            </a:extLst>
          </p:cNvPr>
          <p:cNvSpPr txBox="1"/>
          <p:nvPr/>
        </p:nvSpPr>
        <p:spPr>
          <a:xfrm>
            <a:off x="514350" y="37846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말하기</a:t>
            </a:r>
            <a:r>
              <a:rPr lang="en-US" altLang="ko-KR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선택   →   기록 축적   →   다음 문항 맞춤   →   가족</a:t>
            </a:r>
            <a:r>
              <a:rPr lang="en-US" altLang="ko-KR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8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상담사 공유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47819-EA6D-AAE4-1F9F-9675EC0EE814}"/>
              </a:ext>
            </a:extLst>
          </p:cNvPr>
          <p:cNvSpPr txBox="1"/>
          <p:nvPr/>
        </p:nvSpPr>
        <p:spPr>
          <a:xfrm>
            <a:off x="514350" y="4013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20" b="1">
                <a:solidFill>
                  <a:srgbClr val="F16F6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PRODUCT EXPERIENCE</a:t>
            </a:r>
            <a:endParaRPr lang="ko-KR" altLang="en-US" sz="720" b="1">
              <a:solidFill>
                <a:srgbClr val="F16F61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4AF63F-750A-FFEA-5299-BC64A06C2CF4}"/>
              </a:ext>
            </a:extLst>
          </p:cNvPr>
          <p:cNvSpPr txBox="1"/>
          <p:nvPr/>
        </p:nvSpPr>
        <p:spPr>
          <a:xfrm>
            <a:off x="514350" y="41783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5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한눈에 보는 </a:t>
            </a:r>
            <a:r>
              <a:rPr lang="en-US" altLang="ko-KR" sz="155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Haru</a:t>
            </a:r>
            <a:endParaRPr lang="ko-KR" altLang="en-US" sz="1550" b="1">
              <a:solidFill>
                <a:srgbClr val="1D2C2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9205C61-782F-13B5-5899-6313B6214712}"/>
              </a:ext>
            </a:extLst>
          </p:cNvPr>
          <p:cNvCxnSpPr/>
          <p:nvPr/>
        </p:nvCxnSpPr>
        <p:spPr>
          <a:xfrm>
            <a:off x="2603500" y="4349750"/>
            <a:ext cx="4438650" cy="0"/>
          </a:xfrm>
          <a:prstGeom prst="line">
            <a:avLst/>
          </a:prstGeom>
          <a:ln w="10160">
            <a:solidFill>
              <a:srgbClr val="D7E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ADA91E-FAFC-BD7D-263A-BA4F1FDFC006}"/>
              </a:ext>
            </a:extLst>
          </p:cNvPr>
          <p:cNvSpPr/>
          <p:nvPr/>
        </p:nvSpPr>
        <p:spPr>
          <a:xfrm>
            <a:off x="514350" y="4521200"/>
            <a:ext cx="13906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EA0423F-334A-4EFB-C90C-6DF002DDB5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" y="4541379"/>
            <a:ext cx="1370330" cy="24361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59F0BFC-739C-743B-3028-31F7695EB11A}"/>
              </a:ext>
            </a:extLst>
          </p:cNvPr>
          <p:cNvSpPr txBox="1"/>
          <p:nvPr/>
        </p:nvSpPr>
        <p:spPr>
          <a:xfrm>
            <a:off x="514350" y="7099300"/>
            <a:ext cx="13906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8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생활 계산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DFA9131-A7CD-06F9-F566-4366253990A1}"/>
              </a:ext>
            </a:extLst>
          </p:cNvPr>
          <p:cNvSpPr/>
          <p:nvPr/>
        </p:nvSpPr>
        <p:spPr>
          <a:xfrm>
            <a:off x="2228850" y="4521200"/>
            <a:ext cx="13906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3901E7A5-5549-7286-E0B4-08457CA95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010" y="4541379"/>
            <a:ext cx="1370330" cy="24361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F789787-E163-C6FC-CBF4-39132FAAB71E}"/>
              </a:ext>
            </a:extLst>
          </p:cNvPr>
          <p:cNvSpPr txBox="1"/>
          <p:nvPr/>
        </p:nvSpPr>
        <p:spPr>
          <a:xfrm>
            <a:off x="2228850" y="7099300"/>
            <a:ext cx="13906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8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음성 말하기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F9BAC83-3533-B98D-F87B-5BD31AB573B9}"/>
              </a:ext>
            </a:extLst>
          </p:cNvPr>
          <p:cNvSpPr/>
          <p:nvPr/>
        </p:nvSpPr>
        <p:spPr>
          <a:xfrm>
            <a:off x="3943350" y="4521200"/>
            <a:ext cx="13906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A1765D9-6AAC-17CF-9526-CA8CF5990D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510" y="4541379"/>
            <a:ext cx="1370330" cy="243614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4CDCD70-1D9D-1731-7A95-4DF5ED91B3A2}"/>
              </a:ext>
            </a:extLst>
          </p:cNvPr>
          <p:cNvSpPr txBox="1"/>
          <p:nvPr/>
        </p:nvSpPr>
        <p:spPr>
          <a:xfrm>
            <a:off x="3943350" y="7099300"/>
            <a:ext cx="13906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8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보호자 리포트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0EED92F-0580-941B-E381-616445A42EE7}"/>
              </a:ext>
            </a:extLst>
          </p:cNvPr>
          <p:cNvSpPr/>
          <p:nvPr/>
        </p:nvSpPr>
        <p:spPr>
          <a:xfrm>
            <a:off x="5657850" y="4521200"/>
            <a:ext cx="13906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FEA7B5E-0F8E-C66D-B5A9-C8354396D6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10" y="4699712"/>
            <a:ext cx="1370330" cy="21194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AEACAFE-EE6B-9AD9-665B-53EE02238CCF}"/>
              </a:ext>
            </a:extLst>
          </p:cNvPr>
          <p:cNvSpPr txBox="1"/>
          <p:nvPr/>
        </p:nvSpPr>
        <p:spPr>
          <a:xfrm>
            <a:off x="5657850" y="7099300"/>
            <a:ext cx="13906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8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요일 선택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D12E9A7-BE2B-A71C-52AE-00E501B2F9FA}"/>
              </a:ext>
            </a:extLst>
          </p:cNvPr>
          <p:cNvCxnSpPr/>
          <p:nvPr/>
        </p:nvCxnSpPr>
        <p:spPr>
          <a:xfrm>
            <a:off x="514350" y="7594600"/>
            <a:ext cx="6527800" cy="0"/>
          </a:xfrm>
          <a:prstGeom prst="line">
            <a:avLst/>
          </a:prstGeom>
          <a:ln w="10160">
            <a:solidFill>
              <a:srgbClr val="D7E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5C64235-D50F-4CBD-A8B6-79300457812C}"/>
              </a:ext>
            </a:extLst>
          </p:cNvPr>
          <p:cNvSpPr/>
          <p:nvPr/>
        </p:nvSpPr>
        <p:spPr>
          <a:xfrm>
            <a:off x="514350" y="7772400"/>
            <a:ext cx="6527800" cy="1270000"/>
          </a:xfrm>
          <a:prstGeom prst="roundRect">
            <a:avLst/>
          </a:prstGeom>
          <a:solidFill>
            <a:srgbClr val="F3F8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3A8F72-C011-7228-2913-43ED534E3524}"/>
              </a:ext>
            </a:extLst>
          </p:cNvPr>
          <p:cNvSpPr txBox="1"/>
          <p:nvPr/>
        </p:nvSpPr>
        <p:spPr>
          <a:xfrm>
            <a:off x="723900" y="7937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20" b="1">
                <a:solidFill>
                  <a:srgbClr val="F16F6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TRY HARU</a:t>
            </a:r>
            <a:endParaRPr lang="ko-KR" altLang="en-US" sz="720" b="1">
              <a:solidFill>
                <a:srgbClr val="F16F61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14E0A1-9800-4A59-8741-CB9CC7A0754F}"/>
              </a:ext>
            </a:extLst>
          </p:cNvPr>
          <p:cNvSpPr txBox="1"/>
          <p:nvPr/>
        </p:nvSpPr>
        <p:spPr>
          <a:xfrm>
            <a:off x="723900" y="81407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Haru</a:t>
            </a:r>
            <a:r>
              <a:rPr lang="ko-KR" altLang="en-US" sz="155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를 직접 체험해보세요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AC9FED-2E54-7E63-CF53-14BEED1DABD9}"/>
              </a:ext>
            </a:extLst>
          </p:cNvPr>
          <p:cNvSpPr txBox="1"/>
          <p:nvPr/>
        </p:nvSpPr>
        <p:spPr>
          <a:xfrm>
            <a:off x="723900" y="8534400"/>
            <a:ext cx="280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한국어</a:t>
            </a:r>
            <a:r>
              <a:rPr lang="en-US" altLang="ko-KR" sz="85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lang="ko-KR" altLang="en-US" sz="85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일본어 데모와
서비스 소개를 확인하세요</a:t>
            </a:r>
            <a:r>
              <a:rPr lang="en-US" altLang="ko-KR" sz="85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850">
              <a:solidFill>
                <a:srgbClr val="687875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480DC9A-6A9C-5CA2-E750-A104833D8D1C}"/>
              </a:ext>
            </a:extLst>
          </p:cNvPr>
          <p:cNvSpPr/>
          <p:nvPr/>
        </p:nvSpPr>
        <p:spPr>
          <a:xfrm>
            <a:off x="4318000" y="7950200"/>
            <a:ext cx="584200" cy="584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4A8224-5B90-EA26-F404-55F2271FEF1C}"/>
              </a:ext>
            </a:extLst>
          </p:cNvPr>
          <p:cNvSpPr txBox="1"/>
          <p:nvPr/>
        </p:nvSpPr>
        <p:spPr>
          <a:xfrm>
            <a:off x="4318000" y="81280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50" b="1">
                <a:solidFill>
                  <a:srgbClr val="A7B3B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QR</a:t>
            </a:r>
            <a:endParaRPr lang="ko-KR" altLang="en-US" sz="950" b="1">
              <a:solidFill>
                <a:srgbClr val="A7B3B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BBEC4-5554-9A47-BD02-594706185BA8}"/>
              </a:ext>
            </a:extLst>
          </p:cNvPr>
          <p:cNvSpPr txBox="1"/>
          <p:nvPr/>
        </p:nvSpPr>
        <p:spPr>
          <a:xfrm>
            <a:off x="4216400" y="86233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2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한국어 데모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8096584-93AC-4D0E-3952-1F4B27921D6F}"/>
              </a:ext>
            </a:extLst>
          </p:cNvPr>
          <p:cNvSpPr/>
          <p:nvPr/>
        </p:nvSpPr>
        <p:spPr>
          <a:xfrm>
            <a:off x="5207000" y="7950200"/>
            <a:ext cx="584200" cy="584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4947A3-323F-6F2F-F2F3-38FA17DB2B05}"/>
              </a:ext>
            </a:extLst>
          </p:cNvPr>
          <p:cNvSpPr txBox="1"/>
          <p:nvPr/>
        </p:nvSpPr>
        <p:spPr>
          <a:xfrm>
            <a:off x="5207000" y="81280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50" b="1">
                <a:solidFill>
                  <a:srgbClr val="A7B3B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QR</a:t>
            </a:r>
            <a:endParaRPr lang="ko-KR" altLang="en-US" sz="950" b="1">
              <a:solidFill>
                <a:srgbClr val="A7B3B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277F3D-1136-34EC-2DC0-DE968FB448B4}"/>
              </a:ext>
            </a:extLst>
          </p:cNvPr>
          <p:cNvSpPr txBox="1"/>
          <p:nvPr/>
        </p:nvSpPr>
        <p:spPr>
          <a:xfrm>
            <a:off x="5105400" y="86233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2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일본어 데모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3C47A1B-1ADC-EC76-610B-DF26477879E8}"/>
              </a:ext>
            </a:extLst>
          </p:cNvPr>
          <p:cNvSpPr/>
          <p:nvPr/>
        </p:nvSpPr>
        <p:spPr>
          <a:xfrm>
            <a:off x="6096000" y="7950200"/>
            <a:ext cx="584200" cy="584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1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FCAA9C-FB86-BA0D-94CB-CF3BF6D85EDA}"/>
              </a:ext>
            </a:extLst>
          </p:cNvPr>
          <p:cNvSpPr txBox="1"/>
          <p:nvPr/>
        </p:nvSpPr>
        <p:spPr>
          <a:xfrm>
            <a:off x="6096000" y="81280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50" b="1">
                <a:solidFill>
                  <a:srgbClr val="A7B3B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QR</a:t>
            </a:r>
            <a:endParaRPr lang="ko-KR" altLang="en-US" sz="950" b="1">
              <a:solidFill>
                <a:srgbClr val="A7B3B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9631F7-4533-EDF6-15BB-896033B09AC8}"/>
              </a:ext>
            </a:extLst>
          </p:cNvPr>
          <p:cNvSpPr txBox="1"/>
          <p:nvPr/>
        </p:nvSpPr>
        <p:spPr>
          <a:xfrm>
            <a:off x="5994400" y="86233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20" b="1">
                <a:solidFill>
                  <a:srgbClr val="1D2C2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서비스 소개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5EBB75-D8B6-18CA-C03B-F82838ECE617}"/>
              </a:ext>
            </a:extLst>
          </p:cNvPr>
          <p:cNvSpPr txBox="1"/>
          <p:nvPr/>
        </p:nvSpPr>
        <p:spPr>
          <a:xfrm>
            <a:off x="514350" y="91313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2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Haru</a:t>
            </a:r>
            <a:r>
              <a:rPr lang="ko-KR" altLang="en-US" sz="62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의 기록은 일상 지원을 위한 참고 정보이며 의료적 판단을 대신하지 않습니다</a:t>
            </a:r>
            <a:r>
              <a:rPr lang="en-US" altLang="ko-KR" sz="620">
                <a:solidFill>
                  <a:srgbClr val="687875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620">
              <a:solidFill>
                <a:srgbClr val="687875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6653BEE-FE95-4DCB-C5ED-51DD2BD851D2}"/>
              </a:ext>
            </a:extLst>
          </p:cNvPr>
          <p:cNvCxnSpPr/>
          <p:nvPr/>
        </p:nvCxnSpPr>
        <p:spPr>
          <a:xfrm>
            <a:off x="514350" y="9385300"/>
            <a:ext cx="6527800" cy="0"/>
          </a:xfrm>
          <a:prstGeom prst="line">
            <a:avLst/>
          </a:prstGeom>
          <a:ln w="10160">
            <a:solidFill>
              <a:srgbClr val="D7E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ED91300-0C12-7024-7B67-02AD59AEEDC3}"/>
              </a:ext>
            </a:extLst>
          </p:cNvPr>
          <p:cNvSpPr txBox="1"/>
          <p:nvPr/>
        </p:nvSpPr>
        <p:spPr>
          <a:xfrm>
            <a:off x="514350" y="95123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0" b="1">
                <a:solidFill>
                  <a:srgbClr val="316E67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함께하는 기관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799E7067-4631-CBF9-6D48-DA1DE546D7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90" y="9779000"/>
            <a:ext cx="478770" cy="48260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068CAE2D-7A39-F650-E376-12D73EDA3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2740" y="9945171"/>
            <a:ext cx="1085850" cy="150258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24E6903A-DF3E-1312-FEE3-712771118D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55" y="9779000"/>
            <a:ext cx="482600" cy="4826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C61CFCE9-D27B-FE17-6368-B8601F3407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45" y="9779000"/>
            <a:ext cx="482600" cy="4826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3A1780E-99F1-2F89-24C5-B0B6A6D022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535" y="9779000"/>
            <a:ext cx="482600" cy="48260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A3894A5F-B11E-222A-E04A-51456AF5E4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5" y="9779000"/>
            <a:ext cx="482600" cy="4826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F89941A3-813F-69E1-E5FC-608FFEB6BFA1}"/>
              </a:ext>
            </a:extLst>
          </p:cNvPr>
          <p:cNvSpPr txBox="1"/>
          <p:nvPr/>
        </p:nvSpPr>
        <p:spPr>
          <a:xfrm>
            <a:off x="514350" y="104013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640">
                <a:solidFill>
                  <a:srgbClr val="A7B3B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Haru  |  Daily memory &amp; cognitive routine</a:t>
            </a:r>
            <a:endParaRPr lang="ko-KR" altLang="en-US" sz="640">
              <a:solidFill>
                <a:srgbClr val="A7B3B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09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사용자 지정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Hyunjun Kim</dc:creator>
  <cp:lastModifiedBy>Hyunjun Kim</cp:lastModifiedBy>
  <cp:revision>1</cp:revision>
  <dcterms:created xsi:type="dcterms:W3CDTF">2026-08-06T05:04:26Z</dcterms:created>
  <dcterms:modified xsi:type="dcterms:W3CDTF">2026-08-06T05:04:26Z</dcterms:modified>
</cp:coreProperties>
</file>