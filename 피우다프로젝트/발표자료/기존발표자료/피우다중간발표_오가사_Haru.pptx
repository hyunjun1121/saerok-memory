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Noto Sans KR" panose="020B0200000000000000" pitchFamily="50" charset="-127"/>
      <p:regular r:id="rId11"/>
      <p:bold r:id="rId12"/>
    </p:embeddedFont>
    <p:embeddedFont>
      <p:font typeface="Noto Sans KR Black" panose="020B0200000000000000" pitchFamily="50" charset="-127"/>
      <p:bold r:id="rId13"/>
    </p:embeddedFont>
    <p:embeddedFont>
      <p:font typeface="나눔스퀘어라운드 Light" panose="020B0600000101010101" pitchFamily="50" charset="-127"/>
      <p:regular r:id="rId14"/>
    </p:embeddedFont>
    <p:embeddedFont>
      <p:font typeface="나눔스퀘어라운드OTF Bold" panose="020B0600000101010101" pitchFamily="34" charset="-127"/>
      <p:bold r:id="rId15"/>
    </p:embeddedFont>
    <p:embeddedFont>
      <p:font typeface="나눔스퀘어라운드OTF ExtraBold" panose="020B0600000101010101" pitchFamily="34" charset="-127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265"/>
    <a:srgbClr val="E46C0A"/>
    <a:srgbClr val="E4E4E4"/>
    <a:srgbClr val="FB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81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7"/>
          <p:cNvSpPr txBox="1"/>
          <p:nvPr/>
        </p:nvSpPr>
        <p:spPr>
          <a:xfrm>
            <a:off x="824865" y="3266265"/>
            <a:ext cx="6317435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sz="2800" b="1" dirty="0">
                <a:solidFill>
                  <a:srgbClr val="2A2018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  <a:cs typeface="Pretendard"/>
              </a:rPr>
              <a:t>검사처럼 느껴지지 않는 </a:t>
            </a:r>
            <a:r>
              <a:rPr lang="ko-KR" altLang="en-US" sz="2800" b="1" dirty="0">
                <a:solidFill>
                  <a:srgbClr val="F57265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  <a:cs typeface="Pretendard"/>
              </a:rPr>
              <a:t>하루 </a:t>
            </a:r>
            <a:r>
              <a:rPr lang="zh-CN" sz="2800" b="1" dirty="0">
                <a:solidFill>
                  <a:srgbClr val="F57265"/>
                </a:solidFill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  <a:cs typeface="Pretendard"/>
              </a:rPr>
              <a:t>3분 두뇌운동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24865" y="3938955"/>
            <a:ext cx="2286000" cy="3810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solidFill>
                <a:srgbClr val="F57265"/>
              </a:solidFill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824865" y="4275187"/>
            <a:ext cx="6277359" cy="246221"/>
            <a:chOff x="836295" y="4336732"/>
            <a:chExt cx="3886129" cy="246221"/>
          </a:xfrm>
        </p:grpSpPr>
        <p:sp>
          <p:nvSpPr>
            <p:cNvPr id="20" name="TextBox 20"/>
            <p:cNvSpPr txBox="1"/>
            <p:nvPr/>
          </p:nvSpPr>
          <p:spPr>
            <a:xfrm>
              <a:off x="836295" y="4336732"/>
              <a:ext cx="388612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어르신에겐 매일 두뇌운동 · 보호자에겐 안부 확인 · 전문가에겐 변화 리포트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24865" y="5647551"/>
            <a:ext cx="352981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Haru by OGASA Labs · 오가사랩스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4865" y="6061710"/>
            <a:ext cx="393857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2026 글로벌 피우다프로젝트 · 중간발표 · 팀 오가사 ( 충청권 )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391525" y="6148021"/>
            <a:ext cx="3143250" cy="419100"/>
          </a:xfrm>
          <a:prstGeom prst="roundRect">
            <a:avLst>
              <a:gd name="adj" fmla="val 50000"/>
            </a:avLst>
          </a:prstGeom>
          <a:solidFill>
            <a:srgbClr val="2A201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Ellipse 31"/>
          <p:cNvSpPr/>
          <p:nvPr/>
        </p:nvSpPr>
        <p:spPr>
          <a:xfrm>
            <a:off x="8605683" y="6314342"/>
            <a:ext cx="95250" cy="9525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32"/>
          <p:cNvSpPr txBox="1"/>
          <p:nvPr/>
        </p:nvSpPr>
        <p:spPr>
          <a:xfrm>
            <a:off x="8715192" y="6259467"/>
            <a:ext cx="2476529" cy="1962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en-US" altLang="zh-CN" sz="1275" b="1" dirty="0" err="1">
                <a:solidFill>
                  <a:srgbClr val="FBF5E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Pretendard"/>
              </a:rPr>
              <a:t>saerok-memory.vercel.app</a:t>
            </a:r>
            <a:endParaRPr lang="zh-CN" sz="1275" b="1" dirty="0">
              <a:solidFill>
                <a:srgbClr val="FBF5E9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Pretendard"/>
            </a:endParaRPr>
          </a:p>
        </p:txBody>
      </p:sp>
      <p:sp>
        <p:nvSpPr>
          <p:cNvPr id="5" name="Ellipse 31">
            <a:extLst>
              <a:ext uri="{FF2B5EF4-FFF2-40B4-BE49-F238E27FC236}">
                <a16:creationId xmlns:a16="http://schemas.microsoft.com/office/drawing/2014/main" id="{E0C665FD-FA09-E315-9051-43BEDD33504B}"/>
              </a:ext>
            </a:extLst>
          </p:cNvPr>
          <p:cNvSpPr/>
          <p:nvPr/>
        </p:nvSpPr>
        <p:spPr>
          <a:xfrm>
            <a:off x="11282208" y="6314342"/>
            <a:ext cx="95250" cy="95250"/>
          </a:xfrm>
          <a:prstGeom prst="ellipse">
            <a:avLst/>
          </a:prstGeom>
          <a:solidFill>
            <a:srgbClr val="F4A81D"/>
          </a:solidFill>
          <a:ln>
            <a:noFill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D0EDC5-ECC4-EC6B-7EB4-BD80FEBD8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7" y="532172"/>
            <a:ext cx="5128095" cy="2613192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7F0AC26D-15F4-8FAB-92B8-21339210F6AC}"/>
              </a:ext>
            </a:extLst>
          </p:cNvPr>
          <p:cNvGrpSpPr/>
          <p:nvPr/>
        </p:nvGrpSpPr>
        <p:grpSpPr>
          <a:xfrm>
            <a:off x="8781896" y="842596"/>
            <a:ext cx="2667154" cy="5021818"/>
            <a:chOff x="8781896" y="842596"/>
            <a:chExt cx="2667154" cy="5021818"/>
          </a:xfrm>
        </p:grpSpPr>
        <p:sp>
          <p:nvSpPr>
            <p:cNvPr id="26" name="Rectangle 26"/>
            <p:cNvSpPr/>
            <p:nvPr/>
          </p:nvSpPr>
          <p:spPr>
            <a:xfrm>
              <a:off x="9029700" y="842596"/>
              <a:ext cx="2419350" cy="4972050"/>
            </a:xfrm>
            <a:prstGeom prst="roundRect">
              <a:avLst>
                <a:gd name="adj" fmla="val 13386"/>
              </a:avLst>
            </a:prstGeom>
            <a:solidFill>
              <a:srgbClr val="FBF5E9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8EBBE7D8-2904-7D33-4EAE-1E576509413B}"/>
                </a:ext>
              </a:extLst>
            </p:cNvPr>
            <p:cNvGrpSpPr/>
            <p:nvPr/>
          </p:nvGrpSpPr>
          <p:grpSpPr>
            <a:xfrm>
              <a:off x="8781896" y="892364"/>
              <a:ext cx="2419350" cy="4972050"/>
              <a:chOff x="5014912" y="1223596"/>
              <a:chExt cx="2419350" cy="4972050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90830BEC-CF6B-1FFF-5FB5-84B12FADE4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1991" t="10785" r="12447" b="14909"/>
              <a:stretch>
                <a:fillRect/>
              </a:stretch>
            </p:blipFill>
            <p:spPr>
              <a:xfrm>
                <a:off x="5172075" y="1295400"/>
                <a:ext cx="2088016" cy="4791075"/>
              </a:xfrm>
              <a:prstGeom prst="rect">
                <a:avLst/>
              </a:prstGeom>
            </p:spPr>
          </p:pic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3F65D537-5179-4CCF-DFBC-B8367E7BF74A}"/>
                  </a:ext>
                </a:extLst>
              </p:cNvPr>
              <p:cNvGrpSpPr/>
              <p:nvPr/>
            </p:nvGrpSpPr>
            <p:grpSpPr>
              <a:xfrm>
                <a:off x="5014912" y="1223596"/>
                <a:ext cx="2419350" cy="4972050"/>
                <a:chOff x="5014912" y="1223596"/>
                <a:chExt cx="2419350" cy="4972050"/>
              </a:xfrm>
            </p:grpSpPr>
            <p:sp>
              <p:nvSpPr>
                <p:cNvPr id="24" name="Rectangle 26">
                  <a:extLst>
                    <a:ext uri="{FF2B5EF4-FFF2-40B4-BE49-F238E27FC236}">
                      <a16:creationId xmlns:a16="http://schemas.microsoft.com/office/drawing/2014/main" id="{393606B3-BB58-1222-1A52-F789F37F4CCC}"/>
                    </a:ext>
                  </a:extLst>
                </p:cNvPr>
                <p:cNvSpPr/>
                <p:nvPr/>
              </p:nvSpPr>
              <p:spPr>
                <a:xfrm>
                  <a:off x="5014912" y="1223596"/>
                  <a:ext cx="2419350" cy="4972050"/>
                </a:xfrm>
                <a:prstGeom prst="roundRect">
                  <a:avLst>
                    <a:gd name="adj" fmla="val 13386"/>
                  </a:avLst>
                </a:prstGeom>
                <a:noFill/>
                <a:ln w="762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7" name="Rectangle 28">
                  <a:extLst>
                    <a:ext uri="{FF2B5EF4-FFF2-40B4-BE49-F238E27FC236}">
                      <a16:creationId xmlns:a16="http://schemas.microsoft.com/office/drawing/2014/main" id="{A0F0295C-99C9-DEF2-74DB-35845C3A2770}"/>
                    </a:ext>
                  </a:extLst>
                </p:cNvPr>
                <p:cNvSpPr/>
                <p:nvPr/>
              </p:nvSpPr>
              <p:spPr>
                <a:xfrm>
                  <a:off x="5843587" y="1378372"/>
                  <a:ext cx="762000" cy="1007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41E17"/>
                </a:solidFill>
                <a:ln>
                  <a:noFill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30967F-753B-488A-FE43-8CD8A43BC772}"/>
                  </a:ext>
                </a:extLst>
              </p:cNvPr>
              <p:cNvSpPr txBox="1"/>
              <p:nvPr/>
            </p:nvSpPr>
            <p:spPr>
              <a:xfrm>
                <a:off x="5062720" y="3074184"/>
                <a:ext cx="2319338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000" b="1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</a:rPr>
                  <a:t>오늘은 뇌를</a:t>
                </a:r>
                <a:endParaRPr lang="en-US" altLang="ko-KR" sz="2000" b="1" dirty="0"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endParaRPr>
              </a:p>
              <a:p>
                <a:pPr algn="ctr"/>
                <a:r>
                  <a:rPr lang="ko-KR" altLang="en-US" sz="2000" b="1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</a:rPr>
                  <a:t>훈련하는 날이예요</a:t>
                </a:r>
              </a:p>
            </p:txBody>
          </p:sp>
        </p:grp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410E09D2-56C7-724A-38B8-D44388064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5577" y="5405071"/>
            <a:ext cx="1247775" cy="1247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70670A-F8E4-E385-A769-7A2EBA415E44}"/>
              </a:ext>
            </a:extLst>
          </p:cNvPr>
          <p:cNvSpPr txBox="1"/>
          <p:nvPr/>
        </p:nvSpPr>
        <p:spPr>
          <a:xfrm>
            <a:off x="6994364" y="5137666"/>
            <a:ext cx="1430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나눔스퀘어라운드OTF ExtraBold" panose="020B0600000101010101" pitchFamily="34" charset="-127"/>
                <a:ea typeface="나눔스퀘어라운드OTF ExtraBold" panose="020B0600000101010101" pitchFamily="34" charset="-127"/>
              </a:rPr>
              <a:t>DEMO LINK</a:t>
            </a:r>
            <a:endParaRPr lang="ko-KR" altLang="en-US" dirty="0">
              <a:latin typeface="나눔스퀘어라운드OTF ExtraBold" panose="020B0600000101010101" pitchFamily="34" charset="-127"/>
              <a:ea typeface="나눔스퀘어라운드OTF ExtraBold" panose="020B0600000101010101" pitchFamily="34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3405" y="480060"/>
            <a:ext cx="9140323" cy="717664"/>
            <a:chOff x="573405" y="480060"/>
            <a:chExt cx="6095719" cy="717664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480060"/>
              <a:ext cx="96107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410E"/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"/>
                </a:rPr>
                <a:t>PROBLEM · 문제 정의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3405" y="759142"/>
              <a:ext cx="6095719" cy="4385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노인은 매일 돌봄이 필요하지만, </a:t>
              </a:r>
              <a:r>
                <a:rPr lang="zh-CN" sz="2850" b="1" dirty="0">
                  <a:solidFill>
                    <a:srgbClr val="F57265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매일 확인하기는 어렵습니다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609600" y="1463918"/>
            <a:ext cx="3505200" cy="20002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857250" y="1623648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959353" y="1737941"/>
            <a:ext cx="214616" cy="189136"/>
          </a:xfrm>
          <a:custGeom>
            <a:avLst/>
            <a:gdLst/>
            <a:ahLst/>
            <a:cxnLst/>
            <a:rect l="l" t="t" r="r" b="b"/>
            <a:pathLst>
              <a:path w="214616" h="189136">
                <a:moveTo>
                  <a:pt x="55636" y="3152"/>
                </a:moveTo>
                <a:cubicBezTo>
                  <a:pt x="74135" y="0"/>
                  <a:pt x="93064" y="5408"/>
                  <a:pt x="107106" y="17856"/>
                </a:cubicBezTo>
                <a:lnTo>
                  <a:pt x="107488" y="18197"/>
                </a:lnTo>
                <a:lnTo>
                  <a:pt x="107839" y="17887"/>
                </a:lnTo>
                <a:cubicBezTo>
                  <a:pt x="121224" y="6141"/>
                  <a:pt x="139019" y="727"/>
                  <a:pt x="156678" y="3028"/>
                </a:cubicBezTo>
                <a:lnTo>
                  <a:pt x="159216" y="3400"/>
                </a:lnTo>
                <a:cubicBezTo>
                  <a:pt x="181632" y="7270"/>
                  <a:pt x="200120" y="23121"/>
                  <a:pt x="207368" y="44683"/>
                </a:cubicBezTo>
                <a:cubicBezTo>
                  <a:pt x="214616" y="66245"/>
                  <a:pt x="209455" y="90045"/>
                  <a:pt x="193928" y="106670"/>
                </a:cubicBezTo>
                <a:lnTo>
                  <a:pt x="192071" y="108579"/>
                </a:lnTo>
                <a:lnTo>
                  <a:pt x="191576" y="109002"/>
                </a:lnTo>
                <a:lnTo>
                  <a:pt x="114701" y="185144"/>
                </a:lnTo>
                <a:cubicBezTo>
                  <a:pt x="111032" y="188775"/>
                  <a:pt x="105244" y="189136"/>
                  <a:pt x="101152" y="185990"/>
                </a:cubicBezTo>
                <a:lnTo>
                  <a:pt x="100182" y="185144"/>
                </a:lnTo>
                <a:lnTo>
                  <a:pt x="22864" y="108558"/>
                </a:lnTo>
                <a:cubicBezTo>
                  <a:pt x="6162" y="92307"/>
                  <a:pt x="0" y="68055"/>
                  <a:pt x="6919" y="45803"/>
                </a:cubicBezTo>
                <a:cubicBezTo>
                  <a:pt x="13837" y="23550"/>
                  <a:pt x="32665" y="7067"/>
                  <a:pt x="55636" y="3152"/>
                </a:cubicBezTo>
                <a:close/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83787" y="1720505"/>
            <a:ext cx="1125308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가족 · 보호자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6295" y="2189946"/>
            <a:ext cx="1872938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어르신의 하루를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6295" y="2514525"/>
            <a:ext cx="336681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확인할 도구가 없다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2010" y="2934578"/>
            <a:ext cx="199894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아이는 학습앱·위치로 챙기는데,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010" y="3144128"/>
            <a:ext cx="22458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부모님 안부는 가끔의 전화뿐입니다.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43400" y="1463918"/>
            <a:ext cx="3505200" cy="20002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4591050" y="1623648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4728369" y="1730010"/>
            <a:ext cx="144462" cy="206376"/>
            <a:chOff x="4728369" y="1782762"/>
            <a:chExt cx="144462" cy="206376"/>
          </a:xfrm>
        </p:grpSpPr>
        <p:sp>
          <p:nvSpPr>
            <p:cNvPr id="18" name="Freeform 18"/>
            <p:cNvSpPr/>
            <p:nvPr/>
          </p:nvSpPr>
          <p:spPr>
            <a:xfrm>
              <a:off x="4749006" y="1782762"/>
              <a:ext cx="103188" cy="103188"/>
            </a:xfrm>
            <a:custGeom>
              <a:avLst/>
              <a:gdLst/>
              <a:ahLst/>
              <a:cxnLst/>
              <a:rect l="l" t="t" r="r" b="b"/>
              <a:pathLst>
                <a:path w="103188" h="103188">
                  <a:moveTo>
                    <a:pt x="51594" y="0"/>
                  </a:moveTo>
                  <a:cubicBezTo>
                    <a:pt x="80088" y="0"/>
                    <a:pt x="103188" y="23099"/>
                    <a:pt x="103188" y="51594"/>
                  </a:cubicBezTo>
                  <a:cubicBezTo>
                    <a:pt x="103188" y="80088"/>
                    <a:pt x="80088" y="103188"/>
                    <a:pt x="51594" y="103188"/>
                  </a:cubicBezTo>
                  <a:cubicBezTo>
                    <a:pt x="23099" y="103188"/>
                    <a:pt x="0" y="80088"/>
                    <a:pt x="0" y="51594"/>
                  </a:cubicBezTo>
                  <a:lnTo>
                    <a:pt x="52" y="49355"/>
                  </a:lnTo>
                  <a:cubicBezTo>
                    <a:pt x="1250" y="21758"/>
                    <a:pt x="23971" y="2"/>
                    <a:pt x="51594" y="0"/>
                  </a:cubicBezTo>
                  <a:close/>
                </a:path>
              </a:pathLst>
            </a:custGeom>
            <a:solidFill>
              <a:srgbClr val="2A201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728369" y="1906588"/>
              <a:ext cx="144462" cy="82550"/>
            </a:xfrm>
            <a:custGeom>
              <a:avLst/>
              <a:gdLst/>
              <a:ahLst/>
              <a:cxnLst/>
              <a:rect l="l" t="t" r="r" b="b"/>
              <a:pathLst>
                <a:path w="144462" h="82550">
                  <a:moveTo>
                    <a:pt x="92869" y="0"/>
                  </a:moveTo>
                  <a:cubicBezTo>
                    <a:pt x="121363" y="0"/>
                    <a:pt x="144462" y="23099"/>
                    <a:pt x="144462" y="51594"/>
                  </a:cubicBezTo>
                  <a:lnTo>
                    <a:pt x="144462" y="61912"/>
                  </a:lnTo>
                  <a:cubicBezTo>
                    <a:pt x="144462" y="73310"/>
                    <a:pt x="135223" y="82550"/>
                    <a:pt x="123825" y="82550"/>
                  </a:cubicBezTo>
                  <a:lnTo>
                    <a:pt x="20637" y="82550"/>
                  </a:lnTo>
                  <a:cubicBezTo>
                    <a:pt x="9240" y="82550"/>
                    <a:pt x="0" y="73310"/>
                    <a:pt x="0" y="61912"/>
                  </a:cubicBezTo>
                  <a:lnTo>
                    <a:pt x="0" y="51594"/>
                  </a:lnTo>
                  <a:cubicBezTo>
                    <a:pt x="0" y="23099"/>
                    <a:pt x="23099" y="0"/>
                    <a:pt x="51594" y="0"/>
                  </a:cubicBezTo>
                  <a:lnTo>
                    <a:pt x="92869" y="0"/>
                  </a:lnTo>
                  <a:close/>
                </a:path>
              </a:pathLst>
            </a:custGeom>
            <a:solidFill>
              <a:srgbClr val="2A201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168106" y="1720505"/>
            <a:ext cx="55784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어르신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70095" y="2189946"/>
            <a:ext cx="2824236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"검사받는다"는 낙인이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70095" y="2514525"/>
            <a:ext cx="336681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조기 관찰을 막는다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75810" y="2934578"/>
            <a:ext cx="151002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치매 검사는 부담스럽고,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75810" y="3144128"/>
            <a:ext cx="196688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두뇌게임은 오래 가지 않습니다.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77200" y="1463918"/>
            <a:ext cx="3505200" cy="20002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8324850" y="1623648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8431212" y="1730010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103188" y="0"/>
                </a:moveTo>
                <a:cubicBezTo>
                  <a:pt x="160178" y="0"/>
                  <a:pt x="206375" y="46197"/>
                  <a:pt x="206375" y="103188"/>
                </a:cubicBezTo>
                <a:cubicBezTo>
                  <a:pt x="206375" y="160176"/>
                  <a:pt x="160176" y="206375"/>
                  <a:pt x="103188" y="206375"/>
                </a:cubicBezTo>
                <a:cubicBezTo>
                  <a:pt x="46199" y="206375"/>
                  <a:pt x="0" y="160176"/>
                  <a:pt x="0" y="103188"/>
                </a:cubicBezTo>
                <a:lnTo>
                  <a:pt x="41" y="100298"/>
                </a:lnTo>
                <a:cubicBezTo>
                  <a:pt x="1568" y="44649"/>
                  <a:pt x="47157" y="0"/>
                  <a:pt x="103188" y="0"/>
                </a:cubicBezTo>
                <a:moveTo>
                  <a:pt x="123825" y="51594"/>
                </a:moveTo>
                <a:cubicBezTo>
                  <a:pt x="118126" y="51594"/>
                  <a:pt x="113506" y="56214"/>
                  <a:pt x="113506" y="61912"/>
                </a:cubicBezTo>
                <a:lnTo>
                  <a:pt x="113506" y="92858"/>
                </a:lnTo>
                <a:lnTo>
                  <a:pt x="92869" y="92858"/>
                </a:lnTo>
                <a:lnTo>
                  <a:pt x="92869" y="61912"/>
                </a:lnTo>
                <a:cubicBezTo>
                  <a:pt x="92868" y="56681"/>
                  <a:pt x="88953" y="52278"/>
                  <a:pt x="83757" y="51666"/>
                </a:cubicBezTo>
                <a:lnTo>
                  <a:pt x="82550" y="51594"/>
                </a:lnTo>
                <a:cubicBezTo>
                  <a:pt x="76851" y="51594"/>
                  <a:pt x="72231" y="56214"/>
                  <a:pt x="72231" y="61912"/>
                </a:cubicBezTo>
                <a:lnTo>
                  <a:pt x="72231" y="144463"/>
                </a:lnTo>
                <a:cubicBezTo>
                  <a:pt x="72231" y="150161"/>
                  <a:pt x="76851" y="154781"/>
                  <a:pt x="82550" y="154781"/>
                </a:cubicBezTo>
                <a:cubicBezTo>
                  <a:pt x="88249" y="154781"/>
                  <a:pt x="92869" y="150161"/>
                  <a:pt x="92869" y="144463"/>
                </a:cubicBezTo>
                <a:lnTo>
                  <a:pt x="92869" y="113496"/>
                </a:lnTo>
                <a:lnTo>
                  <a:pt x="113506" y="113496"/>
                </a:lnTo>
                <a:lnTo>
                  <a:pt x="113506" y="144463"/>
                </a:lnTo>
                <a:cubicBezTo>
                  <a:pt x="113507" y="149694"/>
                  <a:pt x="117422" y="154097"/>
                  <a:pt x="122618" y="154709"/>
                </a:cubicBezTo>
                <a:lnTo>
                  <a:pt x="123825" y="154781"/>
                </a:lnTo>
                <a:cubicBezTo>
                  <a:pt x="129524" y="154781"/>
                  <a:pt x="134144" y="150161"/>
                  <a:pt x="134144" y="144463"/>
                </a:cubicBezTo>
                <a:lnTo>
                  <a:pt x="134144" y="61912"/>
                </a:lnTo>
                <a:cubicBezTo>
                  <a:pt x="134144" y="56214"/>
                  <a:pt x="129524" y="51594"/>
                  <a:pt x="123825" y="51594"/>
                </a:cubicBezTo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850312" y="1711069"/>
            <a:ext cx="131125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복지 · 의료기관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03894" y="2189946"/>
            <a:ext cx="2478309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기관에는 매일 살펴볼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03894" y="2514525"/>
            <a:ext cx="2099727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인력이 없다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09610" y="2934578"/>
            <a:ext cx="182101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인력·공간의 한계로 반복적인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09610" y="3144128"/>
            <a:ext cx="220733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모니터링이 구조적으로 어렵습니다.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2947703" y="3678272"/>
            <a:ext cx="6296596" cy="276999"/>
            <a:chOff x="2947703" y="3669982"/>
            <a:chExt cx="6296596" cy="276999"/>
          </a:xfrm>
        </p:grpSpPr>
        <p:sp>
          <p:nvSpPr>
            <p:cNvPr id="36" name="TextBox 36"/>
            <p:cNvSpPr txBox="1"/>
            <p:nvPr/>
          </p:nvSpPr>
          <p:spPr>
            <a:xfrm>
              <a:off x="2947703" y="3669982"/>
              <a:ext cx="629659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b="1" dirty="0">
                  <a:solidFill>
                    <a:srgbClr val="2A2018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Pretendard"/>
                </a:rPr>
                <a:t>변화는 진단 이전 단계에서 이미 시작되는데, </a:t>
              </a:r>
              <a:r>
                <a:rPr lang="zh-CN" b="1" dirty="0">
                  <a:solidFill>
                    <a:srgbClr val="F57265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  <a:cs typeface="Pretendard"/>
                </a:rPr>
                <a:t>확인 체계가 없습니다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609600" y="4169018"/>
            <a:ext cx="3505200" cy="18669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07719" y="4458727"/>
            <a:ext cx="2573457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40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약 20%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0105" y="5280586"/>
            <a:ext cx="2815628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65세 이상 인구 비중 · 초고령사회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5820" y="5677922"/>
            <a:ext cx="176786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출처 · 통계청 고령자통계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343400" y="4169018"/>
            <a:ext cx="3505200" cy="18669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541519" y="4458727"/>
            <a:ext cx="2967111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40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약 100만 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73904" y="5280586"/>
            <a:ext cx="2720926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65세 이상 추정 치매환자 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79620" y="5677922"/>
            <a:ext cx="204020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출처 · 중앙치매센터 치매현황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77200" y="4169018"/>
            <a:ext cx="3505200" cy="186690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275319" y="4458727"/>
            <a:ext cx="3299830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40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약 10%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07705" y="5280586"/>
            <a:ext cx="2392533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65세 이상 치매 유병률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13420" y="5677922"/>
            <a:ext cx="2386818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출처 · 보건복지부 · 중앙치매센터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598170" y="6324600"/>
            <a:ext cx="10995660" cy="308044"/>
            <a:chOff x="598170" y="6324600"/>
            <a:chExt cx="10995660" cy="308044"/>
          </a:xfrm>
        </p:grpSpPr>
        <p:sp>
          <p:nvSpPr>
            <p:cNvPr id="53" name="Line 53"/>
            <p:cNvSpPr/>
            <p:nvPr/>
          </p:nvSpPr>
          <p:spPr>
            <a:xfrm>
              <a:off x="609600" y="632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8170" y="6494145"/>
              <a:ext cx="168956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by OGASA Labs · 문제 정의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452766" y="6494145"/>
              <a:ext cx="1410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02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527152F7-04A7-2846-B9C6-6D8E78952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55" r="60296" b="9177"/>
          <a:stretch>
            <a:fillRect/>
          </a:stretch>
        </p:blipFill>
        <p:spPr>
          <a:xfrm>
            <a:off x="11323033" y="141852"/>
            <a:ext cx="669074" cy="6721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00A57C-8B7A-26B2-28A3-1809985C2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915" y="141851"/>
            <a:ext cx="672118" cy="67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80060"/>
            <a:ext cx="6420027" cy="724555"/>
            <a:chOff x="571500" y="480060"/>
            <a:chExt cx="6420027" cy="72455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480060"/>
              <a:ext cx="14763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410E"/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"/>
                </a:rPr>
                <a:t>SOLUTION · 해결 구조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1500" y="742950"/>
              <a:ext cx="642002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하나의 3분 루틴이 </a:t>
              </a:r>
              <a:r>
                <a:rPr lang="zh-CN" sz="3000" b="1" dirty="0">
                  <a:solidFill>
                    <a:srgbClr val="F57265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네 사람</a:t>
              </a:r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을 연결합니다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019550" y="1743075"/>
            <a:ext cx="4152900" cy="3143250"/>
            <a:chOff x="4019550" y="1743075"/>
            <a:chExt cx="4152900" cy="3143250"/>
          </a:xfrm>
        </p:grpSpPr>
        <p:sp>
          <p:nvSpPr>
            <p:cNvPr id="7" name="Ellipse 7"/>
            <p:cNvSpPr/>
            <p:nvPr/>
          </p:nvSpPr>
          <p:spPr>
            <a:xfrm>
              <a:off x="4953000" y="2171700"/>
              <a:ext cx="2286000" cy="2286000"/>
            </a:xfrm>
            <a:prstGeom prst="ellipse">
              <a:avLst/>
            </a:prstGeom>
            <a:noFill/>
            <a:ln w="14288">
              <a:solidFill>
                <a:srgbClr val="E7DBC2"/>
              </a:solidFill>
              <a:custDash>
                <a:ds d="400000" sp="40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" name="Ellipse 8"/>
            <p:cNvSpPr/>
            <p:nvPr/>
          </p:nvSpPr>
          <p:spPr>
            <a:xfrm>
              <a:off x="4524375" y="1743075"/>
              <a:ext cx="3143250" cy="3143250"/>
            </a:xfrm>
            <a:prstGeom prst="ellipse">
              <a:avLst/>
            </a:prstGeom>
            <a:noFill/>
            <a:ln w="9525">
              <a:solidFill>
                <a:srgbClr val="E7DBC2"/>
              </a:solidFill>
              <a:custDash>
                <a:ds d="200000" sp="50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4019550" y="2362200"/>
              <a:ext cx="1466850" cy="571500"/>
            </a:xfrm>
            <a:custGeom>
              <a:avLst/>
              <a:gdLst/>
              <a:ahLst/>
              <a:cxnLst/>
              <a:rect l="l" t="t" r="r" b="b"/>
              <a:pathLst>
                <a:path w="1466850" h="571500">
                  <a:moveTo>
                    <a:pt x="1466850" y="571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8C7A6"/>
              </a:solidFill>
              <a:custDash>
                <a:ds d="300000" sp="30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6705600" y="2362200"/>
              <a:ext cx="1466850" cy="571500"/>
            </a:xfrm>
            <a:custGeom>
              <a:avLst/>
              <a:gdLst/>
              <a:ahLst/>
              <a:cxnLst/>
              <a:rect l="l" t="t" r="r" b="b"/>
              <a:pathLst>
                <a:path w="1466850" h="571500">
                  <a:moveTo>
                    <a:pt x="0" y="571500"/>
                  </a:moveTo>
                  <a:lnTo>
                    <a:pt x="1466850" y="0"/>
                  </a:lnTo>
                </a:path>
              </a:pathLst>
            </a:custGeom>
            <a:noFill/>
            <a:ln w="19050">
              <a:solidFill>
                <a:srgbClr val="D8C7A6"/>
              </a:solidFill>
              <a:custDash>
                <a:ds d="300000" sp="30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4019550" y="3695700"/>
              <a:ext cx="1466850" cy="571500"/>
            </a:xfrm>
            <a:custGeom>
              <a:avLst/>
              <a:gdLst/>
              <a:ahLst/>
              <a:cxnLst/>
              <a:rect l="l" t="t" r="r" b="b"/>
              <a:pathLst>
                <a:path w="1466850" h="571500">
                  <a:moveTo>
                    <a:pt x="146685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D8C7A6"/>
              </a:solidFill>
              <a:custDash>
                <a:ds d="300000" sp="30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6705600" y="3695700"/>
              <a:ext cx="1466850" cy="571500"/>
            </a:xfrm>
            <a:custGeom>
              <a:avLst/>
              <a:gdLst/>
              <a:ahLst/>
              <a:cxnLst/>
              <a:rect l="l" t="t" r="r" b="b"/>
              <a:pathLst>
                <a:path w="1466850" h="571500">
                  <a:moveTo>
                    <a:pt x="0" y="0"/>
                  </a:moveTo>
                  <a:lnTo>
                    <a:pt x="1466850" y="571500"/>
                  </a:lnTo>
                </a:path>
              </a:pathLst>
            </a:custGeom>
            <a:noFill/>
            <a:ln w="19050">
              <a:solidFill>
                <a:srgbClr val="D8C7A6"/>
              </a:solidFill>
              <a:custDash>
                <a:ds d="300000" sp="30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14950" y="2533650"/>
            <a:ext cx="1562100" cy="1562100"/>
            <a:chOff x="5314950" y="2533650"/>
            <a:chExt cx="1562100" cy="1562100"/>
          </a:xfrm>
          <a:solidFill>
            <a:srgbClr val="F57265"/>
          </a:solidFill>
        </p:grpSpPr>
        <p:sp>
          <p:nvSpPr>
            <p:cNvPr id="14" name="Ellipse 14"/>
            <p:cNvSpPr/>
            <p:nvPr/>
          </p:nvSpPr>
          <p:spPr>
            <a:xfrm>
              <a:off x="5314950" y="2533650"/>
              <a:ext cx="1562100" cy="156210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0" y="2647950"/>
              <a:ext cx="1333500" cy="1333500"/>
            </a:xfrm>
            <a:prstGeom prst="ellipse">
              <a:avLst/>
            </a:prstGeom>
            <a:grpFill/>
            <a:ln w="14288">
              <a:solidFill>
                <a:srgbClr val="FFFFFF">
                  <a:alpha val="40000"/>
                </a:srgbClr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20096" y="2982278"/>
              <a:ext cx="751808" cy="392415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86433" y="3440906"/>
              <a:ext cx="819135" cy="173124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BE6B4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매일 3분 루틴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488950" y="1427798"/>
            <a:ext cx="4035425" cy="15621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488950" y="1740218"/>
            <a:ext cx="52070" cy="546735"/>
          </a:xfrm>
          <a:prstGeom prst="roundRect">
            <a:avLst>
              <a:gd name="adj" fmla="val 50000"/>
            </a:avLst>
          </a:prstGeom>
          <a:solidFill>
            <a:srgbClr val="EC5B2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775335" y="1614488"/>
            <a:ext cx="520700" cy="520700"/>
          </a:xfrm>
          <a:prstGeom prst="roundRect">
            <a:avLst>
              <a:gd name="adj" fmla="val 27500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944563" y="1744663"/>
            <a:ext cx="182245" cy="260350"/>
            <a:chOff x="1400175" y="2057400"/>
            <a:chExt cx="133350" cy="190500"/>
          </a:xfrm>
        </p:grpSpPr>
        <p:sp>
          <p:nvSpPr>
            <p:cNvPr id="22" name="Freeform 22"/>
            <p:cNvSpPr/>
            <p:nvPr/>
          </p:nvSpPr>
          <p:spPr>
            <a:xfrm>
              <a:off x="1419225" y="2057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400175" y="2171700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452245" y="1690172"/>
            <a:ext cx="84157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어르신</a:t>
            </a:r>
            <a:endParaRPr lang="zh-CN" sz="1500" b="1" dirty="0">
              <a:solidFill>
                <a:srgbClr val="2A2018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89183" y="2300685"/>
            <a:ext cx="2725105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큰 글씨 · 큰 버튼 · 음성인식으로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9183" y="2615645"/>
            <a:ext cx="2622513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부담 없이 </a:t>
            </a:r>
            <a:r>
              <a:rPr lang="zh-CN" sz="16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오늘의 두뇌운동</a:t>
            </a:r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수행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594600" y="1427798"/>
            <a:ext cx="4035425" cy="15621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7594600" y="1740218"/>
            <a:ext cx="52070" cy="546735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7880985" y="1614488"/>
            <a:ext cx="520700" cy="520700"/>
          </a:xfrm>
          <a:prstGeom prst="roundRect">
            <a:avLst>
              <a:gd name="adj" fmla="val 27500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8005786" y="1755537"/>
            <a:ext cx="270746" cy="238602"/>
          </a:xfrm>
          <a:custGeom>
            <a:avLst/>
            <a:gdLst/>
            <a:ahLst/>
            <a:cxnLst/>
            <a:rect l="l" t="t" r="r" b="b"/>
            <a:pathLst>
              <a:path w="198107" h="174587">
                <a:moveTo>
                  <a:pt x="51357" y="2909"/>
                </a:moveTo>
                <a:cubicBezTo>
                  <a:pt x="68432" y="0"/>
                  <a:pt x="85906" y="4992"/>
                  <a:pt x="98867" y="16483"/>
                </a:cubicBezTo>
                <a:lnTo>
                  <a:pt x="99220" y="16797"/>
                </a:lnTo>
                <a:lnTo>
                  <a:pt x="99544" y="16511"/>
                </a:lnTo>
                <a:cubicBezTo>
                  <a:pt x="111899" y="5668"/>
                  <a:pt x="128325" y="671"/>
                  <a:pt x="144625" y="2795"/>
                </a:cubicBezTo>
                <a:lnTo>
                  <a:pt x="146969" y="3138"/>
                </a:lnTo>
                <a:cubicBezTo>
                  <a:pt x="167660" y="6711"/>
                  <a:pt x="184726" y="21342"/>
                  <a:pt x="191416" y="41246"/>
                </a:cubicBezTo>
                <a:cubicBezTo>
                  <a:pt x="198107" y="61149"/>
                  <a:pt x="193343" y="83119"/>
                  <a:pt x="179011" y="98464"/>
                </a:cubicBezTo>
                <a:lnTo>
                  <a:pt x="177296" y="100226"/>
                </a:lnTo>
                <a:lnTo>
                  <a:pt x="176839" y="100617"/>
                </a:lnTo>
                <a:lnTo>
                  <a:pt x="105878" y="170902"/>
                </a:lnTo>
                <a:cubicBezTo>
                  <a:pt x="102491" y="174254"/>
                  <a:pt x="97149" y="174587"/>
                  <a:pt x="93371" y="171683"/>
                </a:cubicBezTo>
                <a:lnTo>
                  <a:pt x="92476" y="170902"/>
                </a:lnTo>
                <a:lnTo>
                  <a:pt x="21105" y="100207"/>
                </a:lnTo>
                <a:cubicBezTo>
                  <a:pt x="5688" y="85207"/>
                  <a:pt x="0" y="62820"/>
                  <a:pt x="6386" y="42279"/>
                </a:cubicBezTo>
                <a:cubicBezTo>
                  <a:pt x="12773" y="21739"/>
                  <a:pt x="30152" y="6524"/>
                  <a:pt x="51357" y="2909"/>
                </a:cubicBezTo>
                <a:close/>
              </a:path>
            </a:pathLst>
          </a:custGeom>
          <a:solidFill>
            <a:srgbClr val="2A201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557895" y="1690172"/>
            <a:ext cx="84157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보호자</a:t>
            </a:r>
            <a:endParaRPr lang="zh-CN" sz="1500" b="1" dirty="0">
              <a:solidFill>
                <a:srgbClr val="2A2018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94833" y="2300685"/>
            <a:ext cx="2808461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점수가 아닌 </a:t>
            </a:r>
            <a:r>
              <a:rPr lang="zh-CN" sz="16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자연스러운 안부 확인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94833" y="2615645"/>
            <a:ext cx="2064668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이틀 미접속 시 안부 알림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88950" y="3713798"/>
            <a:ext cx="4035425" cy="15621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8" name="Rectangle 38"/>
          <p:cNvSpPr/>
          <p:nvPr/>
        </p:nvSpPr>
        <p:spPr>
          <a:xfrm>
            <a:off x="488950" y="4026218"/>
            <a:ext cx="52070" cy="546735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775335" y="3900488"/>
            <a:ext cx="520700" cy="520700"/>
          </a:xfrm>
          <a:prstGeom prst="roundRect">
            <a:avLst>
              <a:gd name="adj" fmla="val 27500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0" name="Freeform 40"/>
          <p:cNvSpPr/>
          <p:nvPr/>
        </p:nvSpPr>
        <p:spPr>
          <a:xfrm>
            <a:off x="931542" y="4030663"/>
            <a:ext cx="208285" cy="260350"/>
          </a:xfrm>
          <a:custGeom>
            <a:avLst/>
            <a:gdLst/>
            <a:ahLst/>
            <a:cxnLst/>
            <a:rect l="l" t="t" r="r" b="b"/>
            <a:pathLst>
              <a:path w="152404" h="190500">
                <a:moveTo>
                  <a:pt x="133324" y="20669"/>
                </a:moveTo>
                <a:cubicBezTo>
                  <a:pt x="144757" y="24698"/>
                  <a:pt x="152404" y="35502"/>
                  <a:pt x="152402" y="47625"/>
                </a:cubicBezTo>
                <a:lnTo>
                  <a:pt x="152402" y="161925"/>
                </a:lnTo>
                <a:cubicBezTo>
                  <a:pt x="152402" y="177707"/>
                  <a:pt x="139609" y="190500"/>
                  <a:pt x="123827" y="190500"/>
                </a:cubicBezTo>
                <a:lnTo>
                  <a:pt x="28577" y="190500"/>
                </a:lnTo>
                <a:cubicBezTo>
                  <a:pt x="12796" y="190500"/>
                  <a:pt x="2" y="177707"/>
                  <a:pt x="2" y="161925"/>
                </a:cubicBezTo>
                <a:lnTo>
                  <a:pt x="2" y="47625"/>
                </a:lnTo>
                <a:cubicBezTo>
                  <a:pt x="0" y="35502"/>
                  <a:pt x="7647" y="24698"/>
                  <a:pt x="19081" y="20669"/>
                </a:cubicBezTo>
                <a:cubicBezTo>
                  <a:pt x="19948" y="41065"/>
                  <a:pt x="36738" y="57153"/>
                  <a:pt x="57152" y="57150"/>
                </a:cubicBezTo>
                <a:lnTo>
                  <a:pt x="95252" y="57150"/>
                </a:lnTo>
                <a:cubicBezTo>
                  <a:pt x="114809" y="57152"/>
                  <a:pt x="131191" y="42346"/>
                  <a:pt x="133162" y="22889"/>
                </a:cubicBezTo>
                <a:close/>
                <a:moveTo>
                  <a:pt x="47627" y="95250"/>
                </a:moveTo>
                <a:cubicBezTo>
                  <a:pt x="42367" y="95250"/>
                  <a:pt x="38102" y="99514"/>
                  <a:pt x="38102" y="104775"/>
                </a:cubicBezTo>
                <a:lnTo>
                  <a:pt x="38102" y="142875"/>
                </a:lnTo>
                <a:cubicBezTo>
                  <a:pt x="38102" y="148136"/>
                  <a:pt x="42367" y="152400"/>
                  <a:pt x="47627" y="152400"/>
                </a:cubicBezTo>
                <a:cubicBezTo>
                  <a:pt x="52888" y="152400"/>
                  <a:pt x="57152" y="148136"/>
                  <a:pt x="57152" y="142875"/>
                </a:cubicBezTo>
                <a:lnTo>
                  <a:pt x="57152" y="104775"/>
                </a:lnTo>
                <a:cubicBezTo>
                  <a:pt x="57152" y="99514"/>
                  <a:pt x="52888" y="95250"/>
                  <a:pt x="47627" y="95250"/>
                </a:cubicBezTo>
                <a:moveTo>
                  <a:pt x="76202" y="123825"/>
                </a:moveTo>
                <a:cubicBezTo>
                  <a:pt x="70942" y="123825"/>
                  <a:pt x="66677" y="128089"/>
                  <a:pt x="66677" y="133350"/>
                </a:cubicBezTo>
                <a:lnTo>
                  <a:pt x="66677" y="142875"/>
                </a:lnTo>
                <a:cubicBezTo>
                  <a:pt x="66677" y="148136"/>
                  <a:pt x="70942" y="152400"/>
                  <a:pt x="76202" y="152400"/>
                </a:cubicBezTo>
                <a:lnTo>
                  <a:pt x="77317" y="152333"/>
                </a:lnTo>
                <a:cubicBezTo>
                  <a:pt x="82112" y="151768"/>
                  <a:pt x="85726" y="147704"/>
                  <a:pt x="85727" y="142875"/>
                </a:cubicBezTo>
                <a:lnTo>
                  <a:pt x="85727" y="133350"/>
                </a:lnTo>
                <a:cubicBezTo>
                  <a:pt x="85727" y="128089"/>
                  <a:pt x="81463" y="123825"/>
                  <a:pt x="76202" y="123825"/>
                </a:cubicBezTo>
                <a:moveTo>
                  <a:pt x="104777" y="114300"/>
                </a:moveTo>
                <a:cubicBezTo>
                  <a:pt x="99517" y="114300"/>
                  <a:pt x="95252" y="118564"/>
                  <a:pt x="95252" y="123825"/>
                </a:cubicBezTo>
                <a:lnTo>
                  <a:pt x="95252" y="142875"/>
                </a:lnTo>
                <a:cubicBezTo>
                  <a:pt x="95252" y="148136"/>
                  <a:pt x="99517" y="152400"/>
                  <a:pt x="104777" y="152400"/>
                </a:cubicBezTo>
                <a:cubicBezTo>
                  <a:pt x="110038" y="152400"/>
                  <a:pt x="114302" y="148136"/>
                  <a:pt x="114302" y="142875"/>
                </a:cubicBezTo>
                <a:lnTo>
                  <a:pt x="114302" y="123825"/>
                </a:lnTo>
                <a:cubicBezTo>
                  <a:pt x="114302" y="118564"/>
                  <a:pt x="110038" y="114300"/>
                  <a:pt x="104777" y="114300"/>
                </a:cubicBezTo>
                <a:moveTo>
                  <a:pt x="95252" y="0"/>
                </a:moveTo>
                <a:cubicBezTo>
                  <a:pt x="105773" y="0"/>
                  <a:pt x="114302" y="8529"/>
                  <a:pt x="114302" y="19050"/>
                </a:cubicBezTo>
                <a:cubicBezTo>
                  <a:pt x="114302" y="29571"/>
                  <a:pt x="105773" y="38100"/>
                  <a:pt x="95252" y="38100"/>
                </a:cubicBezTo>
                <a:lnTo>
                  <a:pt x="57152" y="38100"/>
                </a:lnTo>
                <a:cubicBezTo>
                  <a:pt x="46631" y="38100"/>
                  <a:pt x="38102" y="29571"/>
                  <a:pt x="38102" y="19050"/>
                </a:cubicBezTo>
                <a:cubicBezTo>
                  <a:pt x="38102" y="8529"/>
                  <a:pt x="46631" y="0"/>
                  <a:pt x="57152" y="0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452245" y="3976172"/>
            <a:ext cx="841577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전문가</a:t>
            </a:r>
            <a:endParaRPr lang="zh-CN" sz="1500" b="1" dirty="0">
              <a:solidFill>
                <a:srgbClr val="2A2018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89183" y="4586685"/>
            <a:ext cx="2673809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응답시간 · 반복오류 · 참여율 등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9183" y="4901645"/>
            <a:ext cx="2064668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상담 전 참고할 </a:t>
            </a:r>
            <a:r>
              <a:rPr lang="zh-CN" sz="16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변화 패턴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594600" y="3713798"/>
            <a:ext cx="4035425" cy="15621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7594600" y="4026218"/>
            <a:ext cx="52070" cy="546735"/>
          </a:xfrm>
          <a:prstGeom prst="roundRect">
            <a:avLst>
              <a:gd name="adj" fmla="val 50000"/>
            </a:avLst>
          </a:pr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7" name="Rectangle 47"/>
          <p:cNvSpPr/>
          <p:nvPr/>
        </p:nvSpPr>
        <p:spPr>
          <a:xfrm>
            <a:off x="7880985" y="3900488"/>
            <a:ext cx="520700" cy="520700"/>
          </a:xfrm>
          <a:prstGeom prst="roundRect">
            <a:avLst>
              <a:gd name="adj" fmla="val 27500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8" name="Freeform 48"/>
          <p:cNvSpPr/>
          <p:nvPr/>
        </p:nvSpPr>
        <p:spPr>
          <a:xfrm>
            <a:off x="8006773" y="4030029"/>
            <a:ext cx="269124" cy="261618"/>
          </a:xfrm>
          <a:custGeom>
            <a:avLst/>
            <a:gdLst/>
            <a:ahLst/>
            <a:cxnLst/>
            <a:rect l="l" t="t" r="r" b="b"/>
            <a:pathLst>
              <a:path w="196920" h="191428">
                <a:moveTo>
                  <a:pt x="105194" y="3718"/>
                </a:moveTo>
                <a:lnTo>
                  <a:pt x="190919" y="89443"/>
                </a:lnTo>
                <a:cubicBezTo>
                  <a:pt x="196920" y="95444"/>
                  <a:pt x="192672" y="105703"/>
                  <a:pt x="184185" y="105703"/>
                </a:cubicBezTo>
                <a:lnTo>
                  <a:pt x="174660" y="105703"/>
                </a:lnTo>
                <a:lnTo>
                  <a:pt x="174660" y="162853"/>
                </a:lnTo>
                <a:cubicBezTo>
                  <a:pt x="174660" y="178634"/>
                  <a:pt x="161866" y="191428"/>
                  <a:pt x="146085" y="191428"/>
                </a:cubicBezTo>
                <a:lnTo>
                  <a:pt x="50835" y="191428"/>
                </a:lnTo>
                <a:cubicBezTo>
                  <a:pt x="35053" y="191428"/>
                  <a:pt x="22260" y="178634"/>
                  <a:pt x="22260" y="162853"/>
                </a:cubicBezTo>
                <a:lnTo>
                  <a:pt x="22260" y="105703"/>
                </a:lnTo>
                <a:lnTo>
                  <a:pt x="12735" y="105703"/>
                </a:lnTo>
                <a:cubicBezTo>
                  <a:pt x="4258" y="105703"/>
                  <a:pt x="0" y="95444"/>
                  <a:pt x="6001" y="89443"/>
                </a:cubicBezTo>
                <a:lnTo>
                  <a:pt x="91726" y="3718"/>
                </a:lnTo>
                <a:cubicBezTo>
                  <a:pt x="95445" y="0"/>
                  <a:pt x="101475" y="0"/>
                  <a:pt x="105194" y="3718"/>
                </a:cubicBezTo>
                <a:moveTo>
                  <a:pt x="112747" y="86653"/>
                </a:moveTo>
                <a:lnTo>
                  <a:pt x="84172" y="86653"/>
                </a:lnTo>
                <a:cubicBezTo>
                  <a:pt x="76282" y="86653"/>
                  <a:pt x="69885" y="93049"/>
                  <a:pt x="69885" y="100940"/>
                </a:cubicBezTo>
                <a:lnTo>
                  <a:pt x="69885" y="129515"/>
                </a:lnTo>
                <a:cubicBezTo>
                  <a:pt x="69885" y="137406"/>
                  <a:pt x="76282" y="143803"/>
                  <a:pt x="84172" y="143803"/>
                </a:cubicBezTo>
                <a:lnTo>
                  <a:pt x="112747" y="143803"/>
                </a:lnTo>
                <a:cubicBezTo>
                  <a:pt x="120638" y="143803"/>
                  <a:pt x="127035" y="137406"/>
                  <a:pt x="127035" y="129515"/>
                </a:cubicBezTo>
                <a:lnTo>
                  <a:pt x="127035" y="100940"/>
                </a:lnTo>
                <a:cubicBezTo>
                  <a:pt x="127035" y="93049"/>
                  <a:pt x="120638" y="86653"/>
                  <a:pt x="112747" y="86653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557895" y="3976172"/>
            <a:ext cx="225702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복지기관 · 지자체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94833" y="4586685"/>
            <a:ext cx="2673809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키오스크 · 리워드 · 기관 관리로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94833" y="4901645"/>
            <a:ext cx="219932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지역사회 </a:t>
            </a:r>
            <a:r>
              <a:rPr lang="zh-CN" sz="16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예방 돌봄</a:t>
            </a:r>
            <a:r>
              <a:rPr lang="zh-CN" sz="16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에 연결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09600" y="5467350"/>
            <a:ext cx="10972800" cy="742950"/>
          </a:xfrm>
          <a:prstGeom prst="roundRect">
            <a:avLst>
              <a:gd name="adj" fmla="val 23077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594326C8-8B6F-6C51-61D7-A4A42E502EA3}"/>
              </a:ext>
            </a:extLst>
          </p:cNvPr>
          <p:cNvGrpSpPr/>
          <p:nvPr/>
        </p:nvGrpSpPr>
        <p:grpSpPr>
          <a:xfrm>
            <a:off x="3287712" y="5605283"/>
            <a:ext cx="2400300" cy="430887"/>
            <a:chOff x="876300" y="5905500"/>
            <a:chExt cx="2400300" cy="247650"/>
          </a:xfrm>
        </p:grpSpPr>
        <p:sp>
          <p:nvSpPr>
            <p:cNvPr id="55" name="Rectangle 55"/>
            <p:cNvSpPr/>
            <p:nvPr/>
          </p:nvSpPr>
          <p:spPr>
            <a:xfrm>
              <a:off x="876300" y="5905500"/>
              <a:ext cx="24003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 sz="110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02712" y="5980681"/>
              <a:ext cx="2147476" cy="972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"오늘은 무슨 요일일까요?" </a:t>
              </a:r>
              <a:r>
                <a:rPr lang="zh-CN" sz="11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지남력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E00508D7-AF45-9E8E-7596-A370269621DB}"/>
              </a:ext>
            </a:extLst>
          </p:cNvPr>
          <p:cNvGrpSpPr/>
          <p:nvPr/>
        </p:nvGrpSpPr>
        <p:grpSpPr>
          <a:xfrm>
            <a:off x="5802312" y="5605283"/>
            <a:ext cx="1866900" cy="430887"/>
            <a:chOff x="3390900" y="5905500"/>
            <a:chExt cx="1866900" cy="247650"/>
          </a:xfrm>
        </p:grpSpPr>
        <p:sp>
          <p:nvSpPr>
            <p:cNvPr id="57" name="Rectangle 57"/>
            <p:cNvSpPr/>
            <p:nvPr/>
          </p:nvSpPr>
          <p:spPr>
            <a:xfrm>
              <a:off x="3390900" y="590550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 sz="110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62551" y="5980681"/>
              <a:ext cx="1523597" cy="972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시장 계산하기 </a:t>
              </a:r>
              <a:r>
                <a:rPr lang="zh-CN" sz="11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주의·계산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C4BF57F-3454-506F-B331-963342F9B789}"/>
              </a:ext>
            </a:extLst>
          </p:cNvPr>
          <p:cNvGrpSpPr/>
          <p:nvPr/>
        </p:nvGrpSpPr>
        <p:grpSpPr>
          <a:xfrm>
            <a:off x="7783512" y="5605283"/>
            <a:ext cx="1828800" cy="430887"/>
            <a:chOff x="5372100" y="5905500"/>
            <a:chExt cx="1828800" cy="247650"/>
          </a:xfrm>
        </p:grpSpPr>
        <p:sp>
          <p:nvSpPr>
            <p:cNvPr id="59" name="Rectangle 59"/>
            <p:cNvSpPr/>
            <p:nvPr/>
          </p:nvSpPr>
          <p:spPr>
            <a:xfrm>
              <a:off x="5372100" y="5905500"/>
              <a:ext cx="1828800" cy="2476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 sz="110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539132" y="5980681"/>
              <a:ext cx="1494736" cy="972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도형 따라 그리기 </a:t>
              </a:r>
              <a:r>
                <a:rPr lang="zh-CN" sz="11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4BCA57B-60F0-B3FE-9CB8-523118276949}"/>
              </a:ext>
            </a:extLst>
          </p:cNvPr>
          <p:cNvGrpSpPr/>
          <p:nvPr/>
        </p:nvGrpSpPr>
        <p:grpSpPr>
          <a:xfrm>
            <a:off x="9974296" y="5662218"/>
            <a:ext cx="1458061" cy="369332"/>
            <a:chOff x="9557608" y="5784398"/>
            <a:chExt cx="1028667" cy="260565"/>
          </a:xfrm>
        </p:grpSpPr>
        <p:sp>
          <p:nvSpPr>
            <p:cNvPr id="61" name="Freeform 61"/>
            <p:cNvSpPr/>
            <p:nvPr/>
          </p:nvSpPr>
          <p:spPr>
            <a:xfrm>
              <a:off x="9557608" y="5821637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1249" y="0"/>
                  </a:move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lnTo>
                    <a:pt x="91249" y="0"/>
                  </a:lnTo>
                  <a:close/>
                  <a:moveTo>
                    <a:pt x="123641" y="63677"/>
                  </a:moveTo>
                  <a:cubicBezTo>
                    <a:pt x="122004" y="62037"/>
                    <a:pt x="119781" y="61116"/>
                    <a:pt x="117464" y="61116"/>
                  </a:cubicBezTo>
                  <a:cubicBezTo>
                    <a:pt x="115147" y="61116"/>
                    <a:pt x="112924" y="62037"/>
                    <a:pt x="111287" y="63677"/>
                  </a:cubicBezTo>
                  <a:lnTo>
                    <a:pt x="82535" y="92420"/>
                  </a:lnTo>
                  <a:lnTo>
                    <a:pt x="71245" y="81140"/>
                  </a:lnTo>
                  <a:lnTo>
                    <a:pt x="70424" y="80415"/>
                  </a:lnTo>
                  <a:cubicBezTo>
                    <a:pt x="66782" y="77599"/>
                    <a:pt x="61580" y="78094"/>
                    <a:pt x="58535" y="81547"/>
                  </a:cubicBezTo>
                  <a:cubicBezTo>
                    <a:pt x="55490" y="85001"/>
                    <a:pt x="55649" y="90225"/>
                    <a:pt x="58899" y="93485"/>
                  </a:cubicBezTo>
                  <a:lnTo>
                    <a:pt x="76362" y="110948"/>
                  </a:lnTo>
                  <a:lnTo>
                    <a:pt x="77182" y="111673"/>
                  </a:lnTo>
                  <a:cubicBezTo>
                    <a:pt x="80658" y="114369"/>
                    <a:pt x="85597" y="114058"/>
                    <a:pt x="88708" y="110948"/>
                  </a:cubicBezTo>
                  <a:lnTo>
                    <a:pt x="123633" y="76023"/>
                  </a:lnTo>
                  <a:lnTo>
                    <a:pt x="124357" y="75202"/>
                  </a:lnTo>
                  <a:cubicBezTo>
                    <a:pt x="127054" y="71726"/>
                    <a:pt x="126743" y="66788"/>
                    <a:pt x="123633" y="636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740131" y="5784398"/>
              <a:ext cx="846144" cy="260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진단 · 위험도 </a:t>
              </a:r>
              <a:endParaRPr lang="en-US" alt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판정 없음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98170" y="6438900"/>
            <a:ext cx="10995660" cy="269944"/>
            <a:chOff x="598170" y="6438900"/>
            <a:chExt cx="10995660" cy="269944"/>
          </a:xfrm>
        </p:grpSpPr>
        <p:sp>
          <p:nvSpPr>
            <p:cNvPr id="64" name="Line 64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8170" y="6570345"/>
              <a:ext cx="168956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by OGASA Labs · 해결 구조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452766" y="6570345"/>
              <a:ext cx="1410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03</a:t>
              </a: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5824BD05-1ABB-C708-39EB-2BC1A095CC6F}"/>
              </a:ext>
            </a:extLst>
          </p:cNvPr>
          <p:cNvGrpSpPr/>
          <p:nvPr/>
        </p:nvGrpSpPr>
        <p:grpSpPr>
          <a:xfrm>
            <a:off x="832681" y="5626545"/>
            <a:ext cx="2236686" cy="430887"/>
            <a:chOff x="844175" y="5600646"/>
            <a:chExt cx="2236686" cy="430887"/>
          </a:xfrm>
        </p:grpSpPr>
        <p:sp>
          <p:nvSpPr>
            <p:cNvPr id="54" name="TextBox 54"/>
            <p:cNvSpPr txBox="1"/>
            <p:nvPr/>
          </p:nvSpPr>
          <p:spPr>
            <a:xfrm>
              <a:off x="844175" y="5600646"/>
              <a:ext cx="1910407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MMSE·CIST 인지영역을 </a:t>
              </a:r>
              <a:endParaRPr lang="en-US" altLang="zh-CN" sz="1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  <a:p>
              <a:pPr algn="ctr"/>
              <a:r>
                <a:rPr lang="zh-CN" sz="14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일상 문항으로 변환</a:t>
              </a:r>
            </a:p>
          </p:txBody>
        </p:sp>
        <p:sp>
          <p:nvSpPr>
            <p:cNvPr id="72" name="이등변 삼각형 71">
              <a:extLst>
                <a:ext uri="{FF2B5EF4-FFF2-40B4-BE49-F238E27FC236}">
                  <a16:creationId xmlns:a16="http://schemas.microsoft.com/office/drawing/2014/main" id="{4E5BDDA2-6EB2-EEA1-3874-CB2914B9DBF0}"/>
                </a:ext>
              </a:extLst>
            </p:cNvPr>
            <p:cNvSpPr/>
            <p:nvPr/>
          </p:nvSpPr>
          <p:spPr>
            <a:xfrm rot="5400000">
              <a:off x="2904970" y="5741482"/>
              <a:ext cx="215839" cy="135942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3239DD29-D71C-A44B-199A-0C5026233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55" r="60296" b="9177"/>
          <a:stretch>
            <a:fillRect/>
          </a:stretch>
        </p:blipFill>
        <p:spPr>
          <a:xfrm>
            <a:off x="11323033" y="141852"/>
            <a:ext cx="669074" cy="67211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E32891E-DA63-DCEC-DF93-3498EF2BD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915" y="141851"/>
            <a:ext cx="672118" cy="67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80060"/>
            <a:ext cx="7396256" cy="724555"/>
            <a:chOff x="571500" y="480060"/>
            <a:chExt cx="7396256" cy="72455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480060"/>
              <a:ext cx="112050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410E"/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"/>
                </a:rPr>
                <a:t>PRODUCT · 구현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1500" y="742950"/>
              <a:ext cx="739625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아이디어가 아니라, </a:t>
              </a:r>
              <a:r>
                <a:rPr lang="zh-CN" sz="3000" b="1" dirty="0">
                  <a:solidFill>
                    <a:srgbClr val="F57265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지금 작동하는 MVP</a:t>
              </a:r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입니다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584077" y="5699958"/>
            <a:ext cx="468077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시작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0503" y="6122193"/>
            <a:ext cx="1295226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부담 없는 한 버튼 진입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65108" y="5699958"/>
            <a:ext cx="1234312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오늘의 문항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26607" y="6122193"/>
            <a:ext cx="1166986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한 화면, 하나의 질문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43825" y="5699958"/>
            <a:ext cx="468077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발화</a:t>
            </a:r>
            <a:endParaRPr lang="zh-CN" sz="2000" b="1" dirty="0">
              <a:solidFill>
                <a:srgbClr val="2A2018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847887" y="6122193"/>
            <a:ext cx="125996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ko-KR" altLang="en-US" sz="11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발화를 통한 정서 관찰</a:t>
            </a:r>
            <a:endParaRPr lang="zh-CN" sz="1100" dirty="0">
              <a:solidFill>
                <a:srgbClr val="6C5D4C"/>
              </a:solidFill>
              <a:latin typeface="나눔스퀘어라운드OTF Bold" panose="020B0600000101010101" pitchFamily="34" charset="-127"/>
              <a:ea typeface="나눔스퀘어라운드OTF Bold" panose="020B0600000101010101" pitchFamily="34" charset="-127"/>
              <a:cs typeface="Pretendar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639288" y="5699958"/>
            <a:ext cx="1468351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보호자 리포트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97674" y="6122193"/>
            <a:ext cx="1388201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점수가 아닌 안부로 전달</a:t>
            </a:r>
          </a:p>
        </p:txBody>
      </p:sp>
      <p:sp>
        <p:nvSpPr>
          <p:cNvPr id="35" name="Line 35"/>
          <p:cNvSpPr/>
          <p:nvPr/>
        </p:nvSpPr>
        <p:spPr>
          <a:xfrm>
            <a:off x="2909148" y="3473484"/>
            <a:ext cx="694907" cy="9525"/>
          </a:xfrm>
          <a:prstGeom prst="line">
            <a:avLst/>
          </a:prstGeom>
          <a:noFill/>
          <a:ln w="23812">
            <a:solidFill>
              <a:srgbClr val="D8C7A6"/>
            </a:solidFill>
            <a:tailEnd type="triangle" w="lg" len="lg"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5699969" y="3463959"/>
            <a:ext cx="744427" cy="9525"/>
          </a:xfrm>
          <a:prstGeom prst="line">
            <a:avLst/>
          </a:prstGeom>
          <a:noFill/>
          <a:ln w="23812">
            <a:solidFill>
              <a:srgbClr val="D8C7A6"/>
            </a:solidFill>
            <a:tailEnd type="triangle" w="lg" len="lg"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7" name="Line 37"/>
          <p:cNvSpPr/>
          <p:nvPr/>
        </p:nvSpPr>
        <p:spPr>
          <a:xfrm>
            <a:off x="8538424" y="3478246"/>
            <a:ext cx="738927" cy="0"/>
          </a:xfrm>
          <a:prstGeom prst="line">
            <a:avLst/>
          </a:prstGeom>
          <a:noFill/>
          <a:ln w="23812">
            <a:solidFill>
              <a:srgbClr val="D8C7A6"/>
            </a:solidFill>
            <a:tailEnd type="triangle" w="lg" len="lg"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grpSp>
        <p:nvGrpSpPr>
          <p:cNvPr id="49" name="Group 49"/>
          <p:cNvGrpSpPr/>
          <p:nvPr/>
        </p:nvGrpSpPr>
        <p:grpSpPr>
          <a:xfrm>
            <a:off x="598170" y="6438900"/>
            <a:ext cx="10995660" cy="269944"/>
            <a:chOff x="598170" y="6438900"/>
            <a:chExt cx="10995660" cy="269944"/>
          </a:xfrm>
        </p:grpSpPr>
        <p:sp>
          <p:nvSpPr>
            <p:cNvPr id="46" name="Line 46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8170" y="6570345"/>
              <a:ext cx="193963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by OGASA Labs · 작동하는 MVP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52766" y="6570345"/>
              <a:ext cx="1410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04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BBE010F-3AB0-A1C0-C681-4CCEF237F4C7}"/>
              </a:ext>
            </a:extLst>
          </p:cNvPr>
          <p:cNvGrpSpPr/>
          <p:nvPr/>
        </p:nvGrpSpPr>
        <p:grpSpPr>
          <a:xfrm>
            <a:off x="3666104" y="1563128"/>
            <a:ext cx="1960264" cy="4028574"/>
            <a:chOff x="833187" y="1455802"/>
            <a:chExt cx="1960264" cy="4028574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559A1395-D9F1-A7C4-7B29-20219DD90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95" b="13690"/>
            <a:stretch>
              <a:fillRect/>
            </a:stretch>
          </p:blipFill>
          <p:spPr>
            <a:xfrm>
              <a:off x="855336" y="1662839"/>
              <a:ext cx="1938115" cy="3613954"/>
            </a:xfrm>
            <a:prstGeom prst="rect">
              <a:avLst/>
            </a:prstGeom>
          </p:spPr>
        </p:pic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655DEC0-FD95-46A4-5315-495E1DEDC898}"/>
                </a:ext>
              </a:extLst>
            </p:cNvPr>
            <p:cNvGrpSpPr/>
            <p:nvPr/>
          </p:nvGrpSpPr>
          <p:grpSpPr>
            <a:xfrm>
              <a:off x="833187" y="1455802"/>
              <a:ext cx="1960264" cy="4028574"/>
              <a:chOff x="5014912" y="1223596"/>
              <a:chExt cx="2419350" cy="4972050"/>
            </a:xfrm>
          </p:grpSpPr>
          <p:sp>
            <p:nvSpPr>
              <p:cNvPr id="40" name="Rectangle 26">
                <a:extLst>
                  <a:ext uri="{FF2B5EF4-FFF2-40B4-BE49-F238E27FC236}">
                    <a16:creationId xmlns:a16="http://schemas.microsoft.com/office/drawing/2014/main" id="{CAB196C5-74BF-2FE2-6ADE-B6CC9543C133}"/>
                  </a:ext>
                </a:extLst>
              </p:cNvPr>
              <p:cNvSpPr/>
              <p:nvPr/>
            </p:nvSpPr>
            <p:spPr>
              <a:xfrm>
                <a:off x="5014912" y="1223596"/>
                <a:ext cx="2419350" cy="4972050"/>
              </a:xfrm>
              <a:prstGeom prst="roundRect">
                <a:avLst>
                  <a:gd name="adj" fmla="val 13386"/>
                </a:avLst>
              </a:prstGeom>
              <a:noFill/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" name="Rectangle 28">
                <a:extLst>
                  <a:ext uri="{FF2B5EF4-FFF2-40B4-BE49-F238E27FC236}">
                    <a16:creationId xmlns:a16="http://schemas.microsoft.com/office/drawing/2014/main" id="{D7131CDF-9FE0-E23E-5D30-C70AEA8849D8}"/>
                  </a:ext>
                </a:extLst>
              </p:cNvPr>
              <p:cNvSpPr/>
              <p:nvPr/>
            </p:nvSpPr>
            <p:spPr>
              <a:xfrm>
                <a:off x="5843587" y="1378372"/>
                <a:ext cx="762000" cy="100750"/>
              </a:xfrm>
              <a:prstGeom prst="roundRect">
                <a:avLst>
                  <a:gd name="adj" fmla="val 50000"/>
                </a:avLst>
              </a:prstGeom>
              <a:solidFill>
                <a:srgbClr val="241E17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8369B0B-E82E-6092-9F31-6B7281CA79DC}"/>
              </a:ext>
            </a:extLst>
          </p:cNvPr>
          <p:cNvGrpSpPr/>
          <p:nvPr/>
        </p:nvGrpSpPr>
        <p:grpSpPr>
          <a:xfrm>
            <a:off x="9393331" y="1563128"/>
            <a:ext cx="1960264" cy="4028574"/>
            <a:chOff x="6030126" y="1414713"/>
            <a:chExt cx="1960264" cy="4028574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3A525C13-C921-23EB-8DDF-04837C5FE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414" b="16618"/>
            <a:stretch>
              <a:fillRect/>
            </a:stretch>
          </p:blipFill>
          <p:spPr>
            <a:xfrm>
              <a:off x="6051215" y="1723799"/>
              <a:ext cx="1938115" cy="3480662"/>
            </a:xfrm>
            <a:prstGeom prst="rect">
              <a:avLst/>
            </a:prstGeom>
          </p:spPr>
        </p:pic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43DC1C4-ED5A-B323-8E12-CFD487A222CA}"/>
                </a:ext>
              </a:extLst>
            </p:cNvPr>
            <p:cNvGrpSpPr/>
            <p:nvPr/>
          </p:nvGrpSpPr>
          <p:grpSpPr>
            <a:xfrm>
              <a:off x="6030126" y="1414713"/>
              <a:ext cx="1960264" cy="4028574"/>
              <a:chOff x="5014912" y="1223596"/>
              <a:chExt cx="2419350" cy="4972050"/>
            </a:xfrm>
          </p:grpSpPr>
          <p:sp>
            <p:nvSpPr>
              <p:cNvPr id="54" name="Rectangle 26">
                <a:extLst>
                  <a:ext uri="{FF2B5EF4-FFF2-40B4-BE49-F238E27FC236}">
                    <a16:creationId xmlns:a16="http://schemas.microsoft.com/office/drawing/2014/main" id="{78FD6845-B5D8-1D82-894F-6C1617318D1A}"/>
                  </a:ext>
                </a:extLst>
              </p:cNvPr>
              <p:cNvSpPr/>
              <p:nvPr/>
            </p:nvSpPr>
            <p:spPr>
              <a:xfrm>
                <a:off x="5014912" y="1223596"/>
                <a:ext cx="2419350" cy="4972050"/>
              </a:xfrm>
              <a:prstGeom prst="roundRect">
                <a:avLst>
                  <a:gd name="adj" fmla="val 13386"/>
                </a:avLst>
              </a:prstGeom>
              <a:noFill/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Rectangle 28">
                <a:extLst>
                  <a:ext uri="{FF2B5EF4-FFF2-40B4-BE49-F238E27FC236}">
                    <a16:creationId xmlns:a16="http://schemas.microsoft.com/office/drawing/2014/main" id="{AB1F4D4E-2576-FD4E-8FC4-66B65E2222E8}"/>
                  </a:ext>
                </a:extLst>
              </p:cNvPr>
              <p:cNvSpPr/>
              <p:nvPr/>
            </p:nvSpPr>
            <p:spPr>
              <a:xfrm>
                <a:off x="5843587" y="1378372"/>
                <a:ext cx="762000" cy="100750"/>
              </a:xfrm>
              <a:prstGeom prst="roundRect">
                <a:avLst>
                  <a:gd name="adj" fmla="val 50000"/>
                </a:avLst>
              </a:prstGeom>
              <a:solidFill>
                <a:srgbClr val="241E17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4AB5DB0-3070-D5A9-4C82-2BEFEB81124A}"/>
              </a:ext>
            </a:extLst>
          </p:cNvPr>
          <p:cNvGrpSpPr/>
          <p:nvPr/>
        </p:nvGrpSpPr>
        <p:grpSpPr>
          <a:xfrm>
            <a:off x="6497732" y="1556926"/>
            <a:ext cx="1960264" cy="4028574"/>
            <a:chOff x="8969933" y="1473103"/>
            <a:chExt cx="1960264" cy="4028574"/>
          </a:xfrm>
        </p:grpSpPr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A56F8128-F0A2-90C5-E046-1B7C9E2A9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762" b="13671"/>
            <a:stretch>
              <a:fillRect/>
            </a:stretch>
          </p:blipFill>
          <p:spPr>
            <a:xfrm>
              <a:off x="8992082" y="1723799"/>
              <a:ext cx="1938115" cy="3552995"/>
            </a:xfrm>
            <a:prstGeom prst="rect">
              <a:avLst/>
            </a:prstGeom>
          </p:spPr>
        </p:pic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95E6FAF6-9387-7047-44A6-110E1A257B2B}"/>
                </a:ext>
              </a:extLst>
            </p:cNvPr>
            <p:cNvGrpSpPr/>
            <p:nvPr/>
          </p:nvGrpSpPr>
          <p:grpSpPr>
            <a:xfrm>
              <a:off x="8969933" y="1473103"/>
              <a:ext cx="1960264" cy="4028574"/>
              <a:chOff x="5014912" y="1223596"/>
              <a:chExt cx="2419350" cy="4972050"/>
            </a:xfrm>
          </p:grpSpPr>
          <p:sp>
            <p:nvSpPr>
              <p:cNvPr id="59" name="Rectangle 26">
                <a:extLst>
                  <a:ext uri="{FF2B5EF4-FFF2-40B4-BE49-F238E27FC236}">
                    <a16:creationId xmlns:a16="http://schemas.microsoft.com/office/drawing/2014/main" id="{54BF6635-7DA4-1E29-B59B-49D297422D4B}"/>
                  </a:ext>
                </a:extLst>
              </p:cNvPr>
              <p:cNvSpPr/>
              <p:nvPr/>
            </p:nvSpPr>
            <p:spPr>
              <a:xfrm>
                <a:off x="5014912" y="1223596"/>
                <a:ext cx="2419350" cy="4972050"/>
              </a:xfrm>
              <a:prstGeom prst="roundRect">
                <a:avLst>
                  <a:gd name="adj" fmla="val 13386"/>
                </a:avLst>
              </a:prstGeom>
              <a:noFill/>
              <a:ln w="76200">
                <a:solidFill>
                  <a:schemeClr val="tx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Rectangle 28">
                <a:extLst>
                  <a:ext uri="{FF2B5EF4-FFF2-40B4-BE49-F238E27FC236}">
                    <a16:creationId xmlns:a16="http://schemas.microsoft.com/office/drawing/2014/main" id="{3B6A0B4D-C1C5-629A-B23E-4E0E81F90575}"/>
                  </a:ext>
                </a:extLst>
              </p:cNvPr>
              <p:cNvSpPr/>
              <p:nvPr/>
            </p:nvSpPr>
            <p:spPr>
              <a:xfrm>
                <a:off x="5843587" y="1378372"/>
                <a:ext cx="762000" cy="100750"/>
              </a:xfrm>
              <a:prstGeom prst="roundRect">
                <a:avLst>
                  <a:gd name="adj" fmla="val 50000"/>
                </a:avLst>
              </a:prstGeom>
              <a:solidFill>
                <a:srgbClr val="241E17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1D65605-0E8F-92EF-58FC-B57A8F77A223}"/>
              </a:ext>
            </a:extLst>
          </p:cNvPr>
          <p:cNvGrpSpPr/>
          <p:nvPr/>
        </p:nvGrpSpPr>
        <p:grpSpPr>
          <a:xfrm>
            <a:off x="804922" y="1511924"/>
            <a:ext cx="2139629" cy="4028574"/>
            <a:chOff x="8781896" y="842596"/>
            <a:chExt cx="2667154" cy="5021818"/>
          </a:xfrm>
        </p:grpSpPr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C8D11B66-9EDB-EA28-06F8-440B7B18DE7C}"/>
                </a:ext>
              </a:extLst>
            </p:cNvPr>
            <p:cNvSpPr/>
            <p:nvPr/>
          </p:nvSpPr>
          <p:spPr>
            <a:xfrm>
              <a:off x="9029700" y="842596"/>
              <a:ext cx="2419350" cy="4972050"/>
            </a:xfrm>
            <a:prstGeom prst="roundRect">
              <a:avLst>
                <a:gd name="adj" fmla="val 13386"/>
              </a:avLst>
            </a:prstGeom>
            <a:solidFill>
              <a:srgbClr val="FBF5E9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F92F8114-96F4-1688-0109-10B4D8601033}"/>
                </a:ext>
              </a:extLst>
            </p:cNvPr>
            <p:cNvGrpSpPr/>
            <p:nvPr/>
          </p:nvGrpSpPr>
          <p:grpSpPr>
            <a:xfrm>
              <a:off x="8781896" y="892364"/>
              <a:ext cx="2419350" cy="4972050"/>
              <a:chOff x="5014912" y="1223596"/>
              <a:chExt cx="2419350" cy="4972050"/>
            </a:xfrm>
          </p:grpSpPr>
          <p:pic>
            <p:nvPicPr>
              <p:cNvPr id="64" name="그림 63">
                <a:extLst>
                  <a:ext uri="{FF2B5EF4-FFF2-40B4-BE49-F238E27FC236}">
                    <a16:creationId xmlns:a16="http://schemas.microsoft.com/office/drawing/2014/main" id="{3F3AC5F2-FA4D-E4D3-D2A5-C179CBE0BE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1991" t="10785" r="12447" b="14909"/>
              <a:stretch>
                <a:fillRect/>
              </a:stretch>
            </p:blipFill>
            <p:spPr>
              <a:xfrm>
                <a:off x="5172075" y="1295400"/>
                <a:ext cx="2088016" cy="4791075"/>
              </a:xfrm>
              <a:prstGeom prst="rect">
                <a:avLst/>
              </a:prstGeom>
            </p:spPr>
          </p:pic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EE9C3F2B-772F-AC7B-AD0F-4450A1DACB7E}"/>
                  </a:ext>
                </a:extLst>
              </p:cNvPr>
              <p:cNvGrpSpPr/>
              <p:nvPr/>
            </p:nvGrpSpPr>
            <p:grpSpPr>
              <a:xfrm>
                <a:off x="5014912" y="1223596"/>
                <a:ext cx="2419350" cy="4972050"/>
                <a:chOff x="5014912" y="1223596"/>
                <a:chExt cx="2419350" cy="4972050"/>
              </a:xfrm>
            </p:grpSpPr>
            <p:sp>
              <p:nvSpPr>
                <p:cNvPr id="67" name="Rectangle 26">
                  <a:extLst>
                    <a:ext uri="{FF2B5EF4-FFF2-40B4-BE49-F238E27FC236}">
                      <a16:creationId xmlns:a16="http://schemas.microsoft.com/office/drawing/2014/main" id="{DDF60112-7D1A-7645-5BE3-55F2B1161832}"/>
                    </a:ext>
                  </a:extLst>
                </p:cNvPr>
                <p:cNvSpPr/>
                <p:nvPr/>
              </p:nvSpPr>
              <p:spPr>
                <a:xfrm>
                  <a:off x="5014912" y="1223596"/>
                  <a:ext cx="2419350" cy="4972050"/>
                </a:xfrm>
                <a:prstGeom prst="roundRect">
                  <a:avLst>
                    <a:gd name="adj" fmla="val 13386"/>
                  </a:avLst>
                </a:prstGeom>
                <a:noFill/>
                <a:ln w="762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" name="Rectangle 28">
                  <a:extLst>
                    <a:ext uri="{FF2B5EF4-FFF2-40B4-BE49-F238E27FC236}">
                      <a16:creationId xmlns:a16="http://schemas.microsoft.com/office/drawing/2014/main" id="{492DB33E-9102-140A-D16E-A40963C0B04B}"/>
                    </a:ext>
                  </a:extLst>
                </p:cNvPr>
                <p:cNvSpPr/>
                <p:nvPr/>
              </p:nvSpPr>
              <p:spPr>
                <a:xfrm>
                  <a:off x="5843587" y="1378372"/>
                  <a:ext cx="762000" cy="1007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41E17"/>
                </a:solidFill>
                <a:ln>
                  <a:noFill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95EAC5D-FEB9-68AF-5544-31324E157B6B}"/>
                  </a:ext>
                </a:extLst>
              </p:cNvPr>
              <p:cNvSpPr txBox="1"/>
              <p:nvPr/>
            </p:nvSpPr>
            <p:spPr>
              <a:xfrm>
                <a:off x="5062720" y="3074184"/>
                <a:ext cx="2319338" cy="7289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b="1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</a:rPr>
                  <a:t>오늘은 뇌를</a:t>
                </a:r>
                <a:endParaRPr lang="en-US" altLang="ko-KR" sz="1600" b="1" dirty="0"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</a:endParaRPr>
              </a:p>
              <a:p>
                <a:pPr algn="ctr"/>
                <a:r>
                  <a:rPr lang="ko-KR" altLang="en-US" sz="1600" b="1" dirty="0">
                    <a:latin typeface="나눔스퀘어라운드OTF ExtraBold" panose="020B0600000101010101" pitchFamily="34" charset="-127"/>
                    <a:ea typeface="나눔스퀘어라운드OTF ExtraBold" panose="020B0600000101010101" pitchFamily="34" charset="-127"/>
                  </a:rPr>
                  <a:t>훈련하는 날이예요</a:t>
                </a:r>
              </a:p>
            </p:txBody>
          </p: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9D1616AA-334F-D8EE-BB28-5347672F66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555" r="60296" b="9177"/>
          <a:stretch>
            <a:fillRect/>
          </a:stretch>
        </p:blipFill>
        <p:spPr>
          <a:xfrm>
            <a:off x="11323033" y="141852"/>
            <a:ext cx="669074" cy="6721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1FDE3E8-DD02-96FC-EBA2-A5C0BED1CB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0915" y="141851"/>
            <a:ext cx="672118" cy="67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80060"/>
            <a:ext cx="7375417" cy="724555"/>
            <a:chOff x="571500" y="480060"/>
            <a:chExt cx="7375417" cy="72455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480060"/>
              <a:ext cx="143789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410E"/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"/>
                </a:rPr>
                <a:t>PRODUCT · 문항 체계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1500" y="742950"/>
              <a:ext cx="73754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모든 문항은 </a:t>
              </a:r>
              <a:r>
                <a:rPr lang="zh-CN" sz="3000" b="1" dirty="0">
                  <a:solidFill>
                    <a:srgbClr val="F57265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검증된 인지 영역 </a:t>
              </a:r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위에 설계됩니다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5312" y="1269206"/>
            <a:ext cx="8906284" cy="173124"/>
            <a:chOff x="595312" y="1269206"/>
            <a:chExt cx="8906284" cy="173124"/>
          </a:xfrm>
        </p:grpSpPr>
        <p:sp>
          <p:nvSpPr>
            <p:cNvPr id="7" name="TextBox 7"/>
            <p:cNvSpPr txBox="1"/>
            <p:nvPr/>
          </p:nvSpPr>
          <p:spPr>
            <a:xfrm>
              <a:off x="595312" y="1269206"/>
              <a:ext cx="8906284" cy="1731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우울 선별에 9문항 표준 PHQ-9가 있듯, 인지 선별에는 </a:t>
              </a:r>
              <a:r>
                <a:rPr lang="zh-CN" sz="112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MMSE·CIST의 검증된 인지 영역 체계</a:t>
              </a:r>
              <a:r>
                <a:rPr lang="zh-CN" sz="1125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가 있습니다 — Haru의 모든 문항은 그 위에서 설계됩니다.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657350"/>
            <a:ext cx="3505200" cy="1828800"/>
            <a:chOff x="609600" y="1543050"/>
            <a:chExt cx="3505200" cy="1828800"/>
          </a:xfrm>
        </p:grpSpPr>
        <p:sp>
          <p:nvSpPr>
            <p:cNvPr id="9" name="Rectangle 9"/>
            <p:cNvSpPr/>
            <p:nvPr/>
          </p:nvSpPr>
          <p:spPr>
            <a:xfrm>
              <a:off x="6096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23924" y="1809482"/>
              <a:ext cx="171452" cy="190769"/>
              <a:chOff x="923924" y="1809482"/>
              <a:chExt cx="171452" cy="19076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23924" y="1809482"/>
                <a:ext cx="171452" cy="190769"/>
              </a:xfrm>
              <a:custGeom>
                <a:avLst/>
                <a:gdLst/>
                <a:ahLst/>
                <a:cxnLst/>
                <a:rect l="l" t="t" r="r" b="b"/>
                <a:pathLst>
                  <a:path w="171452" h="190769">
                    <a:moveTo>
                      <a:pt x="123826" y="268"/>
                    </a:moveTo>
                    <a:cubicBezTo>
                      <a:pt x="128655" y="269"/>
                      <a:pt x="132719" y="3883"/>
                      <a:pt x="133284" y="8679"/>
                    </a:cubicBezTo>
                    <a:lnTo>
                      <a:pt x="133351" y="9793"/>
                    </a:lnTo>
                    <a:lnTo>
                      <a:pt x="133351" y="19318"/>
                    </a:lnTo>
                    <a:lnTo>
                      <a:pt x="142876" y="19318"/>
                    </a:lnTo>
                    <a:cubicBezTo>
                      <a:pt x="158007" y="19318"/>
                      <a:pt x="170516" y="31112"/>
                      <a:pt x="171403" y="46217"/>
                    </a:cubicBezTo>
                    <a:lnTo>
                      <a:pt x="171451" y="47893"/>
                    </a:lnTo>
                    <a:lnTo>
                      <a:pt x="171451" y="162193"/>
                    </a:lnTo>
                    <a:cubicBezTo>
                      <a:pt x="171452" y="177324"/>
                      <a:pt x="159657" y="189833"/>
                      <a:pt x="144552" y="190721"/>
                    </a:cubicBezTo>
                    <a:lnTo>
                      <a:pt x="142876" y="190768"/>
                    </a:lnTo>
                    <a:lnTo>
                      <a:pt x="28576" y="190768"/>
                    </a:lnTo>
                    <a:cubicBezTo>
                      <a:pt x="13445" y="190769"/>
                      <a:pt x="936" y="178975"/>
                      <a:pt x="48" y="163870"/>
                    </a:cubicBezTo>
                    <a:lnTo>
                      <a:pt x="1" y="162193"/>
                    </a:lnTo>
                    <a:lnTo>
                      <a:pt x="1" y="47893"/>
                    </a:lnTo>
                    <a:cubicBezTo>
                      <a:pt x="0" y="32762"/>
                      <a:pt x="11794" y="20254"/>
                      <a:pt x="26899" y="19366"/>
                    </a:cubicBezTo>
                    <a:lnTo>
                      <a:pt x="28576" y="19318"/>
                    </a:lnTo>
                    <a:lnTo>
                      <a:pt x="38101" y="19318"/>
                    </a:lnTo>
                    <a:lnTo>
                      <a:pt x="38101" y="9793"/>
                    </a:lnTo>
                    <a:cubicBezTo>
                      <a:pt x="38106" y="4754"/>
                      <a:pt x="42037" y="591"/>
                      <a:pt x="47068" y="295"/>
                    </a:cubicBezTo>
                    <a:cubicBezTo>
                      <a:pt x="52099" y="0"/>
                      <a:pt x="56489" y="3675"/>
                      <a:pt x="57084" y="8679"/>
                    </a:cubicBezTo>
                    <a:lnTo>
                      <a:pt x="57151" y="9793"/>
                    </a:lnTo>
                    <a:lnTo>
                      <a:pt x="57151" y="19318"/>
                    </a:lnTo>
                    <a:lnTo>
                      <a:pt x="114301" y="19318"/>
                    </a:lnTo>
                    <a:lnTo>
                      <a:pt x="114301" y="9793"/>
                    </a:lnTo>
                    <a:cubicBezTo>
                      <a:pt x="114301" y="4533"/>
                      <a:pt x="118565" y="268"/>
                      <a:pt x="123826" y="268"/>
                    </a:cubicBezTo>
                    <a:close/>
                    <a:moveTo>
                      <a:pt x="152401" y="66943"/>
                    </a:moveTo>
                    <a:lnTo>
                      <a:pt x="19051" y="66943"/>
                    </a:lnTo>
                    <a:lnTo>
                      <a:pt x="19051" y="158622"/>
                    </a:lnTo>
                    <a:cubicBezTo>
                      <a:pt x="19051" y="165337"/>
                      <a:pt x="22727" y="170871"/>
                      <a:pt x="27461" y="171633"/>
                    </a:cubicBezTo>
                    <a:lnTo>
                      <a:pt x="28576" y="171718"/>
                    </a:lnTo>
                    <a:lnTo>
                      <a:pt x="142876" y="171718"/>
                    </a:lnTo>
                    <a:cubicBezTo>
                      <a:pt x="147762" y="171718"/>
                      <a:pt x="151791" y="166670"/>
                      <a:pt x="152334" y="160146"/>
                    </a:cubicBezTo>
                    <a:lnTo>
                      <a:pt x="152401" y="158622"/>
                    </a:lnTo>
                    <a:lnTo>
                      <a:pt x="152401" y="66943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990332" y="1905000"/>
                <a:ext cx="28843" cy="47893"/>
              </a:xfrm>
              <a:custGeom>
                <a:avLst/>
                <a:gdLst/>
                <a:ahLst/>
                <a:cxnLst/>
                <a:rect l="l" t="t" r="r" b="b"/>
                <a:pathLst>
                  <a:path w="28843" h="47893">
                    <a:moveTo>
                      <a:pt x="19318" y="0"/>
                    </a:moveTo>
                    <a:cubicBezTo>
                      <a:pt x="24147" y="1"/>
                      <a:pt x="28212" y="3615"/>
                      <a:pt x="28777" y="8411"/>
                    </a:cubicBezTo>
                    <a:lnTo>
                      <a:pt x="28843" y="9525"/>
                    </a:lnTo>
                    <a:lnTo>
                      <a:pt x="28843" y="38100"/>
                    </a:lnTo>
                    <a:cubicBezTo>
                      <a:pt x="28838" y="43140"/>
                      <a:pt x="24908" y="47303"/>
                      <a:pt x="19877" y="47598"/>
                    </a:cubicBezTo>
                    <a:cubicBezTo>
                      <a:pt x="14846" y="47893"/>
                      <a:pt x="10455" y="44219"/>
                      <a:pt x="9860" y="39214"/>
                    </a:cubicBezTo>
                    <a:lnTo>
                      <a:pt x="9793" y="3810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2954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지남력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02544" y="203239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시간 · 장소 감각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6768" y="2314099"/>
              <a:ext cx="216405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오늘 날짜 확인, 현재 위치 확인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" y="257175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2637949"/>
              <a:ext cx="1365758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"오늘은 무슨 요일일까요?"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9150" y="289560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0118" y="2961799"/>
              <a:ext cx="14795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"오늘 어디에 다녀오셨어요?"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343400" y="1657350"/>
            <a:ext cx="3505200" cy="1828800"/>
            <a:chOff x="4343400" y="1543050"/>
            <a:chExt cx="3505200" cy="1828800"/>
          </a:xfrm>
        </p:grpSpPr>
        <p:sp>
          <p:nvSpPr>
            <p:cNvPr id="22" name="Rectangle 22"/>
            <p:cNvSpPr/>
            <p:nvPr/>
          </p:nvSpPr>
          <p:spPr>
            <a:xfrm>
              <a:off x="43434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529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676775" y="1809750"/>
              <a:ext cx="133351" cy="191032"/>
            </a:xfrm>
            <a:custGeom>
              <a:avLst/>
              <a:gdLst/>
              <a:ahLst/>
              <a:cxnLst/>
              <a:rect l="l" t="t" r="r" b="b"/>
              <a:pathLst>
                <a:path w="133351" h="191032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180975"/>
                  </a:lnTo>
                  <a:cubicBezTo>
                    <a:pt x="133351" y="184489"/>
                    <a:pt x="131417" y="187717"/>
                    <a:pt x="128319" y="189375"/>
                  </a:cubicBezTo>
                  <a:cubicBezTo>
                    <a:pt x="125220" y="191032"/>
                    <a:pt x="121461" y="190850"/>
                    <a:pt x="118539" y="188900"/>
                  </a:cubicBezTo>
                  <a:lnTo>
                    <a:pt x="66675" y="154324"/>
                  </a:lnTo>
                  <a:lnTo>
                    <a:pt x="14821" y="188900"/>
                  </a:lnTo>
                  <a:cubicBezTo>
                    <a:pt x="12057" y="190750"/>
                    <a:pt x="8527" y="191024"/>
                    <a:pt x="5511" y="189622"/>
                  </a:cubicBezTo>
                  <a:cubicBezTo>
                    <a:pt x="2494" y="188221"/>
                    <a:pt x="427" y="185348"/>
                    <a:pt x="57" y="182042"/>
                  </a:cubicBezTo>
                  <a:lnTo>
                    <a:pt x="0" y="180975"/>
                  </a:ln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2A201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29200" y="178117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6344" y="2032397"/>
              <a:ext cx="104836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기억 등록 · 지연 회상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40568" y="2314099"/>
              <a:ext cx="178414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단어·문장 기억 후 회상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52950" y="2571750"/>
              <a:ext cx="22860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3918" y="2637949"/>
              <a:ext cx="155010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가족식사 · 시장 기억카드 회상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552950" y="28956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73918" y="2961799"/>
              <a:ext cx="89287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어제 한 일 말하기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77200" y="1657350"/>
            <a:ext cx="3505200" cy="1828800"/>
            <a:chOff x="8077200" y="1543050"/>
            <a:chExt cx="3505200" cy="1828800"/>
          </a:xfrm>
        </p:grpSpPr>
        <p:sp>
          <p:nvSpPr>
            <p:cNvPr id="33" name="Rectangle 33"/>
            <p:cNvSpPr/>
            <p:nvPr/>
          </p:nvSpPr>
          <p:spPr>
            <a:xfrm>
              <a:off x="80772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2867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391525" y="180975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42875" y="0"/>
                  </a:moveTo>
                  <a:cubicBezTo>
                    <a:pt x="158657" y="0"/>
                    <a:pt x="171450" y="12793"/>
                    <a:pt x="171450" y="28575"/>
                  </a:cubicBezTo>
                  <a:lnTo>
                    <a:pt x="171450" y="161925"/>
                  </a:lnTo>
                  <a:cubicBezTo>
                    <a:pt x="171450" y="177707"/>
                    <a:pt x="158657" y="190500"/>
                    <a:pt x="142875" y="190500"/>
                  </a:cubicBezTo>
                  <a:lnTo>
                    <a:pt x="28575" y="190500"/>
                  </a:lnTo>
                  <a:cubicBezTo>
                    <a:pt x="12793" y="190500"/>
                    <a:pt x="0" y="177707"/>
                    <a:pt x="0" y="161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  <a:moveTo>
                    <a:pt x="47625" y="142875"/>
                  </a:moveTo>
                  <a:cubicBezTo>
                    <a:pt x="42364" y="142875"/>
                    <a:pt x="38100" y="147139"/>
                    <a:pt x="38100" y="152400"/>
                  </a:cubicBezTo>
                  <a:lnTo>
                    <a:pt x="38167" y="153610"/>
                  </a:lnTo>
                  <a:cubicBezTo>
                    <a:pt x="38762" y="158614"/>
                    <a:pt x="43152" y="162289"/>
                    <a:pt x="48183" y="161993"/>
                  </a:cubicBezTo>
                  <a:cubicBezTo>
                    <a:pt x="53214" y="161698"/>
                    <a:pt x="57144" y="157535"/>
                    <a:pt x="57150" y="152495"/>
                  </a:cubicBezTo>
                  <a:lnTo>
                    <a:pt x="57083" y="151286"/>
                  </a:lnTo>
                  <a:cubicBezTo>
                    <a:pt x="56518" y="146490"/>
                    <a:pt x="52454" y="142876"/>
                    <a:pt x="47625" y="142875"/>
                  </a:cubicBezTo>
                  <a:close/>
                  <a:moveTo>
                    <a:pt x="85725" y="142875"/>
                  </a:moveTo>
                  <a:cubicBezTo>
                    <a:pt x="80464" y="142875"/>
                    <a:pt x="76200" y="147139"/>
                    <a:pt x="76200" y="152400"/>
                  </a:cubicBezTo>
                  <a:lnTo>
                    <a:pt x="76267" y="153610"/>
                  </a:lnTo>
                  <a:cubicBezTo>
                    <a:pt x="76862" y="158614"/>
                    <a:pt x="81252" y="162289"/>
                    <a:pt x="86283" y="161993"/>
                  </a:cubicBezTo>
                  <a:cubicBezTo>
                    <a:pt x="91314" y="161698"/>
                    <a:pt x="95244" y="157535"/>
                    <a:pt x="95250" y="152495"/>
                  </a:cubicBezTo>
                  <a:lnTo>
                    <a:pt x="95183" y="151286"/>
                  </a:lnTo>
                  <a:cubicBezTo>
                    <a:pt x="94618" y="146490"/>
                    <a:pt x="90554" y="142876"/>
                    <a:pt x="85725" y="142875"/>
                  </a:cubicBezTo>
                  <a:close/>
                  <a:moveTo>
                    <a:pt x="123825" y="142875"/>
                  </a:moveTo>
                  <a:cubicBezTo>
                    <a:pt x="118564" y="142875"/>
                    <a:pt x="114300" y="147139"/>
                    <a:pt x="114300" y="152400"/>
                  </a:cubicBezTo>
                  <a:lnTo>
                    <a:pt x="114367" y="153610"/>
                  </a:lnTo>
                  <a:cubicBezTo>
                    <a:pt x="114962" y="158614"/>
                    <a:pt x="119352" y="162289"/>
                    <a:pt x="124383" y="161993"/>
                  </a:cubicBezTo>
                  <a:cubicBezTo>
                    <a:pt x="129414" y="161698"/>
                    <a:pt x="133344" y="157535"/>
                    <a:pt x="133350" y="152495"/>
                  </a:cubicBezTo>
                  <a:lnTo>
                    <a:pt x="133283" y="151286"/>
                  </a:lnTo>
                  <a:cubicBezTo>
                    <a:pt x="132718" y="146490"/>
                    <a:pt x="128654" y="142876"/>
                    <a:pt x="123825" y="142875"/>
                  </a:cubicBezTo>
                  <a:close/>
                  <a:moveTo>
                    <a:pt x="47625" y="104775"/>
                  </a:moveTo>
                  <a:cubicBezTo>
                    <a:pt x="42364" y="104775"/>
                    <a:pt x="38100" y="109039"/>
                    <a:pt x="38100" y="114300"/>
                  </a:cubicBezTo>
                  <a:lnTo>
                    <a:pt x="38167" y="115510"/>
                  </a:lnTo>
                  <a:cubicBezTo>
                    <a:pt x="38762" y="120514"/>
                    <a:pt x="43152" y="124189"/>
                    <a:pt x="48183" y="123893"/>
                  </a:cubicBezTo>
                  <a:cubicBezTo>
                    <a:pt x="53214" y="123598"/>
                    <a:pt x="57144" y="119435"/>
                    <a:pt x="57150" y="114395"/>
                  </a:cubicBezTo>
                  <a:lnTo>
                    <a:pt x="57083" y="113186"/>
                  </a:lnTo>
                  <a:cubicBezTo>
                    <a:pt x="56518" y="108390"/>
                    <a:pt x="52454" y="104776"/>
                    <a:pt x="47625" y="104775"/>
                  </a:cubicBezTo>
                  <a:close/>
                  <a:moveTo>
                    <a:pt x="85725" y="104775"/>
                  </a:moveTo>
                  <a:cubicBezTo>
                    <a:pt x="80464" y="104775"/>
                    <a:pt x="76200" y="109039"/>
                    <a:pt x="76200" y="114300"/>
                  </a:cubicBezTo>
                  <a:lnTo>
                    <a:pt x="76267" y="115510"/>
                  </a:lnTo>
                  <a:cubicBezTo>
                    <a:pt x="76862" y="120514"/>
                    <a:pt x="81252" y="124189"/>
                    <a:pt x="86283" y="123893"/>
                  </a:cubicBezTo>
                  <a:cubicBezTo>
                    <a:pt x="91314" y="123598"/>
                    <a:pt x="95244" y="119435"/>
                    <a:pt x="95250" y="114395"/>
                  </a:cubicBezTo>
                  <a:lnTo>
                    <a:pt x="95183" y="113186"/>
                  </a:lnTo>
                  <a:cubicBezTo>
                    <a:pt x="94618" y="108390"/>
                    <a:pt x="90554" y="104776"/>
                    <a:pt x="85725" y="104775"/>
                  </a:cubicBezTo>
                  <a:close/>
                  <a:moveTo>
                    <a:pt x="123825" y="104775"/>
                  </a:moveTo>
                  <a:cubicBezTo>
                    <a:pt x="118564" y="104775"/>
                    <a:pt x="114300" y="109039"/>
                    <a:pt x="114300" y="114300"/>
                  </a:cubicBezTo>
                  <a:lnTo>
                    <a:pt x="114367" y="115510"/>
                  </a:lnTo>
                  <a:cubicBezTo>
                    <a:pt x="114962" y="120514"/>
                    <a:pt x="119352" y="124189"/>
                    <a:pt x="124383" y="123893"/>
                  </a:cubicBezTo>
                  <a:cubicBezTo>
                    <a:pt x="129414" y="123598"/>
                    <a:pt x="133344" y="119435"/>
                    <a:pt x="133350" y="114395"/>
                  </a:cubicBezTo>
                  <a:lnTo>
                    <a:pt x="133283" y="113186"/>
                  </a:lnTo>
                  <a:cubicBezTo>
                    <a:pt x="132718" y="108390"/>
                    <a:pt x="128654" y="104776"/>
                    <a:pt x="123825" y="104775"/>
                  </a:cubicBezTo>
                  <a:close/>
                  <a:moveTo>
                    <a:pt x="114300" y="38100"/>
                  </a:moveTo>
                  <a:lnTo>
                    <a:pt x="57150" y="38100"/>
                  </a:lnTo>
                  <a:cubicBezTo>
                    <a:pt x="46629" y="38100"/>
                    <a:pt x="38100" y="46629"/>
                    <a:pt x="38100" y="57150"/>
                  </a:cubicBezTo>
                  <a:lnTo>
                    <a:pt x="38100" y="66675"/>
                  </a:lnTo>
                  <a:cubicBezTo>
                    <a:pt x="38100" y="77196"/>
                    <a:pt x="46629" y="85725"/>
                    <a:pt x="57150" y="85725"/>
                  </a:cubicBezTo>
                  <a:lnTo>
                    <a:pt x="114300" y="85725"/>
                  </a:lnTo>
                  <a:cubicBezTo>
                    <a:pt x="124821" y="85725"/>
                    <a:pt x="133350" y="77196"/>
                    <a:pt x="133350" y="66675"/>
                  </a:cubicBezTo>
                  <a:lnTo>
                    <a:pt x="133350" y="57150"/>
                  </a:lnTo>
                  <a:cubicBezTo>
                    <a:pt x="133350" y="46629"/>
                    <a:pt x="124821" y="38100"/>
                    <a:pt x="114300" y="38100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63000" y="1781175"/>
              <a:ext cx="8832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 · 계산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70144" y="2032397"/>
              <a:ext cx="769441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주의집중 · 연산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515600" y="169545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87651" y="173715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74368" y="2314099"/>
              <a:ext cx="164468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숫자 빼기, 수열 잇기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86750" y="2571750"/>
              <a:ext cx="13906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07718" y="2637949"/>
              <a:ext cx="8608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시장 돈 계산하기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286750" y="2895600"/>
              <a:ext cx="20383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07718" y="2961799"/>
              <a:ext cx="124072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약 복용 시간 · 숫자 패턴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3657600"/>
            <a:ext cx="3505200" cy="1828800"/>
            <a:chOff x="609600" y="3543300"/>
            <a:chExt cx="3505200" cy="1828800"/>
          </a:xfrm>
        </p:grpSpPr>
        <p:sp>
          <p:nvSpPr>
            <p:cNvPr id="46" name="Rectangle 46"/>
            <p:cNvSpPr/>
            <p:nvPr/>
          </p:nvSpPr>
          <p:spPr>
            <a:xfrm>
              <a:off x="6096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191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8" name="Freeform 48"/>
            <p:cNvSpPr/>
            <p:nvPr/>
          </p:nvSpPr>
          <p:spPr>
            <a:xfrm>
              <a:off x="933446" y="3800475"/>
              <a:ext cx="152408" cy="200025"/>
            </a:xfrm>
            <a:custGeom>
              <a:avLst/>
              <a:gdLst/>
              <a:ahLst/>
              <a:cxnLst/>
              <a:rect l="l" t="t" r="r" b="b"/>
              <a:pathLst>
                <a:path w="152408" h="200025">
                  <a:moveTo>
                    <a:pt x="142879" y="76200"/>
                  </a:moveTo>
                  <a:cubicBezTo>
                    <a:pt x="148139" y="76200"/>
                    <a:pt x="152404" y="80464"/>
                    <a:pt x="152404" y="85725"/>
                  </a:cubicBezTo>
                  <a:cubicBezTo>
                    <a:pt x="152408" y="124126"/>
                    <a:pt x="123837" y="156530"/>
                    <a:pt x="85738" y="161334"/>
                  </a:cubicBezTo>
                  <a:lnTo>
                    <a:pt x="85729" y="180975"/>
                  </a:lnTo>
                  <a:lnTo>
                    <a:pt x="114304" y="180975"/>
                  </a:lnTo>
                  <a:cubicBezTo>
                    <a:pt x="119564" y="180975"/>
                    <a:pt x="123829" y="185239"/>
                    <a:pt x="123829" y="190500"/>
                  </a:cubicBezTo>
                  <a:cubicBezTo>
                    <a:pt x="123829" y="195761"/>
                    <a:pt x="119564" y="200025"/>
                    <a:pt x="114304" y="200025"/>
                  </a:cubicBezTo>
                  <a:lnTo>
                    <a:pt x="38104" y="200025"/>
                  </a:lnTo>
                  <a:cubicBezTo>
                    <a:pt x="32843" y="200025"/>
                    <a:pt x="28579" y="195761"/>
                    <a:pt x="28579" y="190500"/>
                  </a:cubicBezTo>
                  <a:cubicBezTo>
                    <a:pt x="28579" y="185239"/>
                    <a:pt x="32843" y="180975"/>
                    <a:pt x="38104" y="180975"/>
                  </a:cubicBezTo>
                  <a:lnTo>
                    <a:pt x="66679" y="180975"/>
                  </a:lnTo>
                  <a:lnTo>
                    <a:pt x="66679" y="161334"/>
                  </a:lnTo>
                  <a:cubicBezTo>
                    <a:pt x="28576" y="156534"/>
                    <a:pt x="0" y="124129"/>
                    <a:pt x="4" y="85725"/>
                  </a:cubicBezTo>
                  <a:cubicBezTo>
                    <a:pt x="4" y="80464"/>
                    <a:pt x="4268" y="76200"/>
                    <a:pt x="9529" y="76200"/>
                  </a:cubicBezTo>
                  <a:cubicBezTo>
                    <a:pt x="14789" y="76200"/>
                    <a:pt x="19054" y="80464"/>
                    <a:pt x="19054" y="85725"/>
                  </a:cubicBezTo>
                  <a:cubicBezTo>
                    <a:pt x="19054" y="117288"/>
                    <a:pt x="44641" y="142875"/>
                    <a:pt x="76204" y="142875"/>
                  </a:cubicBezTo>
                  <a:cubicBezTo>
                    <a:pt x="107767" y="142875"/>
                    <a:pt x="133354" y="117288"/>
                    <a:pt x="133354" y="85725"/>
                  </a:cubicBezTo>
                  <a:cubicBezTo>
                    <a:pt x="133354" y="80464"/>
                    <a:pt x="137618" y="76200"/>
                    <a:pt x="142879" y="76200"/>
                  </a:cubicBezTo>
                  <a:moveTo>
                    <a:pt x="76204" y="0"/>
                  </a:moveTo>
                  <a:cubicBezTo>
                    <a:pt x="97246" y="0"/>
                    <a:pt x="114304" y="17058"/>
                    <a:pt x="114304" y="38100"/>
                  </a:cubicBezTo>
                  <a:lnTo>
                    <a:pt x="114304" y="85725"/>
                  </a:lnTo>
                  <a:cubicBezTo>
                    <a:pt x="114304" y="106767"/>
                    <a:pt x="97246" y="123825"/>
                    <a:pt x="76204" y="123825"/>
                  </a:cubicBezTo>
                  <a:cubicBezTo>
                    <a:pt x="55162" y="123825"/>
                    <a:pt x="38104" y="106767"/>
                    <a:pt x="38104" y="85725"/>
                  </a:cubicBezTo>
                  <a:lnTo>
                    <a:pt x="38104" y="38100"/>
                  </a:lnTo>
                  <a:cubicBezTo>
                    <a:pt x="38104" y="17058"/>
                    <a:pt x="55162" y="0"/>
                    <a:pt x="76204" y="0"/>
                  </a:cubicBezTo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954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언어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02544" y="4032647"/>
              <a:ext cx="1102866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이름대기 · 이해 · 발화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048000" y="36957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220051" y="3737409"/>
              <a:ext cx="532198" cy="132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62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멘토링 반영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6768" y="4314349"/>
              <a:ext cx="184024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이름대기, 문장 따라하기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19150" y="457200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0118" y="4638199"/>
              <a:ext cx="1120500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과일 이름 말하기 </a:t>
              </a:r>
              <a:r>
                <a:rPr lang="zh-CN" sz="975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음성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9150" y="489585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0118" y="4962049"/>
              <a:ext cx="74699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속담 뜻 고르기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343400" y="3657600"/>
            <a:ext cx="3505200" cy="1828800"/>
            <a:chOff x="4343400" y="3543300"/>
            <a:chExt cx="3505200" cy="1828800"/>
          </a:xfrm>
        </p:grpSpPr>
        <p:sp>
          <p:nvSpPr>
            <p:cNvPr id="59" name="Rectangle 59"/>
            <p:cNvSpPr/>
            <p:nvPr/>
          </p:nvSpPr>
          <p:spPr>
            <a:xfrm>
              <a:off x="43434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5529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4657725" y="3810005"/>
              <a:ext cx="171791" cy="181642"/>
              <a:chOff x="4657725" y="3810005"/>
              <a:chExt cx="171791" cy="181642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4695399" y="3810005"/>
                <a:ext cx="96103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96103" h="85720">
                    <a:moveTo>
                      <a:pt x="39784" y="4795"/>
                    </a:moveTo>
                    <a:lnTo>
                      <a:pt x="1684" y="71470"/>
                    </a:lnTo>
                    <a:cubicBezTo>
                      <a:pt x="0" y="74418"/>
                      <a:pt x="12" y="78039"/>
                      <a:pt x="1716" y="80975"/>
                    </a:cubicBezTo>
                    <a:cubicBezTo>
                      <a:pt x="3419" y="83911"/>
                      <a:pt x="6557" y="85719"/>
                      <a:pt x="9951" y="85720"/>
                    </a:cubicBezTo>
                    <a:lnTo>
                      <a:pt x="86151" y="85720"/>
                    </a:lnTo>
                    <a:cubicBezTo>
                      <a:pt x="89546" y="85719"/>
                      <a:pt x="92683" y="83911"/>
                      <a:pt x="94387" y="80975"/>
                    </a:cubicBezTo>
                    <a:cubicBezTo>
                      <a:pt x="96091" y="78039"/>
                      <a:pt x="96103" y="74418"/>
                      <a:pt x="94419" y="71470"/>
                    </a:cubicBezTo>
                    <a:lnTo>
                      <a:pt x="56319" y="4795"/>
                    </a:lnTo>
                    <a:cubicBezTo>
                      <a:pt x="54623" y="1830"/>
                      <a:pt x="51468" y="0"/>
                      <a:pt x="48051" y="0"/>
                    </a:cubicBezTo>
                    <a:cubicBezTo>
                      <a:pt x="44635" y="0"/>
                      <a:pt x="41480" y="1830"/>
                      <a:pt x="39784" y="4795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4752975" y="3914775"/>
                <a:ext cx="76541" cy="76872"/>
              </a:xfrm>
              <a:custGeom>
                <a:avLst/>
                <a:gdLst/>
                <a:ahLst/>
                <a:cxnLst/>
                <a:rect l="l" t="t" r="r" b="b"/>
                <a:pathLst>
                  <a:path w="76541" h="76872">
                    <a:moveTo>
                      <a:pt x="38100" y="0"/>
                    </a:moveTo>
                    <a:cubicBezTo>
                      <a:pt x="58894" y="0"/>
                      <a:pt x="75848" y="16673"/>
                      <a:pt x="76195" y="37465"/>
                    </a:cubicBezTo>
                    <a:cubicBezTo>
                      <a:pt x="76541" y="58256"/>
                      <a:pt x="60153" y="75486"/>
                      <a:pt x="39370" y="76179"/>
                    </a:cubicBezTo>
                    <a:cubicBezTo>
                      <a:pt x="18587" y="76872"/>
                      <a:pt x="1087" y="60773"/>
                      <a:pt x="48" y="40005"/>
                    </a:cubicBezTo>
                    <a:lnTo>
                      <a:pt x="0" y="38100"/>
                    </a:lnTo>
                    <a:lnTo>
                      <a:pt x="48" y="36195"/>
                    </a:lnTo>
                    <a:cubicBezTo>
                      <a:pt x="1063" y="15919"/>
                      <a:pt x="17798" y="0"/>
                      <a:pt x="3810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4657725" y="39147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571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7150"/>
                    </a:ln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57150" y="76200"/>
                    </a:lnTo>
                    <a:cubicBezTo>
                      <a:pt x="67671" y="76200"/>
                      <a:pt x="76200" y="67671"/>
                      <a:pt x="76200" y="57150"/>
                    </a:cubicBezTo>
                    <a:lnTo>
                      <a:pt x="76200" y="19050"/>
                    </a:lnTo>
                    <a:cubicBezTo>
                      <a:pt x="76200" y="8529"/>
                      <a:pt x="67671" y="0"/>
                      <a:pt x="5715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</a:endParaRPr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5029200" y="3781425"/>
              <a:ext cx="52418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036344" y="4032647"/>
              <a:ext cx="82394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시공간 구성 능력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40568" y="4314349"/>
              <a:ext cx="1468351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겹친 도형 그리기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552950" y="4572000"/>
              <a:ext cx="23431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673918" y="4638199"/>
              <a:ext cx="146193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손가락으로 도형 따라 그리기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552950" y="489585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673918" y="4962049"/>
              <a:ext cx="1266372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그림 보고 같은 것 고르기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77200" y="3657600"/>
            <a:ext cx="3505200" cy="1828800"/>
            <a:chOff x="8077200" y="3543300"/>
            <a:chExt cx="3505200" cy="1828800"/>
          </a:xfrm>
        </p:grpSpPr>
        <p:sp>
          <p:nvSpPr>
            <p:cNvPr id="73" name="Rectangle 73"/>
            <p:cNvSpPr/>
            <p:nvPr/>
          </p:nvSpPr>
          <p:spPr>
            <a:xfrm>
              <a:off x="80772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2867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5" name="Freeform 75"/>
            <p:cNvSpPr/>
            <p:nvPr/>
          </p:nvSpPr>
          <p:spPr>
            <a:xfrm>
              <a:off x="8382000" y="38057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25730" y="121291"/>
                  </a:moveTo>
                  <a:cubicBezTo>
                    <a:pt x="121974" y="117609"/>
                    <a:pt x="115944" y="117669"/>
                    <a:pt x="112262" y="121424"/>
                  </a:cubicBezTo>
                  <a:cubicBezTo>
                    <a:pt x="107783" y="125997"/>
                    <a:pt x="101651" y="128574"/>
                    <a:pt x="95250" y="128574"/>
                  </a:cubicBezTo>
                  <a:cubicBezTo>
                    <a:pt x="88849" y="128574"/>
                    <a:pt x="82717" y="125997"/>
                    <a:pt x="78238" y="121424"/>
                  </a:cubicBezTo>
                  <a:cubicBezTo>
                    <a:pt x="74540" y="117758"/>
                    <a:pt x="68583" y="117742"/>
                    <a:pt x="64865" y="121387"/>
                  </a:cubicBezTo>
                  <a:cubicBezTo>
                    <a:pt x="61146" y="125033"/>
                    <a:pt x="61045" y="130989"/>
                    <a:pt x="64637" y="134759"/>
                  </a:cubicBezTo>
                  <a:cubicBezTo>
                    <a:pt x="72698" y="142986"/>
                    <a:pt x="83732" y="147621"/>
                    <a:pt x="95250" y="147621"/>
                  </a:cubicBezTo>
                  <a:cubicBezTo>
                    <a:pt x="106768" y="147621"/>
                    <a:pt x="117802" y="142986"/>
                    <a:pt x="125863" y="134759"/>
                  </a:cubicBezTo>
                  <a:cubicBezTo>
                    <a:pt x="129545" y="131003"/>
                    <a:pt x="129485" y="124973"/>
                    <a:pt x="125730" y="121291"/>
                  </a:cubicBezTo>
                  <a:close/>
                  <a:moveTo>
                    <a:pt x="66770" y="70942"/>
                  </a:moveTo>
                  <a:lnTo>
                    <a:pt x="65561" y="71008"/>
                  </a:lnTo>
                  <a:cubicBezTo>
                    <a:pt x="60556" y="71604"/>
                    <a:pt x="56882" y="75994"/>
                    <a:pt x="57177" y="81025"/>
                  </a:cubicBezTo>
                  <a:cubicBezTo>
                    <a:pt x="57472" y="86056"/>
                    <a:pt x="61635" y="89986"/>
                    <a:pt x="66675" y="89992"/>
                  </a:cubicBezTo>
                  <a:lnTo>
                    <a:pt x="67885" y="89925"/>
                  </a:lnTo>
                  <a:cubicBezTo>
                    <a:pt x="72889" y="89330"/>
                    <a:pt x="76564" y="84939"/>
                    <a:pt x="76268" y="79908"/>
                  </a:cubicBezTo>
                  <a:cubicBezTo>
                    <a:pt x="75973" y="74877"/>
                    <a:pt x="71810" y="70947"/>
                    <a:pt x="66770" y="70942"/>
                  </a:cubicBezTo>
                  <a:close/>
                  <a:moveTo>
                    <a:pt x="123920" y="70942"/>
                  </a:moveTo>
                  <a:lnTo>
                    <a:pt x="122711" y="71008"/>
                  </a:lnTo>
                  <a:cubicBezTo>
                    <a:pt x="117706" y="71604"/>
                    <a:pt x="114032" y="75994"/>
                    <a:pt x="114327" y="81025"/>
                  </a:cubicBezTo>
                  <a:cubicBezTo>
                    <a:pt x="114622" y="86056"/>
                    <a:pt x="118785" y="89986"/>
                    <a:pt x="123825" y="89992"/>
                  </a:cubicBezTo>
                  <a:lnTo>
                    <a:pt x="125035" y="89925"/>
                  </a:lnTo>
                  <a:cubicBezTo>
                    <a:pt x="130039" y="89330"/>
                    <a:pt x="133714" y="84939"/>
                    <a:pt x="133418" y="79908"/>
                  </a:cubicBezTo>
                  <a:cubicBezTo>
                    <a:pt x="133123" y="74877"/>
                    <a:pt x="128960" y="70947"/>
                    <a:pt x="123920" y="70942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63000" y="3781425"/>
              <a:ext cx="34945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감정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770144" y="403264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기분 · 정서 관찰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274368" y="4314349"/>
              <a:ext cx="1638269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기존 검사</a:t>
              </a:r>
              <a:r>
                <a:rPr lang="zh-CN" sz="975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· 기분·우울 선별 설문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86750" y="4572000"/>
              <a:ext cx="17526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407718" y="4638199"/>
              <a:ext cx="1160574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30초 감정 말하기 </a:t>
              </a:r>
              <a:r>
                <a:rPr lang="zh-CN" sz="975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음성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286750" y="489585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407718" y="4962049"/>
              <a:ext cx="1120500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오늘 기분 점수 매기기</a:t>
              </a:r>
            </a:p>
          </p:txBody>
        </p:sp>
      </p:grpSp>
      <p:sp>
        <p:nvSpPr>
          <p:cNvPr id="84" name="Rectangle 84"/>
          <p:cNvSpPr/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5" name="Rectangle 85"/>
          <p:cNvSpPr/>
          <p:nvPr/>
        </p:nvSpPr>
        <p:spPr>
          <a:xfrm>
            <a:off x="770796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6" name="Freeform 86"/>
          <p:cNvSpPr/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8410E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확인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오늘의 수행으로 변화 관찰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504622" y="5784966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↔</a:t>
            </a:r>
          </a:p>
        </p:txBody>
      </p:sp>
      <p:sp>
        <p:nvSpPr>
          <p:cNvPr id="89" name="Rectangle 89"/>
          <p:cNvSpPr/>
          <p:nvPr/>
        </p:nvSpPr>
        <p:spPr>
          <a:xfrm>
            <a:off x="3698632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3827220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4047247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강화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· 매일의 반복으로 인지 훈련</a:t>
            </a:r>
          </a:p>
        </p:txBody>
      </p:sp>
      <p:sp>
        <p:nvSpPr>
          <p:cNvPr id="92" name="Freeform 92"/>
          <p:cNvSpPr/>
          <p:nvPr/>
        </p:nvSpPr>
        <p:spPr>
          <a:xfrm>
            <a:off x="6556007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6830010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전문가 멘토링 제안 문항 </a:t>
            </a:r>
            <a:r>
              <a:rPr lang="en-US" alt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-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</a:t>
            </a:r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돈 계산 · 단순한 발화 · 주의집중</a:t>
            </a:r>
            <a:r>
              <a:rPr lang="zh-CN" sz="1200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 반영 완료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598170" y="6324600"/>
            <a:ext cx="10995660" cy="308044"/>
            <a:chOff x="598170" y="6324600"/>
            <a:chExt cx="10995660" cy="308044"/>
          </a:xfrm>
        </p:grpSpPr>
        <p:sp>
          <p:nvSpPr>
            <p:cNvPr id="95" name="Line 95"/>
            <p:cNvSpPr/>
            <p:nvPr/>
          </p:nvSpPr>
          <p:spPr>
            <a:xfrm>
              <a:off x="609600" y="632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98170" y="6494145"/>
              <a:ext cx="1689565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by OGASA Labs · 문항 체계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452766" y="6494145"/>
              <a:ext cx="1410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05</a:t>
              </a: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9BE8089-584B-5F19-C3BF-CA3A738D25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55" r="60296" b="9177"/>
          <a:stretch>
            <a:fillRect/>
          </a:stretch>
        </p:blipFill>
        <p:spPr>
          <a:xfrm>
            <a:off x="11323033" y="141852"/>
            <a:ext cx="669074" cy="672117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07FBB925-59E4-7456-E848-CE3E48CDC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915" y="141851"/>
            <a:ext cx="672118" cy="67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80060"/>
            <a:ext cx="6447278" cy="724555"/>
            <a:chOff x="571500" y="480060"/>
            <a:chExt cx="6447278" cy="72455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480060"/>
              <a:ext cx="160665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410E"/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"/>
                </a:rPr>
                <a:t>ROADMAP · 목표와 일정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1500" y="742950"/>
              <a:ext cx="6447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9월 실증까지, </a:t>
              </a:r>
              <a:r>
                <a:rPr lang="zh-CN" sz="3000" b="1" dirty="0">
                  <a:solidFill>
                    <a:srgbClr val="F57265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일정과 과제</a:t>
              </a:r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가 명확합니다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047750" y="2132135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76200" cap="rnd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" name="Line 8"/>
          <p:cNvSpPr/>
          <p:nvPr/>
        </p:nvSpPr>
        <p:spPr>
          <a:xfrm>
            <a:off x="1047750" y="2132135"/>
            <a:ext cx="3905250" cy="9525"/>
          </a:xfrm>
          <a:custGeom>
            <a:avLst/>
            <a:gdLst/>
            <a:ahLst/>
            <a:cxnLst/>
            <a:rect l="l" t="t" r="r" b="b"/>
            <a:pathLst>
              <a:path w="3905250" h="9525">
                <a:moveTo>
                  <a:pt x="0" y="0"/>
                </a:moveTo>
                <a:lnTo>
                  <a:pt x="3905250" y="0"/>
                </a:lnTo>
              </a:path>
            </a:pathLst>
          </a:custGeom>
          <a:noFill/>
          <a:ln w="76200" cap="rnd">
            <a:solidFill>
              <a:srgbClr val="5E9A6A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" name="Line 9"/>
          <p:cNvSpPr/>
          <p:nvPr/>
        </p:nvSpPr>
        <p:spPr>
          <a:xfrm>
            <a:off x="4953000" y="2132135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19050" cap="rnd">
            <a:solidFill>
              <a:srgbClr val="D8C7A6"/>
            </a:solidFill>
            <a:custDash>
              <a:ds d="100000" sp="400000"/>
            </a:custDash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1600200" y="1534441"/>
            <a:ext cx="609600" cy="247650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</p:spPr>
        <p:txBody>
          <a:bodyPr anchor="ctr"/>
          <a:lstStyle/>
          <a:p>
            <a:endParaRPr lang="ko-KR" altLang="en-US" sz="200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88782" y="1565933"/>
            <a:ext cx="23243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6월</a:t>
            </a:r>
          </a:p>
        </p:txBody>
      </p:sp>
      <p:sp>
        <p:nvSpPr>
          <p:cNvPr id="13" name="Ellipse 13"/>
          <p:cNvSpPr/>
          <p:nvPr/>
        </p:nvSpPr>
        <p:spPr>
          <a:xfrm>
            <a:off x="1695450" y="1922585"/>
            <a:ext cx="419100" cy="419100"/>
          </a:xfrm>
          <a:prstGeom prst="ellipse">
            <a:avLst/>
          </a:prstGeom>
          <a:solidFill>
            <a:srgbClr val="5E9A6A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4" name="Ellipse 14"/>
          <p:cNvSpPr/>
          <p:nvPr/>
        </p:nvSpPr>
        <p:spPr>
          <a:xfrm>
            <a:off x="1762125" y="1989260"/>
            <a:ext cx="285750" cy="285750"/>
          </a:xfrm>
          <a:prstGeom prst="ellipse">
            <a:avLst/>
          </a:pr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838325" y="2084510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33350" h="95250">
                <a:moveTo>
                  <a:pt x="0" y="47625"/>
                </a:moveTo>
                <a:lnTo>
                  <a:pt x="47625" y="95250"/>
                </a:lnTo>
                <a:lnTo>
                  <a:pt x="133350" y="0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60167" y="2445035"/>
            <a:ext cx="889667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웹 MVP 완료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1732" y="2686007"/>
            <a:ext cx="926536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현재 데모 작동 중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81500" y="1534441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 anchor="ctr"/>
          <a:lstStyle/>
          <a:p>
            <a:endParaRPr lang="ko-KR" altLang="en-US" sz="200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532211" y="1565933"/>
            <a:ext cx="84157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7월 · 진행 중</a:t>
            </a:r>
          </a:p>
        </p:txBody>
      </p:sp>
      <p:sp>
        <p:nvSpPr>
          <p:cNvPr id="21" name="Ellipse 21"/>
          <p:cNvSpPr/>
          <p:nvPr/>
        </p:nvSpPr>
        <p:spPr>
          <a:xfrm>
            <a:off x="4705350" y="1884485"/>
            <a:ext cx="495300" cy="495300"/>
          </a:xfrm>
          <a:prstGeom prst="ellipse">
            <a:avLst/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2" name="Ellipse 22"/>
          <p:cNvSpPr/>
          <p:nvPr/>
        </p:nvSpPr>
        <p:spPr>
          <a:xfrm>
            <a:off x="4810125" y="1989260"/>
            <a:ext cx="285750" cy="2857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7265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3" name="Ellipse 23"/>
          <p:cNvSpPr/>
          <p:nvPr/>
        </p:nvSpPr>
        <p:spPr>
          <a:xfrm>
            <a:off x="4900612" y="2079747"/>
            <a:ext cx="104775" cy="104775"/>
          </a:xfrm>
          <a:prstGeom prst="ellipse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257297" y="2445035"/>
            <a:ext cx="1391407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사용자 검증 · 백엔드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58286" y="2686007"/>
            <a:ext cx="1189429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60대+ 설문 · DB 구축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41454" y="2866982"/>
            <a:ext cx="1223091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음성인식 · 리포트 분리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96200" y="1534441"/>
            <a:ext cx="60960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 anchor="ctr"/>
          <a:lstStyle/>
          <a:p>
            <a:endParaRPr lang="ko-KR" altLang="en-US" sz="200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884782" y="1565933"/>
            <a:ext cx="23243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8월</a:t>
            </a:r>
          </a:p>
        </p:txBody>
      </p:sp>
      <p:sp>
        <p:nvSpPr>
          <p:cNvPr id="30" name="Ellipse 30"/>
          <p:cNvSpPr/>
          <p:nvPr/>
        </p:nvSpPr>
        <p:spPr>
          <a:xfrm>
            <a:off x="7877175" y="2008310"/>
            <a:ext cx="247650" cy="247650"/>
          </a:xfrm>
          <a:prstGeom prst="ellipse">
            <a:avLst/>
          </a:prstGeom>
          <a:solidFill>
            <a:srgbClr val="FFFFFF"/>
          </a:solidFill>
          <a:ln w="23812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1" name="Ellipse 31"/>
          <p:cNvSpPr/>
          <p:nvPr/>
        </p:nvSpPr>
        <p:spPr>
          <a:xfrm>
            <a:off x="7962900" y="2094035"/>
            <a:ext cx="76200" cy="76200"/>
          </a:xfrm>
          <a:prstGeom prst="ellipse">
            <a:avLst/>
          </a:prstGeom>
          <a:solidFill>
            <a:srgbClr val="D8C7A6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33725" y="2445035"/>
            <a:ext cx="934551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확장 · 현지화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89454" y="2686007"/>
            <a:ext cx="1223091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키오스크 목업 · 일본어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29342" y="2866982"/>
            <a:ext cx="1343316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전화번호 · QR 개인 인증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363200" y="1534441"/>
            <a:ext cx="60960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 anchor="ctr"/>
          <a:lstStyle/>
          <a:p>
            <a:endParaRPr lang="ko-KR" altLang="en-US" sz="200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551782" y="1565933"/>
            <a:ext cx="23243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9월</a:t>
            </a:r>
          </a:p>
        </p:txBody>
      </p:sp>
      <p:sp>
        <p:nvSpPr>
          <p:cNvPr id="38" name="Ellipse 38"/>
          <p:cNvSpPr/>
          <p:nvPr/>
        </p:nvSpPr>
        <p:spPr>
          <a:xfrm>
            <a:off x="10544175" y="2008310"/>
            <a:ext cx="247650" cy="247650"/>
          </a:xfrm>
          <a:prstGeom prst="ellipse">
            <a:avLst/>
          </a:prstGeom>
          <a:solidFill>
            <a:srgbClr val="FFFFFF"/>
          </a:solidFill>
          <a:ln w="23812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39" name="Ellipse 39"/>
          <p:cNvSpPr/>
          <p:nvPr/>
        </p:nvSpPr>
        <p:spPr>
          <a:xfrm>
            <a:off x="10629900" y="2094035"/>
            <a:ext cx="76200" cy="76200"/>
          </a:xfrm>
          <a:prstGeom prst="ellipse">
            <a:avLst/>
          </a:prstGeom>
          <a:solidFill>
            <a:srgbClr val="D8C7A6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349003" y="2445035"/>
            <a:ext cx="637995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실증 준비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72484" y="2686007"/>
            <a:ext cx="1191032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복지관 · 치매안심센터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97144" y="2866982"/>
            <a:ext cx="1341713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실증 시나리오 · 평가지표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09600" y="3194539"/>
            <a:ext cx="10972800" cy="609600"/>
          </a:xfrm>
          <a:prstGeom prst="roundRect">
            <a:avLst>
              <a:gd name="adj" fmla="val 28125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896938" y="3391529"/>
            <a:ext cx="217004" cy="217359"/>
          </a:xfrm>
          <a:custGeom>
            <a:avLst/>
            <a:gdLst/>
            <a:ahLst/>
            <a:cxnLst/>
            <a:rect l="l" t="t" r="r" b="b"/>
            <a:pathLst>
              <a:path w="217004" h="217359">
                <a:moveTo>
                  <a:pt x="154781" y="18449"/>
                </a:moveTo>
                <a:cubicBezTo>
                  <a:pt x="197784" y="43278"/>
                  <a:pt x="217004" y="95214"/>
                  <a:pt x="200524" y="142056"/>
                </a:cubicBezTo>
                <a:cubicBezTo>
                  <a:pt x="184045" y="188897"/>
                  <a:pt x="136540" y="217359"/>
                  <a:pt x="87464" y="209794"/>
                </a:cubicBezTo>
                <a:cubicBezTo>
                  <a:pt x="38388" y="202229"/>
                  <a:pt x="1660" y="160783"/>
                  <a:pt x="52" y="111153"/>
                </a:cubicBezTo>
                <a:lnTo>
                  <a:pt x="0" y="107810"/>
                </a:lnTo>
                <a:lnTo>
                  <a:pt x="52" y="104466"/>
                </a:lnTo>
                <a:cubicBezTo>
                  <a:pt x="1227" y="68216"/>
                  <a:pt x="21348" y="35245"/>
                  <a:pt x="53048" y="17623"/>
                </a:cubicBezTo>
                <a:cubicBezTo>
                  <a:pt x="84748" y="0"/>
                  <a:pt x="123372" y="314"/>
                  <a:pt x="154781" y="18449"/>
                </a:cubicBezTo>
                <a:close/>
                <a:moveTo>
                  <a:pt x="141439" y="79877"/>
                </a:moveTo>
                <a:cubicBezTo>
                  <a:pt x="137763" y="76201"/>
                  <a:pt x="131926" y="75834"/>
                  <a:pt x="127818" y="79020"/>
                </a:cubicBezTo>
                <a:lnTo>
                  <a:pt x="126848" y="79877"/>
                </a:lnTo>
                <a:lnTo>
                  <a:pt x="92869" y="113846"/>
                </a:lnTo>
                <a:lnTo>
                  <a:pt x="79527" y="100514"/>
                </a:lnTo>
                <a:lnTo>
                  <a:pt x="78557" y="99658"/>
                </a:lnTo>
                <a:cubicBezTo>
                  <a:pt x="74449" y="96474"/>
                  <a:pt x="68614" y="96842"/>
                  <a:pt x="64939" y="100517"/>
                </a:cubicBezTo>
                <a:cubicBezTo>
                  <a:pt x="61263" y="104192"/>
                  <a:pt x="60895" y="110027"/>
                  <a:pt x="64079" y="114135"/>
                </a:cubicBezTo>
                <a:lnTo>
                  <a:pt x="64936" y="115105"/>
                </a:lnTo>
                <a:lnTo>
                  <a:pt x="85573" y="135743"/>
                </a:lnTo>
                <a:lnTo>
                  <a:pt x="86543" y="136599"/>
                </a:lnTo>
                <a:cubicBezTo>
                  <a:pt x="90266" y="139487"/>
                  <a:pt x="95472" y="139487"/>
                  <a:pt x="99194" y="136599"/>
                </a:cubicBezTo>
                <a:lnTo>
                  <a:pt x="100164" y="135743"/>
                </a:lnTo>
                <a:lnTo>
                  <a:pt x="141439" y="94468"/>
                </a:lnTo>
                <a:lnTo>
                  <a:pt x="142296" y="93498"/>
                </a:lnTo>
                <a:cubicBezTo>
                  <a:pt x="145482" y="89390"/>
                  <a:pt x="145115" y="83553"/>
                  <a:pt x="141439" y="79877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41108" y="3295028"/>
            <a:ext cx="2890215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전문가 멘토링, 이미 디자인에 반영했습니다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44441" y="3542440"/>
            <a:ext cx="2688236" cy="15574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C5D4C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MVP 시연 → 멘토 피드백 → 데모 디자인 개선 완료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879073" y="3349848"/>
            <a:ext cx="1676401" cy="313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047218" y="3423293"/>
            <a:ext cx="134011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고대비 화면 · 큰 글자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755424" y="3349848"/>
            <a:ext cx="1619250" cy="313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7894994" y="3423293"/>
            <a:ext cx="134011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실물 보상 · 참여 경쟁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574624" y="3349848"/>
            <a:ext cx="1779176" cy="3139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724426" y="3423293"/>
            <a:ext cx="1479572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일상형 문항 · 음성 발화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" y="3966795"/>
            <a:ext cx="3505200" cy="20002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58" name="Rectangle 58"/>
          <p:cNvSpPr/>
          <p:nvPr/>
        </p:nvSpPr>
        <p:spPr>
          <a:xfrm>
            <a:off x="838200" y="418220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CEBCD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59" name="Freeform 59"/>
          <p:cNvSpPr/>
          <p:nvPr/>
        </p:nvSpPr>
        <p:spPr>
          <a:xfrm>
            <a:off x="922338" y="4266343"/>
            <a:ext cx="174663" cy="175455"/>
          </a:xfrm>
          <a:custGeom>
            <a:avLst/>
            <a:gdLst/>
            <a:ahLst/>
            <a:cxnLst/>
            <a:rect l="l" t="t" r="r" b="b"/>
            <a:pathLst>
              <a:path w="174663" h="175455">
                <a:moveTo>
                  <a:pt x="87313" y="0"/>
                </a:moveTo>
                <a:cubicBezTo>
                  <a:pt x="135535" y="0"/>
                  <a:pt x="174625" y="39090"/>
                  <a:pt x="174625" y="87313"/>
                </a:cubicBezTo>
                <a:cubicBezTo>
                  <a:pt x="174663" y="135009"/>
                  <a:pt x="136418" y="173910"/>
                  <a:pt x="88727" y="174683"/>
                </a:cubicBezTo>
                <a:cubicBezTo>
                  <a:pt x="41037" y="175455"/>
                  <a:pt x="1551" y="137814"/>
                  <a:pt x="44" y="90141"/>
                </a:cubicBezTo>
                <a:lnTo>
                  <a:pt x="0" y="87313"/>
                </a:lnTo>
                <a:lnTo>
                  <a:pt x="35" y="84868"/>
                </a:lnTo>
                <a:cubicBezTo>
                  <a:pt x="1327" y="37780"/>
                  <a:pt x="39902" y="0"/>
                  <a:pt x="87313" y="0"/>
                </a:cubicBezTo>
                <a:close/>
                <a:moveTo>
                  <a:pt x="87400" y="113506"/>
                </a:moveTo>
                <a:lnTo>
                  <a:pt x="86291" y="113567"/>
                </a:lnTo>
                <a:cubicBezTo>
                  <a:pt x="81899" y="114090"/>
                  <a:pt x="78591" y="117814"/>
                  <a:pt x="78591" y="122238"/>
                </a:cubicBezTo>
                <a:cubicBezTo>
                  <a:pt x="78591" y="126661"/>
                  <a:pt x="81899" y="130385"/>
                  <a:pt x="86291" y="130908"/>
                </a:cubicBezTo>
                <a:lnTo>
                  <a:pt x="87313" y="130969"/>
                </a:lnTo>
                <a:lnTo>
                  <a:pt x="88421" y="130908"/>
                </a:lnTo>
                <a:cubicBezTo>
                  <a:pt x="92814" y="130385"/>
                  <a:pt x="96121" y="126661"/>
                  <a:pt x="96121" y="122238"/>
                </a:cubicBezTo>
                <a:cubicBezTo>
                  <a:pt x="96121" y="117814"/>
                  <a:pt x="92814" y="114090"/>
                  <a:pt x="88421" y="113567"/>
                </a:cubicBezTo>
                <a:lnTo>
                  <a:pt x="87400" y="113506"/>
                </a:lnTo>
                <a:close/>
                <a:moveTo>
                  <a:pt x="87313" y="43656"/>
                </a:moveTo>
                <a:cubicBezTo>
                  <a:pt x="82886" y="43657"/>
                  <a:pt x="79160" y="46970"/>
                  <a:pt x="78642" y="51366"/>
                </a:cubicBezTo>
                <a:lnTo>
                  <a:pt x="78581" y="52388"/>
                </a:lnTo>
                <a:lnTo>
                  <a:pt x="78581" y="87313"/>
                </a:lnTo>
                <a:lnTo>
                  <a:pt x="78642" y="88334"/>
                </a:lnTo>
                <a:cubicBezTo>
                  <a:pt x="79165" y="92726"/>
                  <a:pt x="82889" y="96034"/>
                  <a:pt x="87313" y="96034"/>
                </a:cubicBezTo>
                <a:cubicBezTo>
                  <a:pt x="91736" y="96034"/>
                  <a:pt x="95460" y="92726"/>
                  <a:pt x="95983" y="88334"/>
                </a:cubicBezTo>
                <a:lnTo>
                  <a:pt x="96044" y="87313"/>
                </a:lnTo>
                <a:lnTo>
                  <a:pt x="96044" y="52388"/>
                </a:lnTo>
                <a:lnTo>
                  <a:pt x="95983" y="51366"/>
                </a:lnTo>
                <a:cubicBezTo>
                  <a:pt x="95465" y="46970"/>
                  <a:pt x="91739" y="43657"/>
                  <a:pt x="87313" y="43656"/>
                </a:cubicBezTo>
                <a:close/>
              </a:path>
            </a:pathLst>
          </a:cu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302068" y="4210304"/>
            <a:ext cx="601127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지금의 문제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99210" y="4433665"/>
            <a:ext cx="175807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실사용 어르신을 만날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99210" y="4643215"/>
            <a:ext cx="175807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검증 접점이 부족하다</a:t>
            </a:r>
          </a:p>
        </p:txBody>
      </p:sp>
      <p:sp>
        <p:nvSpPr>
          <p:cNvPr id="63" name="Line 63"/>
          <p:cNvSpPr/>
          <p:nvPr/>
        </p:nvSpPr>
        <p:spPr>
          <a:xfrm>
            <a:off x="1009650" y="4582255"/>
            <a:ext cx="9525" cy="361950"/>
          </a:xfrm>
          <a:custGeom>
            <a:avLst/>
            <a:gdLst/>
            <a:ahLst/>
            <a:cxnLst/>
            <a:rect l="l" t="t" r="r" b="b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19050">
            <a:solidFill>
              <a:srgbClr val="D8C7A6"/>
            </a:solidFill>
            <a:prstDash val="dash"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4" name="Rectangle 64"/>
          <p:cNvSpPr/>
          <p:nvPr/>
        </p:nvSpPr>
        <p:spPr>
          <a:xfrm>
            <a:off x="838200" y="500135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grpSp>
        <p:nvGrpSpPr>
          <p:cNvPr id="72" name="Group 72"/>
          <p:cNvGrpSpPr/>
          <p:nvPr/>
        </p:nvGrpSpPr>
        <p:grpSpPr>
          <a:xfrm>
            <a:off x="922091" y="5085493"/>
            <a:ext cx="175118" cy="174625"/>
            <a:chOff x="922091" y="5094288"/>
            <a:chExt cx="175118" cy="174625"/>
          </a:xfrm>
        </p:grpSpPr>
        <p:sp>
          <p:nvSpPr>
            <p:cNvPr id="65" name="Freeform 65"/>
            <p:cNvSpPr/>
            <p:nvPr/>
          </p:nvSpPr>
          <p:spPr>
            <a:xfrm>
              <a:off x="922091" y="5172869"/>
              <a:ext cx="26686" cy="17462"/>
            </a:xfrm>
            <a:custGeom>
              <a:avLst/>
              <a:gdLst/>
              <a:ahLst/>
              <a:cxnLst/>
              <a:rect l="l" t="t" r="r" b="b"/>
              <a:pathLst>
                <a:path w="26686" h="17462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6" name="Freeform 66"/>
            <p:cNvSpPr/>
            <p:nvPr/>
          </p:nvSpPr>
          <p:spPr>
            <a:xfrm>
              <a:off x="1000919" y="5094288"/>
              <a:ext cx="17463" cy="26440"/>
            </a:xfrm>
            <a:custGeom>
              <a:avLst/>
              <a:gdLst/>
              <a:ahLst/>
              <a:cxnLst/>
              <a:rect l="l" t="t" r="r" b="b"/>
              <a:pathLst>
                <a:path w="17463" h="26440">
                  <a:moveTo>
                    <a:pt x="8731" y="0"/>
                  </a:moveTo>
                  <a:cubicBezTo>
                    <a:pt x="13158" y="1"/>
                    <a:pt x="16883" y="3314"/>
                    <a:pt x="17401" y="7710"/>
                  </a:cubicBezTo>
                  <a:lnTo>
                    <a:pt x="17463" y="8731"/>
                  </a:lnTo>
                  <a:lnTo>
                    <a:pt x="17463" y="17462"/>
                  </a:lnTo>
                  <a:cubicBezTo>
                    <a:pt x="17457" y="22082"/>
                    <a:pt x="13855" y="25898"/>
                    <a:pt x="9243" y="26169"/>
                  </a:cubicBezTo>
                  <a:cubicBezTo>
                    <a:pt x="4631" y="26440"/>
                    <a:pt x="607" y="23071"/>
                    <a:pt x="61" y="18484"/>
                  </a:cubicBezTo>
                  <a:lnTo>
                    <a:pt x="0" y="17462"/>
                  </a:ln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7" name="Freeform 67"/>
            <p:cNvSpPr/>
            <p:nvPr/>
          </p:nvSpPr>
          <p:spPr>
            <a:xfrm>
              <a:off x="1070523" y="5172869"/>
              <a:ext cx="26686" cy="17462"/>
            </a:xfrm>
            <a:custGeom>
              <a:avLst/>
              <a:gdLst/>
              <a:ahLst/>
              <a:cxnLst/>
              <a:rect l="l" t="t" r="r" b="b"/>
              <a:pathLst>
                <a:path w="26686" h="17462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8" name="Freeform 68"/>
            <p:cNvSpPr/>
            <p:nvPr/>
          </p:nvSpPr>
          <p:spPr>
            <a:xfrm>
              <a:off x="944188" y="5116126"/>
              <a:ext cx="25276" cy="25420"/>
            </a:xfrm>
            <a:custGeom>
              <a:avLst/>
              <a:gdLst/>
              <a:ahLst/>
              <a:cxnLst/>
              <a:rect l="l" t="t" r="r" b="b"/>
              <a:pathLst>
                <a:path w="25276" h="25420">
                  <a:moveTo>
                    <a:pt x="3409" y="3421"/>
                  </a:moveTo>
                  <a:cubicBezTo>
                    <a:pt x="6519" y="311"/>
                    <a:pt x="11458" y="0"/>
                    <a:pt x="14934" y="2696"/>
                  </a:cubicBezTo>
                  <a:lnTo>
                    <a:pt x="15755" y="3421"/>
                  </a:lnTo>
                  <a:lnTo>
                    <a:pt x="21866" y="9533"/>
                  </a:lnTo>
                  <a:cubicBezTo>
                    <a:pt x="25116" y="12794"/>
                    <a:pt x="25276" y="18018"/>
                    <a:pt x="22231" y="21471"/>
                  </a:cubicBezTo>
                  <a:cubicBezTo>
                    <a:pt x="19186" y="24924"/>
                    <a:pt x="13983" y="25420"/>
                    <a:pt x="10341" y="22603"/>
                  </a:cubicBezTo>
                  <a:lnTo>
                    <a:pt x="9520" y="21879"/>
                  </a:lnTo>
                  <a:lnTo>
                    <a:pt x="3409" y="15767"/>
                  </a:lnTo>
                  <a:cubicBezTo>
                    <a:pt x="0" y="12357"/>
                    <a:pt x="0" y="6830"/>
                    <a:pt x="3409" y="3421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9" name="Freeform 69"/>
            <p:cNvSpPr/>
            <p:nvPr/>
          </p:nvSpPr>
          <p:spPr>
            <a:xfrm>
              <a:off x="1049704" y="5116138"/>
              <a:ext cx="25540" cy="25277"/>
            </a:xfrm>
            <a:custGeom>
              <a:avLst/>
              <a:gdLst/>
              <a:ahLst/>
              <a:cxnLst/>
              <a:rect l="l" t="t" r="r" b="b"/>
              <a:pathLst>
                <a:path w="25540" h="25277">
                  <a:moveTo>
                    <a:pt x="9653" y="3409"/>
                  </a:moveTo>
                  <a:cubicBezTo>
                    <a:pt x="12914" y="160"/>
                    <a:pt x="18138" y="0"/>
                    <a:pt x="21591" y="3045"/>
                  </a:cubicBezTo>
                  <a:cubicBezTo>
                    <a:pt x="25044" y="6090"/>
                    <a:pt x="25540" y="11293"/>
                    <a:pt x="22723" y="14935"/>
                  </a:cubicBezTo>
                  <a:lnTo>
                    <a:pt x="21999" y="15755"/>
                  </a:lnTo>
                  <a:lnTo>
                    <a:pt x="15887" y="21867"/>
                  </a:lnTo>
                  <a:cubicBezTo>
                    <a:pt x="12626" y="25117"/>
                    <a:pt x="7402" y="25277"/>
                    <a:pt x="3949" y="22232"/>
                  </a:cubicBezTo>
                  <a:cubicBezTo>
                    <a:pt x="496" y="19187"/>
                    <a:pt x="0" y="13984"/>
                    <a:pt x="2816" y="10342"/>
                  </a:cubicBezTo>
                  <a:lnTo>
                    <a:pt x="3541" y="9521"/>
                  </a:lnTo>
                  <a:lnTo>
                    <a:pt x="9653" y="3409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0" name="Freeform 70"/>
            <p:cNvSpPr/>
            <p:nvPr/>
          </p:nvSpPr>
          <p:spPr>
            <a:xfrm>
              <a:off x="983456" y="5233988"/>
              <a:ext cx="52388" cy="34925"/>
            </a:xfrm>
            <a:custGeom>
              <a:avLst/>
              <a:gdLst/>
              <a:ahLst/>
              <a:cxnLst/>
              <a:rect l="l" t="t" r="r" b="b"/>
              <a:pathLst>
                <a:path w="52388" h="34925">
                  <a:moveTo>
                    <a:pt x="43656" y="0"/>
                  </a:moveTo>
                  <a:cubicBezTo>
                    <a:pt x="48478" y="0"/>
                    <a:pt x="52388" y="3909"/>
                    <a:pt x="52388" y="8731"/>
                  </a:cubicBezTo>
                  <a:cubicBezTo>
                    <a:pt x="52388" y="23198"/>
                    <a:pt x="40660" y="34925"/>
                    <a:pt x="26194" y="34925"/>
                  </a:cubicBezTo>
                  <a:cubicBezTo>
                    <a:pt x="11727" y="34925"/>
                    <a:pt x="0" y="23198"/>
                    <a:pt x="0" y="8731"/>
                  </a:cubicBezTo>
                  <a:cubicBezTo>
                    <a:pt x="1" y="4305"/>
                    <a:pt x="3314" y="579"/>
                    <a:pt x="7710" y="61"/>
                  </a:cubicBezTo>
                  <a:lnTo>
                    <a:pt x="8731" y="0"/>
                  </a:lnTo>
                  <a:lnTo>
                    <a:pt x="43656" y="0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71" name="Freeform 71"/>
            <p:cNvSpPr/>
            <p:nvPr/>
          </p:nvSpPr>
          <p:spPr>
            <a:xfrm>
              <a:off x="952820" y="5129212"/>
              <a:ext cx="113660" cy="96044"/>
            </a:xfrm>
            <a:custGeom>
              <a:avLst/>
              <a:gdLst/>
              <a:ahLst/>
              <a:cxnLst/>
              <a:rect l="l" t="t" r="r" b="b"/>
              <a:pathLst>
                <a:path w="113660" h="96044">
                  <a:moveTo>
                    <a:pt x="56830" y="0"/>
                  </a:moveTo>
                  <a:cubicBezTo>
                    <a:pt x="79379" y="0"/>
                    <a:pt x="99398" y="14429"/>
                    <a:pt x="106529" y="35821"/>
                  </a:cubicBezTo>
                  <a:cubicBezTo>
                    <a:pt x="113660" y="57213"/>
                    <a:pt x="106302" y="80768"/>
                    <a:pt x="88262" y="94297"/>
                  </a:cubicBezTo>
                  <a:cubicBezTo>
                    <a:pt x="87059" y="95201"/>
                    <a:pt x="85642" y="95779"/>
                    <a:pt x="84150" y="95974"/>
                  </a:cubicBezTo>
                  <a:lnTo>
                    <a:pt x="83024" y="96044"/>
                  </a:lnTo>
                  <a:lnTo>
                    <a:pt x="30636" y="96044"/>
                  </a:lnTo>
                  <a:cubicBezTo>
                    <a:pt x="28747" y="96044"/>
                    <a:pt x="26909" y="95431"/>
                    <a:pt x="25397" y="94297"/>
                  </a:cubicBezTo>
                  <a:cubicBezTo>
                    <a:pt x="7358" y="80768"/>
                    <a:pt x="0" y="57213"/>
                    <a:pt x="7131" y="35821"/>
                  </a:cubicBezTo>
                  <a:cubicBezTo>
                    <a:pt x="14261" y="14429"/>
                    <a:pt x="34281" y="0"/>
                    <a:pt x="56830" y="0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302068" y="5029454"/>
            <a:ext cx="227626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해결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00162" y="5260911"/>
            <a:ext cx="1990423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60대 이상 사용자 설문과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300162" y="5470461"/>
            <a:ext cx="198655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복지관 파일럿 협력 추진</a:t>
            </a:r>
          </a:p>
        </p:txBody>
      </p:sp>
      <p:sp>
        <p:nvSpPr>
          <p:cNvPr id="76" name="Rectangle 76"/>
          <p:cNvSpPr/>
          <p:nvPr/>
        </p:nvSpPr>
        <p:spPr>
          <a:xfrm>
            <a:off x="3314700" y="5624145"/>
            <a:ext cx="571500" cy="20955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3505071" y="5671294"/>
            <a:ext cx="190758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7월</a:t>
            </a:r>
          </a:p>
        </p:txBody>
      </p:sp>
      <p:sp>
        <p:nvSpPr>
          <p:cNvPr id="79" name="Rectangle 79"/>
          <p:cNvSpPr/>
          <p:nvPr/>
        </p:nvSpPr>
        <p:spPr>
          <a:xfrm>
            <a:off x="4343400" y="3966795"/>
            <a:ext cx="3505200" cy="20002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0" name="Rectangle 80"/>
          <p:cNvSpPr/>
          <p:nvPr/>
        </p:nvSpPr>
        <p:spPr>
          <a:xfrm>
            <a:off x="4572000" y="418220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CEBCD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1" name="Freeform 81"/>
          <p:cNvSpPr/>
          <p:nvPr/>
        </p:nvSpPr>
        <p:spPr>
          <a:xfrm>
            <a:off x="4673597" y="4257611"/>
            <a:ext cx="139707" cy="183356"/>
          </a:xfrm>
          <a:custGeom>
            <a:avLst/>
            <a:gdLst/>
            <a:ahLst/>
            <a:cxnLst/>
            <a:rect l="l" t="t" r="r" b="b"/>
            <a:pathLst>
              <a:path w="139707" h="183356">
                <a:moveTo>
                  <a:pt x="130972" y="69850"/>
                </a:moveTo>
                <a:cubicBezTo>
                  <a:pt x="135794" y="69850"/>
                  <a:pt x="139703" y="73759"/>
                  <a:pt x="139703" y="78581"/>
                </a:cubicBezTo>
                <a:cubicBezTo>
                  <a:pt x="139707" y="113782"/>
                  <a:pt x="113517" y="143485"/>
                  <a:pt x="78593" y="147890"/>
                </a:cubicBezTo>
                <a:lnTo>
                  <a:pt x="78585" y="165894"/>
                </a:lnTo>
                <a:lnTo>
                  <a:pt x="104778" y="165894"/>
                </a:lnTo>
                <a:cubicBezTo>
                  <a:pt x="109600" y="165894"/>
                  <a:pt x="113510" y="169803"/>
                  <a:pt x="113510" y="174625"/>
                </a:cubicBezTo>
                <a:cubicBezTo>
                  <a:pt x="113510" y="179447"/>
                  <a:pt x="109600" y="183356"/>
                  <a:pt x="104778" y="183356"/>
                </a:cubicBezTo>
                <a:lnTo>
                  <a:pt x="34928" y="183356"/>
                </a:lnTo>
                <a:cubicBezTo>
                  <a:pt x="30106" y="183356"/>
                  <a:pt x="26197" y="179447"/>
                  <a:pt x="26197" y="174625"/>
                </a:cubicBezTo>
                <a:cubicBezTo>
                  <a:pt x="26197" y="169803"/>
                  <a:pt x="30106" y="165894"/>
                  <a:pt x="34928" y="165894"/>
                </a:cubicBezTo>
                <a:lnTo>
                  <a:pt x="61122" y="165894"/>
                </a:lnTo>
                <a:lnTo>
                  <a:pt x="61122" y="147890"/>
                </a:lnTo>
                <a:cubicBezTo>
                  <a:pt x="26195" y="143489"/>
                  <a:pt x="0" y="113785"/>
                  <a:pt x="3" y="78581"/>
                </a:cubicBezTo>
                <a:cubicBezTo>
                  <a:pt x="3" y="73759"/>
                  <a:pt x="3912" y="69850"/>
                  <a:pt x="8735" y="69850"/>
                </a:cubicBezTo>
                <a:cubicBezTo>
                  <a:pt x="13557" y="69850"/>
                  <a:pt x="17466" y="73759"/>
                  <a:pt x="17466" y="78581"/>
                </a:cubicBezTo>
                <a:cubicBezTo>
                  <a:pt x="17466" y="107514"/>
                  <a:pt x="40920" y="130969"/>
                  <a:pt x="69853" y="130969"/>
                </a:cubicBezTo>
                <a:cubicBezTo>
                  <a:pt x="98786" y="130969"/>
                  <a:pt x="122241" y="107514"/>
                  <a:pt x="122241" y="78581"/>
                </a:cubicBezTo>
                <a:cubicBezTo>
                  <a:pt x="122241" y="73759"/>
                  <a:pt x="126150" y="69850"/>
                  <a:pt x="130972" y="69850"/>
                </a:cubicBezTo>
                <a:moveTo>
                  <a:pt x="69853" y="0"/>
                </a:moveTo>
                <a:cubicBezTo>
                  <a:pt x="89142" y="0"/>
                  <a:pt x="104778" y="15636"/>
                  <a:pt x="104778" y="34925"/>
                </a:cubicBezTo>
                <a:lnTo>
                  <a:pt x="104778" y="78581"/>
                </a:lnTo>
                <a:cubicBezTo>
                  <a:pt x="104778" y="97870"/>
                  <a:pt x="89142" y="113506"/>
                  <a:pt x="69853" y="113506"/>
                </a:cubicBezTo>
                <a:cubicBezTo>
                  <a:pt x="50565" y="113506"/>
                  <a:pt x="34928" y="97870"/>
                  <a:pt x="34928" y="78581"/>
                </a:cubicBezTo>
                <a:lnTo>
                  <a:pt x="34928" y="34925"/>
                </a:lnTo>
                <a:cubicBezTo>
                  <a:pt x="34928" y="15636"/>
                  <a:pt x="50565" y="0"/>
                  <a:pt x="69853" y="0"/>
                </a:cubicBezTo>
              </a:path>
            </a:pathLst>
          </a:cu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5035868" y="4210304"/>
            <a:ext cx="601127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지금의 문제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033010" y="4433665"/>
            <a:ext cx="1943954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고령자 발화의 음성인식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033009" y="4643215"/>
            <a:ext cx="1572201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정확도가 아직 낮다</a:t>
            </a:r>
          </a:p>
        </p:txBody>
      </p:sp>
      <p:sp>
        <p:nvSpPr>
          <p:cNvPr id="85" name="Line 85"/>
          <p:cNvSpPr/>
          <p:nvPr/>
        </p:nvSpPr>
        <p:spPr>
          <a:xfrm>
            <a:off x="4743450" y="4582255"/>
            <a:ext cx="9525" cy="361950"/>
          </a:xfrm>
          <a:custGeom>
            <a:avLst/>
            <a:gdLst/>
            <a:ahLst/>
            <a:cxnLst/>
            <a:rect l="l" t="t" r="r" b="b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19050">
            <a:solidFill>
              <a:srgbClr val="D8C7A6"/>
            </a:solidFill>
            <a:prstDash val="dash"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6" name="Rectangle 86"/>
          <p:cNvSpPr/>
          <p:nvPr/>
        </p:nvSpPr>
        <p:spPr>
          <a:xfrm>
            <a:off x="4572000" y="500135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grpSp>
        <p:nvGrpSpPr>
          <p:cNvPr id="94" name="Group 94"/>
          <p:cNvGrpSpPr/>
          <p:nvPr/>
        </p:nvGrpSpPr>
        <p:grpSpPr>
          <a:xfrm>
            <a:off x="4655891" y="5085493"/>
            <a:ext cx="175118" cy="174625"/>
            <a:chOff x="4655891" y="5094288"/>
            <a:chExt cx="175118" cy="174625"/>
          </a:xfrm>
        </p:grpSpPr>
        <p:sp>
          <p:nvSpPr>
            <p:cNvPr id="87" name="Freeform 87"/>
            <p:cNvSpPr/>
            <p:nvPr/>
          </p:nvSpPr>
          <p:spPr>
            <a:xfrm>
              <a:off x="4655891" y="5172869"/>
              <a:ext cx="26686" cy="17462"/>
            </a:xfrm>
            <a:custGeom>
              <a:avLst/>
              <a:gdLst/>
              <a:ahLst/>
              <a:cxnLst/>
              <a:rect l="l" t="t" r="r" b="b"/>
              <a:pathLst>
                <a:path w="26686" h="17462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8" name="Freeform 88"/>
            <p:cNvSpPr/>
            <p:nvPr/>
          </p:nvSpPr>
          <p:spPr>
            <a:xfrm>
              <a:off x="4734719" y="5094288"/>
              <a:ext cx="17463" cy="26440"/>
            </a:xfrm>
            <a:custGeom>
              <a:avLst/>
              <a:gdLst/>
              <a:ahLst/>
              <a:cxnLst/>
              <a:rect l="l" t="t" r="r" b="b"/>
              <a:pathLst>
                <a:path w="17463" h="26440">
                  <a:moveTo>
                    <a:pt x="8731" y="0"/>
                  </a:moveTo>
                  <a:cubicBezTo>
                    <a:pt x="13158" y="1"/>
                    <a:pt x="16883" y="3314"/>
                    <a:pt x="17401" y="7710"/>
                  </a:cubicBezTo>
                  <a:lnTo>
                    <a:pt x="17463" y="8731"/>
                  </a:lnTo>
                  <a:lnTo>
                    <a:pt x="17463" y="17462"/>
                  </a:lnTo>
                  <a:cubicBezTo>
                    <a:pt x="17457" y="22082"/>
                    <a:pt x="13855" y="25898"/>
                    <a:pt x="9243" y="26169"/>
                  </a:cubicBezTo>
                  <a:cubicBezTo>
                    <a:pt x="4631" y="26440"/>
                    <a:pt x="607" y="23071"/>
                    <a:pt x="61" y="18484"/>
                  </a:cubicBezTo>
                  <a:lnTo>
                    <a:pt x="0" y="17462"/>
                  </a:lnTo>
                  <a:lnTo>
                    <a:pt x="0" y="8731"/>
                  </a:lnTo>
                  <a:cubicBezTo>
                    <a:pt x="0" y="3909"/>
                    <a:pt x="3909" y="0"/>
                    <a:pt x="8731" y="0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9" name="Freeform 89"/>
            <p:cNvSpPr/>
            <p:nvPr/>
          </p:nvSpPr>
          <p:spPr>
            <a:xfrm>
              <a:off x="4804323" y="5172869"/>
              <a:ext cx="26686" cy="17462"/>
            </a:xfrm>
            <a:custGeom>
              <a:avLst/>
              <a:gdLst/>
              <a:ahLst/>
              <a:cxnLst/>
              <a:rect l="l" t="t" r="r" b="b"/>
              <a:pathLst>
                <a:path w="26686" h="17462">
                  <a:moveTo>
                    <a:pt x="17709" y="0"/>
                  </a:moveTo>
                  <a:cubicBezTo>
                    <a:pt x="22328" y="5"/>
                    <a:pt x="26144" y="3608"/>
                    <a:pt x="26415" y="8220"/>
                  </a:cubicBezTo>
                  <a:cubicBezTo>
                    <a:pt x="26686" y="12831"/>
                    <a:pt x="23317" y="16856"/>
                    <a:pt x="18730" y="17401"/>
                  </a:cubicBezTo>
                  <a:lnTo>
                    <a:pt x="17709" y="17462"/>
                  </a:lnTo>
                  <a:lnTo>
                    <a:pt x="8977" y="17462"/>
                  </a:lnTo>
                  <a:cubicBezTo>
                    <a:pt x="4358" y="17457"/>
                    <a:pt x="541" y="13855"/>
                    <a:pt x="271" y="9243"/>
                  </a:cubicBezTo>
                  <a:cubicBezTo>
                    <a:pt x="0" y="4631"/>
                    <a:pt x="3368" y="607"/>
                    <a:pt x="7956" y="61"/>
                  </a:cubicBezTo>
                  <a:lnTo>
                    <a:pt x="8977" y="0"/>
                  </a:lnTo>
                  <a:lnTo>
                    <a:pt x="17709" y="0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0" name="Freeform 90"/>
            <p:cNvSpPr/>
            <p:nvPr/>
          </p:nvSpPr>
          <p:spPr>
            <a:xfrm>
              <a:off x="4677988" y="5116126"/>
              <a:ext cx="25276" cy="25420"/>
            </a:xfrm>
            <a:custGeom>
              <a:avLst/>
              <a:gdLst/>
              <a:ahLst/>
              <a:cxnLst/>
              <a:rect l="l" t="t" r="r" b="b"/>
              <a:pathLst>
                <a:path w="25276" h="25420">
                  <a:moveTo>
                    <a:pt x="3409" y="3421"/>
                  </a:moveTo>
                  <a:cubicBezTo>
                    <a:pt x="6519" y="311"/>
                    <a:pt x="11458" y="0"/>
                    <a:pt x="14934" y="2696"/>
                  </a:cubicBezTo>
                  <a:lnTo>
                    <a:pt x="15755" y="3421"/>
                  </a:lnTo>
                  <a:lnTo>
                    <a:pt x="21866" y="9533"/>
                  </a:lnTo>
                  <a:cubicBezTo>
                    <a:pt x="25116" y="12794"/>
                    <a:pt x="25276" y="18018"/>
                    <a:pt x="22231" y="21471"/>
                  </a:cubicBezTo>
                  <a:cubicBezTo>
                    <a:pt x="19186" y="24924"/>
                    <a:pt x="13983" y="25420"/>
                    <a:pt x="10341" y="22603"/>
                  </a:cubicBezTo>
                  <a:lnTo>
                    <a:pt x="9520" y="21879"/>
                  </a:lnTo>
                  <a:lnTo>
                    <a:pt x="3409" y="15767"/>
                  </a:lnTo>
                  <a:cubicBezTo>
                    <a:pt x="0" y="12357"/>
                    <a:pt x="0" y="6830"/>
                    <a:pt x="3409" y="3421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1" name="Freeform 91"/>
            <p:cNvSpPr/>
            <p:nvPr/>
          </p:nvSpPr>
          <p:spPr>
            <a:xfrm>
              <a:off x="4783504" y="5116138"/>
              <a:ext cx="25540" cy="25277"/>
            </a:xfrm>
            <a:custGeom>
              <a:avLst/>
              <a:gdLst/>
              <a:ahLst/>
              <a:cxnLst/>
              <a:rect l="l" t="t" r="r" b="b"/>
              <a:pathLst>
                <a:path w="25540" h="25277">
                  <a:moveTo>
                    <a:pt x="9653" y="3409"/>
                  </a:moveTo>
                  <a:cubicBezTo>
                    <a:pt x="12914" y="160"/>
                    <a:pt x="18138" y="0"/>
                    <a:pt x="21591" y="3045"/>
                  </a:cubicBezTo>
                  <a:cubicBezTo>
                    <a:pt x="25044" y="6090"/>
                    <a:pt x="25540" y="11293"/>
                    <a:pt x="22723" y="14935"/>
                  </a:cubicBezTo>
                  <a:lnTo>
                    <a:pt x="21999" y="15755"/>
                  </a:lnTo>
                  <a:lnTo>
                    <a:pt x="15887" y="21867"/>
                  </a:lnTo>
                  <a:cubicBezTo>
                    <a:pt x="12626" y="25117"/>
                    <a:pt x="7402" y="25277"/>
                    <a:pt x="3949" y="22232"/>
                  </a:cubicBezTo>
                  <a:cubicBezTo>
                    <a:pt x="496" y="19187"/>
                    <a:pt x="0" y="13984"/>
                    <a:pt x="2816" y="10342"/>
                  </a:cubicBezTo>
                  <a:lnTo>
                    <a:pt x="3541" y="9521"/>
                  </a:lnTo>
                  <a:lnTo>
                    <a:pt x="9653" y="3409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2" name="Freeform 92"/>
            <p:cNvSpPr/>
            <p:nvPr/>
          </p:nvSpPr>
          <p:spPr>
            <a:xfrm>
              <a:off x="4717256" y="5233988"/>
              <a:ext cx="52388" cy="34925"/>
            </a:xfrm>
            <a:custGeom>
              <a:avLst/>
              <a:gdLst/>
              <a:ahLst/>
              <a:cxnLst/>
              <a:rect l="l" t="t" r="r" b="b"/>
              <a:pathLst>
                <a:path w="52388" h="34925">
                  <a:moveTo>
                    <a:pt x="43656" y="0"/>
                  </a:moveTo>
                  <a:cubicBezTo>
                    <a:pt x="48478" y="0"/>
                    <a:pt x="52388" y="3909"/>
                    <a:pt x="52388" y="8731"/>
                  </a:cubicBezTo>
                  <a:cubicBezTo>
                    <a:pt x="52388" y="23198"/>
                    <a:pt x="40660" y="34925"/>
                    <a:pt x="26194" y="34925"/>
                  </a:cubicBezTo>
                  <a:cubicBezTo>
                    <a:pt x="11727" y="34925"/>
                    <a:pt x="0" y="23198"/>
                    <a:pt x="0" y="8731"/>
                  </a:cubicBezTo>
                  <a:cubicBezTo>
                    <a:pt x="1" y="4305"/>
                    <a:pt x="3314" y="579"/>
                    <a:pt x="7710" y="61"/>
                  </a:cubicBezTo>
                  <a:lnTo>
                    <a:pt x="8731" y="0"/>
                  </a:lnTo>
                  <a:lnTo>
                    <a:pt x="43656" y="0"/>
                  </a:ln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3" name="Freeform 93"/>
            <p:cNvSpPr/>
            <p:nvPr/>
          </p:nvSpPr>
          <p:spPr>
            <a:xfrm>
              <a:off x="4686620" y="5129212"/>
              <a:ext cx="113660" cy="96044"/>
            </a:xfrm>
            <a:custGeom>
              <a:avLst/>
              <a:gdLst/>
              <a:ahLst/>
              <a:cxnLst/>
              <a:rect l="l" t="t" r="r" b="b"/>
              <a:pathLst>
                <a:path w="113660" h="96044">
                  <a:moveTo>
                    <a:pt x="56830" y="0"/>
                  </a:moveTo>
                  <a:cubicBezTo>
                    <a:pt x="79379" y="0"/>
                    <a:pt x="99398" y="14429"/>
                    <a:pt x="106529" y="35821"/>
                  </a:cubicBezTo>
                  <a:cubicBezTo>
                    <a:pt x="113660" y="57213"/>
                    <a:pt x="106302" y="80768"/>
                    <a:pt x="88262" y="94297"/>
                  </a:cubicBezTo>
                  <a:cubicBezTo>
                    <a:pt x="87059" y="95201"/>
                    <a:pt x="85642" y="95779"/>
                    <a:pt x="84150" y="95974"/>
                  </a:cubicBezTo>
                  <a:lnTo>
                    <a:pt x="83024" y="96044"/>
                  </a:lnTo>
                  <a:lnTo>
                    <a:pt x="30636" y="96044"/>
                  </a:lnTo>
                  <a:cubicBezTo>
                    <a:pt x="28747" y="96044"/>
                    <a:pt x="26909" y="95431"/>
                    <a:pt x="25397" y="94297"/>
                  </a:cubicBezTo>
                  <a:cubicBezTo>
                    <a:pt x="7358" y="80768"/>
                    <a:pt x="0" y="57213"/>
                    <a:pt x="7131" y="35821"/>
                  </a:cubicBezTo>
                  <a:cubicBezTo>
                    <a:pt x="14261" y="14429"/>
                    <a:pt x="34281" y="0"/>
                    <a:pt x="56830" y="0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5035868" y="5029454"/>
            <a:ext cx="227626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해결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033961" y="5260911"/>
            <a:ext cx="2451241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녹음 · 기록 우선으로 설계하고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5033962" y="5470461"/>
            <a:ext cx="175807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인식 알고리즘 고도화</a:t>
            </a:r>
          </a:p>
        </p:txBody>
      </p:sp>
      <p:sp>
        <p:nvSpPr>
          <p:cNvPr id="98" name="Rectangle 98"/>
          <p:cNvSpPr/>
          <p:nvPr/>
        </p:nvSpPr>
        <p:spPr>
          <a:xfrm>
            <a:off x="7048500" y="5624145"/>
            <a:ext cx="571500" cy="20955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7238871" y="5671294"/>
            <a:ext cx="190758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7월</a:t>
            </a:r>
          </a:p>
        </p:txBody>
      </p:sp>
      <p:sp>
        <p:nvSpPr>
          <p:cNvPr id="101" name="Rectangle 101"/>
          <p:cNvSpPr/>
          <p:nvPr/>
        </p:nvSpPr>
        <p:spPr>
          <a:xfrm>
            <a:off x="8077200" y="3966795"/>
            <a:ext cx="3505200" cy="20002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2" name="Rectangle 102"/>
          <p:cNvSpPr/>
          <p:nvPr/>
        </p:nvSpPr>
        <p:spPr>
          <a:xfrm>
            <a:off x="8305800" y="418220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FCEBCD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8416130" y="4266342"/>
            <a:ext cx="122239" cy="174627"/>
          </a:xfrm>
          <a:custGeom>
            <a:avLst/>
            <a:gdLst/>
            <a:ahLst/>
            <a:cxnLst/>
            <a:rect l="l" t="t" r="r" b="b"/>
            <a:pathLst>
              <a:path w="122239" h="174627">
                <a:moveTo>
                  <a:pt x="96045" y="1"/>
                </a:moveTo>
                <a:cubicBezTo>
                  <a:pt x="109915" y="0"/>
                  <a:pt x="121381" y="10812"/>
                  <a:pt x="122195" y="24658"/>
                </a:cubicBezTo>
                <a:lnTo>
                  <a:pt x="122238" y="26195"/>
                </a:lnTo>
                <a:lnTo>
                  <a:pt x="122238" y="148432"/>
                </a:lnTo>
                <a:cubicBezTo>
                  <a:pt x="122239" y="162302"/>
                  <a:pt x="111427" y="173768"/>
                  <a:pt x="97581" y="174582"/>
                </a:cubicBezTo>
                <a:lnTo>
                  <a:pt x="96045" y="174626"/>
                </a:lnTo>
                <a:lnTo>
                  <a:pt x="26195" y="174626"/>
                </a:lnTo>
                <a:cubicBezTo>
                  <a:pt x="12324" y="174627"/>
                  <a:pt x="858" y="163815"/>
                  <a:pt x="44" y="149969"/>
                </a:cubicBezTo>
                <a:lnTo>
                  <a:pt x="1" y="148432"/>
                </a:lnTo>
                <a:lnTo>
                  <a:pt x="1" y="26195"/>
                </a:lnTo>
                <a:cubicBezTo>
                  <a:pt x="0" y="12324"/>
                  <a:pt x="10812" y="858"/>
                  <a:pt x="24658" y="44"/>
                </a:cubicBezTo>
                <a:lnTo>
                  <a:pt x="26195" y="1"/>
                </a:lnTo>
                <a:lnTo>
                  <a:pt x="96045" y="1"/>
                </a:lnTo>
                <a:close/>
                <a:moveTo>
                  <a:pt x="61120" y="122238"/>
                </a:moveTo>
                <a:cubicBezTo>
                  <a:pt x="56693" y="122239"/>
                  <a:pt x="52967" y="125552"/>
                  <a:pt x="52449" y="129948"/>
                </a:cubicBezTo>
                <a:lnTo>
                  <a:pt x="52388" y="130970"/>
                </a:lnTo>
                <a:lnTo>
                  <a:pt x="52449" y="132078"/>
                </a:lnTo>
                <a:cubicBezTo>
                  <a:pt x="52972" y="136471"/>
                  <a:pt x="56696" y="139778"/>
                  <a:pt x="61120" y="139778"/>
                </a:cubicBezTo>
                <a:cubicBezTo>
                  <a:pt x="65543" y="139778"/>
                  <a:pt x="69267" y="136471"/>
                  <a:pt x="69790" y="132078"/>
                </a:cubicBezTo>
                <a:lnTo>
                  <a:pt x="69851" y="131057"/>
                </a:lnTo>
                <a:lnTo>
                  <a:pt x="69790" y="129948"/>
                </a:lnTo>
                <a:cubicBezTo>
                  <a:pt x="69272" y="125552"/>
                  <a:pt x="65546" y="122239"/>
                  <a:pt x="61120" y="122238"/>
                </a:cubicBezTo>
                <a:close/>
                <a:moveTo>
                  <a:pt x="69851" y="17463"/>
                </a:moveTo>
                <a:lnTo>
                  <a:pt x="52388" y="17463"/>
                </a:lnTo>
                <a:lnTo>
                  <a:pt x="51367" y="17524"/>
                </a:lnTo>
                <a:cubicBezTo>
                  <a:pt x="46974" y="18047"/>
                  <a:pt x="43667" y="21771"/>
                  <a:pt x="43667" y="26195"/>
                </a:cubicBezTo>
                <a:cubicBezTo>
                  <a:pt x="43667" y="30618"/>
                  <a:pt x="46974" y="34342"/>
                  <a:pt x="51367" y="34865"/>
                </a:cubicBezTo>
                <a:lnTo>
                  <a:pt x="52388" y="34926"/>
                </a:lnTo>
                <a:lnTo>
                  <a:pt x="69851" y="34926"/>
                </a:lnTo>
                <a:lnTo>
                  <a:pt x="70872" y="34865"/>
                </a:lnTo>
                <a:cubicBezTo>
                  <a:pt x="75265" y="34342"/>
                  <a:pt x="78572" y="30618"/>
                  <a:pt x="78572" y="26195"/>
                </a:cubicBezTo>
                <a:cubicBezTo>
                  <a:pt x="78572" y="21771"/>
                  <a:pt x="75265" y="18047"/>
                  <a:pt x="70872" y="17524"/>
                </a:cubicBezTo>
                <a:lnTo>
                  <a:pt x="69851" y="17463"/>
                </a:lnTo>
                <a:close/>
              </a:path>
            </a:pathLst>
          </a:cu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4" name="TextBox 104"/>
          <p:cNvSpPr txBox="1"/>
          <p:nvPr/>
        </p:nvSpPr>
        <p:spPr>
          <a:xfrm>
            <a:off x="8769668" y="4210304"/>
            <a:ext cx="601127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지금의 문제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766810" y="4433665"/>
            <a:ext cx="212983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스마트폰이 없는 어르신은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8766810" y="4643215"/>
            <a:ext cx="175807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앱만으로 닿지 못한다</a:t>
            </a:r>
          </a:p>
        </p:txBody>
      </p:sp>
      <p:sp>
        <p:nvSpPr>
          <p:cNvPr id="107" name="Line 107"/>
          <p:cNvSpPr/>
          <p:nvPr/>
        </p:nvSpPr>
        <p:spPr>
          <a:xfrm>
            <a:off x="8477250" y="4582255"/>
            <a:ext cx="9525" cy="361950"/>
          </a:xfrm>
          <a:custGeom>
            <a:avLst/>
            <a:gdLst/>
            <a:ahLst/>
            <a:cxnLst/>
            <a:rect l="l" t="t" r="r" b="b"/>
            <a:pathLst>
              <a:path w="9525" h="361950">
                <a:moveTo>
                  <a:pt x="0" y="0"/>
                </a:moveTo>
                <a:lnTo>
                  <a:pt x="0" y="361950"/>
                </a:lnTo>
              </a:path>
            </a:pathLst>
          </a:custGeom>
          <a:noFill/>
          <a:ln w="19050">
            <a:solidFill>
              <a:srgbClr val="D8C7A6"/>
            </a:solidFill>
            <a:prstDash val="dash"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8305800" y="500135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09" name="Freeform 109"/>
          <p:cNvSpPr/>
          <p:nvPr/>
        </p:nvSpPr>
        <p:spPr>
          <a:xfrm>
            <a:off x="8407397" y="5085490"/>
            <a:ext cx="139706" cy="174631"/>
          </a:xfrm>
          <a:custGeom>
            <a:avLst/>
            <a:gdLst/>
            <a:ahLst/>
            <a:cxnLst/>
            <a:rect l="l" t="t" r="r" b="b"/>
            <a:pathLst>
              <a:path w="139706" h="174631">
                <a:moveTo>
                  <a:pt x="122240" y="3"/>
                </a:moveTo>
                <a:cubicBezTo>
                  <a:pt x="131379" y="0"/>
                  <a:pt x="138974" y="7043"/>
                  <a:pt x="139659" y="16156"/>
                </a:cubicBezTo>
                <a:lnTo>
                  <a:pt x="139703" y="17465"/>
                </a:lnTo>
                <a:lnTo>
                  <a:pt x="139703" y="157165"/>
                </a:lnTo>
                <a:cubicBezTo>
                  <a:pt x="139706" y="166304"/>
                  <a:pt x="132663" y="173899"/>
                  <a:pt x="123550" y="174584"/>
                </a:cubicBezTo>
                <a:lnTo>
                  <a:pt x="122240" y="174628"/>
                </a:lnTo>
                <a:lnTo>
                  <a:pt x="17465" y="174628"/>
                </a:lnTo>
                <a:cubicBezTo>
                  <a:pt x="8327" y="174631"/>
                  <a:pt x="732" y="167588"/>
                  <a:pt x="47" y="158475"/>
                </a:cubicBezTo>
                <a:lnTo>
                  <a:pt x="3" y="157165"/>
                </a:lnTo>
                <a:lnTo>
                  <a:pt x="3" y="17465"/>
                </a:lnTo>
                <a:cubicBezTo>
                  <a:pt x="0" y="8327"/>
                  <a:pt x="7043" y="732"/>
                  <a:pt x="16156" y="47"/>
                </a:cubicBezTo>
                <a:lnTo>
                  <a:pt x="17465" y="3"/>
                </a:lnTo>
                <a:lnTo>
                  <a:pt x="122240" y="3"/>
                </a:lnTo>
                <a:close/>
                <a:moveTo>
                  <a:pt x="69853" y="113509"/>
                </a:moveTo>
                <a:cubicBezTo>
                  <a:pt x="61230" y="113509"/>
                  <a:pt x="53898" y="119803"/>
                  <a:pt x="52591" y="128326"/>
                </a:cubicBezTo>
                <a:lnTo>
                  <a:pt x="52434" y="129671"/>
                </a:lnTo>
                <a:lnTo>
                  <a:pt x="52390" y="130972"/>
                </a:lnTo>
                <a:lnTo>
                  <a:pt x="52434" y="132281"/>
                </a:lnTo>
                <a:cubicBezTo>
                  <a:pt x="53145" y="141728"/>
                  <a:pt x="61258" y="148885"/>
                  <a:pt x="70719" y="148412"/>
                </a:cubicBezTo>
                <a:cubicBezTo>
                  <a:pt x="80181" y="147939"/>
                  <a:pt x="87540" y="140009"/>
                  <a:pt x="87304" y="130538"/>
                </a:cubicBezTo>
                <a:cubicBezTo>
                  <a:pt x="87069" y="121068"/>
                  <a:pt x="79326" y="113512"/>
                  <a:pt x="69853" y="113509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10" name="TextBox 110"/>
          <p:cNvSpPr txBox="1"/>
          <p:nvPr/>
        </p:nvSpPr>
        <p:spPr>
          <a:xfrm>
            <a:off x="8769668" y="5029454"/>
            <a:ext cx="227626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E9A6A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해결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767761" y="5260911"/>
            <a:ext cx="2315707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복지관 키오스크형 목업으로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8767762" y="5470461"/>
            <a:ext cx="1758078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스마트폰 밖까지 포괄</a:t>
            </a:r>
          </a:p>
        </p:txBody>
      </p:sp>
      <p:sp>
        <p:nvSpPr>
          <p:cNvPr id="113" name="Rectangle 113"/>
          <p:cNvSpPr/>
          <p:nvPr/>
        </p:nvSpPr>
        <p:spPr>
          <a:xfrm>
            <a:off x="10782300" y="5624145"/>
            <a:ext cx="571500" cy="20955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114" name="TextBox 114"/>
          <p:cNvSpPr txBox="1"/>
          <p:nvPr/>
        </p:nvSpPr>
        <p:spPr>
          <a:xfrm>
            <a:off x="10972671" y="5671294"/>
            <a:ext cx="190758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8월</a:t>
            </a:r>
          </a:p>
        </p:txBody>
      </p:sp>
      <p:grpSp>
        <p:nvGrpSpPr>
          <p:cNvPr id="119" name="Group 119"/>
          <p:cNvGrpSpPr/>
          <p:nvPr/>
        </p:nvGrpSpPr>
        <p:grpSpPr>
          <a:xfrm>
            <a:off x="598170" y="6324600"/>
            <a:ext cx="10995660" cy="308044"/>
            <a:chOff x="598170" y="6324600"/>
            <a:chExt cx="10995660" cy="308044"/>
          </a:xfrm>
        </p:grpSpPr>
        <p:sp>
          <p:nvSpPr>
            <p:cNvPr id="116" name="Line 116"/>
            <p:cNvSpPr/>
            <p:nvPr/>
          </p:nvSpPr>
          <p:spPr>
            <a:xfrm>
              <a:off x="609600" y="632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598170" y="6494145"/>
              <a:ext cx="179536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by OGASA Labs · 목표와 일정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452766" y="6494145"/>
              <a:ext cx="1410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06</a:t>
              </a: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8EE33FCA-0EB9-C949-F1D0-6634A5BA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55" r="60296" b="9177"/>
          <a:stretch>
            <a:fillRect/>
          </a:stretch>
        </p:blipFill>
        <p:spPr>
          <a:xfrm>
            <a:off x="11323033" y="141852"/>
            <a:ext cx="669074" cy="67211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72D2DE4-024E-26ED-08FC-32EFB28D0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915" y="141851"/>
            <a:ext cx="672118" cy="67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80060"/>
            <a:ext cx="7635103" cy="724555"/>
            <a:chOff x="571500" y="480060"/>
            <a:chExt cx="7635103" cy="72455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480060"/>
              <a:ext cx="230832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410E"/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"/>
                </a:rPr>
                <a:t>COMPETITION · MARKET · 파급성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1500" y="742950"/>
              <a:ext cx="763510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기존 서비스는 하나씩, Haru는 </a:t>
              </a:r>
              <a:r>
                <a:rPr lang="zh-CN" sz="3000" b="1" dirty="0">
                  <a:solidFill>
                    <a:srgbClr val="F57265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넷을 연결</a:t>
              </a:r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합니다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1569422"/>
            <a:ext cx="6667500" cy="3324225"/>
            <a:chOff x="609600" y="1428750"/>
            <a:chExt cx="6667500" cy="3324225"/>
          </a:xfrm>
        </p:grpSpPr>
        <p:sp>
          <p:nvSpPr>
            <p:cNvPr id="7" name="Rectangle 7"/>
            <p:cNvSpPr/>
            <p:nvPr/>
          </p:nvSpPr>
          <p:spPr>
            <a:xfrm>
              <a:off x="6316819" y="1428750"/>
              <a:ext cx="826810" cy="3314700"/>
            </a:xfrm>
            <a:prstGeom prst="roundRect">
              <a:avLst>
                <a:gd name="adj" fmla="val 12069"/>
              </a:avLst>
            </a:prstGeom>
            <a:solidFill>
              <a:srgbClr val="FBE0D3">
                <a:alpha val="55000"/>
              </a:srgbClr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316819" y="1428750"/>
              <a:ext cx="826810" cy="3314700"/>
            </a:xfrm>
            <a:prstGeom prst="roundRect">
              <a:avLst>
                <a:gd name="adj" fmla="val 12069"/>
              </a:avLst>
            </a:prstGeom>
            <a:noFill/>
            <a:ln w="14288">
              <a:solidFill>
                <a:srgbClr val="F57265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7718" y="1628299"/>
              <a:ext cx="5963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핵심 기능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26228" y="1546934"/>
              <a:ext cx="55784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선별검사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85350" y="1777841"/>
              <a:ext cx="639599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CIST · MMSE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13562" y="1546934"/>
              <a:ext cx="73577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두뇌게임 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41613" y="1777841"/>
              <a:ext cx="679674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퍼즐 · 기억게임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78828" y="1546934"/>
              <a:ext cx="55784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돌봄로봇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61570" y="1777841"/>
              <a:ext cx="192361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효돌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96431" y="1546934"/>
              <a:ext cx="8752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기관 프로그램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42303" y="1777841"/>
              <a:ext cx="583493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복지관 · 센터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8207" y="1617821"/>
              <a:ext cx="47288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20002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3908" y="2272189"/>
              <a:ext cx="1275990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매일 두뇌운동 루틴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68281" y="22736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16529" y="2273618"/>
              <a:ext cx="12984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20881" y="22736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69129" y="2273618"/>
              <a:ext cx="12984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52515" y="2257425"/>
              <a:ext cx="1442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26860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3908" y="2957989"/>
              <a:ext cx="1126912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보호자 안부 확인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68281" y="29594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44581" y="29594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92829" y="2959418"/>
              <a:ext cx="12984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97181" y="29594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52515" y="2943225"/>
              <a:ext cx="1442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33718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08" y="3643789"/>
              <a:ext cx="1126912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변화 패턴 리포트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68281" y="36452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44581" y="36452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20881" y="36452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97181" y="36452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2515" y="3629025"/>
              <a:ext cx="1442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09600" y="40576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3908" y="4329589"/>
              <a:ext cx="1540486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복지기관 · 지자체 연계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040229" y="4331018"/>
              <a:ext cx="12984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44581" y="4331018"/>
              <a:ext cx="73738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8C7A6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92829" y="4331018"/>
              <a:ext cx="12984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9129" y="4331018"/>
              <a:ext cx="129843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E9A6A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2515" y="4314825"/>
              <a:ext cx="14427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✓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09600" y="474345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sp>
        <p:nvSpPr>
          <p:cNvPr id="49" name="Rectangle 49"/>
          <p:cNvSpPr/>
          <p:nvPr/>
        </p:nvSpPr>
        <p:spPr>
          <a:xfrm>
            <a:off x="609600" y="5036522"/>
            <a:ext cx="6667500" cy="533400"/>
          </a:xfrm>
          <a:prstGeom prst="roundRect">
            <a:avLst>
              <a:gd name="adj" fmla="val 25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84860" y="5117998"/>
            <a:ext cx="105317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네 가지를 동시에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84860" y="5327548"/>
            <a:ext cx="140743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제공하는 것은 Haru뿐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48056" y="5183926"/>
            <a:ext cx="31418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BE0D3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1/4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824356" y="5183926"/>
            <a:ext cx="31418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BE0D3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1/4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700656" y="5183926"/>
            <a:ext cx="31418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BE0D3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2/4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76956" y="5183926"/>
            <a:ext cx="31418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BE0D3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2/4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535495" y="5160843"/>
            <a:ext cx="378310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b="1" dirty="0">
                <a:solidFill>
                  <a:srgbClr val="FFFFFF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4/4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98169" y="5758517"/>
            <a:ext cx="6729731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000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– 는 해당 기능이 핵심 제공 범위가 아님을 뜻함 · 시니어 인지훈련 솔루션(두뇌싱긋 등)은 음성·보호자·복지 연계 확장 여지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7581900" y="1569422"/>
            <a:ext cx="4000500" cy="1866900"/>
            <a:chOff x="7581900" y="1428750"/>
            <a:chExt cx="4000500" cy="1866900"/>
          </a:xfrm>
        </p:grpSpPr>
        <p:sp>
          <p:nvSpPr>
            <p:cNvPr id="59" name="Rectangle 59"/>
            <p:cNvSpPr/>
            <p:nvPr/>
          </p:nvSpPr>
          <p:spPr>
            <a:xfrm>
              <a:off x="7581900" y="1428750"/>
              <a:ext cx="4000500" cy="1866900"/>
            </a:xfrm>
            <a:prstGeom prst="roundRect">
              <a:avLst>
                <a:gd name="adj" fmla="val 10204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17168" y="1666399"/>
              <a:ext cx="48731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시장 규모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87640" y="1903389"/>
              <a:ext cx="2503891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약 1,000만 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813358" y="2463422"/>
              <a:ext cx="1367362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국내 65세 이상 인구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16215" y="2754410"/>
              <a:ext cx="276037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전국 치매안심센터 · 복지관 · 주야간보호 네트워크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16215" y="2963960"/>
              <a:ext cx="205665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한국 · 일본이 공유하는 초고령화 과제</a:t>
              </a:r>
            </a:p>
          </p:txBody>
        </p:sp>
      </p:grpSp>
      <p:sp>
        <p:nvSpPr>
          <p:cNvPr id="66" name="Rectangle 66"/>
          <p:cNvSpPr/>
          <p:nvPr/>
        </p:nvSpPr>
        <p:spPr>
          <a:xfrm>
            <a:off x="7581900" y="3664922"/>
            <a:ext cx="400050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7817168" y="3883521"/>
            <a:ext cx="714939" cy="15004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6E5D49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비즈니스 모델</a:t>
            </a:r>
          </a:p>
        </p:txBody>
      </p:sp>
      <p:sp>
        <p:nvSpPr>
          <p:cNvPr id="68" name="Freeform 68"/>
          <p:cNvSpPr/>
          <p:nvPr/>
        </p:nvSpPr>
        <p:spPr>
          <a:xfrm>
            <a:off x="7843409" y="4184395"/>
            <a:ext cx="181598" cy="160038"/>
          </a:xfrm>
          <a:custGeom>
            <a:avLst/>
            <a:gdLst/>
            <a:ahLst/>
            <a:cxnLst/>
            <a:rect l="l" t="t" r="r" b="b"/>
            <a:pathLst>
              <a:path w="181598" h="160038">
                <a:moveTo>
                  <a:pt x="47077" y="2667"/>
                </a:moveTo>
                <a:cubicBezTo>
                  <a:pt x="62729" y="0"/>
                  <a:pt x="78747" y="4576"/>
                  <a:pt x="90628" y="15109"/>
                </a:cubicBezTo>
                <a:lnTo>
                  <a:pt x="90951" y="15397"/>
                </a:lnTo>
                <a:lnTo>
                  <a:pt x="91248" y="15135"/>
                </a:lnTo>
                <a:cubicBezTo>
                  <a:pt x="102574" y="5196"/>
                  <a:pt x="117631" y="615"/>
                  <a:pt x="132573" y="2562"/>
                </a:cubicBezTo>
                <a:lnTo>
                  <a:pt x="134721" y="2877"/>
                </a:lnTo>
                <a:cubicBezTo>
                  <a:pt x="153689" y="6151"/>
                  <a:pt x="169332" y="19564"/>
                  <a:pt x="175465" y="37809"/>
                </a:cubicBezTo>
                <a:cubicBezTo>
                  <a:pt x="181598" y="56054"/>
                  <a:pt x="177231" y="76192"/>
                  <a:pt x="164093" y="90259"/>
                </a:cubicBezTo>
                <a:lnTo>
                  <a:pt x="162521" y="91874"/>
                </a:lnTo>
                <a:lnTo>
                  <a:pt x="162102" y="92232"/>
                </a:lnTo>
                <a:lnTo>
                  <a:pt x="97055" y="156660"/>
                </a:lnTo>
                <a:cubicBezTo>
                  <a:pt x="93950" y="159733"/>
                  <a:pt x="89053" y="160038"/>
                  <a:pt x="85590" y="157376"/>
                </a:cubicBezTo>
                <a:lnTo>
                  <a:pt x="84770" y="156660"/>
                </a:lnTo>
                <a:lnTo>
                  <a:pt x="19346" y="91857"/>
                </a:lnTo>
                <a:cubicBezTo>
                  <a:pt x="5214" y="78106"/>
                  <a:pt x="0" y="57585"/>
                  <a:pt x="5854" y="38756"/>
                </a:cubicBezTo>
                <a:cubicBezTo>
                  <a:pt x="11708" y="19927"/>
                  <a:pt x="27639" y="5980"/>
                  <a:pt x="47077" y="2667"/>
                </a:cubicBezTo>
                <a:close/>
              </a:path>
            </a:pathLst>
          </a:cu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69" name="Rectangle 69"/>
          <p:cNvSpPr/>
          <p:nvPr/>
        </p:nvSpPr>
        <p:spPr>
          <a:xfrm>
            <a:off x="8153400" y="4160222"/>
            <a:ext cx="457200" cy="209550"/>
          </a:xfrm>
          <a:prstGeom prst="roundRect">
            <a:avLst>
              <a:gd name="adj" fmla="val 45455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271393" y="4197883"/>
            <a:ext cx="221214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B2C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729662" y="4183119"/>
            <a:ext cx="1527662" cy="173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보호자 구독 · 안부 리포트</a:t>
            </a:r>
          </a:p>
        </p:txBody>
      </p:sp>
      <p:sp>
        <p:nvSpPr>
          <p:cNvPr id="72" name="Freeform 72"/>
          <p:cNvSpPr/>
          <p:nvPr/>
        </p:nvSpPr>
        <p:spPr>
          <a:xfrm>
            <a:off x="7864472" y="4634882"/>
            <a:ext cx="139706" cy="174631"/>
          </a:xfrm>
          <a:custGeom>
            <a:avLst/>
            <a:gdLst/>
            <a:ahLst/>
            <a:cxnLst/>
            <a:rect l="l" t="t" r="r" b="b"/>
            <a:pathLst>
              <a:path w="139706" h="174631">
                <a:moveTo>
                  <a:pt x="122240" y="3"/>
                </a:moveTo>
                <a:cubicBezTo>
                  <a:pt x="131379" y="0"/>
                  <a:pt x="138974" y="7043"/>
                  <a:pt x="139659" y="16156"/>
                </a:cubicBezTo>
                <a:lnTo>
                  <a:pt x="139703" y="17465"/>
                </a:lnTo>
                <a:lnTo>
                  <a:pt x="139703" y="157165"/>
                </a:lnTo>
                <a:cubicBezTo>
                  <a:pt x="139706" y="166304"/>
                  <a:pt x="132663" y="173899"/>
                  <a:pt x="123550" y="174584"/>
                </a:cubicBezTo>
                <a:lnTo>
                  <a:pt x="122240" y="174628"/>
                </a:lnTo>
                <a:lnTo>
                  <a:pt x="17465" y="174628"/>
                </a:lnTo>
                <a:cubicBezTo>
                  <a:pt x="8327" y="174631"/>
                  <a:pt x="732" y="167588"/>
                  <a:pt x="47" y="158475"/>
                </a:cubicBezTo>
                <a:lnTo>
                  <a:pt x="3" y="157165"/>
                </a:lnTo>
                <a:lnTo>
                  <a:pt x="3" y="17465"/>
                </a:lnTo>
                <a:cubicBezTo>
                  <a:pt x="0" y="8327"/>
                  <a:pt x="7043" y="732"/>
                  <a:pt x="16156" y="47"/>
                </a:cubicBezTo>
                <a:lnTo>
                  <a:pt x="17465" y="3"/>
                </a:lnTo>
                <a:lnTo>
                  <a:pt x="122240" y="3"/>
                </a:lnTo>
                <a:close/>
                <a:moveTo>
                  <a:pt x="69853" y="113509"/>
                </a:moveTo>
                <a:cubicBezTo>
                  <a:pt x="61230" y="113509"/>
                  <a:pt x="53898" y="119803"/>
                  <a:pt x="52591" y="128326"/>
                </a:cubicBezTo>
                <a:lnTo>
                  <a:pt x="52434" y="129671"/>
                </a:lnTo>
                <a:lnTo>
                  <a:pt x="52390" y="130972"/>
                </a:lnTo>
                <a:lnTo>
                  <a:pt x="52434" y="132281"/>
                </a:lnTo>
                <a:cubicBezTo>
                  <a:pt x="53145" y="141728"/>
                  <a:pt x="61258" y="148885"/>
                  <a:pt x="70719" y="148412"/>
                </a:cubicBezTo>
                <a:cubicBezTo>
                  <a:pt x="80181" y="147939"/>
                  <a:pt x="87540" y="140009"/>
                  <a:pt x="87304" y="130538"/>
                </a:cubicBezTo>
                <a:cubicBezTo>
                  <a:pt x="87069" y="121068"/>
                  <a:pt x="79326" y="113512"/>
                  <a:pt x="69853" y="113509"/>
                </a:cubicBezTo>
                <a:close/>
              </a:path>
            </a:pathLst>
          </a:cu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3" name="Rectangle 73"/>
          <p:cNvSpPr/>
          <p:nvPr/>
        </p:nvSpPr>
        <p:spPr>
          <a:xfrm>
            <a:off x="8153400" y="4617422"/>
            <a:ext cx="457200" cy="209550"/>
          </a:xfrm>
          <a:prstGeom prst="roundRect">
            <a:avLst>
              <a:gd name="adj" fmla="val 45455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8271393" y="4655083"/>
            <a:ext cx="221214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B2B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729662" y="4640319"/>
            <a:ext cx="1490793" cy="173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기관 라이선스 · 키오스크</a:t>
            </a:r>
          </a:p>
        </p:txBody>
      </p:sp>
      <p:sp>
        <p:nvSpPr>
          <p:cNvPr id="76" name="Freeform 76"/>
          <p:cNvSpPr/>
          <p:nvPr/>
        </p:nvSpPr>
        <p:spPr>
          <a:xfrm>
            <a:off x="7848071" y="5084412"/>
            <a:ext cx="172595" cy="189130"/>
          </a:xfrm>
          <a:custGeom>
            <a:avLst/>
            <a:gdLst/>
            <a:ahLst/>
            <a:cxnLst/>
            <a:rect l="l" t="t" r="r" b="b"/>
            <a:pathLst>
              <a:path w="172595" h="189130">
                <a:moveTo>
                  <a:pt x="141819" y="30688"/>
                </a:moveTo>
                <a:cubicBezTo>
                  <a:pt x="171810" y="60675"/>
                  <a:pt x="172595" y="109051"/>
                  <a:pt x="143592" y="139995"/>
                </a:cubicBezTo>
                <a:lnTo>
                  <a:pt x="141819" y="141828"/>
                </a:lnTo>
                <a:lnTo>
                  <a:pt x="104773" y="178866"/>
                </a:lnTo>
                <a:cubicBezTo>
                  <a:pt x="95018" y="188614"/>
                  <a:pt x="79376" y="189130"/>
                  <a:pt x="69001" y="180045"/>
                </a:cubicBezTo>
                <a:lnTo>
                  <a:pt x="67743" y="178866"/>
                </a:lnTo>
                <a:lnTo>
                  <a:pt x="30688" y="141819"/>
                </a:lnTo>
                <a:cubicBezTo>
                  <a:pt x="0" y="111131"/>
                  <a:pt x="0" y="61376"/>
                  <a:pt x="30688" y="30688"/>
                </a:cubicBezTo>
                <a:cubicBezTo>
                  <a:pt x="61376" y="0"/>
                  <a:pt x="111131" y="0"/>
                  <a:pt x="141819" y="30688"/>
                </a:cubicBezTo>
                <a:close/>
                <a:moveTo>
                  <a:pt x="86254" y="60060"/>
                </a:moveTo>
                <a:cubicBezTo>
                  <a:pt x="71787" y="60060"/>
                  <a:pt x="60060" y="71787"/>
                  <a:pt x="60060" y="86254"/>
                </a:cubicBezTo>
                <a:cubicBezTo>
                  <a:pt x="60060" y="100720"/>
                  <a:pt x="71787" y="112447"/>
                  <a:pt x="86254" y="112447"/>
                </a:cubicBezTo>
                <a:cubicBezTo>
                  <a:pt x="100720" y="112447"/>
                  <a:pt x="112447" y="100720"/>
                  <a:pt x="112447" y="86254"/>
                </a:cubicBezTo>
                <a:cubicBezTo>
                  <a:pt x="112447" y="71787"/>
                  <a:pt x="100720" y="60060"/>
                  <a:pt x="86254" y="60060"/>
                </a:cubicBezTo>
              </a:path>
            </a:pathLst>
          </a:cu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7" name="Rectangle 77"/>
          <p:cNvSpPr/>
          <p:nvPr/>
        </p:nvSpPr>
        <p:spPr>
          <a:xfrm>
            <a:off x="8153400" y="5074622"/>
            <a:ext cx="457200" cy="209550"/>
          </a:xfrm>
          <a:prstGeom prst="roundRect">
            <a:avLst>
              <a:gd name="adj" fmla="val 45455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8269790" y="5112283"/>
            <a:ext cx="22442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B2G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729662" y="5097519"/>
            <a:ext cx="2090316" cy="173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지자체 치매예방 · 리워드 예산 연계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846412" y="5549512"/>
            <a:ext cx="175814" cy="174162"/>
            <a:chOff x="7846412" y="5408840"/>
            <a:chExt cx="175814" cy="174162"/>
          </a:xfrm>
          <a:solidFill>
            <a:srgbClr val="F57265"/>
          </a:solidFill>
        </p:grpSpPr>
        <p:sp>
          <p:nvSpPr>
            <p:cNvPr id="80" name="Freeform 80"/>
            <p:cNvSpPr/>
            <p:nvPr/>
          </p:nvSpPr>
          <p:spPr>
            <a:xfrm>
              <a:off x="7940708" y="5530850"/>
              <a:ext cx="73639" cy="52152"/>
            </a:xfrm>
            <a:custGeom>
              <a:avLst/>
              <a:gdLst/>
              <a:ahLst/>
              <a:cxnLst/>
              <a:rect l="l" t="t" r="r" b="b"/>
              <a:pathLst>
                <a:path w="73639" h="52152">
                  <a:moveTo>
                    <a:pt x="73639" y="0"/>
                  </a:moveTo>
                  <a:cubicBezTo>
                    <a:pt x="60675" y="29704"/>
                    <a:pt x="32323" y="49782"/>
                    <a:pt x="0" y="52152"/>
                  </a:cubicBezTo>
                  <a:cubicBezTo>
                    <a:pt x="2236" y="51619"/>
                    <a:pt x="4172" y="50226"/>
                    <a:pt x="5387" y="48275"/>
                  </a:cubicBezTo>
                  <a:cubicBezTo>
                    <a:pt x="14668" y="33409"/>
                    <a:pt x="21396" y="17095"/>
                    <a:pt x="25294" y="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1" name="Freeform 81"/>
            <p:cNvSpPr/>
            <p:nvPr/>
          </p:nvSpPr>
          <p:spPr>
            <a:xfrm>
              <a:off x="7854303" y="5530850"/>
              <a:ext cx="73631" cy="52152"/>
            </a:xfrm>
            <a:custGeom>
              <a:avLst/>
              <a:gdLst/>
              <a:ahLst/>
              <a:cxnLst/>
              <a:rect l="l" t="t" r="r" b="b"/>
              <a:pathLst>
                <a:path w="73631" h="52152">
                  <a:moveTo>
                    <a:pt x="48345" y="0"/>
                  </a:moveTo>
                  <a:cubicBezTo>
                    <a:pt x="52241" y="17092"/>
                    <a:pt x="58970" y="33412"/>
                    <a:pt x="68252" y="48284"/>
                  </a:cubicBezTo>
                  <a:cubicBezTo>
                    <a:pt x="69467" y="50230"/>
                    <a:pt x="71399" y="51619"/>
                    <a:pt x="73631" y="52152"/>
                  </a:cubicBezTo>
                  <a:cubicBezTo>
                    <a:pt x="41311" y="49779"/>
                    <a:pt x="12963" y="2970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2" name="Freeform 82"/>
            <p:cNvSpPr/>
            <p:nvPr/>
          </p:nvSpPr>
          <p:spPr>
            <a:xfrm>
              <a:off x="7920617" y="5530850"/>
              <a:ext cx="27416" cy="33912"/>
            </a:xfrm>
            <a:custGeom>
              <a:avLst/>
              <a:gdLst/>
              <a:ahLst/>
              <a:cxnLst/>
              <a:rect l="l" t="t" r="r" b="b"/>
              <a:pathLst>
                <a:path w="27416" h="33912">
                  <a:moveTo>
                    <a:pt x="27416" y="0"/>
                  </a:moveTo>
                  <a:cubicBezTo>
                    <a:pt x="24353" y="11856"/>
                    <a:pt x="19744" y="23258"/>
                    <a:pt x="13708" y="33912"/>
                  </a:cubicBezTo>
                  <a:cubicBezTo>
                    <a:pt x="7672" y="23258"/>
                    <a:pt x="3063" y="11856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3" name="Freeform 83"/>
            <p:cNvSpPr/>
            <p:nvPr/>
          </p:nvSpPr>
          <p:spPr>
            <a:xfrm>
              <a:off x="7846412" y="5478462"/>
              <a:ext cx="53284" cy="34925"/>
            </a:xfrm>
            <a:custGeom>
              <a:avLst/>
              <a:gdLst/>
              <a:ahLst/>
              <a:cxnLst/>
              <a:rect l="l" t="t" r="r" b="b"/>
              <a:pathLst>
                <a:path w="53284" h="34925">
                  <a:moveTo>
                    <a:pt x="53284" y="0"/>
                  </a:moveTo>
                  <a:cubicBezTo>
                    <a:pt x="51987" y="11606"/>
                    <a:pt x="51987" y="23319"/>
                    <a:pt x="53284" y="34925"/>
                  </a:cubicBezTo>
                  <a:lnTo>
                    <a:pt x="2364" y="34925"/>
                  </a:lnTo>
                  <a:cubicBezTo>
                    <a:pt x="6" y="23403"/>
                    <a:pt x="0" y="11524"/>
                    <a:pt x="2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4" name="Freeform 84"/>
            <p:cNvSpPr/>
            <p:nvPr/>
          </p:nvSpPr>
          <p:spPr>
            <a:xfrm>
              <a:off x="7915821" y="5478462"/>
              <a:ext cx="37009" cy="34925"/>
            </a:xfrm>
            <a:custGeom>
              <a:avLst/>
              <a:gdLst/>
              <a:ahLst/>
              <a:cxnLst/>
              <a:rect l="l" t="t" r="r" b="b"/>
              <a:pathLst>
                <a:path w="37009" h="34925">
                  <a:moveTo>
                    <a:pt x="35548" y="0"/>
                  </a:moveTo>
                  <a:cubicBezTo>
                    <a:pt x="37009" y="11596"/>
                    <a:pt x="37009" y="23329"/>
                    <a:pt x="35548" y="34925"/>
                  </a:cubicBezTo>
                  <a:lnTo>
                    <a:pt x="1461" y="34925"/>
                  </a:lnTo>
                  <a:cubicBezTo>
                    <a:pt x="0" y="23329"/>
                    <a:pt x="0" y="11596"/>
                    <a:pt x="14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5" name="Freeform 85"/>
            <p:cNvSpPr/>
            <p:nvPr/>
          </p:nvSpPr>
          <p:spPr>
            <a:xfrm>
              <a:off x="7968953" y="5478462"/>
              <a:ext cx="53273" cy="34925"/>
            </a:xfrm>
            <a:custGeom>
              <a:avLst/>
              <a:gdLst/>
              <a:ahLst/>
              <a:cxnLst/>
              <a:rect l="l" t="t" r="r" b="b"/>
              <a:pathLst>
                <a:path w="53273" h="34925">
                  <a:moveTo>
                    <a:pt x="50938" y="0"/>
                  </a:moveTo>
                  <a:cubicBezTo>
                    <a:pt x="53273" y="11525"/>
                    <a:pt x="53267" y="23402"/>
                    <a:pt x="50921" y="34925"/>
                  </a:cubicBezTo>
                  <a:lnTo>
                    <a:pt x="0" y="34925"/>
                  </a:lnTo>
                  <a:cubicBezTo>
                    <a:pt x="1301" y="23321"/>
                    <a:pt x="1301" y="1161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6" name="Freeform 86"/>
            <p:cNvSpPr/>
            <p:nvPr/>
          </p:nvSpPr>
          <p:spPr>
            <a:xfrm>
              <a:off x="7854277" y="5408848"/>
              <a:ext cx="73648" cy="52152"/>
            </a:xfrm>
            <a:custGeom>
              <a:avLst/>
              <a:gdLst/>
              <a:ahLst/>
              <a:cxnLst/>
              <a:rect l="l" t="t" r="r" b="b"/>
              <a:pathLst>
                <a:path w="73648" h="52152">
                  <a:moveTo>
                    <a:pt x="73648" y="0"/>
                  </a:moveTo>
                  <a:cubicBezTo>
                    <a:pt x="71419" y="537"/>
                    <a:pt x="69490" y="1929"/>
                    <a:pt x="68278" y="3877"/>
                  </a:cubicBezTo>
                  <a:cubicBezTo>
                    <a:pt x="58997" y="18746"/>
                    <a:pt x="52268" y="35063"/>
                    <a:pt x="48371" y="52152"/>
                  </a:cubicBezTo>
                  <a:lnTo>
                    <a:pt x="0" y="52152"/>
                  </a:lnTo>
                  <a:cubicBezTo>
                    <a:pt x="12850" y="22742"/>
                    <a:pt x="40785" y="2741"/>
                    <a:pt x="72766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7" name="Freeform 87"/>
            <p:cNvSpPr/>
            <p:nvPr/>
          </p:nvSpPr>
          <p:spPr>
            <a:xfrm>
              <a:off x="7920617" y="5427088"/>
              <a:ext cx="27416" cy="33921"/>
            </a:xfrm>
            <a:custGeom>
              <a:avLst/>
              <a:gdLst/>
              <a:ahLst/>
              <a:cxnLst/>
              <a:rect l="l" t="t" r="r" b="b"/>
              <a:pathLst>
                <a:path w="27416" h="33921">
                  <a:moveTo>
                    <a:pt x="13708" y="0"/>
                  </a:moveTo>
                  <a:cubicBezTo>
                    <a:pt x="19745" y="10657"/>
                    <a:pt x="24354" y="22062"/>
                    <a:pt x="27416" y="33921"/>
                  </a:cubicBezTo>
                  <a:lnTo>
                    <a:pt x="0" y="33921"/>
                  </a:lnTo>
                  <a:cubicBezTo>
                    <a:pt x="2969" y="22422"/>
                    <a:pt x="7422" y="11220"/>
                    <a:pt x="13359" y="5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8" name="Freeform 88"/>
            <p:cNvSpPr/>
            <p:nvPr/>
          </p:nvSpPr>
          <p:spPr>
            <a:xfrm>
              <a:off x="7940725" y="5408840"/>
              <a:ext cx="73648" cy="52160"/>
            </a:xfrm>
            <a:custGeom>
              <a:avLst/>
              <a:gdLst/>
              <a:ahLst/>
              <a:cxnLst/>
              <a:rect l="l" t="t" r="r" b="b"/>
              <a:pathLst>
                <a:path w="73648" h="52160">
                  <a:moveTo>
                    <a:pt x="0" y="0"/>
                  </a:moveTo>
                  <a:cubicBezTo>
                    <a:pt x="32322" y="2387"/>
                    <a:pt x="60669" y="22463"/>
                    <a:pt x="73648" y="52160"/>
                  </a:cubicBezTo>
                  <a:lnTo>
                    <a:pt x="25277" y="52160"/>
                  </a:lnTo>
                  <a:cubicBezTo>
                    <a:pt x="21381" y="35068"/>
                    <a:pt x="14652" y="18748"/>
                    <a:pt x="5370" y="3877"/>
                  </a:cubicBezTo>
                  <a:cubicBezTo>
                    <a:pt x="4319" y="2194"/>
                    <a:pt x="2727" y="919"/>
                    <a:pt x="856" y="2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sp>
        <p:nvSpPr>
          <p:cNvPr id="90" name="Rectangle 90"/>
          <p:cNvSpPr/>
          <p:nvPr/>
        </p:nvSpPr>
        <p:spPr>
          <a:xfrm>
            <a:off x="8153400" y="5531822"/>
            <a:ext cx="457200" cy="209550"/>
          </a:xfrm>
          <a:prstGeom prst="roundRect">
            <a:avLst>
              <a:gd name="adj" fmla="val 45455"/>
            </a:avLst>
          </a:prstGeom>
          <a:solidFill>
            <a:srgbClr val="FBE0D3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8317879" y="5569483"/>
            <a:ext cx="128240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JP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8729662" y="5554719"/>
            <a:ext cx="1601400" cy="173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일본 확장 · 팀 내 현지 역량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598170" y="6324600"/>
            <a:ext cx="10995660" cy="308044"/>
            <a:chOff x="598170" y="6324600"/>
            <a:chExt cx="10995660" cy="308044"/>
          </a:xfrm>
        </p:grpSpPr>
        <p:sp>
          <p:nvSpPr>
            <p:cNvPr id="94" name="Line 94"/>
            <p:cNvSpPr/>
            <p:nvPr/>
          </p:nvSpPr>
          <p:spPr>
            <a:xfrm>
              <a:off x="609600" y="632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98170" y="6494145"/>
              <a:ext cx="179536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by OGASA Labs · 경쟁과 시장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452766" y="6494145"/>
              <a:ext cx="1410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07</a:t>
              </a: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9DDDA906-BD44-3CD0-38F6-0003D9A8C0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55" r="60296" b="9177"/>
          <a:stretch>
            <a:fillRect/>
          </a:stretch>
        </p:blipFill>
        <p:spPr>
          <a:xfrm>
            <a:off x="11323033" y="141852"/>
            <a:ext cx="669074" cy="672117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1BBBEC2-6BF6-7C29-52AE-87EEF836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915" y="141851"/>
            <a:ext cx="672118" cy="67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71500" y="480060"/>
            <a:ext cx="6782306" cy="724555"/>
            <a:chOff x="571500" y="480060"/>
            <a:chExt cx="6782306" cy="724555"/>
          </a:xfrm>
        </p:grpSpPr>
        <p:sp>
          <p:nvSpPr>
            <p:cNvPr id="3" name="TextBox 3"/>
            <p:cNvSpPr txBox="1"/>
            <p:nvPr/>
          </p:nvSpPr>
          <p:spPr>
            <a:xfrm>
              <a:off x="594360" y="480060"/>
              <a:ext cx="83837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8410E"/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"/>
                </a:rPr>
                <a:t>TEAM · 팀웍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71500" y="742950"/>
              <a:ext cx="67823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역할이 분명한 4인이, </a:t>
              </a:r>
              <a:r>
                <a:rPr lang="zh-CN" sz="3000" b="1" dirty="0">
                  <a:solidFill>
                    <a:srgbClr val="F57265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전주기</a:t>
              </a:r>
              <a:r>
                <a:rPr lang="zh-CN" sz="3000" b="1" dirty="0">
                  <a:solidFill>
                    <a:srgbClr val="2A2018"/>
                  </a:solidFill>
                  <a:latin typeface="나눔스퀘어라운드OTF ExtraBold" panose="020B0600000101010101" pitchFamily="34" charset="-127"/>
                  <a:ea typeface="나눔스퀘어라운드OTF ExtraBold" panose="020B0600000101010101" pitchFamily="34" charset="-127"/>
                  <a:cs typeface="Pretendard"/>
                </a:rPr>
                <a:t>로 움직입니다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434610"/>
            <a:ext cx="2571750" cy="3810000"/>
            <a:chOff x="609600" y="1390650"/>
            <a:chExt cx="2571750" cy="3810000"/>
          </a:xfrm>
        </p:grpSpPr>
        <p:sp>
          <p:nvSpPr>
            <p:cNvPr id="7" name="Rectangle 7"/>
            <p:cNvSpPr/>
            <p:nvPr/>
          </p:nvSpPr>
          <p:spPr>
            <a:xfrm>
              <a:off x="609600" y="1390650"/>
              <a:ext cx="2571750" cy="38100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800100" y="1581150"/>
              <a:ext cx="4572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2901" y="1636395"/>
              <a:ext cx="21159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팀장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304925" y="1714500"/>
              <a:ext cx="1181100" cy="1181100"/>
            </a:xfrm>
            <a:prstGeom prst="ellipse">
              <a:avLst/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1304925" y="1714500"/>
              <a:ext cx="1181100" cy="1181100"/>
            </a:xfrm>
            <a:prstGeom prst="ellipse">
              <a:avLst/>
            </a:prstGeom>
            <a:noFill/>
            <a:ln w="19050">
              <a:solidFill>
                <a:srgbClr val="D8C7A6"/>
              </a:solidFill>
              <a:custDash>
                <a:ds d="300000" sp="25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81218" y="2749391"/>
              <a:ext cx="65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82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92508" y="3128486"/>
              <a:ext cx="605935" cy="265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김현준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4851" y="3468052"/>
              <a:ext cx="152125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KAIST 전산학부 · AI연구원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514475" y="37528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9809" y="3921204"/>
              <a:ext cx="1351332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AI 모델링 · 데이터 분석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6378" y="4130754"/>
              <a:ext cx="1598194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개인화 루틴 · 리포트 고도화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382" y="4657249"/>
              <a:ext cx="1380186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수행 데이터 구조 설계 담당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409950" y="1434610"/>
            <a:ext cx="2571750" cy="3810000"/>
            <a:chOff x="3409950" y="1390650"/>
            <a:chExt cx="2571750" cy="3810000"/>
          </a:xfrm>
        </p:grpSpPr>
        <p:sp>
          <p:nvSpPr>
            <p:cNvPr id="23" name="Rectangle 23"/>
            <p:cNvSpPr/>
            <p:nvPr/>
          </p:nvSpPr>
          <p:spPr>
            <a:xfrm>
              <a:off x="3409950" y="1390650"/>
              <a:ext cx="2571750" cy="38100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00450" y="1581150"/>
              <a:ext cx="457200" cy="2095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23251" y="1636395"/>
              <a:ext cx="21159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팀원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105275" y="1714500"/>
              <a:ext cx="1181100" cy="1181100"/>
            </a:xfrm>
            <a:prstGeom prst="ellipse">
              <a:avLst/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29" name="Ellipse 29"/>
            <p:cNvSpPr/>
            <p:nvPr/>
          </p:nvSpPr>
          <p:spPr>
            <a:xfrm>
              <a:off x="4105275" y="1714500"/>
              <a:ext cx="1181100" cy="1181100"/>
            </a:xfrm>
            <a:prstGeom prst="ellipse">
              <a:avLst/>
            </a:prstGeom>
            <a:noFill/>
            <a:ln w="19050">
              <a:solidFill>
                <a:srgbClr val="D8C7A6"/>
              </a:solidFill>
              <a:custDash>
                <a:ds d="300000" sp="25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81568" y="2749391"/>
              <a:ext cx="65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82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2858" y="3128486"/>
              <a:ext cx="605935" cy="265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이재우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62076" y="3468052"/>
              <a:ext cx="186749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서울대 기계공학 · 의학전문대학원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314825" y="37528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29402" y="3921204"/>
              <a:ext cx="1732847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고령자 · 의료 · 요양 현장 이해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79095" y="4130754"/>
              <a:ext cx="1633460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의료적 표현 검토 · 기관 실증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875889" y="4657249"/>
              <a:ext cx="1639873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진단 오해 없는 서비스 범위 관리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10300" y="1434610"/>
            <a:ext cx="2571750" cy="3810000"/>
            <a:chOff x="6210300" y="1390650"/>
            <a:chExt cx="2571750" cy="3810000"/>
          </a:xfrm>
        </p:grpSpPr>
        <p:sp>
          <p:nvSpPr>
            <p:cNvPr id="39" name="Rectangle 39"/>
            <p:cNvSpPr/>
            <p:nvPr/>
          </p:nvSpPr>
          <p:spPr>
            <a:xfrm>
              <a:off x="6210300" y="1390650"/>
              <a:ext cx="2571750" cy="38100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00800" y="1581150"/>
              <a:ext cx="457200" cy="2095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23601" y="1636395"/>
              <a:ext cx="21159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팀원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905625" y="1714500"/>
              <a:ext cx="1181100" cy="1181100"/>
            </a:xfrm>
            <a:prstGeom prst="ellipse">
              <a:avLst/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5" name="Ellipse 45"/>
            <p:cNvSpPr/>
            <p:nvPr/>
          </p:nvSpPr>
          <p:spPr>
            <a:xfrm>
              <a:off x="6905625" y="1714500"/>
              <a:ext cx="1181100" cy="1181100"/>
            </a:xfrm>
            <a:prstGeom prst="ellipse">
              <a:avLst/>
            </a:prstGeom>
            <a:noFill/>
            <a:ln w="19050">
              <a:solidFill>
                <a:srgbClr val="D8C7A6"/>
              </a:solidFill>
              <a:custDash>
                <a:ds d="300000" sp="25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93208" y="3128486"/>
              <a:ext cx="605935" cy="265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류다훈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89250" y="3468052"/>
              <a:ext cx="1413850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연세대 화학 · 서울대 석사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7115175" y="37528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23715" y="3921204"/>
              <a:ext cx="1344920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운영 전략 · 사업화 모델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41348" y="4130754"/>
              <a:ext cx="1309654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복지관 · 기관 파트너십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80246" y="4657249"/>
              <a:ext cx="1631858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방사청장상 · 과기부장관상 수상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010650" y="1434610"/>
            <a:ext cx="2571750" cy="3810000"/>
            <a:chOff x="9010650" y="1390650"/>
            <a:chExt cx="2571750" cy="3810000"/>
          </a:xfrm>
        </p:grpSpPr>
        <p:sp>
          <p:nvSpPr>
            <p:cNvPr id="55" name="Rectangle 55"/>
            <p:cNvSpPr/>
            <p:nvPr/>
          </p:nvSpPr>
          <p:spPr>
            <a:xfrm>
              <a:off x="9010650" y="1390650"/>
              <a:ext cx="2571750" cy="381000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201150" y="1581150"/>
              <a:ext cx="457200" cy="2095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323951" y="1636395"/>
              <a:ext cx="21159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팀원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705975" y="1714500"/>
              <a:ext cx="1181100" cy="1181100"/>
            </a:xfrm>
            <a:prstGeom prst="ellipse">
              <a:avLst/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82268" y="2749391"/>
              <a:ext cx="65" cy="126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825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93558" y="3128486"/>
              <a:ext cx="605935" cy="265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5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나현우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70978" y="3468052"/>
              <a:ext cx="165109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홋카이도대 </a:t>
              </a:r>
              <a:r>
                <a:rPr lang="ko-KR" altLang="en-US" sz="105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기계공학</a:t>
              </a:r>
              <a:r>
                <a:rPr lang="zh-CN" sz="1050" b="1" dirty="0">
                  <a:solidFill>
                    <a:srgbClr val="F57265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박사과정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915525" y="37528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97428" y="3921204"/>
              <a:ext cx="1598194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일본어 콘텐츠 검수 · 현지화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54709" y="4130754"/>
              <a:ext cx="1083631" cy="1674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88" dirty="0">
                  <a:solidFill>
                    <a:srgbClr val="6C5D4C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일본 실증 시나리오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92192" y="4657249"/>
              <a:ext cx="1208665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일본 현장 · 사용자 이해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9705975" y="1714500"/>
              <a:ext cx="1181100" cy="1181100"/>
            </a:xfrm>
            <a:prstGeom prst="ellipse">
              <a:avLst/>
            </a:prstGeom>
            <a:noFill/>
            <a:ln w="19050">
              <a:solidFill>
                <a:srgbClr val="D8C7A6"/>
              </a:solidFill>
              <a:custDash>
                <a:ds d="300000" sp="250000"/>
              </a:custDash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</p:grpSp>
      <p:pic>
        <p:nvPicPr>
          <p:cNvPr id="97" name="Picture 2" descr="제29회 화랑문예전 소설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1E4A5097-E39A-EB2F-21BC-481181C759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16667" r="16667"/>
          <a:stretch>
            <a:fillRect/>
          </a:stretch>
        </p:blipFill>
        <p:spPr bwMode="auto">
          <a:xfrm>
            <a:off x="9704443" y="1764810"/>
            <a:ext cx="1185806" cy="11811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1"/>
          <p:cNvSpPr/>
          <p:nvPr/>
        </p:nvSpPr>
        <p:spPr>
          <a:xfrm>
            <a:off x="609600" y="5429250"/>
            <a:ext cx="10972800" cy="742950"/>
          </a:xfrm>
          <a:prstGeom prst="roundRect">
            <a:avLst>
              <a:gd name="adj" fmla="val 23077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2" name="Freeform 72"/>
          <p:cNvSpPr/>
          <p:nvPr/>
        </p:nvSpPr>
        <p:spPr>
          <a:xfrm>
            <a:off x="896934" y="5697536"/>
            <a:ext cx="206887" cy="206379"/>
          </a:xfrm>
          <a:custGeom>
            <a:avLst/>
            <a:gdLst/>
            <a:ahLst/>
            <a:cxnLst/>
            <a:rect l="l" t="t" r="r" b="b"/>
            <a:pathLst>
              <a:path w="206887" h="206379">
                <a:moveTo>
                  <a:pt x="82553" y="1"/>
                </a:moveTo>
                <a:cubicBezTo>
                  <a:pt x="98945" y="0"/>
                  <a:pt x="112496" y="12777"/>
                  <a:pt x="113458" y="29141"/>
                </a:cubicBezTo>
                <a:lnTo>
                  <a:pt x="113510" y="30957"/>
                </a:lnTo>
                <a:lnTo>
                  <a:pt x="113510" y="41276"/>
                </a:lnTo>
                <a:lnTo>
                  <a:pt x="144466" y="41276"/>
                </a:lnTo>
                <a:cubicBezTo>
                  <a:pt x="155266" y="41272"/>
                  <a:pt x="164242" y="49596"/>
                  <a:pt x="165052" y="60366"/>
                </a:cubicBezTo>
                <a:lnTo>
                  <a:pt x="165103" y="61913"/>
                </a:lnTo>
                <a:lnTo>
                  <a:pt x="165103" y="92870"/>
                </a:lnTo>
                <a:lnTo>
                  <a:pt x="175422" y="92870"/>
                </a:lnTo>
                <a:cubicBezTo>
                  <a:pt x="192177" y="92854"/>
                  <a:pt x="205903" y="106170"/>
                  <a:pt x="206395" y="122917"/>
                </a:cubicBezTo>
                <a:cubicBezTo>
                  <a:pt x="206887" y="139665"/>
                  <a:pt x="193965" y="153764"/>
                  <a:pt x="177238" y="154731"/>
                </a:cubicBezTo>
                <a:lnTo>
                  <a:pt x="175422" y="154782"/>
                </a:lnTo>
                <a:lnTo>
                  <a:pt x="165103" y="154782"/>
                </a:lnTo>
                <a:lnTo>
                  <a:pt x="165103" y="185738"/>
                </a:lnTo>
                <a:cubicBezTo>
                  <a:pt x="165107" y="196538"/>
                  <a:pt x="156783" y="205514"/>
                  <a:pt x="146014" y="206324"/>
                </a:cubicBezTo>
                <a:lnTo>
                  <a:pt x="144466" y="206376"/>
                </a:lnTo>
                <a:lnTo>
                  <a:pt x="113510" y="206376"/>
                </a:lnTo>
                <a:cubicBezTo>
                  <a:pt x="102710" y="206379"/>
                  <a:pt x="93734" y="198056"/>
                  <a:pt x="92924" y="187286"/>
                </a:cubicBezTo>
                <a:lnTo>
                  <a:pt x="92872" y="185738"/>
                </a:lnTo>
                <a:lnTo>
                  <a:pt x="92872" y="175420"/>
                </a:lnTo>
                <a:cubicBezTo>
                  <a:pt x="92866" y="169960"/>
                  <a:pt x="88608" y="165450"/>
                  <a:pt x="83158" y="165130"/>
                </a:cubicBezTo>
                <a:cubicBezTo>
                  <a:pt x="77708" y="164810"/>
                  <a:pt x="72952" y="168791"/>
                  <a:pt x="72307" y="174212"/>
                </a:cubicBezTo>
                <a:lnTo>
                  <a:pt x="72235" y="175420"/>
                </a:lnTo>
                <a:lnTo>
                  <a:pt x="72235" y="185738"/>
                </a:lnTo>
                <a:cubicBezTo>
                  <a:pt x="72238" y="196538"/>
                  <a:pt x="63914" y="205514"/>
                  <a:pt x="53145" y="206324"/>
                </a:cubicBezTo>
                <a:lnTo>
                  <a:pt x="51597" y="206376"/>
                </a:lnTo>
                <a:lnTo>
                  <a:pt x="20641" y="206376"/>
                </a:lnTo>
                <a:cubicBezTo>
                  <a:pt x="9841" y="206379"/>
                  <a:pt x="865" y="198056"/>
                  <a:pt x="55" y="187286"/>
                </a:cubicBezTo>
                <a:lnTo>
                  <a:pt x="3" y="185738"/>
                </a:lnTo>
                <a:lnTo>
                  <a:pt x="3" y="154782"/>
                </a:lnTo>
                <a:cubicBezTo>
                  <a:pt x="0" y="143982"/>
                  <a:pt x="8324" y="135006"/>
                  <a:pt x="19093" y="134196"/>
                </a:cubicBezTo>
                <a:lnTo>
                  <a:pt x="20641" y="134145"/>
                </a:lnTo>
                <a:lnTo>
                  <a:pt x="30960" y="134145"/>
                </a:lnTo>
                <a:cubicBezTo>
                  <a:pt x="36419" y="134139"/>
                  <a:pt x="40929" y="129881"/>
                  <a:pt x="41249" y="124431"/>
                </a:cubicBezTo>
                <a:cubicBezTo>
                  <a:pt x="41569" y="118980"/>
                  <a:pt x="37588" y="114224"/>
                  <a:pt x="32167" y="113579"/>
                </a:cubicBezTo>
                <a:lnTo>
                  <a:pt x="30960" y="113507"/>
                </a:lnTo>
                <a:lnTo>
                  <a:pt x="20641" y="113507"/>
                </a:lnTo>
                <a:cubicBezTo>
                  <a:pt x="9841" y="113511"/>
                  <a:pt x="865" y="105187"/>
                  <a:pt x="55" y="94417"/>
                </a:cubicBezTo>
                <a:lnTo>
                  <a:pt x="3" y="92870"/>
                </a:lnTo>
                <a:lnTo>
                  <a:pt x="3" y="61913"/>
                </a:lnTo>
                <a:cubicBezTo>
                  <a:pt x="0" y="51114"/>
                  <a:pt x="8324" y="42137"/>
                  <a:pt x="19093" y="41328"/>
                </a:cubicBezTo>
                <a:lnTo>
                  <a:pt x="20641" y="41276"/>
                </a:lnTo>
                <a:lnTo>
                  <a:pt x="51597" y="41276"/>
                </a:lnTo>
                <a:lnTo>
                  <a:pt x="51597" y="30957"/>
                </a:lnTo>
                <a:cubicBezTo>
                  <a:pt x="51597" y="13860"/>
                  <a:pt x="65457" y="1"/>
                  <a:pt x="82553" y="1"/>
                </a:cubicBezTo>
                <a:close/>
              </a:path>
            </a:pathLst>
          </a:cu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3" name="Rectangle 73"/>
          <p:cNvSpPr/>
          <p:nvPr/>
        </p:nvSpPr>
        <p:spPr>
          <a:xfrm>
            <a:off x="1333500" y="5648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1613139" y="5717184"/>
            <a:ext cx="27892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기획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248852" y="5687597"/>
            <a:ext cx="13144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→</a:t>
            </a:r>
          </a:p>
        </p:txBody>
      </p:sp>
      <p:sp>
        <p:nvSpPr>
          <p:cNvPr id="76" name="Rectangle 76"/>
          <p:cNvSpPr/>
          <p:nvPr/>
        </p:nvSpPr>
        <p:spPr>
          <a:xfrm>
            <a:off x="2457450" y="5648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2737089" y="5717184"/>
            <a:ext cx="27892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개발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372802" y="5687597"/>
            <a:ext cx="13144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→</a:t>
            </a:r>
          </a:p>
        </p:txBody>
      </p:sp>
      <p:sp>
        <p:nvSpPr>
          <p:cNvPr id="79" name="Rectangle 79"/>
          <p:cNvSpPr/>
          <p:nvPr/>
        </p:nvSpPr>
        <p:spPr>
          <a:xfrm>
            <a:off x="3581400" y="5648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3791308" y="5717184"/>
            <a:ext cx="41838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콘텐츠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496752" y="5687597"/>
            <a:ext cx="13144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→</a:t>
            </a:r>
          </a:p>
        </p:txBody>
      </p:sp>
      <p:sp>
        <p:nvSpPr>
          <p:cNvPr id="82" name="Rectangle 82"/>
          <p:cNvSpPr/>
          <p:nvPr/>
        </p:nvSpPr>
        <p:spPr>
          <a:xfrm>
            <a:off x="4705350" y="5648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4984989" y="5717184"/>
            <a:ext cx="27892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검증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620702" y="5687597"/>
            <a:ext cx="13144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57265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→</a:t>
            </a:r>
          </a:p>
        </p:txBody>
      </p:sp>
      <p:sp>
        <p:nvSpPr>
          <p:cNvPr id="85" name="Rectangle 85"/>
          <p:cNvSpPr/>
          <p:nvPr/>
        </p:nvSpPr>
        <p:spPr>
          <a:xfrm>
            <a:off x="5829300" y="5648325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OTF Bold" panose="020B0600000101010101" pitchFamily="34" charset="-127"/>
              <a:ea typeface="나눔스퀘어라운드OTF Bold" panose="020B0600000101010101" pitchFamily="34" charset="-127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6039208" y="5717184"/>
            <a:ext cx="41838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사업화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173658" y="5693003"/>
            <a:ext cx="4054984" cy="2154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spAutoFit/>
          </a:bodyPr>
          <a:lstStyle/>
          <a:p>
            <a:pPr algn="r"/>
            <a:r>
              <a:rPr lang="zh-CN" sz="1400" b="1" dirty="0">
                <a:solidFill>
                  <a:srgbClr val="2A2018"/>
                </a:solidFill>
                <a:latin typeface="나눔스퀘어라운드OTF Bold" panose="020B0600000101010101" pitchFamily="34" charset="-127"/>
                <a:ea typeface="나눔스퀘어라운드OTF Bold" panose="020B0600000101010101" pitchFamily="34" charset="-127"/>
                <a:cs typeface="Pretendard"/>
              </a:rPr>
              <a:t>역할이 순환하는 협업 · 구현물 기반으로 검증합니다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598170" y="6438900"/>
            <a:ext cx="10995660" cy="269944"/>
            <a:chOff x="598170" y="6438900"/>
            <a:chExt cx="10995660" cy="269944"/>
          </a:xfrm>
        </p:grpSpPr>
        <p:sp>
          <p:nvSpPr>
            <p:cNvPr id="89" name="Line 89"/>
            <p:cNvSpPr/>
            <p:nvPr/>
          </p:nvSpPr>
          <p:spPr>
            <a:xfrm>
              <a:off x="609600" y="643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OTF Bold" panose="020B0600000101010101" pitchFamily="34" charset="-127"/>
                <a:ea typeface="나눔스퀘어라운드OTF Bold" panose="020B0600000101010101" pitchFamily="34" charset="-127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98170" y="6570345"/>
              <a:ext cx="1343316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A2018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Haru</a:t>
              </a:r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 by OGASA Labs · 팀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452766" y="6570345"/>
              <a:ext cx="141064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6E5D49"/>
                  </a:solidFill>
                  <a:latin typeface="나눔스퀘어라운드OTF Bold" panose="020B0600000101010101" pitchFamily="34" charset="-127"/>
                  <a:ea typeface="나눔스퀘어라운드OTF Bold" panose="020B0600000101010101" pitchFamily="34" charset="-127"/>
                  <a:cs typeface="Pretendard"/>
                </a:rPr>
                <a:t>08</a:t>
              </a:r>
            </a:p>
          </p:txBody>
        </p:sp>
      </p:grpSp>
      <p:pic>
        <p:nvPicPr>
          <p:cNvPr id="93" name="Picture 4" descr="제29회 화랑문예전 수필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BEF5656E-728C-DAA7-BBB4-532349BDE9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6667" r="16667"/>
          <a:stretch/>
        </p:blipFill>
        <p:spPr bwMode="auto">
          <a:xfrm>
            <a:off x="6905625" y="1767983"/>
            <a:ext cx="1181100" cy="118110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제29회 화랑문예전 소설 부문 우수상 &lt; 화랑문예전 &lt; 육사광장 &lt; 기사본문 - 육사신보">
            <a:extLst>
              <a:ext uri="{FF2B5EF4-FFF2-40B4-BE49-F238E27FC236}">
                <a16:creationId xmlns:a16="http://schemas.microsoft.com/office/drawing/2014/main" id="{F593F46D-B51D-E2DF-F04A-9D23778E88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7437" r="15897"/>
          <a:stretch>
            <a:fillRect/>
          </a:stretch>
        </p:blipFill>
        <p:spPr bwMode="auto">
          <a:xfrm>
            <a:off x="4117542" y="1752110"/>
            <a:ext cx="1181101" cy="119491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80F08D3D-558C-C0B9-4075-123FC5843B6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125" t="9663" r="27188" b="25422"/>
          <a:stretch>
            <a:fillRect/>
          </a:stretch>
        </p:blipFill>
        <p:spPr>
          <a:xfrm>
            <a:off x="1292657" y="1772269"/>
            <a:ext cx="1193368" cy="1181101"/>
          </a:xfrm>
          <a:prstGeom prst="ellipse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FBAC910-9E5C-B7DA-7D39-4A3B566001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555" r="60296" b="9177"/>
          <a:stretch>
            <a:fillRect/>
          </a:stretch>
        </p:blipFill>
        <p:spPr>
          <a:xfrm>
            <a:off x="11323033" y="141852"/>
            <a:ext cx="669074" cy="67211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FA34641-A91E-BEC3-63DB-7F86C6C917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0915" y="141851"/>
            <a:ext cx="672118" cy="6721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956</Words>
  <Application>Microsoft Office PowerPoint</Application>
  <PresentationFormat>와이드스크린</PresentationFormat>
  <Paragraphs>260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나눔스퀘어라운드 Light</vt:lpstr>
      <vt:lpstr>Arial</vt:lpstr>
      <vt:lpstr>나눔스퀘어라운드OTF ExtraBold</vt:lpstr>
      <vt:lpstr>Calibri</vt:lpstr>
      <vt:lpstr>Noto Sans KR Black</vt:lpstr>
      <vt:lpstr>Noto Sans KR</vt:lpstr>
      <vt:lpstr>나눔스퀘어라운드OTF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Hyenwoo Na</dc:creator>
  <cp:keywords/>
  <dc:description/>
  <cp:lastModifiedBy>羅　炫禹</cp:lastModifiedBy>
  <cp:revision>13</cp:revision>
  <dcterms:created xsi:type="dcterms:W3CDTF">2026-07-03T00:16:24Z</dcterms:created>
  <dcterms:modified xsi:type="dcterms:W3CDTF">2026-07-05T10:50:05Z</dcterms:modified>
  <cp:category/>
  <cp:contentStatus/>
  <dc:language/>
</cp:coreProperties>
</file>