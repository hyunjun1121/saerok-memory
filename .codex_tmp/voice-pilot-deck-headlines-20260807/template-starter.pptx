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4d73ce1a704754" /><Relationship Type="http://schemas.openxmlformats.org/officeDocument/2006/relationships/extended-properties" Target="/docProps/app.xml" Id="Rfa7db1b41770421d" /><Relationship Type="http://schemas.openxmlformats.org/officeDocument/2006/relationships/officeDocument" Target="/ppt/presentation.xml" Id="R0a35421fafa543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071cfdc78e4a9f"/>
  </p:sldMasterIdLst>
  <p:notesMasterIdLst>
    <p:notesMasterId xmlns:r="http://schemas.openxmlformats.org/officeDocument/2006/relationships" r:id="R20d155af37c0435a"/>
  </p:notesMasterIdLst>
  <p:sldIdLst>
    <p:sldId xmlns:r="http://schemas.openxmlformats.org/officeDocument/2006/relationships" id="256" r:id="R68cb49187edf46ce"/>
    <p:sldId xmlns:r="http://schemas.openxmlformats.org/officeDocument/2006/relationships" id="257" r:id="R57b7fc57deba45e8"/>
    <p:sldId xmlns:r="http://schemas.openxmlformats.org/officeDocument/2006/relationships" id="258" r:id="R8a02b27383004bf4"/>
    <p:sldId xmlns:r="http://schemas.openxmlformats.org/officeDocument/2006/relationships" id="259" r:id="R1b3752e92f4b429b"/>
    <p:sldId xmlns:r="http://schemas.openxmlformats.org/officeDocument/2006/relationships" id="260" r:id="R3643a3f648384c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2a188c3a1649dd" /><Relationship Type="http://schemas.openxmlformats.org/officeDocument/2006/relationships/slideMaster" Target="/ppt/slideMasters/slideMaster1.xml" Id="R94071cfdc78e4a9f" /><Relationship Type="http://schemas.openxmlformats.org/officeDocument/2006/relationships/notesMaster" Target="/ppt/notesMasters/notesMaster1.xml" Id="R20d155af37c0435a" /><Relationship Type="http://schemas.openxmlformats.org/officeDocument/2006/relationships/presProps" Target="/ppt/presProps.xml" Id="R8bc2d6ff55424046" /><Relationship Type="http://schemas.openxmlformats.org/officeDocument/2006/relationships/tableStyles" Target="/ppt/tableStyles.xml" Id="R38d051e8393e41b9" /><Relationship Type="http://schemas.openxmlformats.org/officeDocument/2006/relationships/slide" Target="/ppt/slides/slide1.xml" Id="R68cb49187edf46ce" /><Relationship Type="http://schemas.openxmlformats.org/officeDocument/2006/relationships/slide" Target="/ppt/slides/slide2.xml" Id="R57b7fc57deba45e8" /><Relationship Type="http://schemas.openxmlformats.org/officeDocument/2006/relationships/slide" Target="/ppt/slides/slide3.xml" Id="R8a02b27383004bf4" /><Relationship Type="http://schemas.openxmlformats.org/officeDocument/2006/relationships/slide" Target="/ppt/slides/slide4.xml" Id="R1b3752e92f4b429b" /><Relationship Type="http://schemas.openxmlformats.org/officeDocument/2006/relationships/slide" Target="/ppt/slides/slide5.xml" Id="R3643a3f648384c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67e8818e5e44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f8bd022adf4c63" /><Relationship Type="http://schemas.openxmlformats.org/officeDocument/2006/relationships/notesMaster" Target="/ppt/notesMasters/notesMaster1.xml" Id="R40a84ccf857243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f9eeb4a3684c3a" /><Relationship Type="http://schemas.openxmlformats.org/officeDocument/2006/relationships/notesMaster" Target="/ppt/notesMasters/notesMaster1.xml" Id="R77b7773f2a4240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fddd601ec044f5" /><Relationship Type="http://schemas.openxmlformats.org/officeDocument/2006/relationships/notesMaster" Target="/ppt/notesMasters/notesMaster1.xml" Id="R419ef0dd0ed341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621f9b651f4bc7" /><Relationship Type="http://schemas.openxmlformats.org/officeDocument/2006/relationships/notesMaster" Target="/ppt/notesMasters/notesMaster1.xml" Id="R8d0e839ce0244e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ea90b85e484ba8" /><Relationship Type="http://schemas.openxmlformats.org/officeDocument/2006/relationships/notesMaster" Target="/ppt/notesMasters/notesMaster1.xml" Id="R12048377613142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C:/project/saerok-memory/docs/voice-pilot-sample-20x7/manifest.json — sample provenance, 20 profiles, 140 participant-days.</a:t>
            </a:r>
          </a:p>
          <a:p xmlns:a="http://schemas.openxmlformats.org/drawingml/2006/main">
            <a:r>
              <a:t>- C:/project/saerok-memory/docs/voice-pilot-sample-20x7/operational_export.json — 832 question attempts and 5,328 telemetry events.</a:t>
            </a:r>
          </a:p>
          <a:p xmlns:a="http://schemas.openxmlformats.org/drawingml/2006/main">
            <a:r>
              <a:t>- C:/project/saerok-memory/피우다프로젝트/application_assets/auto_screenshots/ko/19_오늘_하루_말하기.png — internal Haru product capture.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C:/project/saerok-memory/docs/voice-pilot-sample-20x7/analysis/metrics.json — voiceOperational and dropoutHotspots sample metrics.</a:t>
            </a:r>
          </a:p>
          <a:p xmlns:a="http://schemas.openxmlformats.org/drawingml/2006/main">
            <a:r>
              <a:t>- C:/project/saerok-memory/docs/voice-pilot-sample-20x7/analysis/charts/png/06-dropoff-hotspots.png — generated sample chart.</a:t>
            </a:r>
          </a:p>
          <a:p xmlns:a="http://schemas.openxmlformats.org/drawingml/2006/main">
            <a:r>
              <a:t>- C:/project/saerok-memory/src/features/analytics/syntheticVoicePilot.ts — outcomes assigned from fixed TARGETS; not observed user behavior.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C:/project/saerok-memory/피우다프로젝트/application_assets/auto_screenshots/ko/19_오늘_하루_말하기.png — internal Haru product capture.</a:t>
            </a:r>
          </a:p>
          <a:p xmlns:a="http://schemas.openxmlformats.org/drawingml/2006/main">
            <a:r>
              <a:t>- C:/project/saerok-memory/docs/voice-pilot-sample-20x7/analysis/findings.md — intervention description and exact user guidance.</a:t>
            </a:r>
          </a:p>
          <a:p xmlns:a="http://schemas.openxmlformats.org/drawingml/2006/main">
            <a:r>
              <a:t>- C:/project/saerok-memory/README.md — Qwen model and haru-dc-hp80-rms-v2 preprocessing description.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C:/project/saerok-memory/docs/voice-pilot-sample-20x7/analysis/metrics.json — generated baseline/assist rates and p50 latency.</a:t>
            </a:r>
          </a:p>
          <a:p xmlns:a="http://schemas.openxmlformats.org/drawingml/2006/main">
            <a:r>
              <a:t>- C:/project/saerok-memory/docs/voice-pilot-sample-20x7/analysis/charts/png/05-stt-comparison.png — generated sample comparison chart.</a:t>
            </a:r>
          </a:p>
          <a:p xmlns:a="http://schemas.openxmlformats.org/drawingml/2006/main">
            <a:r>
              <a:t>- C:/project/saerok-memory/docs/voice-pilot-sample-20x7/analysis/methodology.md — no significance test or confidence interval; actual matched-input decode remains future work.</a:t>
            </a:r>
          </a:p>
          <a:p xmlns:a="http://schemas.openxmlformats.org/drawingml/2006/main">
            <a:r>
              <a:t>- C:/project/saerok-memory/src/features/analytics/syntheticVoicePilot.ts — fixed target counts generate these scenario differences.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C:/project/saerok-memory/docs/voice-pilot-sample-20x7/analysis/methodology.md — matched-input comparison, blind human review, and error annotation requirements.</a:t>
            </a:r>
          </a:p>
          <a:p xmlns:a="http://schemas.openxmlformats.org/drawingml/2006/main">
            <a:r>
              <a:t>- C:/project/saerok-memory/AGENTS.md — privacy, consent, non-clinical framing, and family-sharing guardrails.</a:t>
            </a:r>
          </a:p>
          <a:p xmlns:a="http://schemas.openxmlformats.org/drawingml/2006/main">
            <a:r>
              <a:t>- C:/project/saerok-memory/design.md — granular consent and older-adult interaction principles.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639beb4e134c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985fce3e8d4a7b" /><Relationship Type="http://schemas.openxmlformats.org/officeDocument/2006/relationships/slideLayout" Target="/ppt/slideLayouts/slideLayout1.xml" Id="R3b613b602cc443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613b602cc443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ca9cde9ca46a0" /><Relationship Type="http://schemas.openxmlformats.org/officeDocument/2006/relationships/image" Target="/ppt/media/image.png" Id="R7775c0cd43c7454e" /><Relationship Type="http://schemas.openxmlformats.org/officeDocument/2006/relationships/image" Target="/ppt/media/image2.png" Id="Rf2d7f80d0eaa4fc7" /><Relationship Type="http://schemas.openxmlformats.org/officeDocument/2006/relationships/notesSlide" Target="/ppt/notesSlides/notesSlide1.xml" Id="R13791009aa9e4f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fa73a8b514125" /><Relationship Type="http://schemas.openxmlformats.org/officeDocument/2006/relationships/image" Target="/ppt/media/image3.png" Id="R81466ee649464d1f" /><Relationship Type="http://schemas.openxmlformats.org/officeDocument/2006/relationships/image" Target="/ppt/media/image4.png" Id="R660d3d3341c140b2" /><Relationship Type="http://schemas.openxmlformats.org/officeDocument/2006/relationships/notesSlide" Target="/ppt/notesSlides/notesSlide2.xml" Id="R0a6ee77803dc4a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ed5f0db3147b5" /><Relationship Type="http://schemas.openxmlformats.org/officeDocument/2006/relationships/image" Target="/ppt/media/image5.png" Id="R26a0419d9c874fa2" /><Relationship Type="http://schemas.openxmlformats.org/officeDocument/2006/relationships/image" Target="/ppt/media/image6.png" Id="Rf116cae37b384236" /><Relationship Type="http://schemas.openxmlformats.org/officeDocument/2006/relationships/notesSlide" Target="/ppt/notesSlides/notesSlide3.xml" Id="R99f5fe803e8243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adc8ebfb74ba7" /><Relationship Type="http://schemas.openxmlformats.org/officeDocument/2006/relationships/image" Target="/ppt/media/image7.png" Id="R31efbdd96918424e" /><Relationship Type="http://schemas.openxmlformats.org/officeDocument/2006/relationships/image" Target="/ppt/media/image8.png" Id="Re8e68d576c814f53" /><Relationship Type="http://schemas.openxmlformats.org/officeDocument/2006/relationships/notesSlide" Target="/ppt/notesSlides/notesSlide4.xml" Id="R972df2c8399d4b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4c8eaa6e741f9" /><Relationship Type="http://schemas.openxmlformats.org/officeDocument/2006/relationships/image" Target="/ppt/media/image9.png" Id="R46ab696a6a7949b5" /><Relationship Type="http://schemas.openxmlformats.org/officeDocument/2006/relationships/notesSlide" Target="/ppt/notesSlides/notesSlide5.xml" Id="R58656bbfc0f844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5c0cd43c7454e"/>
          <a:stretch xmlns:a="http://schemas.openxmlformats.org/drawingml/2006/main"/>
        </p:blipFill>
        <p:spPr>
          <a:xfrm xmlns:a="http://schemas.openxmlformats.org/drawingml/2006/main">
            <a:off x="10572750" y="366728"/>
            <a:ext cx="990600" cy="504793"/>
          </a:xfrm>
          <a:prstGeom xmlns:a="http://schemas.openxmlformats.org/drawingml/2006/main" prst="roundRect">
            <a:avLst>
              <a:gd name="adj" fmla="val 33333"/>
            </a:avLst>
          </a:prstGeom>
        </p:spPr>
      </p:pic>
      <p:sp>
        <p:nvSpPr>
          <p:cNvPr id="2" name="section-1">
            <a:extLst xmlns:a="http://schemas.openxmlformats.org/drawingml/2006/main">
              <a:ext uri="{FF2B5EF4-FFF2-40B4-BE49-F238E27FC236}">
                <a16:creationId xmlns:a16="http://schemas.microsoft.com/office/drawing/2014/main" id="{C167F998-3807-4EF6-A566-2C2CF44E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사용 흐름 사전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12E79-8AF1-480F-837A-AB27E9BC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4" name="footer-left-1">
            <a:extLst xmlns:a="http://schemas.openxmlformats.org/drawingml/2006/main">
              <a:ext uri="{FF2B5EF4-FFF2-40B4-BE49-F238E27FC236}">
                <a16:creationId xmlns:a16="http://schemas.microsoft.com/office/drawing/2014/main" id="{77799845-5B19-41D6-BB73-5B69B911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9AA1AA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AA1AA"/>
                </a:solidFill>
                <a:latin typeface="Pretendard"/>
                <a:ea typeface="Pretendard"/>
                <a:cs typeface="Pretendard"/>
              </a:rPr>
              <a:t>Haru Voice UX · PRE-PILOT</a:t>
            </a:r>
          </a:p>
        </p:txBody>
      </p:sp>
      <p:sp>
        <p:nvSpPr>
          <p:cNvPr id="5" name="footer-caution-1">
            <a:extLst xmlns:a="http://schemas.openxmlformats.org/drawingml/2006/main">
              <a:ext uri="{FF2B5EF4-FFF2-40B4-BE49-F238E27FC236}">
                <a16:creationId xmlns:a16="http://schemas.microsoft.com/office/drawing/2014/main" id="{08A9CF9C-6C45-4A1A-AC13-5510C4F7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960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합성 시뮬레이션 · 실제 사용자/실제 음성 결과 아님</a:t>
            </a:r>
          </a:p>
        </p:txBody>
      </p:sp>
      <p:sp>
        <p:nvSpPr>
          <p:cNvPr id="6" name="page-1">
            <a:extLst xmlns:a="http://schemas.openxmlformats.org/drawingml/2006/main">
              <a:ext uri="{FF2B5EF4-FFF2-40B4-BE49-F238E27FC236}">
                <a16:creationId xmlns:a16="http://schemas.microsoft.com/office/drawing/2014/main" id="{E8E7BBA2-882A-4FE2-9CB1-747082FF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9AA1AA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9AA1AA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s1-title">
            <a:extLst xmlns:a="http://schemas.openxmlformats.org/drawingml/2006/main">
              <a:ext uri="{FF2B5EF4-FFF2-40B4-BE49-F238E27FC236}">
                <a16:creationId xmlns:a16="http://schemas.microsoft.com/office/drawing/2014/main" id="{A99328B5-1AA7-4FF9-8449-CE5BA4A1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685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20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420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실증 전에,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20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420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막히는 순간부터 측정했다</a:t>
            </a:r>
          </a:p>
        </p:txBody>
      </p:sp>
      <p:sp>
        <p:nvSpPr>
          <p:cNvPr id="8" name="s1-subtitle">
            <a:extLst xmlns:a="http://schemas.openxmlformats.org/drawingml/2006/main">
              <a:ext uri="{FF2B5EF4-FFF2-40B4-BE49-F238E27FC236}">
                <a16:creationId xmlns:a16="http://schemas.microsoft.com/office/drawing/2014/main" id="{E384558C-095F-4F40-BCF9-C678758D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628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50~70대 현장 파일럿을 앞두고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참여·이탈·재시도·STT 흐름을 먼저 연결했습니다.</a:t>
            </a:r>
          </a:p>
        </p:txBody>
      </p:sp>
      <p:sp>
        <p:nvSpPr>
          <p:cNvPr id="9" name="s1-device-backdrop">
            <a:extLst xmlns:a="http://schemas.openxmlformats.org/drawingml/2006/main">
              <a:ext uri="{FF2B5EF4-FFF2-40B4-BE49-F238E27FC236}">
                <a16:creationId xmlns:a16="http://schemas.microsoft.com/office/drawing/2014/main" id="{EE15D854-46C1-4522-9E64-6FBF20F2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71550"/>
            <a:ext cx="3295650" cy="5105400"/>
          </a:xfrm>
          <a:prstGeom xmlns:a="http://schemas.openxmlformats.org/drawingml/2006/main" prst="roundRect">
            <a:avLst>
              <a:gd name="adj" fmla="val 8671"/>
            </a:avLst>
          </a:prstGeom>
          <a:solidFill xmlns:a="http://schemas.openxmlformats.org/drawingml/2006/main">
            <a:srgbClr val="EDF6E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s1-device-frame">
            <a:extLst xmlns:a="http://schemas.openxmlformats.org/drawingml/2006/main">
              <a:ext uri="{FF2B5EF4-FFF2-40B4-BE49-F238E27FC236}">
                <a16:creationId xmlns:a16="http://schemas.microsoft.com/office/drawing/2014/main" id="{B3F7E546-456A-40AA-9766-1172E698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143000"/>
            <a:ext cx="2590800" cy="46101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252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d7f80d0eaa4fc7"/>
          <a:srcRect xmlns:a="http://schemas.openxmlformats.org/drawingml/2006/main" l="1206" t="0" r="12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0600" y="1209675"/>
            <a:ext cx="2457450" cy="4476750"/>
          </a:xfrm>
          <a:prstGeom xmlns:a="http://schemas.openxmlformats.org/drawingml/2006/main" prst="roundRect">
            <a:avLst>
              <a:gd name="adj" fmla="val 6977"/>
            </a:avLst>
          </a:prstGeom>
        </p:spPr>
      </p:pic>
      <p:sp>
        <p:nvSpPr>
          <p:cNvPr id="12" name="s1-stat-value-0">
            <a:extLst xmlns:a="http://schemas.openxmlformats.org/drawingml/2006/main">
              <a:ext uri="{FF2B5EF4-FFF2-40B4-BE49-F238E27FC236}">
                <a16:creationId xmlns:a16="http://schemas.microsoft.com/office/drawing/2014/main" id="{08BCA325-BD73-459E-ABDB-A7567D72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F05E52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05E52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  <p:sp>
        <p:nvSpPr>
          <p:cNvPr id="13" name="s1-stat-label-0">
            <a:extLst xmlns:a="http://schemas.openxmlformats.org/drawingml/2006/main">
              <a:ext uri="{FF2B5EF4-FFF2-40B4-BE49-F238E27FC236}">
                <a16:creationId xmlns:a16="http://schemas.microsoft.com/office/drawing/2014/main" id="{AE9A4886-F2C9-4C12-BA44-84DBAB90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샘플 프로필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0D49FB-9022-4F63-8606-9A65B17C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14800"/>
            <a:ext cx="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15" name="s1-stat-value-1">
            <a:extLst xmlns:a="http://schemas.openxmlformats.org/drawingml/2006/main">
              <a:ext uri="{FF2B5EF4-FFF2-40B4-BE49-F238E27FC236}">
                <a16:creationId xmlns:a16="http://schemas.microsoft.com/office/drawing/2014/main" id="{55708119-5362-49F0-A0E7-83789777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3860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4A7E50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4A7E50"/>
                </a:solidFill>
                <a:latin typeface="Pretendard"/>
                <a:ea typeface="Pretendard"/>
                <a:cs typeface="Pretendard"/>
              </a:rPr>
              <a:t>140</a:t>
            </a:r>
          </a:p>
        </p:txBody>
      </p:sp>
      <p:sp>
        <p:nvSpPr>
          <p:cNvPr id="16" name="s1-stat-label-1">
            <a:extLst xmlns:a="http://schemas.openxmlformats.org/drawingml/2006/main">
              <a:ext uri="{FF2B5EF4-FFF2-40B4-BE49-F238E27FC236}">
                <a16:creationId xmlns:a16="http://schemas.microsoft.com/office/drawing/2014/main" id="{423B6E6E-B797-4B71-B963-6DA89EB5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291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세션 기록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303F8B-BB33-4CDC-8FCB-96536091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14800"/>
            <a:ext cx="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18" name="s1-stat-value-2">
            <a:extLst xmlns:a="http://schemas.openxmlformats.org/drawingml/2006/main">
              <a:ext uri="{FF2B5EF4-FFF2-40B4-BE49-F238E27FC236}">
                <a16:creationId xmlns:a16="http://schemas.microsoft.com/office/drawing/2014/main" id="{C110EF83-832B-4E69-9448-7C755DF6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3860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F05E52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05E52"/>
                </a:solidFill>
                <a:latin typeface="Pretendard"/>
                <a:ea typeface="Pretendard"/>
                <a:cs typeface="Pretendard"/>
              </a:rPr>
              <a:t>832</a:t>
            </a:r>
          </a:p>
        </p:txBody>
      </p:sp>
      <p:sp>
        <p:nvSpPr>
          <p:cNvPr id="19" name="s1-stat-label-2">
            <a:extLst xmlns:a="http://schemas.openxmlformats.org/drawingml/2006/main">
              <a:ext uri="{FF2B5EF4-FFF2-40B4-BE49-F238E27FC236}">
                <a16:creationId xmlns:a16="http://schemas.microsoft.com/office/drawing/2014/main" id="{1BB89C83-3BA0-45BE-B953-5E763EF5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291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문항 로그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635DC3-205E-4371-9194-F846F805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14800"/>
            <a:ext cx="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21" name="s1-stat-value-3">
            <a:extLst xmlns:a="http://schemas.openxmlformats.org/drawingml/2006/main">
              <a:ext uri="{FF2B5EF4-FFF2-40B4-BE49-F238E27FC236}">
                <a16:creationId xmlns:a16="http://schemas.microsoft.com/office/drawing/2014/main" id="{ACDD6B84-86ED-4A1C-88CC-CF3E23C2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3860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4A7E50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4A7E50"/>
                </a:solidFill>
                <a:latin typeface="Pretendard"/>
                <a:ea typeface="Pretendard"/>
                <a:cs typeface="Pretendard"/>
              </a:rPr>
              <a:t>5,328</a:t>
            </a:r>
          </a:p>
        </p:txBody>
      </p:sp>
      <p:sp>
        <p:nvSpPr>
          <p:cNvPr id="22" name="s1-stat-label-3">
            <a:extLst xmlns:a="http://schemas.openxmlformats.org/drawingml/2006/main">
              <a:ext uri="{FF2B5EF4-FFF2-40B4-BE49-F238E27FC236}">
                <a16:creationId xmlns:a16="http://schemas.microsoft.com/office/drawing/2014/main" id="{455A0C34-7509-43A4-953C-D6D9C1B9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291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상호작용 이벤트</a:t>
            </a:r>
          </a:p>
        </p:txBody>
      </p:sp>
      <p:sp>
        <p:nvSpPr>
          <p:cNvPr id="23" name="s1-proof-strip">
            <a:extLst xmlns:a="http://schemas.openxmlformats.org/drawingml/2006/main">
              <a:ext uri="{FF2B5EF4-FFF2-40B4-BE49-F238E27FC236}">
                <a16:creationId xmlns:a16="http://schemas.microsoft.com/office/drawing/2014/main" id="{CAF42666-25DD-4D88-830A-85FA4957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683895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24" name="s1-proof-text">
            <a:extLst xmlns:a="http://schemas.openxmlformats.org/drawingml/2006/main">
              <a:ext uri="{FF2B5EF4-FFF2-40B4-BE49-F238E27FC236}">
                <a16:creationId xmlns:a16="http://schemas.microsoft.com/office/drawing/2014/main" id="{70D4B688-CDAE-431D-8BFC-F2B336DB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632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한 문항의 탭부터 음성 전사까지, 같은 세션 안에서 추적</a:t>
            </a:r>
          </a:p>
        </p:txBody>
      </p:sp>
    </p:spTree>
    <p:extLst>
      <p:ext uri="{BB962C8B-B14F-4D97-AF65-F5344CB8AC3E}">
        <p14:creationId xmlns:p14="http://schemas.microsoft.com/office/powerpoint/2010/main" val="10686260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466ee649464d1f"/>
          <a:stretch xmlns:a="http://schemas.openxmlformats.org/drawingml/2006/main"/>
        </p:blipFill>
        <p:spPr>
          <a:xfrm xmlns:a="http://schemas.openxmlformats.org/drawingml/2006/main">
            <a:off x="10572750" y="366728"/>
            <a:ext cx="990600" cy="504793"/>
          </a:xfrm>
          <a:prstGeom xmlns:a="http://schemas.openxmlformats.org/drawingml/2006/main" prst="roundRect">
            <a:avLst>
              <a:gd name="adj" fmla="val 33333"/>
            </a:avLst>
          </a:prstGeom>
        </p:spPr>
      </p:pic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AECC2656-EFEB-41F5-A311-B161B798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문제 가설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EDEEF-BC1D-4011-B764-D6F798DE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4" name="footer-left-2">
            <a:extLst xmlns:a="http://schemas.openxmlformats.org/drawingml/2006/main">
              <a:ext uri="{FF2B5EF4-FFF2-40B4-BE49-F238E27FC236}">
                <a16:creationId xmlns:a16="http://schemas.microsoft.com/office/drawing/2014/main" id="{49C68EEC-1AD8-4F33-96B8-05BDD773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9AA1AA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AA1AA"/>
                </a:solidFill>
                <a:latin typeface="Pretendard"/>
                <a:ea typeface="Pretendard"/>
                <a:cs typeface="Pretendard"/>
              </a:rPr>
              <a:t>Haru Voice UX · PRE-PILOT</a:t>
            </a:r>
          </a:p>
        </p:txBody>
      </p:sp>
      <p:sp>
        <p:nvSpPr>
          <p:cNvPr id="5" name="footer-caution-2">
            <a:extLst xmlns:a="http://schemas.openxmlformats.org/drawingml/2006/main">
              <a:ext uri="{FF2B5EF4-FFF2-40B4-BE49-F238E27FC236}">
                <a16:creationId xmlns:a16="http://schemas.microsoft.com/office/drawing/2014/main" id="{8AC4BBD6-8C75-4B4C-89BE-B42C2CED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960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합성 시뮬레이션 · 실제 사용자/실제 음성 결과 아님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950D727D-2127-41F7-A312-5F5F5E26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9AA1AA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9AA1AA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7" name="s2-title">
            <a:extLst xmlns:a="http://schemas.openxmlformats.org/drawingml/2006/main">
              <a:ext uri="{FF2B5EF4-FFF2-40B4-BE49-F238E27FC236}">
                <a16:creationId xmlns:a16="http://schemas.microsoft.com/office/drawing/2014/main" id="{8C3A154D-A8F9-4F6A-8A97-B9C9B004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971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75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샘플 흐름에서 이탈은 말하기 구간에 집중됐다</a:t>
            </a:r>
          </a:p>
        </p:txBody>
      </p:sp>
      <p:sp>
        <p:nvSpPr>
          <p:cNvPr id="8" name="s2-subtitle">
            <a:extLst xmlns:a="http://schemas.openxmlformats.org/drawingml/2006/main">
              <a:ext uri="{FF2B5EF4-FFF2-40B4-BE49-F238E27FC236}">
                <a16:creationId xmlns:a16="http://schemas.microsoft.com/office/drawing/2014/main" id="{751D9CAD-BC31-4517-A0C7-39CCACB3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실제 파일럿에서 먼저 원인 코드를 심어야 할 위치가 선명해졌습니다.</a:t>
            </a:r>
          </a:p>
        </p:txBody>
      </p:sp>
      <p:sp>
        <p:nvSpPr>
          <p:cNvPr id="9" name="s2-chart-frame">
            <a:extLst xmlns:a="http://schemas.openxmlformats.org/drawingml/2006/main">
              <a:ext uri="{FF2B5EF4-FFF2-40B4-BE49-F238E27FC236}">
                <a16:creationId xmlns:a16="http://schemas.microsoft.com/office/drawing/2014/main" id="{6BD1EFE8-20F9-436A-9354-8AC257A0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6915150" cy="4038600"/>
          </a:xfrm>
          <a:prstGeom xmlns:a="http://schemas.openxmlformats.org/drawingml/2006/main" prst="roundRect">
            <a:avLst>
              <a:gd name="adj" fmla="val 51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d3d3341c140b2"/>
          <a:stretch xmlns:a="http://schemas.openxmlformats.org/drawingml/2006/main"/>
        </p:blipFill>
        <p:spPr>
          <a:xfrm xmlns:a="http://schemas.openxmlformats.org/drawingml/2006/main">
            <a:off x="1176127" y="2247900"/>
            <a:ext cx="5858296" cy="3810000"/>
          </a:xfrm>
          <a:prstGeom xmlns:a="http://schemas.openxmlformats.org/drawingml/2006/main" prst="roundRect">
            <a:avLst>
              <a:gd name="adj" fmla="val 3500"/>
            </a:avLst>
          </a:prstGeom>
        </p:spPr>
      </p:pic>
      <p:sp>
        <p:nvSpPr>
          <p:cNvPr id="11" name="s2-big-rate">
            <a:extLst xmlns:a="http://schemas.openxmlformats.org/drawingml/2006/main">
              <a:ext uri="{FF2B5EF4-FFF2-40B4-BE49-F238E27FC236}">
                <a16:creationId xmlns:a16="http://schemas.microsoft.com/office/drawing/2014/main" id="{B1CBB5AC-C6F8-469B-8357-D6AD1A2A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8600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F05E52"/>
                </a:solidFill>
                <a:latin typeface="Pretendard"/>
                <a:ea typeface="Pretendard"/>
                <a:cs typeface="Pretendard"/>
              </a:defRPr>
            </a:pPr>
            <a:r>
              <a:rPr sz="4800" b="1">
                <a:solidFill>
                  <a:srgbClr val="F05E52"/>
                </a:solidFill>
                <a:latin typeface="Pretendard"/>
                <a:ea typeface="Pretendard"/>
                <a:cs typeface="Pretendard"/>
              </a:rPr>
              <a:t>10.0%</a:t>
            </a:r>
          </a:p>
        </p:txBody>
      </p:sp>
      <p:sp>
        <p:nvSpPr>
          <p:cNvPr id="12" name="s2-big-rate-label">
            <a:extLst xmlns:a="http://schemas.openxmlformats.org/drawingml/2006/main">
              <a:ext uri="{FF2B5EF4-FFF2-40B4-BE49-F238E27FC236}">
                <a16:creationId xmlns:a16="http://schemas.microsoft.com/office/drawing/2014/main" id="{0CAB36A1-1D53-4DF0-B085-134D4497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0515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음성 문항 이탈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14 / 140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2397AF-F008-4026-9413-E72CAC2F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81450"/>
            <a:ext cx="3181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14" name="s2-hotspot-rate">
            <a:extLst xmlns:a="http://schemas.openxmlformats.org/drawingml/2006/main">
              <a:ext uri="{FF2B5EF4-FFF2-40B4-BE49-F238E27FC236}">
                <a16:creationId xmlns:a16="http://schemas.microsoft.com/office/drawing/2014/main" id="{0458035F-BB96-4CAF-86F7-FA3183C7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100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20.0%</a:t>
            </a:r>
          </a:p>
        </p:txBody>
      </p:sp>
      <p:sp>
        <p:nvSpPr>
          <p:cNvPr id="15" name="s2-hotspot-label">
            <a:extLst xmlns:a="http://schemas.openxmlformats.org/drawingml/2006/main">
              <a:ext uri="{FF2B5EF4-FFF2-40B4-BE49-F238E27FC236}">
                <a16:creationId xmlns:a16="http://schemas.microsoft.com/office/drawing/2014/main" id="{0D3C9204-234A-4941-ABE9-53489741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196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D1_Q5 · D4_Q5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각 4 / 20</a:t>
            </a:r>
          </a:p>
        </p:txBody>
      </p:sp>
      <p:sp>
        <p:nvSpPr>
          <p:cNvPr id="16" name="s2-takeaway">
            <a:extLst xmlns:a="http://schemas.openxmlformats.org/drawingml/2006/main">
              <a:ext uri="{FF2B5EF4-FFF2-40B4-BE49-F238E27FC236}">
                <a16:creationId xmlns:a16="http://schemas.microsoft.com/office/drawing/2014/main" id="{E0728975-D589-464A-9443-A111E29F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5626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F6036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F6036"/>
                </a:solidFill>
                <a:latin typeface="Pretendard"/>
                <a:ea typeface="Pretendard"/>
                <a:cs typeface="Pretendard"/>
              </a:rPr>
              <a:t>정확도만이 아니라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F6036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F6036"/>
                </a:solidFill>
                <a:latin typeface="Pretendard"/>
                <a:ea typeface="Pretendard"/>
                <a:cs typeface="Pretendard"/>
              </a:rPr>
              <a:t>말하기 전후 전체를 측정</a:t>
            </a:r>
          </a:p>
        </p:txBody>
      </p:sp>
    </p:spTree>
    <p:extLst>
      <p:ext uri="{BB962C8B-B14F-4D97-AF65-F5344CB8AC3E}">
        <p14:creationId xmlns:p14="http://schemas.microsoft.com/office/powerpoint/2010/main" val="12382946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0419d9c874fa2"/>
          <a:stretch xmlns:a="http://schemas.openxmlformats.org/drawingml/2006/main"/>
        </p:blipFill>
        <p:spPr>
          <a:xfrm xmlns:a="http://schemas.openxmlformats.org/drawingml/2006/main">
            <a:off x="10572750" y="366728"/>
            <a:ext cx="990600" cy="504793"/>
          </a:xfrm>
          <a:prstGeom xmlns:a="http://schemas.openxmlformats.org/drawingml/2006/main" prst="roundRect">
            <a:avLst>
              <a:gd name="adj" fmla="val 33333"/>
            </a:avLst>
          </a:prstGeom>
        </p:spPr>
      </p:pic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8CA940C8-0613-466A-A867-D21F047E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제품 개선안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5BDB3-D582-4CA9-A5FF-78DD069D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4" name="footer-left-3">
            <a:extLst xmlns:a="http://schemas.openxmlformats.org/drawingml/2006/main">
              <a:ext uri="{FF2B5EF4-FFF2-40B4-BE49-F238E27FC236}">
                <a16:creationId xmlns:a16="http://schemas.microsoft.com/office/drawing/2014/main" id="{2938FFCD-38FF-475C-B451-BA43EFB0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9AA1AA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AA1AA"/>
                </a:solidFill>
                <a:latin typeface="Pretendard"/>
                <a:ea typeface="Pretendard"/>
                <a:cs typeface="Pretendard"/>
              </a:rPr>
              <a:t>Haru Voice UX · PRE-PILOT</a:t>
            </a:r>
          </a:p>
        </p:txBody>
      </p:sp>
      <p:sp>
        <p:nvSpPr>
          <p:cNvPr id="5" name="footer-caution-3">
            <a:extLst xmlns:a="http://schemas.openxmlformats.org/drawingml/2006/main">
              <a:ext uri="{FF2B5EF4-FFF2-40B4-BE49-F238E27FC236}">
                <a16:creationId xmlns:a16="http://schemas.microsoft.com/office/drawing/2014/main" id="{C56A68AC-0ED3-497A-AC63-DFDD2EFD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960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합성 시뮬레이션 · 실제 사용자/실제 음성 결과 아님</a:t>
            </a:r>
          </a:p>
        </p:txBody>
      </p:sp>
      <p:sp>
        <p:nvSpPr>
          <p:cNvPr id="6" name="page-3">
            <a:extLst xmlns:a="http://schemas.openxmlformats.org/drawingml/2006/main">
              <a:ext uri="{FF2B5EF4-FFF2-40B4-BE49-F238E27FC236}">
                <a16:creationId xmlns:a16="http://schemas.microsoft.com/office/drawing/2014/main" id="{F50A57EF-22C5-4B06-B7A8-BEB5F5BD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9AA1AA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9AA1AA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7" name="s3-title">
            <a:extLst xmlns:a="http://schemas.openxmlformats.org/drawingml/2006/main">
              <a:ext uri="{FF2B5EF4-FFF2-40B4-BE49-F238E27FC236}">
                <a16:creationId xmlns:a16="http://schemas.microsoft.com/office/drawing/2014/main" id="{E8CA9D5A-F6FC-4045-805F-6688DC59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75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사용자가 맞춰 말하는 대신, 제품이 사용자를 돕는다</a:t>
            </a:r>
          </a:p>
        </p:txBody>
      </p:sp>
      <p:sp>
        <p:nvSpPr>
          <p:cNvPr id="8" name="s3-subtitle">
            <a:extLst xmlns:a="http://schemas.openxmlformats.org/drawingml/2006/main">
              <a:ext uri="{FF2B5EF4-FFF2-40B4-BE49-F238E27FC236}">
                <a16:creationId xmlns:a16="http://schemas.microsoft.com/office/drawing/2014/main" id="{0B1619AD-7836-409D-97BF-27EDEA42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말하기 부담과 입력 불확실성을 함께 줄이는 세 가지 개입입니다.</a:t>
            </a:r>
          </a:p>
        </p:txBody>
      </p:sp>
      <p:sp>
        <p:nvSpPr>
          <p:cNvPr id="9" name="s3-device-frame">
            <a:extLst xmlns:a="http://schemas.openxmlformats.org/drawingml/2006/main">
              <a:ext uri="{FF2B5EF4-FFF2-40B4-BE49-F238E27FC236}">
                <a16:creationId xmlns:a16="http://schemas.microsoft.com/office/drawing/2014/main" id="{32C3487C-CF38-4667-8FE7-D92C57AB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609850" cy="4038600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252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16cae37b384236"/>
          <a:srcRect xmlns:a="http://schemas.openxmlformats.org/drawingml/2006/main" l="0" t="5649" r="0" b="56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25" y="2200275"/>
            <a:ext cx="2476500" cy="3905250"/>
          </a:xfrm>
          <a:prstGeom xmlns:a="http://schemas.openxmlformats.org/drawingml/2006/main" prst="roundRect">
            <a:avLst>
              <a:gd name="adj" fmla="val 6923"/>
            </a:avLst>
          </a:prstGeom>
        </p:spPr>
      </p:pic>
      <p:sp>
        <p:nvSpPr>
          <p:cNvPr id="11" name="s3-item-number-0">
            <a:extLst xmlns:a="http://schemas.openxmlformats.org/drawingml/2006/main">
              <a:ext uri="{FF2B5EF4-FFF2-40B4-BE49-F238E27FC236}">
                <a16:creationId xmlns:a16="http://schemas.microsoft.com/office/drawing/2014/main" id="{562F4DA1-D4EB-468A-9BB9-222656F3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0980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05E52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F05E52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2" name="s3-item-title-0">
            <a:extLst xmlns:a="http://schemas.openxmlformats.org/drawingml/2006/main">
              <a:ext uri="{FF2B5EF4-FFF2-40B4-BE49-F238E27FC236}">
                <a16:creationId xmlns:a16="http://schemas.microsoft.com/office/drawing/2014/main" id="{91C3C585-38EB-406F-A7B5-29B458E8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098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보이는 입력 반응</a:t>
            </a:r>
          </a:p>
        </p:txBody>
      </p:sp>
      <p:sp>
        <p:nvSpPr>
          <p:cNvPr id="13" name="s3-item-body-0">
            <a:extLst xmlns:a="http://schemas.openxmlformats.org/drawingml/2006/main">
              <a:ext uri="{FF2B5EF4-FFF2-40B4-BE49-F238E27FC236}">
                <a16:creationId xmlns:a16="http://schemas.microsoft.com/office/drawing/2014/main" id="{2FC8D4DB-8BB1-453B-8FCE-DC261069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860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빨간 듣기 상태와 움직이는 파형으로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마이크가 반응하는 순간을 바로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08BA34-29E5-4940-A0E2-F59E0755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7185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15" name="s3-item-number-1">
            <a:extLst xmlns:a="http://schemas.openxmlformats.org/drawingml/2006/main">
              <a:ext uri="{FF2B5EF4-FFF2-40B4-BE49-F238E27FC236}">
                <a16:creationId xmlns:a16="http://schemas.microsoft.com/office/drawing/2014/main" id="{6AF366B7-AC6D-499D-84FA-A56DBCA7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0520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4A7E50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4A7E50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6" name="s3-item-title-1">
            <a:extLst xmlns:a="http://schemas.openxmlformats.org/drawingml/2006/main">
              <a:ext uri="{FF2B5EF4-FFF2-40B4-BE49-F238E27FC236}">
                <a16:creationId xmlns:a16="http://schemas.microsoft.com/office/drawing/2014/main" id="{F456A0EF-6113-45B2-9A1F-501E8A04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052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부담을 낮춘 안내</a:t>
            </a:r>
          </a:p>
        </p:txBody>
      </p:sp>
      <p:sp>
        <p:nvSpPr>
          <p:cNvPr id="17" name="s3-item-body-1">
            <a:extLst xmlns:a="http://schemas.openxmlformats.org/drawingml/2006/main">
              <a:ext uri="{FF2B5EF4-FFF2-40B4-BE49-F238E27FC236}">
                <a16:creationId xmlns:a16="http://schemas.microsoft.com/office/drawing/2014/main" id="{39BB121F-2116-4D87-8F21-BB19894D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814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“또박또박 말하려 애쓰지 않아도 됩니다.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평소처럼 편하게 말씀하세요.”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98AAD9-C5C9-48D0-B2A5-649734B6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6725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19" name="s3-item-number-2">
            <a:extLst xmlns:a="http://schemas.openxmlformats.org/drawingml/2006/main">
              <a:ext uri="{FF2B5EF4-FFF2-40B4-BE49-F238E27FC236}">
                <a16:creationId xmlns:a16="http://schemas.microsoft.com/office/drawing/2014/main" id="{74B22AB5-7CB4-4D0E-8099-00FF2620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0060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E6A035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E6A035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0" name="s3-item-title-2">
            <a:extLst xmlns:a="http://schemas.openxmlformats.org/drawingml/2006/main">
              <a:ext uri="{FF2B5EF4-FFF2-40B4-BE49-F238E27FC236}">
                <a16:creationId xmlns:a16="http://schemas.microsoft.com/office/drawing/2014/main" id="{3A06685F-307F-4D74-8183-BE56EF28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006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같은 Qwen, 더 나은 입력</a:t>
            </a:r>
          </a:p>
        </p:txBody>
      </p:sp>
      <p:sp>
        <p:nvSpPr>
          <p:cNvPr id="21" name="s3-item-body-2">
            <a:extLst xmlns:a="http://schemas.openxmlformats.org/drawingml/2006/main">
              <a:ext uri="{FF2B5EF4-FFF2-40B4-BE49-F238E27FC236}">
                <a16:creationId xmlns:a16="http://schemas.microsoft.com/office/drawing/2014/main" id="{6D5D4175-CE7D-48B8-8263-D881CE04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768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DC 제거 · 80 Hz high-pass · bounded RMS로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입력 품질을 보정하는 비교 구성</a:t>
            </a:r>
          </a:p>
        </p:txBody>
      </p:sp>
    </p:spTree>
    <p:extLst>
      <p:ext uri="{BB962C8B-B14F-4D97-AF65-F5344CB8AC3E}">
        <p14:creationId xmlns:p14="http://schemas.microsoft.com/office/powerpoint/2010/main" val="3249817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fbdd96918424e"/>
          <a:stretch xmlns:a="http://schemas.openxmlformats.org/drawingml/2006/main"/>
        </p:blipFill>
        <p:spPr>
          <a:xfrm xmlns:a="http://schemas.openxmlformats.org/drawingml/2006/main">
            <a:off x="10572750" y="366728"/>
            <a:ext cx="990600" cy="504793"/>
          </a:xfrm>
          <a:prstGeom xmlns:a="http://schemas.openxmlformats.org/drawingml/2006/main" prst="roundRect">
            <a:avLst>
              <a:gd name="adj" fmla="val 33333"/>
            </a:avLst>
          </a:prstGeom>
        </p:spPr>
      </p:pic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466DE7A7-C9BE-4F14-BF27-9EB6BF4F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판정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B6421-DEE4-4CE4-94E7-A10250E4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4" name="footer-left-4">
            <a:extLst xmlns:a="http://schemas.openxmlformats.org/drawingml/2006/main">
              <a:ext uri="{FF2B5EF4-FFF2-40B4-BE49-F238E27FC236}">
                <a16:creationId xmlns:a16="http://schemas.microsoft.com/office/drawing/2014/main" id="{CB26FD9A-CAE0-4F96-8C25-199460BD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9AA1AA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AA1AA"/>
                </a:solidFill>
                <a:latin typeface="Pretendard"/>
                <a:ea typeface="Pretendard"/>
                <a:cs typeface="Pretendard"/>
              </a:rPr>
              <a:t>Haru Voice UX · PRE-PILOT</a:t>
            </a:r>
          </a:p>
        </p:txBody>
      </p:sp>
      <p:sp>
        <p:nvSpPr>
          <p:cNvPr id="5" name="footer-caution-4">
            <a:extLst xmlns:a="http://schemas.openxmlformats.org/drawingml/2006/main">
              <a:ext uri="{FF2B5EF4-FFF2-40B4-BE49-F238E27FC236}">
                <a16:creationId xmlns:a16="http://schemas.microsoft.com/office/drawing/2014/main" id="{F067F7D5-8552-487B-A846-E82CB650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960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합성 시뮬레이션 · 실제 사용자/실제 음성 결과 아님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A84FBBF9-0E77-4A21-BC05-9EA19DAC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9AA1AA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9AA1AA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7" name="s4-title">
            <a:extLst xmlns:a="http://schemas.openxmlformats.org/drawingml/2006/main">
              <a:ext uri="{FF2B5EF4-FFF2-40B4-BE49-F238E27FC236}">
                <a16:creationId xmlns:a16="http://schemas.microsoft.com/office/drawing/2014/main" id="{9365D31B-9132-464A-9B8A-D07E44A6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75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샘플 A/B로 실제 파일럿의 판정 기준을 정했다</a:t>
            </a:r>
          </a:p>
        </p:txBody>
      </p:sp>
      <p:sp>
        <p:nvSpPr>
          <p:cNvPr id="8" name="s4-subtitle">
            <a:extLst xmlns:a="http://schemas.openxmlformats.org/drawingml/2006/main">
              <a:ext uri="{FF2B5EF4-FFF2-40B4-BE49-F238E27FC236}">
                <a16:creationId xmlns:a16="http://schemas.microsoft.com/office/drawing/2014/main" id="{6B751436-F0AE-4411-A349-3D125B12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사전 설정한 패턴입니다. 측정된 제품 효과가 아닙니다.</a:t>
            </a:r>
          </a:p>
        </p:txBody>
      </p:sp>
      <p:sp>
        <p:nvSpPr>
          <p:cNvPr id="9" name="s4-chart-frame">
            <a:extLst xmlns:a="http://schemas.openxmlformats.org/drawingml/2006/main">
              <a:ext uri="{FF2B5EF4-FFF2-40B4-BE49-F238E27FC236}">
                <a16:creationId xmlns:a16="http://schemas.microsoft.com/office/drawing/2014/main" id="{E713635C-0C70-4BD1-9725-611CCAD3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6858000" cy="4000500"/>
          </a:xfrm>
          <a:prstGeom xmlns:a="http://schemas.openxmlformats.org/drawingml/2006/main" prst="roundRect">
            <a:avLst>
              <a:gd name="adj" fmla="val 52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68d576c814f53"/>
          <a:stretch xmlns:a="http://schemas.openxmlformats.org/drawingml/2006/main"/>
        </p:blipFill>
        <p:spPr>
          <a:xfrm xmlns:a="http://schemas.openxmlformats.org/drawingml/2006/main">
            <a:off x="1176843" y="2266950"/>
            <a:ext cx="5799713" cy="3771900"/>
          </a:xfrm>
          <a:prstGeom xmlns:a="http://schemas.openxmlformats.org/drawingml/2006/main" prst="roundRect">
            <a:avLst>
              <a:gd name="adj" fmla="val 3535"/>
            </a:avLst>
          </a:prstGeom>
        </p:spPr>
      </p:pic>
      <p:sp>
        <p:nvSpPr>
          <p:cNvPr id="11" name="s4-primary-delta">
            <a:extLst xmlns:a="http://schemas.openxmlformats.org/drawingml/2006/main">
              <a:ext uri="{FF2B5EF4-FFF2-40B4-BE49-F238E27FC236}">
                <a16:creationId xmlns:a16="http://schemas.microsoft.com/office/drawing/2014/main" id="{BDE40974-B5A2-4F9E-905E-990A421C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0980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650" b="1">
                <a:solidFill>
                  <a:srgbClr val="4A7E50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4A7E50"/>
                </a:solidFill>
                <a:latin typeface="Pretendard"/>
                <a:ea typeface="Pretendard"/>
                <a:cs typeface="Pretendard"/>
              </a:rPr>
              <a:t>+12.9%p</a:t>
            </a:r>
          </a:p>
        </p:txBody>
      </p:sp>
      <p:sp>
        <p:nvSpPr>
          <p:cNvPr id="12" name="s4-primary-label">
            <a:extLst xmlns:a="http://schemas.openxmlformats.org/drawingml/2006/main">
              <a:ext uri="{FF2B5EF4-FFF2-40B4-BE49-F238E27FC236}">
                <a16:creationId xmlns:a16="http://schemas.microsoft.com/office/drawing/2014/main" id="{E00BA73F-1254-4A28-A851-A8A312A6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사용 가능 전사율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78.6% → 91.4%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987F6C-21CE-4552-BD15-771E2BB5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052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14" name="s4-metric-name-0">
            <a:extLst xmlns:a="http://schemas.openxmlformats.org/drawingml/2006/main">
              <a:ext uri="{FF2B5EF4-FFF2-40B4-BE49-F238E27FC236}">
                <a16:creationId xmlns:a16="http://schemas.microsoft.com/office/drawing/2014/main" id="{6A3A9E17-55A3-43FB-8A3A-A779A8CB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14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no-speech</a:t>
            </a:r>
          </a:p>
        </p:txBody>
      </p:sp>
      <p:sp>
        <p:nvSpPr>
          <p:cNvPr id="15" name="s4-metric-value-0">
            <a:extLst xmlns:a="http://schemas.openxmlformats.org/drawingml/2006/main">
              <a:ext uri="{FF2B5EF4-FFF2-40B4-BE49-F238E27FC236}">
                <a16:creationId xmlns:a16="http://schemas.microsoft.com/office/drawing/2014/main" id="{51DF32D4-9595-4B28-9A7E-0113E158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148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25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11.4% → 4.3%</a:t>
            </a:r>
          </a:p>
        </p:txBody>
      </p:sp>
      <p:sp>
        <p:nvSpPr>
          <p:cNvPr id="16" name="s4-metric-delta-0">
            <a:extLst xmlns:a="http://schemas.openxmlformats.org/drawingml/2006/main">
              <a:ext uri="{FF2B5EF4-FFF2-40B4-BE49-F238E27FC236}">
                <a16:creationId xmlns:a16="http://schemas.microsoft.com/office/drawing/2014/main" id="{002C5206-4E38-486A-BF85-2A45FC4B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148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2F6036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2F6036"/>
                </a:solidFill>
                <a:latin typeface="Pretendard"/>
                <a:ea typeface="Pretendard"/>
                <a:cs typeface="Pretendard"/>
              </a:rPr>
              <a:t>−7.1%p</a:t>
            </a:r>
          </a:p>
        </p:txBody>
      </p:sp>
      <p:sp>
        <p:nvSpPr>
          <p:cNvPr id="17" name="s4-metric-name-1">
            <a:extLst xmlns:a="http://schemas.openxmlformats.org/drawingml/2006/main">
              <a:ext uri="{FF2B5EF4-FFF2-40B4-BE49-F238E27FC236}">
                <a16:creationId xmlns:a16="http://schemas.microsoft.com/office/drawing/2014/main" id="{8DC3C131-72EC-421D-A51F-75EE94BB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339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재시도</a:t>
            </a:r>
          </a:p>
        </p:txBody>
      </p:sp>
      <p:sp>
        <p:nvSpPr>
          <p:cNvPr id="18" name="s4-metric-value-1">
            <a:extLst xmlns:a="http://schemas.openxmlformats.org/drawingml/2006/main">
              <a:ext uri="{FF2B5EF4-FFF2-40B4-BE49-F238E27FC236}">
                <a16:creationId xmlns:a16="http://schemas.microsoft.com/office/drawing/2014/main" id="{69BE816B-ED4C-4EEB-85E4-51E07577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3392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25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21.4% → 7.1%</a:t>
            </a:r>
          </a:p>
        </p:txBody>
      </p:sp>
      <p:sp>
        <p:nvSpPr>
          <p:cNvPr id="19" name="s4-metric-delta-1">
            <a:extLst xmlns:a="http://schemas.openxmlformats.org/drawingml/2006/main">
              <a:ext uri="{FF2B5EF4-FFF2-40B4-BE49-F238E27FC236}">
                <a16:creationId xmlns:a16="http://schemas.microsoft.com/office/drawing/2014/main" id="{D965FE90-9F1C-46A8-BC4B-DF647CD1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7339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2F6036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2F6036"/>
                </a:solidFill>
                <a:latin typeface="Pretendard"/>
                <a:ea typeface="Pretendard"/>
                <a:cs typeface="Pretendard"/>
              </a:rPr>
              <a:t>−14.3%p</a:t>
            </a:r>
          </a:p>
        </p:txBody>
      </p:sp>
      <p:sp>
        <p:nvSpPr>
          <p:cNvPr id="20" name="s4-metric-name-2">
            <a:extLst xmlns:a="http://schemas.openxmlformats.org/drawingml/2006/main">
              <a:ext uri="{FF2B5EF4-FFF2-40B4-BE49-F238E27FC236}">
                <a16:creationId xmlns:a16="http://schemas.microsoft.com/office/drawing/2014/main" id="{434D8C52-A466-4981-9E32-896FD5FF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3530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중앙 지연</a:t>
            </a:r>
          </a:p>
        </p:txBody>
      </p:sp>
      <p:sp>
        <p:nvSpPr>
          <p:cNvPr id="21" name="s4-metric-value-2">
            <a:extLst xmlns:a="http://schemas.openxmlformats.org/drawingml/2006/main">
              <a:ext uri="{FF2B5EF4-FFF2-40B4-BE49-F238E27FC236}">
                <a16:creationId xmlns:a16="http://schemas.microsoft.com/office/drawing/2014/main" id="{4492EB09-1FED-405C-99BC-BED7D99A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3530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25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5.5초 → 3.2초</a:t>
            </a:r>
          </a:p>
        </p:txBody>
      </p:sp>
      <p:sp>
        <p:nvSpPr>
          <p:cNvPr id="22" name="s4-metric-delta-2">
            <a:extLst xmlns:a="http://schemas.openxmlformats.org/drawingml/2006/main">
              <a:ext uri="{FF2B5EF4-FFF2-40B4-BE49-F238E27FC236}">
                <a16:creationId xmlns:a16="http://schemas.microsoft.com/office/drawing/2014/main" id="{1C85AEF8-6CE6-49D9-99E4-1FF117B0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3530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2F6036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2F6036"/>
                </a:solidFill>
                <a:latin typeface="Pretendard"/>
                <a:ea typeface="Pretendard"/>
                <a:cs typeface="Pretendard"/>
              </a:rPr>
              <a:t>−2.3초</a:t>
            </a:r>
          </a:p>
        </p:txBody>
      </p:sp>
    </p:spTree>
    <p:extLst>
      <p:ext uri="{BB962C8B-B14F-4D97-AF65-F5344CB8AC3E}">
        <p14:creationId xmlns:p14="http://schemas.microsoft.com/office/powerpoint/2010/main" val="2050154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b696a6a7949b5"/>
          <a:stretch xmlns:a="http://schemas.openxmlformats.org/drawingml/2006/main"/>
        </p:blipFill>
        <p:spPr>
          <a:xfrm xmlns:a="http://schemas.openxmlformats.org/drawingml/2006/main">
            <a:off x="10572750" y="366728"/>
            <a:ext cx="990600" cy="504793"/>
          </a:xfrm>
          <a:prstGeom xmlns:a="http://schemas.openxmlformats.org/drawingml/2006/main" prst="roundRect">
            <a:avLst>
              <a:gd name="adj" fmla="val 33333"/>
            </a:avLst>
          </a:prstGeom>
        </p:spPr>
      </p:pic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6F0F224A-A69B-4111-99AA-87E5038B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다음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C031F-2997-4E4B-9FF3-FE67D4EF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4" name="footer-left-5">
            <a:extLst xmlns:a="http://schemas.openxmlformats.org/drawingml/2006/main">
              <a:ext uri="{FF2B5EF4-FFF2-40B4-BE49-F238E27FC236}">
                <a16:creationId xmlns:a16="http://schemas.microsoft.com/office/drawing/2014/main" id="{715A6042-D209-4768-AE51-4B8A00A0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9AA1AA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AA1AA"/>
                </a:solidFill>
                <a:latin typeface="Pretendard"/>
                <a:ea typeface="Pretendard"/>
                <a:cs typeface="Pretendard"/>
              </a:rPr>
              <a:t>Haru Voice UX · PRE-PILOT</a:t>
            </a:r>
          </a:p>
        </p:txBody>
      </p:sp>
      <p:sp>
        <p:nvSpPr>
          <p:cNvPr id="5" name="footer-caution-5">
            <a:extLst xmlns:a="http://schemas.openxmlformats.org/drawingml/2006/main">
              <a:ext uri="{FF2B5EF4-FFF2-40B4-BE49-F238E27FC236}">
                <a16:creationId xmlns:a16="http://schemas.microsoft.com/office/drawing/2014/main" id="{A652E539-0270-43F6-B062-A6347CA3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960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합성 시뮬레이션 · 실제 사용자/실제 음성 결과 아님</a:t>
            </a:r>
          </a:p>
        </p:txBody>
      </p:sp>
      <p:sp>
        <p:nvSpPr>
          <p:cNvPr id="6" name="page-5">
            <a:extLst xmlns:a="http://schemas.openxmlformats.org/drawingml/2006/main">
              <a:ext uri="{FF2B5EF4-FFF2-40B4-BE49-F238E27FC236}">
                <a16:creationId xmlns:a16="http://schemas.microsoft.com/office/drawing/2014/main" id="{C4FE9E1B-F39B-4EB3-9DCA-F4A01345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9AA1AA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9AA1AA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7" name="s5-title">
            <a:extLst xmlns:a="http://schemas.openxmlformats.org/drawingml/2006/main">
              <a:ext uri="{FF2B5EF4-FFF2-40B4-BE49-F238E27FC236}">
                <a16:creationId xmlns:a16="http://schemas.microsoft.com/office/drawing/2014/main" id="{AE2B8F48-FDF9-46E3-AC28-BD6EF6FC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723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이제 실제 50~70대 파일럿에서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가정을 관찰로 바꾼다</a:t>
            </a:r>
          </a:p>
        </p:txBody>
      </p:sp>
      <p:sp>
        <p:nvSpPr>
          <p:cNvPr id="8" name="s5-subtitle">
            <a:extLst xmlns:a="http://schemas.openxmlformats.org/drawingml/2006/main">
              <a:ext uri="{FF2B5EF4-FFF2-40B4-BE49-F238E27FC236}">
                <a16:creationId xmlns:a16="http://schemas.microsoft.com/office/drawing/2014/main" id="{B520478B-8E88-4765-A237-C1B58DCB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F6036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2F6036"/>
                </a:solidFill>
                <a:latin typeface="Pretendard"/>
                <a:ea typeface="Pretendard"/>
                <a:cs typeface="Pretendard"/>
              </a:rPr>
              <a:t>‘효과’보다 먼저, 어디서 왜 멈추는지 검증합니다.</a:t>
            </a:r>
          </a:p>
        </p:txBody>
      </p:sp>
      <p:sp>
        <p:nvSpPr>
          <p:cNvPr id="9" name="s5-plan-panel">
            <a:extLst xmlns:a="http://schemas.openxmlformats.org/drawingml/2006/main">
              <a:ext uri="{FF2B5EF4-FFF2-40B4-BE49-F238E27FC236}">
                <a16:creationId xmlns:a16="http://schemas.microsoft.com/office/drawing/2014/main" id="{9D995F20-F554-47D0-B7AB-FBB7D3EF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0858500" cy="2400300"/>
          </a:xfrm>
          <a:prstGeom xmlns:a="http://schemas.openxmlformats.org/drawingml/2006/main" prst="roundRect">
            <a:avLst>
              <a:gd name="adj" fmla="val 10317"/>
            </a:avLst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10" name="s5-step-number-0">
            <a:extLst xmlns:a="http://schemas.openxmlformats.org/drawingml/2006/main">
              <a:ext uri="{FF2B5EF4-FFF2-40B4-BE49-F238E27FC236}">
                <a16:creationId xmlns:a16="http://schemas.microsoft.com/office/drawing/2014/main" id="{78E769C0-3921-4616-A9AA-41CBBD1F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05E52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05E52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s5-step-title-0">
            <a:extLst xmlns:a="http://schemas.openxmlformats.org/drawingml/2006/main">
              <a:ext uri="{FF2B5EF4-FFF2-40B4-BE49-F238E27FC236}">
                <a16:creationId xmlns:a16="http://schemas.microsoft.com/office/drawing/2014/main" id="{19105721-9E63-40A3-B276-5A288293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동의받은 자연 발화</a:t>
            </a:r>
          </a:p>
        </p:txBody>
      </p:sp>
      <p:sp>
        <p:nvSpPr>
          <p:cNvPr id="12" name="s5-step-body-0">
            <a:extLst xmlns:a="http://schemas.openxmlformats.org/drawingml/2006/main">
              <a:ext uri="{FF2B5EF4-FFF2-40B4-BE49-F238E27FC236}">
                <a16:creationId xmlns:a16="http://schemas.microsoft.com/office/drawing/2014/main" id="{0949C9E0-66C7-4FD7-9237-C987EA08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434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지인·가족 50~70대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7일 사용 흐름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51499D-E4E2-4FBB-AC43-ACC6BB79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33750"/>
            <a:ext cx="0" cy="1638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14" name="s5-step-number-1">
            <a:extLst xmlns:a="http://schemas.openxmlformats.org/drawingml/2006/main">
              <a:ext uri="{FF2B5EF4-FFF2-40B4-BE49-F238E27FC236}">
                <a16:creationId xmlns:a16="http://schemas.microsoft.com/office/drawing/2014/main" id="{26FA737B-DCBB-42B2-BB4E-63B90B66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337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4A7E50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4A7E50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s5-step-title-1">
            <a:extLst xmlns:a="http://schemas.openxmlformats.org/drawingml/2006/main">
              <a:ext uri="{FF2B5EF4-FFF2-40B4-BE49-F238E27FC236}">
                <a16:creationId xmlns:a16="http://schemas.microsoft.com/office/drawing/2014/main" id="{B71BB1EE-474C-4A30-8617-DBA09DDA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671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동일 음성 이중 디코딩</a:t>
            </a:r>
          </a:p>
        </p:txBody>
      </p:sp>
      <p:sp>
        <p:nvSpPr>
          <p:cNvPr id="16" name="s5-step-body-1">
            <a:extLst xmlns:a="http://schemas.openxmlformats.org/drawingml/2006/main">
              <a:ext uri="{FF2B5EF4-FFF2-40B4-BE49-F238E27FC236}">
                <a16:creationId xmlns:a16="http://schemas.microsoft.com/office/drawing/2014/main" id="{879D6856-A58A-419F-9552-9B2A60B7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434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baseline / assist를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같은 입력으로 비교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F488D0-E58D-425F-B52B-4ACCAE41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33750"/>
            <a:ext cx="0" cy="1638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18" name="s5-step-number-2">
            <a:extLst xmlns:a="http://schemas.openxmlformats.org/drawingml/2006/main">
              <a:ext uri="{FF2B5EF4-FFF2-40B4-BE49-F238E27FC236}">
                <a16:creationId xmlns:a16="http://schemas.microsoft.com/office/drawing/2014/main" id="{E17C1932-871B-4C1C-948C-39D27302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337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05E52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05E52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s5-step-title-2">
            <a:extLst xmlns:a="http://schemas.openxmlformats.org/drawingml/2006/main">
              <a:ext uri="{FF2B5EF4-FFF2-40B4-BE49-F238E27FC236}">
                <a16:creationId xmlns:a16="http://schemas.microsoft.com/office/drawing/2014/main" id="{B265D0A4-B68C-4C4B-9924-40B722BE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671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조건을 가린 사람 검토</a:t>
            </a:r>
          </a:p>
        </p:txBody>
      </p:sp>
      <p:sp>
        <p:nvSpPr>
          <p:cNvPr id="20" name="s5-step-body-2">
            <a:extLst xmlns:a="http://schemas.openxmlformats.org/drawingml/2006/main">
              <a:ext uri="{FF2B5EF4-FFF2-40B4-BE49-F238E27FC236}">
                <a16:creationId xmlns:a16="http://schemas.microsoft.com/office/drawing/2014/main" id="{62F86721-2E16-4E8D-80F9-B44A64A0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434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사용 가능 전사와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의미 단서 보존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5B6666-5F76-4C19-BB98-110B76E3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0" cy="1638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22" name="s5-step-number-3">
            <a:extLst xmlns:a="http://schemas.openxmlformats.org/drawingml/2006/main">
              <a:ext uri="{FF2B5EF4-FFF2-40B4-BE49-F238E27FC236}">
                <a16:creationId xmlns:a16="http://schemas.microsoft.com/office/drawing/2014/main" id="{B427638D-D000-4984-B5A4-6A05C091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337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4A7E50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4A7E50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s5-step-title-3">
            <a:extLst xmlns:a="http://schemas.openxmlformats.org/drawingml/2006/main">
              <a:ext uri="{FF2B5EF4-FFF2-40B4-BE49-F238E27FC236}">
                <a16:creationId xmlns:a16="http://schemas.microsoft.com/office/drawing/2014/main" id="{F1498B00-DA5D-459A-999F-5936736B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671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실패 원인까지 연결</a:t>
            </a:r>
          </a:p>
        </p:txBody>
      </p:sp>
      <p:sp>
        <p:nvSpPr>
          <p:cNvPr id="24" name="s5-step-body-3">
            <a:extLst xmlns:a="http://schemas.openxmlformats.org/drawingml/2006/main">
              <a:ext uri="{FF2B5EF4-FFF2-40B4-BE49-F238E27FC236}">
                <a16:creationId xmlns:a16="http://schemas.microsoft.com/office/drawing/2014/main" id="{5DAEDDF7-F650-41D6-B985-BF034192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434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권한 거부 · no-speech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STT 실패 · 취소 · 사용 소감</a:t>
            </a:r>
          </a:p>
        </p:txBody>
      </p:sp>
      <p:sp>
        <p:nvSpPr>
          <p:cNvPr id="25" name="s5-closing">
            <a:extLst xmlns:a="http://schemas.openxmlformats.org/drawingml/2006/main">
              <a:ext uri="{FF2B5EF4-FFF2-40B4-BE49-F238E27FC236}">
                <a16:creationId xmlns:a16="http://schemas.microsoft.com/office/drawing/2014/main" id="{D563B7E0-F468-41D2-B891-1AF5B52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340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샘플 데이터는 답이 아니라, 실제 테스트를 빠르게 만드는 리허설입니다.</a:t>
            </a:r>
          </a:p>
        </p:txBody>
      </p:sp>
    </p:spTree>
    <p:extLst>
      <p:ext uri="{BB962C8B-B14F-4D97-AF65-F5344CB8AC3E}">
        <p14:creationId xmlns:p14="http://schemas.microsoft.com/office/powerpoint/2010/main" val="14853095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2026-08-07T01:36:49.2770000Z</dcterms:created>
  <dcterms:modified xsi:type="dcterms:W3CDTF">2026-08-07T01:36:49.2770000Z</dcterms:modified>
</coreProperties>
</file>