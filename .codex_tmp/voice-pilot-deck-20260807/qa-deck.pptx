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c3a0eb98949da" /><Relationship Type="http://schemas.openxmlformats.org/officeDocument/2006/relationships/extended-properties" Target="/docProps/app.xml" Id="R7dec7185c2b347fa" /><Relationship Type="http://schemas.openxmlformats.org/officeDocument/2006/relationships/officeDocument" Target="/ppt/presentation.xml" Id="R8e4b241465ee43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245608b4949ac"/>
  </p:sldMasterIdLst>
  <p:notesMasterIdLst>
    <p:notesMasterId xmlns:r="http://schemas.openxmlformats.org/officeDocument/2006/relationships" r:id="Rc5c473054e8a4012"/>
  </p:notesMasterIdLst>
  <p:sldIdLst>
    <p:sldId xmlns:r="http://schemas.openxmlformats.org/officeDocument/2006/relationships" id="256" r:id="Rfd0d1ead67a44ef7"/>
    <p:sldId xmlns:r="http://schemas.openxmlformats.org/officeDocument/2006/relationships" id="257" r:id="R73278d8e8eb14df1"/>
    <p:sldId xmlns:r="http://schemas.openxmlformats.org/officeDocument/2006/relationships" id="258" r:id="Re7210d4f558041c4"/>
    <p:sldId xmlns:r="http://schemas.openxmlformats.org/officeDocument/2006/relationships" id="259" r:id="R12baa3d0271e42f0"/>
    <p:sldId xmlns:r="http://schemas.openxmlformats.org/officeDocument/2006/relationships" id="260" r:id="R89223a9c7c654e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d5d81005f5416a" /><Relationship Type="http://schemas.openxmlformats.org/officeDocument/2006/relationships/slideMaster" Target="/ppt/slideMasters/slideMaster1.xml" Id="R2d5245608b4949ac" /><Relationship Type="http://schemas.openxmlformats.org/officeDocument/2006/relationships/notesMaster" Target="/ppt/notesMasters/notesMaster1.xml" Id="Rc5c473054e8a4012" /><Relationship Type="http://schemas.openxmlformats.org/officeDocument/2006/relationships/presProps" Target="/ppt/presProps.xml" Id="Ra91bf2eac2da4453" /><Relationship Type="http://schemas.openxmlformats.org/officeDocument/2006/relationships/tableStyles" Target="/ppt/tableStyles.xml" Id="Rcc3924d08ced4a4c" /><Relationship Type="http://schemas.openxmlformats.org/officeDocument/2006/relationships/slide" Target="/ppt/slides/slide1.xml" Id="Rfd0d1ead67a44ef7" /><Relationship Type="http://schemas.openxmlformats.org/officeDocument/2006/relationships/slide" Target="/ppt/slides/slide2.xml" Id="R73278d8e8eb14df1" /><Relationship Type="http://schemas.openxmlformats.org/officeDocument/2006/relationships/slide" Target="/ppt/slides/slide3.xml" Id="Re7210d4f558041c4" /><Relationship Type="http://schemas.openxmlformats.org/officeDocument/2006/relationships/slide" Target="/ppt/slides/slide4.xml" Id="R12baa3d0271e42f0" /><Relationship Type="http://schemas.openxmlformats.org/officeDocument/2006/relationships/slide" Target="/ppt/slides/slide5.xml" Id="R89223a9c7c654e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a06bdd2c4046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8cc350d72e4267" /><Relationship Type="http://schemas.openxmlformats.org/officeDocument/2006/relationships/notesMaster" Target="/ppt/notesMasters/notesMaster1.xml" Id="R37585476f1e246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d38713c2d142c6" /><Relationship Type="http://schemas.openxmlformats.org/officeDocument/2006/relationships/notesMaster" Target="/ppt/notesMasters/notesMaster1.xml" Id="R3b71d9b8548f49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81265f91bb499d" /><Relationship Type="http://schemas.openxmlformats.org/officeDocument/2006/relationships/notesMaster" Target="/ppt/notesMasters/notesMaster1.xml" Id="R129e532bfafd46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ee60518cb94f22" /><Relationship Type="http://schemas.openxmlformats.org/officeDocument/2006/relationships/notesMaster" Target="/ppt/notesMasters/notesMaster1.xml" Id="R47d79abd64d547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10baa9507e4d4d" /><Relationship Type="http://schemas.openxmlformats.org/officeDocument/2006/relationships/notesMaster" Target="/ppt/notesMasters/notesMaster1.xml" Id="R1bcbe4a2789c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C:/project/saerok-memory/docs/voice-pilot-sample-20x7/manifest.json — sample provenance, 20 profiles, 140 participant-days.</a:t>
            </a:r>
          </a:p>
          <a:p xmlns:a="http://schemas.openxmlformats.org/drawingml/2006/main">
            <a:r>
              <a:t>- C:/project/saerok-memory/docs/voice-pilot-sample-20x7/operational_export.json — 832 question attempts and 5,328 telemetry events.</a:t>
            </a:r>
          </a:p>
          <a:p xmlns:a="http://schemas.openxmlformats.org/drawingml/2006/main">
            <a:r>
              <a:t>- C:/project/saerok-memory/피우다프로젝트/application_assets/auto_screenshots/ko/19_오늘_하루_말하기.png — internal Haru product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C:/project/saerok-memory/docs/voice-pilot-sample-20x7/analysis/metrics.json — voiceOperational and dropoutHotspots sample metrics.</a:t>
            </a:r>
          </a:p>
          <a:p xmlns:a="http://schemas.openxmlformats.org/drawingml/2006/main">
            <a:r>
              <a:t>- C:/project/saerok-memory/docs/voice-pilot-sample-20x7/analysis/charts/png/06-dropoff-hotspots.png — generated sample chart.</a:t>
            </a:r>
          </a:p>
          <a:p xmlns:a="http://schemas.openxmlformats.org/drawingml/2006/main">
            <a:r>
              <a:t>- C:/project/saerok-memory/src/features/analytics/syntheticVoicePilot.ts — outcomes assigned from fixed TARGETS; not observed user behavior.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C:/project/saerok-memory/피우다프로젝트/application_assets/auto_screenshots/ko/19_오늘_하루_말하기.png — internal Haru product capture.</a:t>
            </a:r>
          </a:p>
          <a:p xmlns:a="http://schemas.openxmlformats.org/drawingml/2006/main">
            <a:r>
              <a:t>- C:/project/saerok-memory/docs/voice-pilot-sample-20x7/analysis/findings.md — intervention description and exact user guidance.</a:t>
            </a:r>
          </a:p>
          <a:p xmlns:a="http://schemas.openxmlformats.org/drawingml/2006/main">
            <a:r>
              <a:t>- C:/project/saerok-memory/README.md — Qwen model and haru-dc-hp80-rms-v2 preprocessing description.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C:/project/saerok-memory/docs/voice-pilot-sample-20x7/analysis/metrics.json — generated baseline/assist rates and p50 latency.</a:t>
            </a:r>
          </a:p>
          <a:p xmlns:a="http://schemas.openxmlformats.org/drawingml/2006/main">
            <a:r>
              <a:t>- C:/project/saerok-memory/docs/voice-pilot-sample-20x7/analysis/charts/png/05-stt-comparison.png — generated sample comparison chart.</a:t>
            </a:r>
          </a:p>
          <a:p xmlns:a="http://schemas.openxmlformats.org/drawingml/2006/main">
            <a:r>
              <a:t>- C:/project/saerok-memory/docs/voice-pilot-sample-20x7/analysis/methodology.md — no significance test or confidence interval; actual matched-input decode remains future work.</a:t>
            </a:r>
          </a:p>
          <a:p xmlns:a="http://schemas.openxmlformats.org/drawingml/2006/main">
            <a:r>
              <a:t>- C:/project/saerok-memory/src/features/analytics/syntheticVoicePilot.ts — fixed target counts generate these scenario differences.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C:/project/saerok-memory/docs/voice-pilot-sample-20x7/analysis/methodology.md — matched-input comparison, blind human review, and error annotation requirements.</a:t>
            </a:r>
          </a:p>
          <a:p xmlns:a="http://schemas.openxmlformats.org/drawingml/2006/main">
            <a:r>
              <a:t>- C:/project/saerok-memory/AGENTS.md — privacy, consent, non-clinical framing, and family-sharing guardrails.</a:t>
            </a:r>
          </a:p>
          <a:p xmlns:a="http://schemas.openxmlformats.org/drawingml/2006/main">
            <a:r>
              <a:t>- C:/project/saerok-memory/design.md — granular consent and older-adult interaction principles.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4b81e013a40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4d0eb6cef9455e" /><Relationship Type="http://schemas.openxmlformats.org/officeDocument/2006/relationships/slideLayout" Target="/ppt/slideLayouts/slideLayout1.xml" Id="Rb741418cd1ec44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41418cd1ec44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388fca5b7482e" /><Relationship Type="http://schemas.openxmlformats.org/officeDocument/2006/relationships/image" Target="/ppt/media/image.png" Id="R36e7e09afe4a4b84" /><Relationship Type="http://schemas.openxmlformats.org/officeDocument/2006/relationships/image" Target="/ppt/media/image2.png" Id="Rd58b3d12f3654776" /><Relationship Type="http://schemas.openxmlformats.org/officeDocument/2006/relationships/notesSlide" Target="/ppt/notesSlides/notesSlide1.xml" Id="Ra3853804a55f4f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b5ea2f83a4b1c" /><Relationship Type="http://schemas.openxmlformats.org/officeDocument/2006/relationships/image" Target="/ppt/media/image3.png" Id="R2660d40e19af40d8" /><Relationship Type="http://schemas.openxmlformats.org/officeDocument/2006/relationships/image" Target="/ppt/media/image4.png" Id="Rc6297f094c054bbb" /><Relationship Type="http://schemas.openxmlformats.org/officeDocument/2006/relationships/notesSlide" Target="/ppt/notesSlides/notesSlide2.xml" Id="R2553932757174b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51684c5294ac4" /><Relationship Type="http://schemas.openxmlformats.org/officeDocument/2006/relationships/image" Target="/ppt/media/image5.png" Id="R702e35d10586430c" /><Relationship Type="http://schemas.openxmlformats.org/officeDocument/2006/relationships/image" Target="/ppt/media/image6.png" Id="Re7b04cbe5dd74fdd" /><Relationship Type="http://schemas.openxmlformats.org/officeDocument/2006/relationships/notesSlide" Target="/ppt/notesSlides/notesSlide3.xml" Id="R0e45c304a4dc46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5e9e16d4846fb" /><Relationship Type="http://schemas.openxmlformats.org/officeDocument/2006/relationships/image" Target="/ppt/media/image7.png" Id="R69cb0bf5885849af" /><Relationship Type="http://schemas.openxmlformats.org/officeDocument/2006/relationships/image" Target="/ppt/media/image8.png" Id="Reede95d8fba24284" /><Relationship Type="http://schemas.openxmlformats.org/officeDocument/2006/relationships/notesSlide" Target="/ppt/notesSlides/notesSlide4.xml" Id="R6737cba340064c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439f8b0d44b90" /><Relationship Type="http://schemas.openxmlformats.org/officeDocument/2006/relationships/image" Target="/ppt/media/image9.png" Id="R9396b3fdd7754a54" /><Relationship Type="http://schemas.openxmlformats.org/officeDocument/2006/relationships/notesSlide" Target="/ppt/notesSlides/notesSlide5.xml" Id="R79c3e78041ec41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7e09afe4a4b84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C7DA228E-9648-4C47-A9C9-C9AF5F8B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사용 흐름 사전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9ED7B-16EE-43F9-A7C5-5C9CE318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C253F9CD-9FEB-4588-8D6F-75D018A9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1">
            <a:extLst xmlns:a="http://schemas.openxmlformats.org/drawingml/2006/main">
              <a:ext uri="{FF2B5EF4-FFF2-40B4-BE49-F238E27FC236}">
                <a16:creationId xmlns:a16="http://schemas.microsoft.com/office/drawing/2014/main" id="{E039F5A3-8B6B-414F-94C5-D9F20D11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272EF054-686A-4111-8AF7-1BD90FBC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s1-title">
            <a:extLst xmlns:a="http://schemas.openxmlformats.org/drawingml/2006/main">
              <a:ext uri="{FF2B5EF4-FFF2-40B4-BE49-F238E27FC236}">
                <a16:creationId xmlns:a16="http://schemas.microsoft.com/office/drawing/2014/main" id="{812E0F5F-8426-43E5-989D-5CC3854B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실증 전에,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막히는 순간부터 측정했다</a:t>
            </a:r>
          </a:p>
        </p:txBody>
      </p:sp>
      <p:sp>
        <p:nvSpPr>
          <p:cNvPr id="8" name="s1-subtitle">
            <a:extLst xmlns:a="http://schemas.openxmlformats.org/drawingml/2006/main">
              <a:ext uri="{FF2B5EF4-FFF2-40B4-BE49-F238E27FC236}">
                <a16:creationId xmlns:a16="http://schemas.microsoft.com/office/drawing/2014/main" id="{D55C9DBF-EF6F-4F30-BC89-5DDD793F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50~70대 현장 파일럿을 앞두고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참여·이탈·재시도·STT 흐름을 먼저 연결했습니다.</a:t>
            </a:r>
          </a:p>
        </p:txBody>
      </p:sp>
      <p:sp>
        <p:nvSpPr>
          <p:cNvPr id="9" name="s1-device-backdrop">
            <a:extLst xmlns:a="http://schemas.openxmlformats.org/drawingml/2006/main">
              <a:ext uri="{FF2B5EF4-FFF2-40B4-BE49-F238E27FC236}">
                <a16:creationId xmlns:a16="http://schemas.microsoft.com/office/drawing/2014/main" id="{EAB62A97-5FD9-46C8-81CE-234DF988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71550"/>
            <a:ext cx="3295650" cy="5105400"/>
          </a:xfrm>
          <a:prstGeom xmlns:a="http://schemas.openxmlformats.org/drawingml/2006/main" prst="roundRect">
            <a:avLst>
              <a:gd name="adj" fmla="val 8671"/>
            </a:avLst>
          </a:prstGeom>
          <a:solidFill xmlns:a="http://schemas.openxmlformats.org/drawingml/2006/main">
            <a:srgbClr val="EDF6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s1-device-frame">
            <a:extLst xmlns:a="http://schemas.openxmlformats.org/drawingml/2006/main">
              <a:ext uri="{FF2B5EF4-FFF2-40B4-BE49-F238E27FC236}">
                <a16:creationId xmlns:a16="http://schemas.microsoft.com/office/drawing/2014/main" id="{CF50B9BC-9043-45A1-AC8F-21BFC283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143000"/>
            <a:ext cx="2590800" cy="46101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25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b3d12f3654776"/>
          <a:srcRect xmlns:a="http://schemas.openxmlformats.org/drawingml/2006/main" l="1206" t="0" r="12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0600" y="1209675"/>
            <a:ext cx="2457450" cy="4476750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  <p:sp>
        <p:nvSpPr>
          <p:cNvPr id="12" name="s1-stat-value-0">
            <a:extLst xmlns:a="http://schemas.openxmlformats.org/drawingml/2006/main">
              <a:ext uri="{FF2B5EF4-FFF2-40B4-BE49-F238E27FC236}">
                <a16:creationId xmlns:a16="http://schemas.microsoft.com/office/drawing/2014/main" id="{3C664E46-0C81-49DB-A8B7-03BA609C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13" name="s1-stat-label-0">
            <a:extLst xmlns:a="http://schemas.openxmlformats.org/drawingml/2006/main">
              <a:ext uri="{FF2B5EF4-FFF2-40B4-BE49-F238E27FC236}">
                <a16:creationId xmlns:a16="http://schemas.microsoft.com/office/drawing/2014/main" id="{6FF5BA94-BB97-487A-976A-1D244BAA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샘플 프로필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A7343-5647-47D4-B5DA-A65E2870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148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5" name="s1-stat-value-1">
            <a:extLst xmlns:a="http://schemas.openxmlformats.org/drawingml/2006/main">
              <a:ext uri="{FF2B5EF4-FFF2-40B4-BE49-F238E27FC236}">
                <a16:creationId xmlns:a16="http://schemas.microsoft.com/office/drawing/2014/main" id="{59B335E6-349C-454F-9489-C7BEBA46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140</a:t>
            </a:r>
          </a:p>
        </p:txBody>
      </p:sp>
      <p:sp>
        <p:nvSpPr>
          <p:cNvPr id="16" name="s1-stat-label-1">
            <a:extLst xmlns:a="http://schemas.openxmlformats.org/drawingml/2006/main">
              <a:ext uri="{FF2B5EF4-FFF2-40B4-BE49-F238E27FC236}">
                <a16:creationId xmlns:a16="http://schemas.microsoft.com/office/drawing/2014/main" id="{CD7649F6-AC8A-49EF-B43E-F4F1CE63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세션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B924D-182B-4254-A163-890E0DCF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148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8" name="s1-stat-value-2">
            <a:extLst xmlns:a="http://schemas.openxmlformats.org/drawingml/2006/main">
              <a:ext uri="{FF2B5EF4-FFF2-40B4-BE49-F238E27FC236}">
                <a16:creationId xmlns:a16="http://schemas.microsoft.com/office/drawing/2014/main" id="{1561E8BE-BAB9-4272-96E5-7D6164E3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832</a:t>
            </a:r>
          </a:p>
        </p:txBody>
      </p:sp>
      <p:sp>
        <p:nvSpPr>
          <p:cNvPr id="19" name="s1-stat-label-2">
            <a:extLst xmlns:a="http://schemas.openxmlformats.org/drawingml/2006/main">
              <a:ext uri="{FF2B5EF4-FFF2-40B4-BE49-F238E27FC236}">
                <a16:creationId xmlns:a16="http://schemas.microsoft.com/office/drawing/2014/main" id="{60BB2757-8F48-4422-933D-B5A2C762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문항 로그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08EFD-7695-4842-B055-F14A694C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148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21" name="s1-stat-value-3">
            <a:extLst xmlns:a="http://schemas.openxmlformats.org/drawingml/2006/main">
              <a:ext uri="{FF2B5EF4-FFF2-40B4-BE49-F238E27FC236}">
                <a16:creationId xmlns:a16="http://schemas.microsoft.com/office/drawing/2014/main" id="{B25E7C49-1463-459B-B6B6-43B980A6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5,328</a:t>
            </a:r>
          </a:p>
        </p:txBody>
      </p:sp>
      <p:sp>
        <p:nvSpPr>
          <p:cNvPr id="22" name="s1-stat-label-3">
            <a:extLst xmlns:a="http://schemas.openxmlformats.org/drawingml/2006/main">
              <a:ext uri="{FF2B5EF4-FFF2-40B4-BE49-F238E27FC236}">
                <a16:creationId xmlns:a16="http://schemas.microsoft.com/office/drawing/2014/main" id="{E3C72248-B662-45F3-AE13-ACC6FE38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상호작용 이벤트</a:t>
            </a:r>
          </a:p>
        </p:txBody>
      </p:sp>
      <p:sp>
        <p:nvSpPr>
          <p:cNvPr id="23" name="s1-proof-strip">
            <a:extLst xmlns:a="http://schemas.openxmlformats.org/drawingml/2006/main">
              <a:ext uri="{FF2B5EF4-FFF2-40B4-BE49-F238E27FC236}">
                <a16:creationId xmlns:a16="http://schemas.microsoft.com/office/drawing/2014/main" id="{8B645E70-D3FB-4694-930D-F92A71CE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8389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24" name="s1-proof-text">
            <a:extLst xmlns:a="http://schemas.openxmlformats.org/drawingml/2006/main">
              <a:ext uri="{FF2B5EF4-FFF2-40B4-BE49-F238E27FC236}">
                <a16:creationId xmlns:a16="http://schemas.microsoft.com/office/drawing/2014/main" id="{10393DE4-109C-4EA7-91BA-FB807AF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632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한 문항의 탭부터 음성 전사까지, 같은 세션 안에서 추적</a:t>
            </a:r>
          </a:p>
        </p:txBody>
      </p:sp>
    </p:spTree>
    <p:extLst>
      <p:ext uri="{BB962C8B-B14F-4D97-AF65-F5344CB8AC3E}">
        <p14:creationId xmlns:p14="http://schemas.microsoft.com/office/powerpoint/2010/main" val="533065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0d40e19af40d8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B00FF889-5F08-4CC5-91A6-D2F00668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문제 가설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2E1F0-5FFC-4D11-9840-E07A2574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671F3900-9A62-410E-B208-17433C84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2">
            <a:extLst xmlns:a="http://schemas.openxmlformats.org/drawingml/2006/main">
              <a:ext uri="{FF2B5EF4-FFF2-40B4-BE49-F238E27FC236}">
                <a16:creationId xmlns:a16="http://schemas.microsoft.com/office/drawing/2014/main" id="{A7A49597-EDCA-486F-A1BF-3F09A55C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29254318-388D-49C7-8396-4F98B51D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s2-title">
            <a:extLst xmlns:a="http://schemas.openxmlformats.org/drawingml/2006/main">
              <a:ext uri="{FF2B5EF4-FFF2-40B4-BE49-F238E27FC236}">
                <a16:creationId xmlns:a16="http://schemas.microsoft.com/office/drawing/2014/main" id="{FDBDED4E-88B2-4479-AAED-6BBE5C56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샘플 흐름에서 이탈은 말하기 구간에 집중됐다</a:t>
            </a:r>
          </a:p>
        </p:txBody>
      </p:sp>
      <p:sp>
        <p:nvSpPr>
          <p:cNvPr id="8" name="s2-subtitle">
            <a:extLst xmlns:a="http://schemas.openxmlformats.org/drawingml/2006/main">
              <a:ext uri="{FF2B5EF4-FFF2-40B4-BE49-F238E27FC236}">
                <a16:creationId xmlns:a16="http://schemas.microsoft.com/office/drawing/2014/main" id="{C3CF0E13-7027-4681-8A41-9CABC472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실제 파일럿에서 먼저 원인 코드를 심어야 할 위치가 선명해졌습니다.</a:t>
            </a:r>
          </a:p>
        </p:txBody>
      </p:sp>
      <p:sp>
        <p:nvSpPr>
          <p:cNvPr id="9" name="s2-chart-frame">
            <a:extLst xmlns:a="http://schemas.openxmlformats.org/drawingml/2006/main">
              <a:ext uri="{FF2B5EF4-FFF2-40B4-BE49-F238E27FC236}">
                <a16:creationId xmlns:a16="http://schemas.microsoft.com/office/drawing/2014/main" id="{F02EA8EE-A60C-4482-8AA4-1FCC60FD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6915150" cy="4038600"/>
          </a:xfrm>
          <a:prstGeom xmlns:a="http://schemas.openxmlformats.org/drawingml/2006/main" prst="roundRect">
            <a:avLst>
              <a:gd name="adj" fmla="val 5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97f094c054bbb"/>
          <a:stretch xmlns:a="http://schemas.openxmlformats.org/drawingml/2006/main"/>
        </p:blipFill>
        <p:spPr>
          <a:xfrm xmlns:a="http://schemas.openxmlformats.org/drawingml/2006/main">
            <a:off x="1176127" y="2247900"/>
            <a:ext cx="5858296" cy="3810000"/>
          </a:xfrm>
          <a:prstGeom xmlns:a="http://schemas.openxmlformats.org/drawingml/2006/main" prst="roundRect">
            <a:avLst>
              <a:gd name="adj" fmla="val 3500"/>
            </a:avLst>
          </a:prstGeom>
        </p:spPr>
      </p:pic>
      <p:sp>
        <p:nvSpPr>
          <p:cNvPr id="11" name="s2-big-rate">
            <a:extLst xmlns:a="http://schemas.openxmlformats.org/drawingml/2006/main">
              <a:ext uri="{FF2B5EF4-FFF2-40B4-BE49-F238E27FC236}">
                <a16:creationId xmlns:a16="http://schemas.microsoft.com/office/drawing/2014/main" id="{86169D0A-CB19-463C-9EEC-399EF2D1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10.0%</a:t>
            </a:r>
          </a:p>
        </p:txBody>
      </p:sp>
      <p:sp>
        <p:nvSpPr>
          <p:cNvPr id="12" name="s2-big-rate-label">
            <a:extLst xmlns:a="http://schemas.openxmlformats.org/drawingml/2006/main">
              <a:ext uri="{FF2B5EF4-FFF2-40B4-BE49-F238E27FC236}">
                <a16:creationId xmlns:a16="http://schemas.microsoft.com/office/drawing/2014/main" id="{4C660ABB-D9F9-44E5-AA8E-3C6D2A9C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음성 문항 이탈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14 / 140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38713-01E4-49AA-AC48-394C9CB5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4" name="s2-hotspot-rate">
            <a:extLst xmlns:a="http://schemas.openxmlformats.org/drawingml/2006/main">
              <a:ext uri="{FF2B5EF4-FFF2-40B4-BE49-F238E27FC236}">
                <a16:creationId xmlns:a16="http://schemas.microsoft.com/office/drawing/2014/main" id="{53665837-803C-4C04-A3CC-F96DED5A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100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20.0%</a:t>
            </a:r>
          </a:p>
        </p:txBody>
      </p:sp>
      <p:sp>
        <p:nvSpPr>
          <p:cNvPr id="15" name="s2-hotspot-label">
            <a:extLst xmlns:a="http://schemas.openxmlformats.org/drawingml/2006/main">
              <a:ext uri="{FF2B5EF4-FFF2-40B4-BE49-F238E27FC236}">
                <a16:creationId xmlns:a16="http://schemas.microsoft.com/office/drawing/2014/main" id="{37A5D903-27A0-4D78-8853-5DAA2B94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D1_Q5 · D4_Q5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각 4 / 20</a:t>
            </a:r>
          </a:p>
        </p:txBody>
      </p:sp>
      <p:sp>
        <p:nvSpPr>
          <p:cNvPr id="16" name="s2-takeaway">
            <a:extLst xmlns:a="http://schemas.openxmlformats.org/drawingml/2006/main">
              <a:ext uri="{FF2B5EF4-FFF2-40B4-BE49-F238E27FC236}">
                <a16:creationId xmlns:a16="http://schemas.microsoft.com/office/drawing/2014/main" id="{75B42975-62D6-4CE6-B6B4-A1219749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626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정확도만이 아니라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말하기 전후 전체를 측정</a:t>
            </a:r>
          </a:p>
        </p:txBody>
      </p:sp>
    </p:spTree>
    <p:extLst>
      <p:ext uri="{BB962C8B-B14F-4D97-AF65-F5344CB8AC3E}">
        <p14:creationId xmlns:p14="http://schemas.microsoft.com/office/powerpoint/2010/main" val="9770277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e35d10586430c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C2692A06-9D89-405D-A10E-C9140E08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제품 개선안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9D052-34EE-457B-825B-4D0231B2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7463911F-3EEB-48F9-BA78-784150AB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3">
            <a:extLst xmlns:a="http://schemas.openxmlformats.org/drawingml/2006/main">
              <a:ext uri="{FF2B5EF4-FFF2-40B4-BE49-F238E27FC236}">
                <a16:creationId xmlns:a16="http://schemas.microsoft.com/office/drawing/2014/main" id="{FFA6FBE0-D629-4070-A115-F174A13B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CFD1C828-AF41-4565-97FE-44E0B07E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7" name="s3-title">
            <a:extLst xmlns:a="http://schemas.openxmlformats.org/drawingml/2006/main">
              <a:ext uri="{FF2B5EF4-FFF2-40B4-BE49-F238E27FC236}">
                <a16:creationId xmlns:a16="http://schemas.microsoft.com/office/drawing/2014/main" id="{23BB052C-4C08-48A3-80F8-1F339B02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사용자가 맞춰 말하는 대신, 제품이 사용자를 돕는다</a:t>
            </a:r>
          </a:p>
        </p:txBody>
      </p:sp>
      <p:sp>
        <p:nvSpPr>
          <p:cNvPr id="8" name="s3-subtitle">
            <a:extLst xmlns:a="http://schemas.openxmlformats.org/drawingml/2006/main">
              <a:ext uri="{FF2B5EF4-FFF2-40B4-BE49-F238E27FC236}">
                <a16:creationId xmlns:a16="http://schemas.microsoft.com/office/drawing/2014/main" id="{15202D5E-7F98-4162-817B-8D484453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말하기 부담과 입력 불확실성을 함께 줄이는 세 가지 개입입니다.</a:t>
            </a:r>
          </a:p>
        </p:txBody>
      </p:sp>
      <p:sp>
        <p:nvSpPr>
          <p:cNvPr id="9" name="s3-device-frame">
            <a:extLst xmlns:a="http://schemas.openxmlformats.org/drawingml/2006/main">
              <a:ext uri="{FF2B5EF4-FFF2-40B4-BE49-F238E27FC236}">
                <a16:creationId xmlns:a16="http://schemas.microsoft.com/office/drawing/2014/main" id="{F9AD5468-9302-4C5B-949D-B0E8C899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609850" cy="403860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25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04cbe5dd74fdd"/>
          <a:srcRect xmlns:a="http://schemas.openxmlformats.org/drawingml/2006/main" l="0" t="5649" r="0" b="5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2200275"/>
            <a:ext cx="2476500" cy="3905250"/>
          </a:xfrm>
          <a:prstGeom xmlns:a="http://schemas.openxmlformats.org/drawingml/2006/main" prst="roundRect">
            <a:avLst>
              <a:gd name="adj" fmla="val 6923"/>
            </a:avLst>
          </a:prstGeom>
        </p:spPr>
      </p:pic>
      <p:sp>
        <p:nvSpPr>
          <p:cNvPr id="11" name="s3-item-number-0">
            <a:extLst xmlns:a="http://schemas.openxmlformats.org/drawingml/2006/main">
              <a:ext uri="{FF2B5EF4-FFF2-40B4-BE49-F238E27FC236}">
                <a16:creationId xmlns:a16="http://schemas.microsoft.com/office/drawing/2014/main" id="{2FFC162F-EB07-4B05-9CEE-1E1B9688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s3-item-title-0">
            <a:extLst xmlns:a="http://schemas.openxmlformats.org/drawingml/2006/main">
              <a:ext uri="{FF2B5EF4-FFF2-40B4-BE49-F238E27FC236}">
                <a16:creationId xmlns:a16="http://schemas.microsoft.com/office/drawing/2014/main" id="{3118507E-35C9-4F7A-A07C-15C10452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보이는 입력 반응</a:t>
            </a:r>
          </a:p>
        </p:txBody>
      </p:sp>
      <p:sp>
        <p:nvSpPr>
          <p:cNvPr id="13" name="s3-item-body-0">
            <a:extLst xmlns:a="http://schemas.openxmlformats.org/drawingml/2006/main">
              <a:ext uri="{FF2B5EF4-FFF2-40B4-BE49-F238E27FC236}">
                <a16:creationId xmlns:a16="http://schemas.microsoft.com/office/drawing/2014/main" id="{8619B668-FEAB-4F04-B5BA-7329AA6E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860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빨간 듣기 상태와 움직이는 파형으로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마이크가 반응하는 순간을 바로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A7E4D-4280-4938-8856-5D4D7CA1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5" name="s3-item-number-1">
            <a:extLst xmlns:a="http://schemas.openxmlformats.org/drawingml/2006/main">
              <a:ext uri="{FF2B5EF4-FFF2-40B4-BE49-F238E27FC236}">
                <a16:creationId xmlns:a16="http://schemas.microsoft.com/office/drawing/2014/main" id="{ABFB5345-F192-4127-9392-203742A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s3-item-title-1">
            <a:extLst xmlns:a="http://schemas.openxmlformats.org/drawingml/2006/main">
              <a:ext uri="{FF2B5EF4-FFF2-40B4-BE49-F238E27FC236}">
                <a16:creationId xmlns:a16="http://schemas.microsoft.com/office/drawing/2014/main" id="{B7831F89-2866-46FC-A010-E9CCE600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부담을 낮춘 안내</a:t>
            </a:r>
          </a:p>
        </p:txBody>
      </p:sp>
      <p:sp>
        <p:nvSpPr>
          <p:cNvPr id="17" name="s3-item-body-1">
            <a:extLst xmlns:a="http://schemas.openxmlformats.org/drawingml/2006/main">
              <a:ext uri="{FF2B5EF4-FFF2-40B4-BE49-F238E27FC236}">
                <a16:creationId xmlns:a16="http://schemas.microsoft.com/office/drawing/2014/main" id="{7A477E11-3402-4BC7-979A-C7EB7004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814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“또박또박 말하려 애쓰지 않아도 됩니다.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평소처럼 편하게 말씀하세요.”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7C88D-D1D6-4053-BCAA-B6CE2FB4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9" name="s3-item-number-2">
            <a:extLst xmlns:a="http://schemas.openxmlformats.org/drawingml/2006/main">
              <a:ext uri="{FF2B5EF4-FFF2-40B4-BE49-F238E27FC236}">
                <a16:creationId xmlns:a16="http://schemas.microsoft.com/office/drawing/2014/main" id="{6F38D28B-833F-4777-BCC6-DD2F18A6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E6A03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A03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s3-item-title-2">
            <a:extLst xmlns:a="http://schemas.openxmlformats.org/drawingml/2006/main">
              <a:ext uri="{FF2B5EF4-FFF2-40B4-BE49-F238E27FC236}">
                <a16:creationId xmlns:a16="http://schemas.microsoft.com/office/drawing/2014/main" id="{1118C6CA-68DD-4E20-8249-EB75096E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006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같은 Qwen, 더 나은 입력</a:t>
            </a:r>
          </a:p>
        </p:txBody>
      </p:sp>
      <p:sp>
        <p:nvSpPr>
          <p:cNvPr id="21" name="s3-item-body-2">
            <a:extLst xmlns:a="http://schemas.openxmlformats.org/drawingml/2006/main">
              <a:ext uri="{FF2B5EF4-FFF2-40B4-BE49-F238E27FC236}">
                <a16:creationId xmlns:a16="http://schemas.microsoft.com/office/drawing/2014/main" id="{C7CC860B-7D2A-4DD4-BC66-D34773F5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768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DC 제거 · 80 Hz high-pass · bounded RMS로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입력 품질을 보정하는 비교 구성</a:t>
            </a:r>
          </a:p>
        </p:txBody>
      </p:sp>
    </p:spTree>
    <p:extLst>
      <p:ext uri="{BB962C8B-B14F-4D97-AF65-F5344CB8AC3E}">
        <p14:creationId xmlns:p14="http://schemas.microsoft.com/office/powerpoint/2010/main" val="1420506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f5885849af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A4DCAA8F-C0DA-4A9C-9366-005087F3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판정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72EA2-9859-4A7D-9D52-3DDB77D0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790918D2-5E83-41A7-B8C1-33C29818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4">
            <a:extLst xmlns:a="http://schemas.openxmlformats.org/drawingml/2006/main">
              <a:ext uri="{FF2B5EF4-FFF2-40B4-BE49-F238E27FC236}">
                <a16:creationId xmlns:a16="http://schemas.microsoft.com/office/drawing/2014/main" id="{044AFB06-A49E-4B4E-B7C6-24DCDD4E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D3014D26-32A9-49E7-B68C-CEE22D9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7" name="s4-title">
            <a:extLst xmlns:a="http://schemas.openxmlformats.org/drawingml/2006/main">
              <a:ext uri="{FF2B5EF4-FFF2-40B4-BE49-F238E27FC236}">
                <a16:creationId xmlns:a16="http://schemas.microsoft.com/office/drawing/2014/main" id="{34FDD094-5766-4303-95CD-3AEAF6AB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샘플 A/B로 실제 파일럿의 판정 기준을 정했다</a:t>
            </a:r>
          </a:p>
        </p:txBody>
      </p:sp>
      <p:sp>
        <p:nvSpPr>
          <p:cNvPr id="8" name="s4-subtitle">
            <a:extLst xmlns:a="http://schemas.openxmlformats.org/drawingml/2006/main">
              <a:ext uri="{FF2B5EF4-FFF2-40B4-BE49-F238E27FC236}">
                <a16:creationId xmlns:a16="http://schemas.microsoft.com/office/drawing/2014/main" id="{8AC81A79-6BA1-4B16-AD31-575AB58F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사전 설정한 패턴입니다. 측정된 제품 효과가 아닙니다.</a:t>
            </a:r>
          </a:p>
        </p:txBody>
      </p:sp>
      <p:sp>
        <p:nvSpPr>
          <p:cNvPr id="9" name="s4-chart-frame">
            <a:extLst xmlns:a="http://schemas.openxmlformats.org/drawingml/2006/main">
              <a:ext uri="{FF2B5EF4-FFF2-40B4-BE49-F238E27FC236}">
                <a16:creationId xmlns:a16="http://schemas.microsoft.com/office/drawing/2014/main" id="{727F7067-BA66-46F8-BF97-19F9969B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85800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e95d8fba24284"/>
          <a:stretch xmlns:a="http://schemas.openxmlformats.org/drawingml/2006/main"/>
        </p:blipFill>
        <p:spPr>
          <a:xfrm xmlns:a="http://schemas.openxmlformats.org/drawingml/2006/main">
            <a:off x="1176843" y="2266950"/>
            <a:ext cx="5799713" cy="3771900"/>
          </a:xfrm>
          <a:prstGeom xmlns:a="http://schemas.openxmlformats.org/drawingml/2006/main" prst="roundRect">
            <a:avLst>
              <a:gd name="adj" fmla="val 3535"/>
            </a:avLst>
          </a:prstGeom>
        </p:spPr>
      </p:pic>
      <p:sp>
        <p:nvSpPr>
          <p:cNvPr id="11" name="s4-primary-delta">
            <a:extLst xmlns:a="http://schemas.openxmlformats.org/drawingml/2006/main">
              <a:ext uri="{FF2B5EF4-FFF2-40B4-BE49-F238E27FC236}">
                <a16:creationId xmlns:a16="http://schemas.microsoft.com/office/drawing/2014/main" id="{B7EF48F5-638C-48AA-99E5-9B06C4D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+12.9%p</a:t>
            </a:r>
          </a:p>
        </p:txBody>
      </p:sp>
      <p:sp>
        <p:nvSpPr>
          <p:cNvPr id="12" name="s4-primary-label">
            <a:extLst xmlns:a="http://schemas.openxmlformats.org/drawingml/2006/main">
              <a:ext uri="{FF2B5EF4-FFF2-40B4-BE49-F238E27FC236}">
                <a16:creationId xmlns:a16="http://schemas.microsoft.com/office/drawing/2014/main" id="{C84351B1-6055-4F98-8939-B56A1907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사용 가능 전사율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78.6% → 91.4%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51793-0A14-4BF0-BC8C-D08FEE98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4" name="s4-metric-name-0">
            <a:extLst xmlns:a="http://schemas.openxmlformats.org/drawingml/2006/main">
              <a:ext uri="{FF2B5EF4-FFF2-40B4-BE49-F238E27FC236}">
                <a16:creationId xmlns:a16="http://schemas.microsoft.com/office/drawing/2014/main" id="{C939E462-5EFF-4DB5-98DD-84851F02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no-speech</a:t>
            </a:r>
          </a:p>
        </p:txBody>
      </p:sp>
      <p:sp>
        <p:nvSpPr>
          <p:cNvPr id="15" name="s4-metric-value-0">
            <a:extLst xmlns:a="http://schemas.openxmlformats.org/drawingml/2006/main">
              <a:ext uri="{FF2B5EF4-FFF2-40B4-BE49-F238E27FC236}">
                <a16:creationId xmlns:a16="http://schemas.microsoft.com/office/drawing/2014/main" id="{32ECAA90-9DD2-4BA4-983B-B9D601F6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11.4% → 4.3%</a:t>
            </a:r>
          </a:p>
        </p:txBody>
      </p:sp>
      <p:sp>
        <p:nvSpPr>
          <p:cNvPr id="16" name="s4-metric-delta-0">
            <a:extLst xmlns:a="http://schemas.openxmlformats.org/drawingml/2006/main">
              <a:ext uri="{FF2B5EF4-FFF2-40B4-BE49-F238E27FC236}">
                <a16:creationId xmlns:a16="http://schemas.microsoft.com/office/drawing/2014/main" id="{1AEE6A9F-E629-45D5-AC29-0E3A7F67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114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−7.1%p</a:t>
            </a:r>
          </a:p>
        </p:txBody>
      </p:sp>
      <p:sp>
        <p:nvSpPr>
          <p:cNvPr id="17" name="s4-metric-name-1">
            <a:extLst xmlns:a="http://schemas.openxmlformats.org/drawingml/2006/main">
              <a:ext uri="{FF2B5EF4-FFF2-40B4-BE49-F238E27FC236}">
                <a16:creationId xmlns:a16="http://schemas.microsoft.com/office/drawing/2014/main" id="{104C7AF8-2C21-4090-9B29-0361A097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33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재시도</a:t>
            </a:r>
          </a:p>
        </p:txBody>
      </p:sp>
      <p:sp>
        <p:nvSpPr>
          <p:cNvPr id="18" name="s4-metric-value-1">
            <a:extLst xmlns:a="http://schemas.openxmlformats.org/drawingml/2006/main">
              <a:ext uri="{FF2B5EF4-FFF2-40B4-BE49-F238E27FC236}">
                <a16:creationId xmlns:a16="http://schemas.microsoft.com/office/drawing/2014/main" id="{3DD2B79B-0FEB-44B7-9DE9-F718A25C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339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21.4% → 7.1%</a:t>
            </a:r>
          </a:p>
        </p:txBody>
      </p:sp>
      <p:sp>
        <p:nvSpPr>
          <p:cNvPr id="19" name="s4-metric-delta-1">
            <a:extLst xmlns:a="http://schemas.openxmlformats.org/drawingml/2006/main">
              <a:ext uri="{FF2B5EF4-FFF2-40B4-BE49-F238E27FC236}">
                <a16:creationId xmlns:a16="http://schemas.microsoft.com/office/drawing/2014/main" id="{9FBB62FC-BAAB-43D1-A33C-F82867D5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733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−14.3%p</a:t>
            </a:r>
          </a:p>
        </p:txBody>
      </p:sp>
      <p:sp>
        <p:nvSpPr>
          <p:cNvPr id="20" name="s4-metric-name-2">
            <a:extLst xmlns:a="http://schemas.openxmlformats.org/drawingml/2006/main">
              <a:ext uri="{FF2B5EF4-FFF2-40B4-BE49-F238E27FC236}">
                <a16:creationId xmlns:a16="http://schemas.microsoft.com/office/drawing/2014/main" id="{747DCFA2-FDC2-4212-840D-C4D8EF17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53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중앙 지연</a:t>
            </a:r>
          </a:p>
        </p:txBody>
      </p:sp>
      <p:sp>
        <p:nvSpPr>
          <p:cNvPr id="21" name="s4-metric-value-2">
            <a:extLst xmlns:a="http://schemas.openxmlformats.org/drawingml/2006/main">
              <a:ext uri="{FF2B5EF4-FFF2-40B4-BE49-F238E27FC236}">
                <a16:creationId xmlns:a16="http://schemas.microsoft.com/office/drawing/2014/main" id="{5C93000A-EFAE-45EA-9CE7-7CD2BEC3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530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5.5초 → 3.2초</a:t>
            </a:r>
          </a:p>
        </p:txBody>
      </p:sp>
      <p:sp>
        <p:nvSpPr>
          <p:cNvPr id="22" name="s4-metric-delta-2">
            <a:extLst xmlns:a="http://schemas.openxmlformats.org/drawingml/2006/main">
              <a:ext uri="{FF2B5EF4-FFF2-40B4-BE49-F238E27FC236}">
                <a16:creationId xmlns:a16="http://schemas.microsoft.com/office/drawing/2014/main" id="{9DC095F8-6346-4FF6-B494-94E740D6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353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−2.3초</a:t>
            </a:r>
          </a:p>
        </p:txBody>
      </p:sp>
    </p:spTree>
    <p:extLst>
      <p:ext uri="{BB962C8B-B14F-4D97-AF65-F5344CB8AC3E}">
        <p14:creationId xmlns:p14="http://schemas.microsoft.com/office/powerpoint/2010/main" val="1440612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6b3fdd7754a54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6D79A4BE-1191-47AE-9F94-A97E1898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다음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CAA24-ABE3-407F-86DA-E24E8BA6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2AB4B293-5015-4771-ADB9-FC30D0FC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5">
            <a:extLst xmlns:a="http://schemas.openxmlformats.org/drawingml/2006/main">
              <a:ext uri="{FF2B5EF4-FFF2-40B4-BE49-F238E27FC236}">
                <a16:creationId xmlns:a16="http://schemas.microsoft.com/office/drawing/2014/main" id="{C39A09FD-A9FE-482F-9823-0CEBF8CA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4DEE2A68-8C64-4995-AAD6-7D0ED201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7" name="s5-title">
            <a:extLst xmlns:a="http://schemas.openxmlformats.org/drawingml/2006/main">
              <a:ext uri="{FF2B5EF4-FFF2-40B4-BE49-F238E27FC236}">
                <a16:creationId xmlns:a16="http://schemas.microsoft.com/office/drawing/2014/main" id="{A4F63FA5-A29F-4CBE-A4A0-B655B359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이제 실제 50~70대 파일럿에서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가정을 관찰로 바꾼다</a:t>
            </a:r>
          </a:p>
        </p:txBody>
      </p:sp>
      <p:sp>
        <p:nvSpPr>
          <p:cNvPr id="8" name="s5-subtitle">
            <a:extLst xmlns:a="http://schemas.openxmlformats.org/drawingml/2006/main">
              <a:ext uri="{FF2B5EF4-FFF2-40B4-BE49-F238E27FC236}">
                <a16:creationId xmlns:a16="http://schemas.microsoft.com/office/drawing/2014/main" id="{1D6577E3-B251-4AC0-9010-241905F7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‘효과’보다 먼저, 어디서 왜 멈추는지 검증합니다.</a:t>
            </a:r>
          </a:p>
        </p:txBody>
      </p:sp>
      <p:sp>
        <p:nvSpPr>
          <p:cNvPr id="9" name="s5-plan-panel">
            <a:extLst xmlns:a="http://schemas.openxmlformats.org/drawingml/2006/main">
              <a:ext uri="{FF2B5EF4-FFF2-40B4-BE49-F238E27FC236}">
                <a16:creationId xmlns:a16="http://schemas.microsoft.com/office/drawing/2014/main" id="{257F1AEE-1E7D-48C5-A796-062E77AF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858500" cy="2400300"/>
          </a:xfrm>
          <a:prstGeom xmlns:a="http://schemas.openxmlformats.org/drawingml/2006/main" prst="roundRect">
            <a:avLst>
              <a:gd name="adj" fmla="val 10317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0" name="s5-step-number-0">
            <a:extLst xmlns:a="http://schemas.openxmlformats.org/drawingml/2006/main">
              <a:ext uri="{FF2B5EF4-FFF2-40B4-BE49-F238E27FC236}">
                <a16:creationId xmlns:a16="http://schemas.microsoft.com/office/drawing/2014/main" id="{E0F8B006-E10E-4087-AA83-A970F49B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s5-step-title-0">
            <a:extLst xmlns:a="http://schemas.openxmlformats.org/drawingml/2006/main">
              <a:ext uri="{FF2B5EF4-FFF2-40B4-BE49-F238E27FC236}">
                <a16:creationId xmlns:a16="http://schemas.microsoft.com/office/drawing/2014/main" id="{79D27185-0248-47D5-B0DD-42861A76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동의받은 자연 발화</a:t>
            </a:r>
          </a:p>
        </p:txBody>
      </p:sp>
      <p:sp>
        <p:nvSpPr>
          <p:cNvPr id="12" name="s5-step-body-0">
            <a:extLst xmlns:a="http://schemas.openxmlformats.org/drawingml/2006/main">
              <a:ext uri="{FF2B5EF4-FFF2-40B4-BE49-F238E27FC236}">
                <a16:creationId xmlns:a16="http://schemas.microsoft.com/office/drawing/2014/main" id="{AB9C9957-8ED7-4D20-A69A-E69D3EDE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지인·가족 50~70대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7일 사용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19421-8DEC-4B43-8B8E-6FFEE4A7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4" name="s5-step-number-1">
            <a:extLst xmlns:a="http://schemas.openxmlformats.org/drawingml/2006/main">
              <a:ext uri="{FF2B5EF4-FFF2-40B4-BE49-F238E27FC236}">
                <a16:creationId xmlns:a16="http://schemas.microsoft.com/office/drawing/2014/main" id="{99FF4F52-A941-4C7D-8656-082A4F74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s5-step-title-1">
            <a:extLst xmlns:a="http://schemas.openxmlformats.org/drawingml/2006/main">
              <a:ext uri="{FF2B5EF4-FFF2-40B4-BE49-F238E27FC236}">
                <a16:creationId xmlns:a16="http://schemas.microsoft.com/office/drawing/2014/main" id="{6098714A-87EF-493D-BF1E-9F36CE6D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동일 음성 이중 디코딩</a:t>
            </a:r>
          </a:p>
        </p:txBody>
      </p:sp>
      <p:sp>
        <p:nvSpPr>
          <p:cNvPr id="16" name="s5-step-body-1">
            <a:extLst xmlns:a="http://schemas.openxmlformats.org/drawingml/2006/main">
              <a:ext uri="{FF2B5EF4-FFF2-40B4-BE49-F238E27FC236}">
                <a16:creationId xmlns:a16="http://schemas.microsoft.com/office/drawing/2014/main" id="{7DF1805A-F693-4655-92C9-6AC8F80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baseline / assist를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같은 입력으로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B0BC1-0AE0-4543-AD50-7395143C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3375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8" name="s5-step-number-2">
            <a:extLst xmlns:a="http://schemas.openxmlformats.org/drawingml/2006/main">
              <a:ext uri="{FF2B5EF4-FFF2-40B4-BE49-F238E27FC236}">
                <a16:creationId xmlns:a16="http://schemas.microsoft.com/office/drawing/2014/main" id="{BD62F148-F40D-419D-AF2F-13D60554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s5-step-title-2">
            <a:extLst xmlns:a="http://schemas.openxmlformats.org/drawingml/2006/main">
              <a:ext uri="{FF2B5EF4-FFF2-40B4-BE49-F238E27FC236}">
                <a16:creationId xmlns:a16="http://schemas.microsoft.com/office/drawing/2014/main" id="{061C6622-2C37-4645-B492-60A70762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조건을 가린 사람 검토</a:t>
            </a:r>
          </a:p>
        </p:txBody>
      </p:sp>
      <p:sp>
        <p:nvSpPr>
          <p:cNvPr id="20" name="s5-step-body-2">
            <a:extLst xmlns:a="http://schemas.openxmlformats.org/drawingml/2006/main">
              <a:ext uri="{FF2B5EF4-FFF2-40B4-BE49-F238E27FC236}">
                <a16:creationId xmlns:a16="http://schemas.microsoft.com/office/drawing/2014/main" id="{49A86573-A398-463C-B19F-BD7E8A88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사용 가능 전사와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의미 단서 보존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B5D86-9DB3-45C4-B312-7B8210F4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22" name="s5-step-number-3">
            <a:extLst xmlns:a="http://schemas.openxmlformats.org/drawingml/2006/main">
              <a:ext uri="{FF2B5EF4-FFF2-40B4-BE49-F238E27FC236}">
                <a16:creationId xmlns:a16="http://schemas.microsoft.com/office/drawing/2014/main" id="{C8347C2C-FA36-465F-A8F2-71F03A52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s5-step-title-3">
            <a:extLst xmlns:a="http://schemas.openxmlformats.org/drawingml/2006/main">
              <a:ext uri="{FF2B5EF4-FFF2-40B4-BE49-F238E27FC236}">
                <a16:creationId xmlns:a16="http://schemas.microsoft.com/office/drawing/2014/main" id="{750E5447-93AE-43DD-8517-0F438D51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실패 원인까지 연결</a:t>
            </a:r>
          </a:p>
        </p:txBody>
      </p:sp>
      <p:sp>
        <p:nvSpPr>
          <p:cNvPr id="24" name="s5-step-body-3">
            <a:extLst xmlns:a="http://schemas.openxmlformats.org/drawingml/2006/main">
              <a:ext uri="{FF2B5EF4-FFF2-40B4-BE49-F238E27FC236}">
                <a16:creationId xmlns:a16="http://schemas.microsoft.com/office/drawing/2014/main" id="{2F15096E-A64C-4662-9830-1EF93ADB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권한 거부 · no-speech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STT 실패 · 취소 · 사용 소감</a:t>
            </a:r>
          </a:p>
        </p:txBody>
      </p:sp>
      <p:sp>
        <p:nvSpPr>
          <p:cNvPr id="25" name="s5-closing">
            <a:extLst xmlns:a="http://schemas.openxmlformats.org/drawingml/2006/main">
              <a:ext uri="{FF2B5EF4-FFF2-40B4-BE49-F238E27FC236}">
                <a16:creationId xmlns:a16="http://schemas.microsoft.com/office/drawing/2014/main" id="{D9529627-7BF7-4E98-AB36-F27A8D62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샘플 데이터는 답이 아니라, 실제 테스트를 빠르게 만드는 리허설입니다.</a:t>
            </a:r>
          </a:p>
        </p:txBody>
      </p:sp>
    </p:spTree>
    <p:extLst>
      <p:ext uri="{BB962C8B-B14F-4D97-AF65-F5344CB8AC3E}">
        <p14:creationId xmlns:p14="http://schemas.microsoft.com/office/powerpoint/2010/main" val="1099935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2026-08-07T01:34:45.3900000Z</dcterms:created>
  <dcterms:modified xsi:type="dcterms:W3CDTF">2026-08-07T01:34:45.3900000Z</dcterms:modified>
</coreProperties>
</file>