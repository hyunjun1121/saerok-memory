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Noto Sans JP" panose="020B0200000000000000" pitchFamily="34" charset="-128"/>
      <p:regular r:id="rId25"/>
      <p:bold r:id="rId26"/>
    </p:embeddedFont>
    <p:embeddedFont>
      <p:font typeface="나눔스퀘어라운드 Bold" panose="020B0600000101010101" pitchFamily="50" charset="-127"/>
      <p:bold r:id="rId27"/>
    </p:embeddedFont>
    <p:embeddedFont>
      <p:font typeface="나눔스퀘어라운드 ExtraBold" panose="020B0600000101010101" pitchFamily="50" charset="-127"/>
      <p:bold r:id="rId28"/>
    </p:embeddedFont>
    <p:embeddedFont>
      <p:font typeface="나눔스퀘어라운드 Regular" panose="020B0600000101010101" pitchFamily="50" charset="-127"/>
      <p:regular r:id="rId29"/>
    </p:embeddedFont>
    <p:embeddedFont>
      <p:font typeface="나눔스퀘어라운드OTF Bold" panose="020B0600000101010101" pitchFamily="34" charset="-127"/>
      <p:bold r:id="rId3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018"/>
    <a:srgbClr val="F57265"/>
    <a:srgbClr val="F78E84"/>
    <a:srgbClr val="5E9A6A"/>
    <a:srgbClr val="74A87E"/>
    <a:srgbClr val="9C8B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8CA7-5ECB-4923-9AA5-A38026970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2C2EE-26F6-4A80-9CCB-B1684B825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5F0A6-F386-45E2-A52C-24311B1AB2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A697B-CEEB-43C9-99B7-A8798E2EC7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9B750-5173-41F5-A51F-674F282E2F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9753-751B-421A-A2D8-D8B2BA55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DD71-5007-4917-8822-857E9ADB8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162E-E6CA-4704-B5A8-854B206B12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B7EC8-2C4B-4557-B1D4-D6620EC781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752BA-B36F-4B34-AA00-AA3B0FB34B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A9EB-8CBB-471F-A472-4A1B2851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E06C-427E-475B-9DA0-0FF88E00F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774CA-1DA4-4F80-AC0F-0A4932EB2A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82984-A317-4DBD-9EBC-20B7FB389E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3E8C2-0F3C-4776-93A5-15E0876065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535E-62B3-46E8-AC9B-CCA6FD39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AB9D-2C5B-470E-8902-12363B2AB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0587B-0CAA-491E-B68C-B201D7F6484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F8ED8-3E07-4D9C-95C0-59EE37711A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60EE4-DBF4-4363-B70F-C05FA40B23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41957-85FA-44CA-A396-474769B8D9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D681-1457-4DA7-8B9B-6A6D7082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5F548-28CE-489C-A985-1E2EAF182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54B3E-52DA-46F1-A119-3CE55B0F83E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DB9ED-B661-4750-8B0E-6A85676BD04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097C3-D377-4B50-AAE6-346FC876845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3EDC5-C353-4E94-9418-6E1851DEF5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23188-78E1-4A91-AF31-E171024169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9A8D5-3965-42A6-81D3-6444298D5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4105-5A56-4DF6-86BA-7279CA01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88FFC-7D23-4B0B-8B9B-1CC20E6FAA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6B043-DBE5-41B5-B53B-E511225832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CD0C8-504D-4849-9699-80CD2830A0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F549F-FF89-4D6C-9CB4-BCADFC9E5B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C573-B1B8-4BC8-A738-285B2F6190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3CE85-FDEA-4A03-A0E2-FF1CA3D143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9A01-9D72-47D2-B0EA-5B7304A9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31788-7125-4E8C-9542-A42225A2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C4B92-6C8E-4A93-8704-AAD119F787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68170-590C-425A-B3DA-F9A96585DD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9CCBB-60CD-4D6B-938C-ECD8B6ADB9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9754E-7F3E-494F-89A1-E0697CDC4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715D-4585-4D6B-B10E-7AFCB488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7FAB0-0279-4C02-9A87-C4FDECF0B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652A8-9EAA-42A4-8B7B-66E3062AFC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66578-E05F-473B-AB72-10B96CE6E0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88F35-2CB7-450C-B1E8-EBA9D38EFE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CEBC7-BC1A-4430-917C-F4D35C6DB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4623-08B7-4598-AFF7-FC002DD3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84ABC-8601-40AB-9BAE-1E20CC603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7E4BB-D431-4D19-8575-AEB7703E57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3344E-A3D9-4ACF-AA48-C23E22FD1D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20F77-BFB2-46EA-8E5B-0BA089B7FC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B9A76-7007-4D42-91B5-3E8B29362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EF636-BFA2-4F48-9BB9-173B1444B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F3BDD-1055-4A24-8636-F792449FB1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5F54-5DBF-44A7-8B40-F18A278314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1F4C0-E291-4031-A433-A3E5FE17EA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E6F8A-3084-4E59-B469-8167154F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9BAA2-81C8-4BBA-BBDF-D3343755F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D8A3F-85DF-465B-90C4-CEC5156D22D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2026-08-26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416D8-EB44-4844-8E9B-283701A94C8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864A-73AA-4F93-864D-2D1881C2324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0"/>
          <p:cNvPicPr>
            <a:picLocks noChangeAspect="1"/>
          </p:cNvPicPr>
          <p:nvPr/>
        </p:nvPicPr>
        <p:blipFill>
          <a:blip r:embed="rId3"/>
          <a:srcRect l="18801" r="21413"/>
          <a:stretch>
            <a:fillRect/>
          </a:stretch>
        </p:blipFill>
        <p:spPr>
          <a:xfrm>
            <a:off x="7011924" y="0"/>
            <a:ext cx="518007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83D7BE-7775-47DF-A1AF-2FDBF263D866}"/>
              </a:ext>
            </a:extLst>
          </p:cNvPr>
          <p:cNvSpPr>
            <a:spLocks noGrp="1"/>
          </p:cNvSpPr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200" b="1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検査と感じさせない</a:t>
            </a:r>
            <a:endParaRPr sz="3200" b="1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BD036-8879-4E7C-B38E-D8E8E144C6A1}"/>
              </a:ext>
            </a:extLst>
          </p:cNvPr>
          <p:cNvSpPr>
            <a:spLocks noGrp="1"/>
          </p:cNvSpPr>
          <p:nvPr/>
        </p:nvSpPr>
        <p:spPr>
          <a:xfrm>
            <a:off x="881634" y="2811673"/>
            <a:ext cx="394018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脳トレーニング・キオスク</a:t>
            </a:r>
            <a:endParaRPr sz="2400" b="1" dirty="0">
              <a:solidFill>
                <a:srgbClr val="F57265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CC343-B5E8-4CEE-93FE-BE14D01FFF55}"/>
              </a:ext>
            </a:extLst>
          </p:cNvPr>
          <p:cNvSpPr>
            <a:spLocks noGrp="1"/>
          </p:cNvSpPr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D94172-D020-45C5-AEE2-140CE3522F50}"/>
              </a:ext>
            </a:extLst>
          </p:cNvPr>
          <p:cNvSpPr>
            <a:spLocks noGrp="1"/>
          </p:cNvSpPr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53BD8-B1E7-45A7-A1DB-1FDDF0FF54B6}"/>
              </a:ext>
            </a:extLst>
          </p:cNvPr>
          <p:cNvSpPr>
            <a:spLocks noGrp="1"/>
          </p:cNvSpPr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1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高齢者・家族・福祉・医療をつなぐ日々の記録</a:t>
            </a:r>
            <a:endParaRPr sz="141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FE313-DACA-46B4-85A3-F22202D65D39}"/>
              </a:ext>
            </a:extLst>
          </p:cNvPr>
          <p:cNvSpPr>
            <a:spLocks noGrp="1"/>
          </p:cNvSpPr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568F0E-BFB3-46C6-A4E9-C9CE89DDB305}"/>
              </a:ext>
            </a:extLst>
          </p:cNvPr>
          <p:cNvSpPr>
            <a:spLocks noGrp="1"/>
          </p:cNvSpPr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1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AIパーソナライズ設問・今日の発話が明日の手がかりに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F5CB33-B1E0-4110-8595-B360C0BAAB00}"/>
              </a:ext>
            </a:extLst>
          </p:cNvPr>
          <p:cNvSpPr>
            <a:spLocks noGrp="1"/>
          </p:cNvSpPr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8C68C-0AFC-4497-98FA-BA48DE717659}"/>
              </a:ext>
            </a:extLst>
          </p:cNvPr>
          <p:cNvSpPr>
            <a:spLocks noGrp="1"/>
          </p:cNvSpPr>
          <p:nvPr/>
        </p:nvSpPr>
        <p:spPr>
          <a:xfrm>
            <a:off x="1155954" y="4629912"/>
            <a:ext cx="2911053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41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2×2ボタンと音声認識を備えたキオスク</a:t>
            </a:r>
            <a:endParaRPr sz="141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4A7DF5-302E-4FF3-B136-2127C6C46759}"/>
              </a:ext>
            </a:extLst>
          </p:cNvPr>
          <p:cNvSpPr>
            <a:spLocks noGrp="1"/>
          </p:cNvSpPr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7D47B-72F1-42DC-AB0D-9AD09C39729C}"/>
              </a:ext>
            </a:extLst>
          </p:cNvPr>
          <p:cNvSpPr>
            <a:spLocks noGrp="1"/>
          </p:cNvSpPr>
          <p:nvPr/>
        </p:nvSpPr>
        <p:spPr>
          <a:xfrm>
            <a:off x="881634" y="5365885"/>
            <a:ext cx="17344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0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Haru（ハル） by オガサ</a:t>
            </a:r>
            <a:endParaRPr sz="20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A9101C-94B0-4C6C-A305-8ADAC2BC7C54}"/>
              </a:ext>
            </a:extLst>
          </p:cNvPr>
          <p:cNvSpPr>
            <a:spLocks noGrp="1"/>
          </p:cNvSpPr>
          <p:nvPr/>
        </p:nvSpPr>
        <p:spPr>
          <a:xfrm>
            <a:off x="881634" y="5812040"/>
            <a:ext cx="51800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Noto Sans JP"/>
                <a:ea typeface="Noto Sans JP"/>
                <a:cs typeface="Noto Sans JP"/>
              </a:rPr>
              <a:t>2026 グローバルPIUDAプロジェクト・王中王戦</a:t>
            </a:r>
            <a:endParaRPr sz="1400" b="0">
              <a:solidFill>
                <a:schemeClr val="tx1">
                  <a:lumMod val="50000"/>
                  <a:lumOff val="50000"/>
                </a:schemeClr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A82595-699D-4339-80BD-490C74B83EE9}"/>
              </a:ext>
            </a:extLst>
          </p:cNvPr>
          <p:cNvSpPr>
            <a:spLocks noGrp="1"/>
          </p:cNvSpPr>
          <p:nvPr/>
        </p:nvSpPr>
        <p:spPr>
          <a:xfrm>
            <a:off x="10839157" y="5391187"/>
            <a:ext cx="124358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7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82" y="273571"/>
            <a:ext cx="3884033" cy="1979778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BDAFE58-54A7-26FF-DD5D-0FED4A9735A9}"/>
              </a:ext>
            </a:extLst>
          </p:cNvPr>
          <p:cNvSpPr>
            <a:spLocks noGrp="1"/>
          </p:cNvSpPr>
          <p:nvPr/>
        </p:nvSpPr>
        <p:spPr>
          <a:xfrm>
            <a:off x="7357473" y="6207135"/>
            <a:ext cx="3215874" cy="355915"/>
          </a:xfrm>
          <a:prstGeom prst="roundRect">
            <a:avLst>
              <a:gd name="adj" fmla="val 50000"/>
            </a:avLst>
          </a:prstGeom>
          <a:solidFill>
            <a:srgbClr val="2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3FECAA2E-A2E2-6941-37AE-A9353481E99B}"/>
              </a:ext>
            </a:extLst>
          </p:cNvPr>
          <p:cNvSpPr>
            <a:spLocks noGrp="1"/>
          </p:cNvSpPr>
          <p:nvPr/>
        </p:nvSpPr>
        <p:spPr>
          <a:xfrm>
            <a:off x="7567784" y="6296443"/>
            <a:ext cx="128016" cy="12801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33A0DD70-4C08-89A0-3E07-F58D962984CA}"/>
              </a:ext>
            </a:extLst>
          </p:cNvPr>
          <p:cNvSpPr>
            <a:spLocks noGrp="1"/>
          </p:cNvSpPr>
          <p:nvPr/>
        </p:nvSpPr>
        <p:spPr>
          <a:xfrm>
            <a:off x="7795623" y="6261485"/>
            <a:ext cx="2614498" cy="2169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1410" b="0" dirty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https://haru-japan.vercel.app/</a:t>
            </a:r>
            <a:endParaRPr sz="1410" b="0" dirty="0">
              <a:solidFill>
                <a:srgbClr val="FFFFFF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60CAE40-2885-2421-049F-7AAFCD031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2309" y="5460804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92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>
            <a:spLocks noGrp="1"/>
          </p:cNvSpPr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E10C20-D8A1-4343-92E6-CD62D06F34D1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PROBLEM・課題設定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6E170-1DAB-4BD2-A6F4-B3F436492D5B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7271221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超高齢社会とケアに残</a:t>
            </a:r>
            <a:r>
              <a:rPr sz="315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る日常記録の空白</a:t>
            </a:r>
            <a:endParaRPr sz="3150" b="1" dirty="0">
              <a:solidFill>
                <a:srgbClr val="F57265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D78C8-51BA-49DE-AF82-C969D6EE3B1B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認知症人口の増加・家族負担・施設での反復観察の限界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336C42-11D8-46CF-B97F-2EBEAFC093EF}"/>
              </a:ext>
            </a:extLst>
          </p:cNvPr>
          <p:cNvSpPr>
            <a:spLocks noGrp="1"/>
          </p:cNvSpPr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26588-DC41-4F6C-A054-681DD5CB255B}"/>
              </a:ext>
            </a:extLst>
          </p:cNvPr>
          <p:cNvSpPr>
            <a:spLocks noGrp="1"/>
          </p:cNvSpPr>
          <p:nvPr/>
        </p:nvSpPr>
        <p:spPr>
          <a:xfrm>
            <a:off x="1380744" y="1937154"/>
            <a:ext cx="138499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家族・介護者</a:t>
            </a:r>
            <a:endParaRPr b="1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0DC8A-DBE5-4CF7-AACD-BFFE11EFBF0A}"/>
              </a:ext>
            </a:extLst>
          </p:cNvPr>
          <p:cNvSpPr>
            <a:spLocks noGrp="1"/>
          </p:cNvSpPr>
          <p:nvPr/>
        </p:nvSpPr>
        <p:spPr>
          <a:xfrm>
            <a:off x="850392" y="2352120"/>
            <a:ext cx="3108960" cy="7093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日々の安否や変化を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確認する手段がない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239AF-AF95-4792-8E84-2397685CFC7D}"/>
              </a:ext>
            </a:extLst>
          </p:cNvPr>
          <p:cNvSpPr>
            <a:spLocks noGrp="1"/>
          </p:cNvSpPr>
          <p:nvPr/>
        </p:nvSpPr>
        <p:spPr>
          <a:xfrm>
            <a:off x="850392" y="3100872"/>
            <a:ext cx="3200400" cy="519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子どもには学習アプリがある一方、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親の安否確認は時折の電話に限られます。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A742F6-1CEC-48A1-B5D6-438BAE4EDDD0}"/>
              </a:ext>
            </a:extLst>
          </p:cNvPr>
          <p:cNvSpPr>
            <a:spLocks noGrp="1"/>
          </p:cNvSpPr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82BBF-8B5D-4FD9-A5DA-FBA677A4836E}"/>
              </a:ext>
            </a:extLst>
          </p:cNvPr>
          <p:cNvSpPr>
            <a:spLocks noGrp="1"/>
          </p:cNvSpPr>
          <p:nvPr/>
        </p:nvSpPr>
        <p:spPr>
          <a:xfrm>
            <a:off x="5129784" y="1937154"/>
            <a:ext cx="69249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高齢者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74B7C4-25DF-4151-B970-5C4DBEEF5FF2}"/>
              </a:ext>
            </a:extLst>
          </p:cNvPr>
          <p:cNvSpPr>
            <a:spLocks noGrp="1"/>
          </p:cNvSpPr>
          <p:nvPr/>
        </p:nvSpPr>
        <p:spPr>
          <a:xfrm>
            <a:off x="4599432" y="2352120"/>
            <a:ext cx="3108960" cy="7093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検査への抵抗感と小さな画面が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記録を阻む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CF161-DFB8-413A-9C8C-8E03598A361C}"/>
              </a:ext>
            </a:extLst>
          </p:cNvPr>
          <p:cNvSpPr>
            <a:spLocks noGrp="1"/>
          </p:cNvSpPr>
          <p:nvPr/>
        </p:nvSpPr>
        <p:spPr>
          <a:xfrm>
            <a:off x="4599432" y="3100872"/>
            <a:ext cx="3200400" cy="519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文字を拡大しても見えにくく、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通話中心の端末を使っています。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6BB5406-4152-42AC-A335-E9179B62B6C4}"/>
              </a:ext>
            </a:extLst>
          </p:cNvPr>
          <p:cNvSpPr>
            <a:spLocks noGrp="1"/>
          </p:cNvSpPr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204BAC-86BC-4696-8F2C-242E55EB0397}"/>
              </a:ext>
            </a:extLst>
          </p:cNvPr>
          <p:cNvSpPr>
            <a:spLocks noGrp="1"/>
          </p:cNvSpPr>
          <p:nvPr/>
        </p:nvSpPr>
        <p:spPr>
          <a:xfrm>
            <a:off x="8878824" y="1937154"/>
            <a:ext cx="161582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福祉・医療機関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BAE4C-4941-4410-8C60-4F48A9BF189F}"/>
              </a:ext>
            </a:extLst>
          </p:cNvPr>
          <p:cNvSpPr>
            <a:spLocks noGrp="1"/>
          </p:cNvSpPr>
          <p:nvPr/>
        </p:nvSpPr>
        <p:spPr>
          <a:xfrm>
            <a:off x="8348471" y="2352120"/>
            <a:ext cx="3108960" cy="7093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日々見守る人手も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記録手段もない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4D2C08-0167-4762-A31D-83E183743705}"/>
              </a:ext>
            </a:extLst>
          </p:cNvPr>
          <p:cNvSpPr>
            <a:spLocks noGrp="1"/>
          </p:cNvSpPr>
          <p:nvPr/>
        </p:nvSpPr>
        <p:spPr>
          <a:xfrm>
            <a:off x="8348471" y="3100872"/>
            <a:ext cx="3200400" cy="519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手書き観察と反復質問に頼り、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データが残りません。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D59634-C74E-424A-9216-A571066608CF}"/>
              </a:ext>
            </a:extLst>
          </p:cNvPr>
          <p:cNvSpPr>
            <a:spLocks noGrp="1"/>
          </p:cNvSpPr>
          <p:nvPr/>
        </p:nvSpPr>
        <p:spPr>
          <a:xfrm>
            <a:off x="1638033" y="4041648"/>
            <a:ext cx="891590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変化は診断前から始まる一方、日</a:t>
            </a:r>
            <a:r>
              <a:rPr sz="2400" b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々を記録する手段がありません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E7EFE-1C32-4464-81BF-90BFFC2D44DA}"/>
              </a:ext>
            </a:extLst>
          </p:cNvPr>
          <p:cNvSpPr>
            <a:spLocks noGrp="1"/>
          </p:cNvSpPr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2C3B5B-A7FF-4861-9F22-7401F2127825}"/>
              </a:ext>
            </a:extLst>
          </p:cNvPr>
          <p:cNvSpPr>
            <a:spLocks noGrp="1"/>
          </p:cNvSpPr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6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4BD2F4-9864-4F66-94E2-19DFB5861BF3}"/>
              </a:ext>
            </a:extLst>
          </p:cNvPr>
          <p:cNvSpPr>
            <a:spLocks noGrp="1"/>
          </p:cNvSpPr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65歳以上人口比率・韓国 2025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29B232-8CEE-4578-BCFC-9B84C334BA1D}"/>
              </a:ext>
            </a:extLst>
          </p:cNvPr>
          <p:cNvSpPr>
            <a:spLocks noGrp="1"/>
          </p:cNvSpPr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出典・韓国国家データ処『2025 高齢者統計』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015687-1A5C-4B80-AF35-59707AC1A7C4}"/>
              </a:ext>
            </a:extLst>
          </p:cNvPr>
          <p:cNvSpPr>
            <a:spLocks noGrp="1"/>
          </p:cNvSpPr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4A67DC-B081-43E8-999B-0F12819A1A8A}"/>
              </a:ext>
            </a:extLst>
          </p:cNvPr>
          <p:cNvSpPr>
            <a:spLocks noGrp="1"/>
          </p:cNvSpPr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6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約101万人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73A4F4-0F0E-40F8-BDF0-836C62AB7A58}"/>
              </a:ext>
            </a:extLst>
          </p:cNvPr>
          <p:cNvSpPr>
            <a:spLocks noGrp="1"/>
          </p:cNvSpPr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65歳以上の推計認知症人口・2026年見通し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62C0EA-D2AF-4E70-AFBF-3CDA3F25B741}"/>
              </a:ext>
            </a:extLst>
          </p:cNvPr>
          <p:cNvSpPr>
            <a:spLocks noGrp="1"/>
          </p:cNvSpPr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出典・韓国保健福祉部『2023 認知症疫学調査』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26524B-BDEB-4A40-997E-FFCAE36F3B3B}"/>
              </a:ext>
            </a:extLst>
          </p:cNvPr>
          <p:cNvSpPr>
            <a:spLocks noGrp="1"/>
          </p:cNvSpPr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E20A7F-7881-48B9-A079-9954B534950A}"/>
              </a:ext>
            </a:extLst>
          </p:cNvPr>
          <p:cNvSpPr>
            <a:spLocks noGrp="1"/>
          </p:cNvSpPr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6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29.4%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E8CD33-B804-4A98-9D5B-DB4F1EBA902B}"/>
              </a:ext>
            </a:extLst>
          </p:cNvPr>
          <p:cNvSpPr>
            <a:spLocks noGrp="1"/>
          </p:cNvSpPr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65歳以上人口比率・日本 2025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184AEA-EC06-49EF-84C7-477A90D536F6}"/>
              </a:ext>
            </a:extLst>
          </p:cNvPr>
          <p:cNvSpPr>
            <a:spLocks noGrp="1"/>
          </p:cNvSpPr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出典・日本総務省統計局 2025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0203D6-CAEC-4BF8-B7BD-253AC666B1E3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FD2D66-C8B7-4504-9397-4CABFE194AC7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Labs・課題設定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56C9AD-90EE-4C70-97C3-8208DF50FEDC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93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42" name="Rectangle 8">
            <a:extLst>
              <a:ext uri="{FF2B5EF4-FFF2-40B4-BE49-F238E27FC236}">
                <a16:creationId xmlns:a16="http://schemas.microsoft.com/office/drawing/2014/main" id="{8B91D425-76FE-4C84-D0A0-0C4421F6B02F}"/>
              </a:ext>
            </a:extLst>
          </p:cNvPr>
          <p:cNvSpPr>
            <a:spLocks noGrp="1"/>
          </p:cNvSpPr>
          <p:nvPr/>
        </p:nvSpPr>
        <p:spPr>
          <a:xfrm>
            <a:off x="838339" y="1866103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44" name="Freeform 9">
            <a:extLst>
              <a:ext uri="{FF2B5EF4-FFF2-40B4-BE49-F238E27FC236}">
                <a16:creationId xmlns:a16="http://schemas.microsoft.com/office/drawing/2014/main" id="{A968C8A1-FB1B-00E5-5BA4-6C78F7EE70A1}"/>
              </a:ext>
            </a:extLst>
          </p:cNvPr>
          <p:cNvSpPr>
            <a:spLocks noGrp="1"/>
          </p:cNvSpPr>
          <p:nvPr/>
        </p:nvSpPr>
        <p:spPr>
          <a:xfrm>
            <a:off x="940442" y="1980396"/>
            <a:ext cx="214616" cy="189136"/>
          </a:xfrm>
          <a:custGeom>
            <a:avLst/>
            <a:gdLst/>
            <a:ahLst/>
            <a:cxnLst/>
            <a:rect l="l" t="t" r="r" b="b"/>
            <a:pathLst>
              <a:path w="214616" h="189136">
                <a:moveTo>
                  <a:pt x="55636" y="3152"/>
                </a:moveTo>
                <a:cubicBezTo>
                  <a:pt x="74135" y="0"/>
                  <a:pt x="93064" y="5408"/>
                  <a:pt x="107106" y="17856"/>
                </a:cubicBezTo>
                <a:lnTo>
                  <a:pt x="107488" y="18197"/>
                </a:lnTo>
                <a:lnTo>
                  <a:pt x="107839" y="17887"/>
                </a:lnTo>
                <a:cubicBezTo>
                  <a:pt x="121224" y="6141"/>
                  <a:pt x="139019" y="727"/>
                  <a:pt x="156678" y="3028"/>
                </a:cubicBezTo>
                <a:lnTo>
                  <a:pt x="159216" y="3400"/>
                </a:lnTo>
                <a:cubicBezTo>
                  <a:pt x="181632" y="7270"/>
                  <a:pt x="200120" y="23121"/>
                  <a:pt x="207368" y="44683"/>
                </a:cubicBezTo>
                <a:cubicBezTo>
                  <a:pt x="214616" y="66245"/>
                  <a:pt x="209455" y="90045"/>
                  <a:pt x="193928" y="106670"/>
                </a:cubicBezTo>
                <a:lnTo>
                  <a:pt x="192071" y="108579"/>
                </a:lnTo>
                <a:lnTo>
                  <a:pt x="191576" y="109002"/>
                </a:lnTo>
                <a:lnTo>
                  <a:pt x="114701" y="185144"/>
                </a:lnTo>
                <a:cubicBezTo>
                  <a:pt x="111032" y="188775"/>
                  <a:pt x="105244" y="189136"/>
                  <a:pt x="101152" y="185990"/>
                </a:cubicBezTo>
                <a:lnTo>
                  <a:pt x="100182" y="185144"/>
                </a:lnTo>
                <a:lnTo>
                  <a:pt x="22864" y="108558"/>
                </a:lnTo>
                <a:cubicBezTo>
                  <a:pt x="6162" y="92307"/>
                  <a:pt x="0" y="68055"/>
                  <a:pt x="6919" y="45803"/>
                </a:cubicBezTo>
                <a:cubicBezTo>
                  <a:pt x="13837" y="23550"/>
                  <a:pt x="32665" y="7067"/>
                  <a:pt x="55636" y="3152"/>
                </a:cubicBezTo>
                <a:close/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45" name="Rectangle 17">
            <a:extLst>
              <a:ext uri="{FF2B5EF4-FFF2-40B4-BE49-F238E27FC236}">
                <a16:creationId xmlns:a16="http://schemas.microsoft.com/office/drawing/2014/main" id="{3AD55E35-8CBD-BFEC-52D5-6203555763FD}"/>
              </a:ext>
            </a:extLst>
          </p:cNvPr>
          <p:cNvSpPr>
            <a:spLocks noGrp="1"/>
          </p:cNvSpPr>
          <p:nvPr/>
        </p:nvSpPr>
        <p:spPr>
          <a:xfrm>
            <a:off x="4587240" y="1866103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47" name="Freeform 18">
            <a:extLst>
              <a:ext uri="{FF2B5EF4-FFF2-40B4-BE49-F238E27FC236}">
                <a16:creationId xmlns:a16="http://schemas.microsoft.com/office/drawing/2014/main" id="{933D9564-A76E-3328-4F72-B9A8BD84E112}"/>
              </a:ext>
            </a:extLst>
          </p:cNvPr>
          <p:cNvSpPr>
            <a:spLocks noGrp="1"/>
          </p:cNvSpPr>
          <p:nvPr/>
        </p:nvSpPr>
        <p:spPr>
          <a:xfrm>
            <a:off x="4745196" y="1972465"/>
            <a:ext cx="103188" cy="103188"/>
          </a:xfrm>
          <a:custGeom>
            <a:avLst/>
            <a:gdLst/>
            <a:ahLst/>
            <a:cxnLst/>
            <a:rect l="l" t="t" r="r" b="b"/>
            <a:pathLst>
              <a:path w="103188" h="103188">
                <a:moveTo>
                  <a:pt x="51594" y="0"/>
                </a:moveTo>
                <a:cubicBezTo>
                  <a:pt x="80088" y="0"/>
                  <a:pt x="103188" y="23099"/>
                  <a:pt x="103188" y="51594"/>
                </a:cubicBezTo>
                <a:cubicBezTo>
                  <a:pt x="103188" y="80088"/>
                  <a:pt x="80088" y="103188"/>
                  <a:pt x="51594" y="103188"/>
                </a:cubicBezTo>
                <a:cubicBezTo>
                  <a:pt x="23099" y="103188"/>
                  <a:pt x="0" y="80088"/>
                  <a:pt x="0" y="51594"/>
                </a:cubicBezTo>
                <a:lnTo>
                  <a:pt x="52" y="49355"/>
                </a:lnTo>
                <a:cubicBezTo>
                  <a:pt x="1250" y="21758"/>
                  <a:pt x="23971" y="2"/>
                  <a:pt x="51594" y="0"/>
                </a:cubicBez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id="{24766954-E9B6-D213-E234-1774EF3583BE}"/>
              </a:ext>
            </a:extLst>
          </p:cNvPr>
          <p:cNvSpPr>
            <a:spLocks noGrp="1"/>
          </p:cNvSpPr>
          <p:nvPr/>
        </p:nvSpPr>
        <p:spPr>
          <a:xfrm>
            <a:off x="4724559" y="2096291"/>
            <a:ext cx="144462" cy="82550"/>
          </a:xfrm>
          <a:custGeom>
            <a:avLst/>
            <a:gdLst/>
            <a:ahLst/>
            <a:cxnLst/>
            <a:rect l="l" t="t" r="r" b="b"/>
            <a:pathLst>
              <a:path w="144462" h="82550">
                <a:moveTo>
                  <a:pt x="92869" y="0"/>
                </a:moveTo>
                <a:cubicBezTo>
                  <a:pt x="121363" y="0"/>
                  <a:pt x="144462" y="23099"/>
                  <a:pt x="144462" y="51594"/>
                </a:cubicBezTo>
                <a:lnTo>
                  <a:pt x="144462" y="61912"/>
                </a:lnTo>
                <a:cubicBezTo>
                  <a:pt x="144462" y="73310"/>
                  <a:pt x="135223" y="82550"/>
                  <a:pt x="123825" y="82550"/>
                </a:cubicBezTo>
                <a:lnTo>
                  <a:pt x="20637" y="82550"/>
                </a:lnTo>
                <a:cubicBezTo>
                  <a:pt x="9240" y="82550"/>
                  <a:pt x="0" y="73310"/>
                  <a:pt x="0" y="61912"/>
                </a:cubicBezTo>
                <a:lnTo>
                  <a:pt x="0" y="51594"/>
                </a:lnTo>
                <a:cubicBezTo>
                  <a:pt x="0" y="23099"/>
                  <a:pt x="23099" y="0"/>
                  <a:pt x="51594" y="0"/>
                </a:cubicBezTo>
                <a:lnTo>
                  <a:pt x="92869" y="0"/>
                </a:ln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50" name="Rectangle 28">
            <a:extLst>
              <a:ext uri="{FF2B5EF4-FFF2-40B4-BE49-F238E27FC236}">
                <a16:creationId xmlns:a16="http://schemas.microsoft.com/office/drawing/2014/main" id="{BDCF59A8-44F2-68C3-F4DF-8FA2371A3FD7}"/>
              </a:ext>
            </a:extLst>
          </p:cNvPr>
          <p:cNvSpPr>
            <a:spLocks noGrp="1"/>
          </p:cNvSpPr>
          <p:nvPr/>
        </p:nvSpPr>
        <p:spPr>
          <a:xfrm>
            <a:off x="8336280" y="1866103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52" name="Freeform 29">
            <a:extLst>
              <a:ext uri="{FF2B5EF4-FFF2-40B4-BE49-F238E27FC236}">
                <a16:creationId xmlns:a16="http://schemas.microsoft.com/office/drawing/2014/main" id="{945D575B-4128-6D61-E684-AA501DAA9185}"/>
              </a:ext>
            </a:extLst>
          </p:cNvPr>
          <p:cNvSpPr>
            <a:spLocks noGrp="1"/>
          </p:cNvSpPr>
          <p:nvPr/>
        </p:nvSpPr>
        <p:spPr>
          <a:xfrm>
            <a:off x="8442642" y="1972465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103188" y="0"/>
                </a:moveTo>
                <a:cubicBezTo>
                  <a:pt x="160178" y="0"/>
                  <a:pt x="206375" y="46197"/>
                  <a:pt x="206375" y="103188"/>
                </a:cubicBezTo>
                <a:cubicBezTo>
                  <a:pt x="206375" y="160176"/>
                  <a:pt x="160176" y="206375"/>
                  <a:pt x="103188" y="206375"/>
                </a:cubicBezTo>
                <a:cubicBezTo>
                  <a:pt x="46199" y="206375"/>
                  <a:pt x="0" y="160176"/>
                  <a:pt x="0" y="103188"/>
                </a:cubicBezTo>
                <a:lnTo>
                  <a:pt x="41" y="100298"/>
                </a:lnTo>
                <a:cubicBezTo>
                  <a:pt x="1568" y="44649"/>
                  <a:pt x="47157" y="0"/>
                  <a:pt x="103188" y="0"/>
                </a:cubicBezTo>
                <a:moveTo>
                  <a:pt x="123825" y="51594"/>
                </a:moveTo>
                <a:cubicBezTo>
                  <a:pt x="118126" y="51594"/>
                  <a:pt x="113506" y="56214"/>
                  <a:pt x="113506" y="61912"/>
                </a:cubicBezTo>
                <a:lnTo>
                  <a:pt x="113506" y="92858"/>
                </a:lnTo>
                <a:lnTo>
                  <a:pt x="92869" y="92858"/>
                </a:lnTo>
                <a:lnTo>
                  <a:pt x="92869" y="61912"/>
                </a:lnTo>
                <a:cubicBezTo>
                  <a:pt x="92868" y="56681"/>
                  <a:pt x="88953" y="52278"/>
                  <a:pt x="83757" y="51666"/>
                </a:cubicBezTo>
                <a:lnTo>
                  <a:pt x="82550" y="51594"/>
                </a:lnTo>
                <a:cubicBezTo>
                  <a:pt x="76851" y="51594"/>
                  <a:pt x="72231" y="56214"/>
                  <a:pt x="72231" y="61912"/>
                </a:cubicBezTo>
                <a:lnTo>
                  <a:pt x="72231" y="144463"/>
                </a:lnTo>
                <a:cubicBezTo>
                  <a:pt x="72231" y="150161"/>
                  <a:pt x="76851" y="154781"/>
                  <a:pt x="82550" y="154781"/>
                </a:cubicBezTo>
                <a:cubicBezTo>
                  <a:pt x="88249" y="154781"/>
                  <a:pt x="92869" y="150161"/>
                  <a:pt x="92869" y="144463"/>
                </a:cubicBezTo>
                <a:lnTo>
                  <a:pt x="92869" y="113496"/>
                </a:lnTo>
                <a:lnTo>
                  <a:pt x="113506" y="113496"/>
                </a:lnTo>
                <a:lnTo>
                  <a:pt x="113506" y="144463"/>
                </a:lnTo>
                <a:cubicBezTo>
                  <a:pt x="113507" y="149694"/>
                  <a:pt x="117422" y="154097"/>
                  <a:pt x="122618" y="154709"/>
                </a:cubicBezTo>
                <a:lnTo>
                  <a:pt x="123825" y="154781"/>
                </a:lnTo>
                <a:cubicBezTo>
                  <a:pt x="129524" y="154781"/>
                  <a:pt x="134144" y="150161"/>
                  <a:pt x="134144" y="144463"/>
                </a:cubicBezTo>
                <a:lnTo>
                  <a:pt x="134144" y="61912"/>
                </a:lnTo>
                <a:cubicBezTo>
                  <a:pt x="134144" y="56214"/>
                  <a:pt x="129524" y="51594"/>
                  <a:pt x="123825" y="51594"/>
                </a:cubicBezTo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pic>
        <p:nvPicPr>
          <p:cNvPr id="101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37" y="4851650"/>
            <a:ext cx="600384" cy="40056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102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0517" y="4868837"/>
            <a:ext cx="600673" cy="40044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8758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Ellipse 7">
            <a:extLst>
              <a:ext uri="{FF2B5EF4-FFF2-40B4-BE49-F238E27FC236}">
                <a16:creationId xmlns:a16="http://schemas.microsoft.com/office/drawing/2014/main" id="{7244949F-F85E-80E5-F2D9-A6BC3CF1509B}"/>
              </a:ext>
            </a:extLst>
          </p:cNvPr>
          <p:cNvSpPr>
            <a:spLocks noGrp="1"/>
          </p:cNvSpPr>
          <p:nvPr/>
        </p:nvSpPr>
        <p:spPr>
          <a:xfrm>
            <a:off x="4868395" y="2089521"/>
            <a:ext cx="2286000" cy="2286000"/>
          </a:xfrm>
          <a:prstGeom prst="ellipse">
            <a:avLst/>
          </a:prstGeom>
          <a:noFill/>
          <a:ln w="14288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59" name="Line 9">
            <a:extLst>
              <a:ext uri="{FF2B5EF4-FFF2-40B4-BE49-F238E27FC236}">
                <a16:creationId xmlns:a16="http://schemas.microsoft.com/office/drawing/2014/main" id="{B8F73BCB-C48C-A3E7-E60A-62B963BA07C4}"/>
              </a:ext>
            </a:extLst>
          </p:cNvPr>
          <p:cNvSpPr>
            <a:spLocks noGrp="1"/>
          </p:cNvSpPr>
          <p:nvPr/>
        </p:nvSpPr>
        <p:spPr>
          <a:xfrm>
            <a:off x="3934945" y="2280021"/>
            <a:ext cx="1466850" cy="571500"/>
          </a:xfrm>
          <a:custGeom>
            <a:avLst/>
            <a:gdLst/>
            <a:ahLst/>
            <a:cxnLst/>
            <a:rect l="l" t="t" r="r" b="b"/>
            <a:pathLst>
              <a:path w="1466850" h="571500">
                <a:moveTo>
                  <a:pt x="1466850" y="571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0" name="Line 10">
            <a:extLst>
              <a:ext uri="{FF2B5EF4-FFF2-40B4-BE49-F238E27FC236}">
                <a16:creationId xmlns:a16="http://schemas.microsoft.com/office/drawing/2014/main" id="{09B87292-AD93-91C8-DB11-35770D554E4B}"/>
              </a:ext>
            </a:extLst>
          </p:cNvPr>
          <p:cNvSpPr>
            <a:spLocks noGrp="1"/>
          </p:cNvSpPr>
          <p:nvPr/>
        </p:nvSpPr>
        <p:spPr>
          <a:xfrm>
            <a:off x="6620995" y="2280021"/>
            <a:ext cx="1466850" cy="571500"/>
          </a:xfrm>
          <a:custGeom>
            <a:avLst/>
            <a:gdLst/>
            <a:ahLst/>
            <a:cxnLst/>
            <a:rect l="l" t="t" r="r" b="b"/>
            <a:pathLst>
              <a:path w="1466850" h="571500">
                <a:moveTo>
                  <a:pt x="0" y="571500"/>
                </a:moveTo>
                <a:lnTo>
                  <a:pt x="1466850" y="0"/>
                </a:lnTo>
              </a:path>
            </a:pathLst>
          </a:custGeom>
          <a:noFill/>
          <a:ln w="19050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1" name="Line 11">
            <a:extLst>
              <a:ext uri="{FF2B5EF4-FFF2-40B4-BE49-F238E27FC236}">
                <a16:creationId xmlns:a16="http://schemas.microsoft.com/office/drawing/2014/main" id="{8CF46B06-9483-900A-365A-EFD5B47F3A54}"/>
              </a:ext>
            </a:extLst>
          </p:cNvPr>
          <p:cNvSpPr>
            <a:spLocks noGrp="1"/>
          </p:cNvSpPr>
          <p:nvPr/>
        </p:nvSpPr>
        <p:spPr>
          <a:xfrm>
            <a:off x="3934945" y="3613521"/>
            <a:ext cx="1466850" cy="571500"/>
          </a:xfrm>
          <a:custGeom>
            <a:avLst/>
            <a:gdLst/>
            <a:ahLst/>
            <a:cxnLst/>
            <a:rect l="l" t="t" r="r" b="b"/>
            <a:pathLst>
              <a:path w="1466850" h="571500">
                <a:moveTo>
                  <a:pt x="146685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2" name="Line 12">
            <a:extLst>
              <a:ext uri="{FF2B5EF4-FFF2-40B4-BE49-F238E27FC236}">
                <a16:creationId xmlns:a16="http://schemas.microsoft.com/office/drawing/2014/main" id="{55C7A0B3-EB56-1037-C9F2-27F36DD17C40}"/>
              </a:ext>
            </a:extLst>
          </p:cNvPr>
          <p:cNvSpPr>
            <a:spLocks noGrp="1"/>
          </p:cNvSpPr>
          <p:nvPr/>
        </p:nvSpPr>
        <p:spPr>
          <a:xfrm>
            <a:off x="6620995" y="3613521"/>
            <a:ext cx="1466850" cy="571500"/>
          </a:xfrm>
          <a:custGeom>
            <a:avLst/>
            <a:gdLst/>
            <a:ahLst/>
            <a:cxnLst/>
            <a:rect l="l" t="t" r="r" b="b"/>
            <a:pathLst>
              <a:path w="1466850" h="571500">
                <a:moveTo>
                  <a:pt x="0" y="0"/>
                </a:moveTo>
                <a:lnTo>
                  <a:pt x="1466850" y="571500"/>
                </a:lnTo>
              </a:path>
            </a:pathLst>
          </a:custGeom>
          <a:noFill/>
          <a:ln w="19050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4" name="Ellipse 14">
            <a:extLst>
              <a:ext uri="{FF2B5EF4-FFF2-40B4-BE49-F238E27FC236}">
                <a16:creationId xmlns:a16="http://schemas.microsoft.com/office/drawing/2014/main" id="{7F98A053-AC1F-BCD5-0F87-055C81BA0CBD}"/>
              </a:ext>
            </a:extLst>
          </p:cNvPr>
          <p:cNvSpPr>
            <a:spLocks noGrp="1"/>
          </p:cNvSpPr>
          <p:nvPr/>
        </p:nvSpPr>
        <p:spPr>
          <a:xfrm>
            <a:off x="5230345" y="2451471"/>
            <a:ext cx="1562100" cy="156210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5" name="Ellipse 15">
            <a:extLst>
              <a:ext uri="{FF2B5EF4-FFF2-40B4-BE49-F238E27FC236}">
                <a16:creationId xmlns:a16="http://schemas.microsoft.com/office/drawing/2014/main" id="{43FD5FD6-D3FC-0D9F-8A8B-DB536328E2E9}"/>
              </a:ext>
            </a:extLst>
          </p:cNvPr>
          <p:cNvSpPr>
            <a:spLocks noGrp="1"/>
          </p:cNvSpPr>
          <p:nvPr/>
        </p:nvSpPr>
        <p:spPr>
          <a:xfrm>
            <a:off x="5344645" y="2565771"/>
            <a:ext cx="1333500" cy="1333500"/>
          </a:xfrm>
          <a:prstGeom prst="ellipse">
            <a:avLst/>
          </a:prstGeom>
          <a:solidFill>
            <a:srgbClr val="F57265"/>
          </a:solidFill>
          <a:ln w="14288">
            <a:solidFill>
              <a:srgbClr val="FFFFFF">
                <a:alpha val="40000"/>
              </a:srgbClr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6" name="TextBox 16">
            <a:extLst>
              <a:ext uri="{FF2B5EF4-FFF2-40B4-BE49-F238E27FC236}">
                <a16:creationId xmlns:a16="http://schemas.microsoft.com/office/drawing/2014/main" id="{1DA71D68-AE39-7038-EF28-3523FF79D41E}"/>
              </a:ext>
            </a:extLst>
          </p:cNvPr>
          <p:cNvSpPr>
            <a:spLocks noGrp="1"/>
          </p:cNvSpPr>
          <p:nvPr/>
        </p:nvSpPr>
        <p:spPr>
          <a:xfrm>
            <a:off x="5635491" y="2900099"/>
            <a:ext cx="751808" cy="392415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2550" b="1">
                <a:solidFill>
                  <a:srgbClr val="FFFFFF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Haru</a:t>
            </a:r>
          </a:p>
        </p:txBody>
      </p:sp>
      <p:sp>
        <p:nvSpPr>
          <p:cNvPr id="67" name="TextBox 17">
            <a:extLst>
              <a:ext uri="{FF2B5EF4-FFF2-40B4-BE49-F238E27FC236}">
                <a16:creationId xmlns:a16="http://schemas.microsoft.com/office/drawing/2014/main" id="{59112F3C-5B7C-EE12-79A4-73FD1BA7648D}"/>
              </a:ext>
            </a:extLst>
          </p:cNvPr>
          <p:cNvSpPr>
            <a:spLocks noGrp="1"/>
          </p:cNvSpPr>
          <p:nvPr/>
        </p:nvSpPr>
        <p:spPr>
          <a:xfrm>
            <a:off x="5626675" y="3358727"/>
            <a:ext cx="769441" cy="323165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1" dirty="0">
                <a:solidFill>
                  <a:srgbClr val="FBE6B4"/>
                </a:solidFill>
                <a:latin typeface="Noto Sans JP"/>
                <a:ea typeface="Noto Sans JP"/>
                <a:cs typeface="Noto Sans JP"/>
              </a:rPr>
              <a:t>毎日3分</a:t>
            </a:r>
            <a:endParaRPr lang="en-US" sz="1050" b="1" dirty="0">
              <a:solidFill>
                <a:srgbClr val="FBE6B4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1" dirty="0" err="1">
                <a:solidFill>
                  <a:srgbClr val="FBE6B4"/>
                </a:solidFill>
                <a:latin typeface="Noto Sans JP"/>
                <a:ea typeface="Noto Sans JP"/>
                <a:cs typeface="Noto Sans JP"/>
              </a:rPr>
              <a:t>のルーティン</a:t>
            </a:r>
            <a:endParaRPr sz="1050" b="1" dirty="0">
              <a:solidFill>
                <a:srgbClr val="FBE6B4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B1201-C11F-43D1-A215-E3C4311D6D41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SOLUTION・解決の仕組み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B25F1-DF1E-4C7A-9466-D7F573D35790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7066037" cy="96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3分のルーティンで、</a:t>
            </a:r>
            <a:r>
              <a:rPr sz="3150" b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全員</a:t>
            </a:r>
            <a:r>
              <a:rPr sz="31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をつなぎます</a:t>
            </a:r>
          </a:p>
          <a:p>
            <a:pPr algn="l">
              <a:lnSpc>
                <a:spcPct val="100000"/>
              </a:lnSpc>
              <a:buNone/>
            </a:pPr>
            <a:endParaRPr sz="3150" b="1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992FE-236E-404C-99B3-7AB6C88D8BDD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高齢者の活動・家族の安否確認・福祉施設の運営・医療相談の準備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F6B99D-0B77-4659-B0ED-89C568BF3576}"/>
              </a:ext>
            </a:extLst>
          </p:cNvPr>
          <p:cNvSpPr>
            <a:spLocks noGrp="1"/>
          </p:cNvSpPr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C8179-450B-4D8D-B68E-B3D0C018F511}"/>
              </a:ext>
            </a:extLst>
          </p:cNvPr>
          <p:cNvSpPr>
            <a:spLocks noGrp="1"/>
          </p:cNvSpPr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BAC6FD-525C-4688-B259-769F673F4902}"/>
              </a:ext>
            </a:extLst>
          </p:cNvPr>
          <p:cNvSpPr>
            <a:spLocks noGrp="1"/>
          </p:cNvSpPr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FB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D94CB4-1C40-4CE0-A638-2DBDA2E95FB4}"/>
              </a:ext>
            </a:extLst>
          </p:cNvPr>
          <p:cNvSpPr>
            <a:spLocks noGrp="1"/>
          </p:cNvSpPr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E7AF4B-960F-4589-82F3-43893FACA97C}"/>
              </a:ext>
            </a:extLst>
          </p:cNvPr>
          <p:cNvSpPr>
            <a:spLocks noGrp="1"/>
          </p:cNvSpPr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D00CB3-07AC-4E2D-BF62-65CF9669BBF2}"/>
              </a:ext>
            </a:extLst>
          </p:cNvPr>
          <p:cNvSpPr>
            <a:spLocks noGrp="1"/>
          </p:cNvSpPr>
          <p:nvPr/>
        </p:nvSpPr>
        <p:spPr>
          <a:xfrm>
            <a:off x="1563624" y="2045154"/>
            <a:ext cx="76944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0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高齢者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56F92-1193-49F5-96AA-5FA3E13A5844}"/>
              </a:ext>
            </a:extLst>
          </p:cNvPr>
          <p:cNvSpPr>
            <a:spLocks noGrp="1"/>
          </p:cNvSpPr>
          <p:nvPr/>
        </p:nvSpPr>
        <p:spPr>
          <a:xfrm>
            <a:off x="1563624" y="2417885"/>
            <a:ext cx="2938305" cy="5575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大きな文字・4つのボタン・音声案内</a:t>
            </a: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検査ではない日常活動として毎日参加</a:t>
            </a:r>
            <a:endParaRPr sz="13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7328CD-D433-4D97-88B0-C05F28A40D9C}"/>
              </a:ext>
            </a:extLst>
          </p:cNvPr>
          <p:cNvSpPr>
            <a:spLocks noGrp="1"/>
          </p:cNvSpPr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CBD5EA-84EB-4F97-9C0B-54BC00F24FBE}"/>
              </a:ext>
            </a:extLst>
          </p:cNvPr>
          <p:cNvSpPr>
            <a:spLocks noGrp="1"/>
          </p:cNvSpPr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51044B-FA7B-4C83-82CC-17A4E22C80EE}"/>
              </a:ext>
            </a:extLst>
          </p:cNvPr>
          <p:cNvSpPr>
            <a:spLocks noGrp="1"/>
          </p:cNvSpPr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9" name="Heart 18">
            <a:extLst>
              <a:ext uri="{FF2B5EF4-FFF2-40B4-BE49-F238E27FC236}">
                <a16:creationId xmlns:a16="http://schemas.microsoft.com/office/drawing/2014/main" id="{39B6AA77-AD7F-4CE4-BC6C-BF28F390B544}"/>
              </a:ext>
            </a:extLst>
          </p:cNvPr>
          <p:cNvSpPr>
            <a:spLocks noGrp="1"/>
          </p:cNvSpPr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CE6FA9-C2D6-4750-B278-5690D344EBA5}"/>
              </a:ext>
            </a:extLst>
          </p:cNvPr>
          <p:cNvSpPr>
            <a:spLocks noGrp="1"/>
          </p:cNvSpPr>
          <p:nvPr/>
        </p:nvSpPr>
        <p:spPr>
          <a:xfrm>
            <a:off x="8323496" y="2045154"/>
            <a:ext cx="153888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0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家族・介護者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0D1B2-C637-4B8D-ADDF-8BBCD0FF539C}"/>
              </a:ext>
            </a:extLst>
          </p:cNvPr>
          <p:cNvSpPr>
            <a:spLocks noGrp="1"/>
          </p:cNvSpPr>
          <p:nvPr/>
        </p:nvSpPr>
        <p:spPr>
          <a:xfrm>
            <a:off x="8323496" y="2417885"/>
            <a:ext cx="2931893" cy="5575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点数ではなく、安否と会話のきっかけ</a:t>
            </a:r>
            <a:endParaRPr sz="13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今日の話をもとに会話を始める</a:t>
            </a:r>
            <a:endParaRPr sz="13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D39B649-746E-424E-AE44-95C1D2CD1765}"/>
              </a:ext>
            </a:extLst>
          </p:cNvPr>
          <p:cNvSpPr>
            <a:spLocks noGrp="1"/>
          </p:cNvSpPr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A206D7-5E44-451A-8CEB-584D052624F2}"/>
              </a:ext>
            </a:extLst>
          </p:cNvPr>
          <p:cNvSpPr>
            <a:spLocks noGrp="1"/>
          </p:cNvSpPr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A42322-4ABB-4853-9122-66E091F549F4}"/>
              </a:ext>
            </a:extLst>
          </p:cNvPr>
          <p:cNvSpPr>
            <a:spLocks noGrp="1"/>
          </p:cNvSpPr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61689DE-F550-4431-B1DA-66488FEAEA2E}"/>
              </a:ext>
            </a:extLst>
          </p:cNvPr>
          <p:cNvSpPr>
            <a:spLocks noGrp="1"/>
          </p:cNvSpPr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2F5E73-8E69-4700-9753-7390CBFC848F}"/>
              </a:ext>
            </a:extLst>
          </p:cNvPr>
          <p:cNvSpPr>
            <a:spLocks noGrp="1"/>
          </p:cNvSpPr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E5B17F-2382-45C7-96E8-93D8B7A12938}"/>
              </a:ext>
            </a:extLst>
          </p:cNvPr>
          <p:cNvSpPr>
            <a:spLocks noGrp="1"/>
          </p:cNvSpPr>
          <p:nvPr/>
        </p:nvSpPr>
        <p:spPr>
          <a:xfrm>
            <a:off x="1563624" y="3581346"/>
            <a:ext cx="205184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0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福祉施設（韓国）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8B736-888F-4A59-9ECA-BD819CF03F69}"/>
              </a:ext>
            </a:extLst>
          </p:cNvPr>
          <p:cNvSpPr>
            <a:spLocks noGrp="1"/>
          </p:cNvSpPr>
          <p:nvPr/>
        </p:nvSpPr>
        <p:spPr>
          <a:xfrm>
            <a:off x="1563624" y="3954076"/>
            <a:ext cx="2927083" cy="53687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反復活動の運営と参加確認</a:t>
            </a:r>
            <a:endParaRPr sz="13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施設端末1台を複数の高齢者が交代利用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D12F965-AB64-43CA-A758-CCCEEF9F8754}"/>
              </a:ext>
            </a:extLst>
          </p:cNvPr>
          <p:cNvSpPr>
            <a:spLocks noGrp="1"/>
          </p:cNvSpPr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D095B9-3CC8-45CA-8D78-57066F76E8A7}"/>
              </a:ext>
            </a:extLst>
          </p:cNvPr>
          <p:cNvSpPr>
            <a:spLocks noGrp="1"/>
          </p:cNvSpPr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CDF142-9D74-433E-8560-6702AF9B3B11}"/>
              </a:ext>
            </a:extLst>
          </p:cNvPr>
          <p:cNvSpPr>
            <a:spLocks noGrp="1"/>
          </p:cNvSpPr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F7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2" name="Cross 31">
            <a:extLst>
              <a:ext uri="{FF2B5EF4-FFF2-40B4-BE49-F238E27FC236}">
                <a16:creationId xmlns:a16="http://schemas.microsoft.com/office/drawing/2014/main" id="{2473660A-123F-4894-B4C3-7CB3C9CFC06F}"/>
              </a:ext>
            </a:extLst>
          </p:cNvPr>
          <p:cNvSpPr>
            <a:spLocks noGrp="1"/>
          </p:cNvSpPr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B084AA-88B0-4076-9181-EF770363BEFF}"/>
              </a:ext>
            </a:extLst>
          </p:cNvPr>
          <p:cNvSpPr>
            <a:spLocks noGrp="1"/>
          </p:cNvSpPr>
          <p:nvPr/>
        </p:nvSpPr>
        <p:spPr>
          <a:xfrm>
            <a:off x="8323496" y="3581346"/>
            <a:ext cx="1282402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0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医療・相談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18B2C4-DE67-4F31-801C-B989535B65F4}"/>
              </a:ext>
            </a:extLst>
          </p:cNvPr>
          <p:cNvSpPr>
            <a:spLocks noGrp="1"/>
          </p:cNvSpPr>
          <p:nvPr/>
        </p:nvSpPr>
        <p:spPr>
          <a:xfrm>
            <a:off x="8323496" y="3954076"/>
            <a:ext cx="3111429" cy="5575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受診前の参考となる変化記録</a:t>
            </a:r>
            <a:endParaRPr sz="13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4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同意済みの観察記録のみを要約して共有</a:t>
            </a:r>
            <a:endParaRPr sz="13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47A7405-A078-4D5A-A7ED-6F7122672A27}"/>
              </a:ext>
            </a:extLst>
          </p:cNvPr>
          <p:cNvSpPr>
            <a:spLocks noGrp="1"/>
          </p:cNvSpPr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513BB0-E378-4D71-860F-4C03E43AD936}"/>
              </a:ext>
            </a:extLst>
          </p:cNvPr>
          <p:cNvSpPr>
            <a:spLocks noGrp="1"/>
          </p:cNvSpPr>
          <p:nvPr/>
        </p:nvSpPr>
        <p:spPr>
          <a:xfrm>
            <a:off x="804188" y="5261669"/>
            <a:ext cx="2122376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MMSE・CISTの認知領域を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EFA163-EA7C-49C2-B5C2-C946F4E995D1}"/>
              </a:ext>
            </a:extLst>
          </p:cNvPr>
          <p:cNvSpPr>
            <a:spLocks noGrp="1"/>
          </p:cNvSpPr>
          <p:nvPr/>
        </p:nvSpPr>
        <p:spPr>
          <a:xfrm>
            <a:off x="1166466" y="5535989"/>
            <a:ext cx="1397820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日常の設問へ変換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05DF77-93C9-4F8F-8E44-7E5F85AECA81}"/>
              </a:ext>
            </a:extLst>
          </p:cNvPr>
          <p:cNvSpPr>
            <a:spLocks noGrp="1"/>
          </p:cNvSpPr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20" b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EE62C38-F67F-4CF9-9C8E-0476AE5E3674}"/>
              </a:ext>
            </a:extLst>
          </p:cNvPr>
          <p:cNvSpPr>
            <a:spLocks noGrp="1"/>
          </p:cNvSpPr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「今日は何曜日ですか？」  </a:t>
            </a:r>
            <a:r>
              <a:rPr sz="975" b="0">
                <a:solidFill>
                  <a:srgbClr val="F4A81D"/>
                </a:solidFill>
                <a:latin typeface="Noto Sans JP"/>
                <a:ea typeface="Noto Sans JP"/>
                <a:cs typeface="Noto Sans JP"/>
              </a:rPr>
              <a:t>見当識</a:t>
            </a:r>
            <a:endParaRPr sz="1200" b="0">
              <a:solidFill>
                <a:srgbClr val="F4A81D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B164DF4-8125-49E7-A8EB-8B2BFA471CEC}"/>
              </a:ext>
            </a:extLst>
          </p:cNvPr>
          <p:cNvSpPr>
            <a:spLocks noGrp="1"/>
          </p:cNvSpPr>
          <p:nvPr/>
        </p:nvSpPr>
        <p:spPr>
          <a:xfrm>
            <a:off x="5796153" y="5353109"/>
            <a:ext cx="179779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買い物の計算 </a:t>
            </a:r>
            <a:r>
              <a:rPr sz="975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 注意・計算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C1943B0-C4F3-4E18-82BA-12F6BBC7876B}"/>
              </a:ext>
            </a:extLst>
          </p:cNvPr>
          <p:cNvSpPr>
            <a:spLocks noGrp="1"/>
          </p:cNvSpPr>
          <p:nvPr/>
        </p:nvSpPr>
        <p:spPr>
          <a:xfrm>
            <a:off x="7703678" y="5353109"/>
            <a:ext cx="1729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63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ことわざの意味を選ぶ  </a:t>
            </a:r>
            <a:r>
              <a:rPr sz="863" b="0">
                <a:solidFill>
                  <a:srgbClr val="00B0F0"/>
                </a:solidFill>
                <a:latin typeface="Noto Sans JP"/>
                <a:ea typeface="Noto Sans JP"/>
                <a:cs typeface="Noto Sans JP"/>
              </a:rPr>
              <a:t>言語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B3B93BF-8787-4981-AE97-D3B3406180F8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BC56C2-FDC2-4B0B-AA45-8406053F55FD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Labs・解決の仕組み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030E1D-2EB3-4A1C-806C-9C53A0E74424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121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70" name="Freeform 61">
            <a:extLst>
              <a:ext uri="{FF2B5EF4-FFF2-40B4-BE49-F238E27FC236}">
                <a16:creationId xmlns:a16="http://schemas.microsoft.com/office/drawing/2014/main" id="{0732090E-FE8C-41F8-D7BA-31C05C5526F0}"/>
              </a:ext>
            </a:extLst>
          </p:cNvPr>
          <p:cNvSpPr>
            <a:spLocks noGrp="1"/>
          </p:cNvSpPr>
          <p:nvPr/>
        </p:nvSpPr>
        <p:spPr>
          <a:xfrm>
            <a:off x="9703450" y="5368928"/>
            <a:ext cx="258713" cy="247650"/>
          </a:xfrm>
          <a:custGeom>
            <a:avLst/>
            <a:gdLst/>
            <a:ahLst/>
            <a:cxnLst/>
            <a:rect l="l" t="t" r="r" b="b"/>
            <a:pathLst>
              <a:path w="182523" h="174718">
                <a:moveTo>
                  <a:pt x="91249" y="0"/>
                </a:moveTo>
                <a:lnTo>
                  <a:pt x="92279" y="61"/>
                </a:lnTo>
                <a:lnTo>
                  <a:pt x="92794" y="131"/>
                </a:lnTo>
                <a:lnTo>
                  <a:pt x="93327" y="244"/>
                </a:lnTo>
                <a:lnTo>
                  <a:pt x="94296" y="541"/>
                </a:lnTo>
                <a:cubicBezTo>
                  <a:pt x="94965" y="788"/>
                  <a:pt x="95601" y="1117"/>
                  <a:pt x="96190" y="1519"/>
                </a:cubicBezTo>
                <a:lnTo>
                  <a:pt x="97098" y="2235"/>
                </a:lnTo>
                <a:lnTo>
                  <a:pt x="99325" y="4139"/>
                </a:lnTo>
                <a:cubicBezTo>
                  <a:pt x="116939" y="18768"/>
                  <a:pt x="139199" y="26624"/>
                  <a:pt x="162094" y="26290"/>
                </a:cubicBezTo>
                <a:lnTo>
                  <a:pt x="165080" y="26202"/>
                </a:lnTo>
                <a:cubicBezTo>
                  <a:pt x="169098" y="26019"/>
                  <a:pt x="172721" y="28604"/>
                  <a:pt x="173855" y="32463"/>
                </a:cubicBezTo>
                <a:cubicBezTo>
                  <a:pt x="182523" y="61951"/>
                  <a:pt x="178863" y="93693"/>
                  <a:pt x="163710" y="120434"/>
                </a:cubicBezTo>
                <a:cubicBezTo>
                  <a:pt x="148558" y="147175"/>
                  <a:pt x="123208" y="166628"/>
                  <a:pt x="93458" y="174346"/>
                </a:cubicBezTo>
                <a:cubicBezTo>
                  <a:pt x="92020" y="174718"/>
                  <a:pt x="90512" y="174718"/>
                  <a:pt x="89074" y="174346"/>
                </a:cubicBezTo>
                <a:cubicBezTo>
                  <a:pt x="59322" y="166630"/>
                  <a:pt x="33970" y="147178"/>
                  <a:pt x="18816" y="120437"/>
                </a:cubicBezTo>
                <a:cubicBezTo>
                  <a:pt x="3662" y="93696"/>
                  <a:pt x="0" y="61952"/>
                  <a:pt x="8668" y="32463"/>
                </a:cubicBezTo>
                <a:cubicBezTo>
                  <a:pt x="9802" y="28604"/>
                  <a:pt x="13426" y="26019"/>
                  <a:pt x="17443" y="26202"/>
                </a:cubicBezTo>
                <a:cubicBezTo>
                  <a:pt x="41345" y="27295"/>
                  <a:pt x="64793" y="19427"/>
                  <a:pt x="83198" y="4139"/>
                </a:cubicBezTo>
                <a:lnTo>
                  <a:pt x="85495" y="2174"/>
                </a:lnTo>
                <a:lnTo>
                  <a:pt x="86333" y="1519"/>
                </a:lnTo>
                <a:cubicBezTo>
                  <a:pt x="86922" y="1117"/>
                  <a:pt x="87558" y="788"/>
                  <a:pt x="88227" y="541"/>
                </a:cubicBezTo>
                <a:lnTo>
                  <a:pt x="89205" y="244"/>
                </a:lnTo>
                <a:cubicBezTo>
                  <a:pt x="89548" y="162"/>
                  <a:pt x="89895" y="101"/>
                  <a:pt x="90244" y="61"/>
                </a:cubicBezTo>
                <a:lnTo>
                  <a:pt x="91249" y="0"/>
                </a:lnTo>
                <a:close/>
                <a:moveTo>
                  <a:pt x="123641" y="63677"/>
                </a:moveTo>
                <a:cubicBezTo>
                  <a:pt x="122004" y="62037"/>
                  <a:pt x="119781" y="61116"/>
                  <a:pt x="117464" y="61116"/>
                </a:cubicBezTo>
                <a:cubicBezTo>
                  <a:pt x="115147" y="61116"/>
                  <a:pt x="112924" y="62037"/>
                  <a:pt x="111287" y="63677"/>
                </a:cubicBezTo>
                <a:lnTo>
                  <a:pt x="82535" y="92420"/>
                </a:lnTo>
                <a:lnTo>
                  <a:pt x="71245" y="81140"/>
                </a:lnTo>
                <a:lnTo>
                  <a:pt x="70424" y="80415"/>
                </a:lnTo>
                <a:cubicBezTo>
                  <a:pt x="66782" y="77599"/>
                  <a:pt x="61580" y="78094"/>
                  <a:pt x="58535" y="81547"/>
                </a:cubicBezTo>
                <a:cubicBezTo>
                  <a:pt x="55490" y="85001"/>
                  <a:pt x="55649" y="90225"/>
                  <a:pt x="58899" y="93485"/>
                </a:cubicBezTo>
                <a:lnTo>
                  <a:pt x="76362" y="110948"/>
                </a:lnTo>
                <a:lnTo>
                  <a:pt x="77182" y="111673"/>
                </a:lnTo>
                <a:cubicBezTo>
                  <a:pt x="80658" y="114369"/>
                  <a:pt x="85597" y="114058"/>
                  <a:pt x="88708" y="110948"/>
                </a:cubicBezTo>
                <a:lnTo>
                  <a:pt x="123633" y="76023"/>
                </a:lnTo>
                <a:lnTo>
                  <a:pt x="124357" y="75202"/>
                </a:lnTo>
                <a:cubicBezTo>
                  <a:pt x="127054" y="71726"/>
                  <a:pt x="126743" y="66788"/>
                  <a:pt x="123633" y="63677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71" name="TextBox 62">
            <a:extLst>
              <a:ext uri="{FF2B5EF4-FFF2-40B4-BE49-F238E27FC236}">
                <a16:creationId xmlns:a16="http://schemas.microsoft.com/office/drawing/2014/main" id="{BFFE95DD-EEF4-F1DF-5E2D-E33EAC79A6D1}"/>
              </a:ext>
            </a:extLst>
          </p:cNvPr>
          <p:cNvSpPr>
            <a:spLocks noGrp="1"/>
          </p:cNvSpPr>
          <p:nvPr/>
        </p:nvSpPr>
        <p:spPr>
          <a:xfrm>
            <a:off x="10057413" y="5308087"/>
            <a:ext cx="1444946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 dirty="0" err="1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診断・リスク判定は</a:t>
            </a:r>
            <a:endParaRPr sz="1200" b="1" dirty="0">
              <a:solidFill>
                <a:srgbClr val="5E9A6A"/>
              </a:solidFill>
              <a:latin typeface="나눔스퀘어라운드OTF Bold"/>
              <a:ea typeface="나눔스퀘어라운드OTF Bold"/>
              <a:cs typeface="나눔스퀘어라운드OTF Bold"/>
            </a:endParaRPr>
          </a:p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 dirty="0" err="1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行いません</a:t>
            </a:r>
            <a:endParaRPr sz="1200" b="1" dirty="0">
              <a:solidFill>
                <a:srgbClr val="5E9A6A"/>
              </a:solidFill>
              <a:latin typeface="Noto Sans JP"/>
              <a:ea typeface="Noto Sans JP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87138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90684-96A4-45F7-9546-59280942E40E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COMPETITION・競合比較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1BFEA-4E3C-4848-97D8-4C35A61605AF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4443524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従来にない</a:t>
            </a:r>
            <a:r>
              <a:rPr sz="31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サービスです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8CADDB-468C-4B8E-BAA1-3D12981A428B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主要機能の提供範囲を比較・運用方法と記録活用を基準に評価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607527-6A35-4726-B41D-3A8B2EE4F5CB}"/>
              </a:ext>
            </a:extLst>
          </p:cNvPr>
          <p:cNvSpPr>
            <a:spLocks noGrp="1"/>
          </p:cNvSpPr>
          <p:nvPr/>
        </p:nvSpPr>
        <p:spPr>
          <a:xfrm>
            <a:off x="594360" y="2739694"/>
            <a:ext cx="6032113" cy="502998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327ED-0C8D-4252-8875-8980D0F7F038}"/>
              </a:ext>
            </a:extLst>
          </p:cNvPr>
          <p:cNvSpPr>
            <a:spLocks noGrp="1"/>
          </p:cNvSpPr>
          <p:nvPr/>
        </p:nvSpPr>
        <p:spPr>
          <a:xfrm>
            <a:off x="594360" y="3745691"/>
            <a:ext cx="6032113" cy="502998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0DBD88-9CEB-4309-9CC3-FF91A8C679D9}"/>
              </a:ext>
            </a:extLst>
          </p:cNvPr>
          <p:cNvSpPr>
            <a:spLocks noGrp="1"/>
          </p:cNvSpPr>
          <p:nvPr/>
        </p:nvSpPr>
        <p:spPr>
          <a:xfrm>
            <a:off x="594360" y="3745691"/>
            <a:ext cx="6949440" cy="50299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F9E8C-6309-4235-B5CA-BC80A7BC4F0D}"/>
              </a:ext>
            </a:extLst>
          </p:cNvPr>
          <p:cNvSpPr>
            <a:spLocks noGrp="1"/>
          </p:cNvSpPr>
          <p:nvPr/>
        </p:nvSpPr>
        <p:spPr>
          <a:xfrm>
            <a:off x="594360" y="2739694"/>
            <a:ext cx="6949440" cy="50299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3F0879-8D74-4991-9B19-434EE62532D1}"/>
              </a:ext>
            </a:extLst>
          </p:cNvPr>
          <p:cNvSpPr>
            <a:spLocks noGrp="1"/>
          </p:cNvSpPr>
          <p:nvPr/>
        </p:nvSpPr>
        <p:spPr>
          <a:xfrm>
            <a:off x="6626473" y="1773936"/>
            <a:ext cx="917326" cy="3058233"/>
          </a:xfrm>
          <a:prstGeom prst="roundRect">
            <a:avLst>
              <a:gd name="adj" fmla="val 6000"/>
            </a:avLst>
          </a:prstGeom>
          <a:solidFill>
            <a:srgbClr val="FBE0D3"/>
          </a:solidFill>
          <a:ln w="15875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89CC13-0973-4E94-A2DC-6A2210A9E4B2}"/>
              </a:ext>
            </a:extLst>
          </p:cNvPr>
          <p:cNvSpPr>
            <a:spLocks noGrp="1"/>
          </p:cNvSpPr>
          <p:nvPr/>
        </p:nvSpPr>
        <p:spPr>
          <a:xfrm>
            <a:off x="594360" y="1854415"/>
            <a:ext cx="6949440" cy="13972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C9826-80EC-4C04-86B0-9E1195D4D94F}"/>
              </a:ext>
            </a:extLst>
          </p:cNvPr>
          <p:cNvSpPr>
            <a:spLocks noGrp="1"/>
          </p:cNvSpPr>
          <p:nvPr/>
        </p:nvSpPr>
        <p:spPr>
          <a:xfrm>
            <a:off x="649224" y="1982563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主要機能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30439-7C18-4422-BF70-B3D8A41F679F}"/>
              </a:ext>
            </a:extLst>
          </p:cNvPr>
          <p:cNvSpPr>
            <a:spLocks noGrp="1"/>
          </p:cNvSpPr>
          <p:nvPr/>
        </p:nvSpPr>
        <p:spPr>
          <a:xfrm>
            <a:off x="2954179" y="2013299"/>
            <a:ext cx="92335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スクリーニング検査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2FB1E-9607-42C7-801E-47763AF58DD5}"/>
              </a:ext>
            </a:extLst>
          </p:cNvPr>
          <p:cNvSpPr>
            <a:spLocks noGrp="1"/>
          </p:cNvSpPr>
          <p:nvPr/>
        </p:nvSpPr>
        <p:spPr>
          <a:xfrm>
            <a:off x="4025360" y="2013299"/>
            <a:ext cx="61550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脳トレゲーム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248D9A-C56E-4063-8134-D5558532670B}"/>
              </a:ext>
            </a:extLst>
          </p:cNvPr>
          <p:cNvSpPr>
            <a:spLocks noGrp="1"/>
          </p:cNvSpPr>
          <p:nvPr/>
        </p:nvSpPr>
        <p:spPr>
          <a:xfrm>
            <a:off x="4942713" y="2013299"/>
            <a:ext cx="615506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介護ロボット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42951-FF01-45A5-B58F-ED3A7290BA87}"/>
              </a:ext>
            </a:extLst>
          </p:cNvPr>
          <p:cNvSpPr>
            <a:spLocks noGrp="1"/>
          </p:cNvSpPr>
          <p:nvPr/>
        </p:nvSpPr>
        <p:spPr>
          <a:xfrm>
            <a:off x="5879306" y="2005679"/>
            <a:ext cx="57712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施設内活動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74056-F29B-484E-8953-5555B1BE74DB}"/>
              </a:ext>
            </a:extLst>
          </p:cNvPr>
          <p:cNvSpPr>
            <a:spLocks noGrp="1"/>
          </p:cNvSpPr>
          <p:nvPr/>
        </p:nvSpPr>
        <p:spPr>
          <a:xfrm>
            <a:off x="6879150" y="1967174"/>
            <a:ext cx="411972" cy="215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 dirty="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Haru</a:t>
            </a:r>
            <a:endParaRPr sz="1200" b="1" dirty="0">
              <a:solidFill>
                <a:srgbClr val="F57265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4DA9AD-87D9-4426-B46B-6549DA458952}"/>
              </a:ext>
            </a:extLst>
          </p:cNvPr>
          <p:cNvSpPr>
            <a:spLocks noGrp="1"/>
          </p:cNvSpPr>
          <p:nvPr/>
        </p:nvSpPr>
        <p:spPr>
          <a:xfrm>
            <a:off x="594360" y="2236695"/>
            <a:ext cx="6949440" cy="10479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34060-7876-4D3A-B60E-3F8FDFA75045}"/>
              </a:ext>
            </a:extLst>
          </p:cNvPr>
          <p:cNvSpPr>
            <a:spLocks noGrp="1"/>
          </p:cNvSpPr>
          <p:nvPr/>
        </p:nvSpPr>
        <p:spPr>
          <a:xfrm>
            <a:off x="649224" y="2432866"/>
            <a:ext cx="2115964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毎日の脳トレーニングルーティン</a:t>
            </a:r>
            <a:endParaRPr sz="11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9B7E0D-3B12-4903-8E1E-02DE413C963D}"/>
              </a:ext>
            </a:extLst>
          </p:cNvPr>
          <p:cNvSpPr>
            <a:spLocks noGrp="1"/>
          </p:cNvSpPr>
          <p:nvPr/>
        </p:nvSpPr>
        <p:spPr>
          <a:xfrm>
            <a:off x="3012033" y="2387594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F49000-38C0-4A59-BC45-4B71E45BE248}"/>
              </a:ext>
            </a:extLst>
          </p:cNvPr>
          <p:cNvSpPr>
            <a:spLocks noGrp="1"/>
          </p:cNvSpPr>
          <p:nvPr/>
        </p:nvSpPr>
        <p:spPr>
          <a:xfrm>
            <a:off x="4256213" y="2387594"/>
            <a:ext cx="153888" cy="2708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BC910E-280F-45F5-9638-2F4EC55C4724}"/>
              </a:ext>
            </a:extLst>
          </p:cNvPr>
          <p:cNvSpPr>
            <a:spLocks noGrp="1"/>
          </p:cNvSpPr>
          <p:nvPr/>
        </p:nvSpPr>
        <p:spPr>
          <a:xfrm>
            <a:off x="4846685" y="2387594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8D4161-6846-4F8C-8AB0-3269F554B5EE}"/>
              </a:ext>
            </a:extLst>
          </p:cNvPr>
          <p:cNvSpPr>
            <a:spLocks noGrp="1"/>
          </p:cNvSpPr>
          <p:nvPr/>
        </p:nvSpPr>
        <p:spPr>
          <a:xfrm>
            <a:off x="6090865" y="2387594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BA1C4D-2379-4937-ABC2-16C863A68EAB}"/>
              </a:ext>
            </a:extLst>
          </p:cNvPr>
          <p:cNvSpPr>
            <a:spLocks noGrp="1"/>
          </p:cNvSpPr>
          <p:nvPr/>
        </p:nvSpPr>
        <p:spPr>
          <a:xfrm>
            <a:off x="7008192" y="2387594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F57265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ED4E6A-423A-40FA-AD24-33684F044A63}"/>
              </a:ext>
            </a:extLst>
          </p:cNvPr>
          <p:cNvSpPr>
            <a:spLocks noGrp="1"/>
          </p:cNvSpPr>
          <p:nvPr/>
        </p:nvSpPr>
        <p:spPr>
          <a:xfrm>
            <a:off x="649224" y="2935896"/>
            <a:ext cx="987450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家族の安否確認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9F2759-C6F0-40B9-BAEF-5B4215C5D9BB}"/>
              </a:ext>
            </a:extLst>
          </p:cNvPr>
          <p:cNvSpPr>
            <a:spLocks noGrp="1"/>
          </p:cNvSpPr>
          <p:nvPr/>
        </p:nvSpPr>
        <p:spPr>
          <a:xfrm>
            <a:off x="3012033" y="2890593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CA0CF3-487C-410C-954B-A3ACCB4092A3}"/>
              </a:ext>
            </a:extLst>
          </p:cNvPr>
          <p:cNvSpPr>
            <a:spLocks noGrp="1"/>
          </p:cNvSpPr>
          <p:nvPr/>
        </p:nvSpPr>
        <p:spPr>
          <a:xfrm>
            <a:off x="3929359" y="2890593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4AC14D-F922-4BA6-A193-9345D726EF13}"/>
              </a:ext>
            </a:extLst>
          </p:cNvPr>
          <p:cNvSpPr>
            <a:spLocks noGrp="1"/>
          </p:cNvSpPr>
          <p:nvPr/>
        </p:nvSpPr>
        <p:spPr>
          <a:xfrm>
            <a:off x="5173539" y="2890593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0B7992-3168-4ED6-9B65-11ADD3667764}"/>
              </a:ext>
            </a:extLst>
          </p:cNvPr>
          <p:cNvSpPr>
            <a:spLocks noGrp="1"/>
          </p:cNvSpPr>
          <p:nvPr/>
        </p:nvSpPr>
        <p:spPr>
          <a:xfrm>
            <a:off x="5764011" y="2890593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F6EB8E-266A-4229-95A8-B29E2C289ABF}"/>
              </a:ext>
            </a:extLst>
          </p:cNvPr>
          <p:cNvSpPr>
            <a:spLocks noGrp="1"/>
          </p:cNvSpPr>
          <p:nvPr/>
        </p:nvSpPr>
        <p:spPr>
          <a:xfrm>
            <a:off x="7008192" y="2890593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F57265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F197EB-DFDC-4BCC-8C47-CD0840D2F841}"/>
              </a:ext>
            </a:extLst>
          </p:cNvPr>
          <p:cNvSpPr>
            <a:spLocks noGrp="1"/>
          </p:cNvSpPr>
          <p:nvPr/>
        </p:nvSpPr>
        <p:spPr>
          <a:xfrm>
            <a:off x="649224" y="3438895"/>
            <a:ext cx="1410643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変化サマリーレポート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B7871E-D477-4241-9239-FB0E6F87596B}"/>
              </a:ext>
            </a:extLst>
          </p:cNvPr>
          <p:cNvSpPr>
            <a:spLocks noGrp="1"/>
          </p:cNvSpPr>
          <p:nvPr/>
        </p:nvSpPr>
        <p:spPr>
          <a:xfrm>
            <a:off x="3012033" y="3393592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1CCA14-4112-4448-993B-FE65F506FA3E}"/>
              </a:ext>
            </a:extLst>
          </p:cNvPr>
          <p:cNvSpPr>
            <a:spLocks noGrp="1"/>
          </p:cNvSpPr>
          <p:nvPr/>
        </p:nvSpPr>
        <p:spPr>
          <a:xfrm>
            <a:off x="3929359" y="3393592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9B7559-AF82-4009-BA4C-E75E7A1C9EA5}"/>
              </a:ext>
            </a:extLst>
          </p:cNvPr>
          <p:cNvSpPr>
            <a:spLocks noGrp="1"/>
          </p:cNvSpPr>
          <p:nvPr/>
        </p:nvSpPr>
        <p:spPr>
          <a:xfrm>
            <a:off x="4846685" y="3393592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C1B8F8-96C0-4033-B26A-555288E7178B}"/>
              </a:ext>
            </a:extLst>
          </p:cNvPr>
          <p:cNvSpPr>
            <a:spLocks noGrp="1"/>
          </p:cNvSpPr>
          <p:nvPr/>
        </p:nvSpPr>
        <p:spPr>
          <a:xfrm>
            <a:off x="5764011" y="3393592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7CDC65-E22C-470C-877F-A7A94FF4D634}"/>
              </a:ext>
            </a:extLst>
          </p:cNvPr>
          <p:cNvSpPr>
            <a:spLocks noGrp="1"/>
          </p:cNvSpPr>
          <p:nvPr/>
        </p:nvSpPr>
        <p:spPr>
          <a:xfrm>
            <a:off x="7008192" y="3393592"/>
            <a:ext cx="153888" cy="2708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F57265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6DAD06-EDC7-4269-8AAC-2AE98A0810B5}"/>
              </a:ext>
            </a:extLst>
          </p:cNvPr>
          <p:cNvSpPr>
            <a:spLocks noGrp="1"/>
          </p:cNvSpPr>
          <p:nvPr/>
        </p:nvSpPr>
        <p:spPr>
          <a:xfrm>
            <a:off x="649224" y="3941893"/>
            <a:ext cx="1692771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福祉機関・自治体との連携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FC073-9E06-416B-99CF-4B6955928FB7}"/>
              </a:ext>
            </a:extLst>
          </p:cNvPr>
          <p:cNvSpPr>
            <a:spLocks noGrp="1"/>
          </p:cNvSpPr>
          <p:nvPr/>
        </p:nvSpPr>
        <p:spPr>
          <a:xfrm>
            <a:off x="3338887" y="3896591"/>
            <a:ext cx="153888" cy="2708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900DAC-1C21-443C-98F3-4A59AE5905E0}"/>
              </a:ext>
            </a:extLst>
          </p:cNvPr>
          <p:cNvSpPr>
            <a:spLocks noGrp="1"/>
          </p:cNvSpPr>
          <p:nvPr/>
        </p:nvSpPr>
        <p:spPr>
          <a:xfrm>
            <a:off x="3929359" y="3896591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552730-8D2E-4A13-A904-33243E8168BE}"/>
              </a:ext>
            </a:extLst>
          </p:cNvPr>
          <p:cNvSpPr>
            <a:spLocks noGrp="1"/>
          </p:cNvSpPr>
          <p:nvPr/>
        </p:nvSpPr>
        <p:spPr>
          <a:xfrm>
            <a:off x="5173539" y="3896591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7029E3-FEF6-43FA-B8C3-D6CEA404C88B}"/>
              </a:ext>
            </a:extLst>
          </p:cNvPr>
          <p:cNvSpPr>
            <a:spLocks noGrp="1"/>
          </p:cNvSpPr>
          <p:nvPr/>
        </p:nvSpPr>
        <p:spPr>
          <a:xfrm>
            <a:off x="6090865" y="3896591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BB8F2C-A1EA-49E1-898F-E350FB554097}"/>
              </a:ext>
            </a:extLst>
          </p:cNvPr>
          <p:cNvSpPr>
            <a:spLocks noGrp="1"/>
          </p:cNvSpPr>
          <p:nvPr/>
        </p:nvSpPr>
        <p:spPr>
          <a:xfrm>
            <a:off x="7008192" y="3896591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F57265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EAAB57-A144-4439-A6DB-AD070BBB786D}"/>
              </a:ext>
            </a:extLst>
          </p:cNvPr>
          <p:cNvSpPr>
            <a:spLocks noGrp="1"/>
          </p:cNvSpPr>
          <p:nvPr/>
        </p:nvSpPr>
        <p:spPr>
          <a:xfrm>
            <a:off x="649224" y="4444892"/>
            <a:ext cx="1551707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記録を次の設問に再利用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3439C3-BE4D-4153-BD15-4BC22C0B474C}"/>
              </a:ext>
            </a:extLst>
          </p:cNvPr>
          <p:cNvSpPr>
            <a:spLocks noGrp="1"/>
          </p:cNvSpPr>
          <p:nvPr/>
        </p:nvSpPr>
        <p:spPr>
          <a:xfrm>
            <a:off x="3012033" y="4399590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12E037-CB07-4E48-9C52-4F67C79F2B85}"/>
              </a:ext>
            </a:extLst>
          </p:cNvPr>
          <p:cNvSpPr>
            <a:spLocks noGrp="1"/>
          </p:cNvSpPr>
          <p:nvPr/>
        </p:nvSpPr>
        <p:spPr>
          <a:xfrm>
            <a:off x="3929359" y="4399590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62E636-8AE1-4C1F-924C-4967042E027B}"/>
              </a:ext>
            </a:extLst>
          </p:cNvPr>
          <p:cNvSpPr>
            <a:spLocks noGrp="1"/>
          </p:cNvSpPr>
          <p:nvPr/>
        </p:nvSpPr>
        <p:spPr>
          <a:xfrm>
            <a:off x="4846685" y="4399590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C4F5E9-7EAC-48B3-980B-64D2CD001B16}"/>
              </a:ext>
            </a:extLst>
          </p:cNvPr>
          <p:cNvSpPr>
            <a:spLocks noGrp="1"/>
          </p:cNvSpPr>
          <p:nvPr/>
        </p:nvSpPr>
        <p:spPr>
          <a:xfrm>
            <a:off x="5764011" y="4399590"/>
            <a:ext cx="807598" cy="2598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1E5576-12E4-420D-B62F-967DAF2299E9}"/>
              </a:ext>
            </a:extLst>
          </p:cNvPr>
          <p:cNvSpPr>
            <a:spLocks noGrp="1"/>
          </p:cNvSpPr>
          <p:nvPr/>
        </p:nvSpPr>
        <p:spPr>
          <a:xfrm>
            <a:off x="7008192" y="4399590"/>
            <a:ext cx="153888" cy="5417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F57265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</a:p>
          <a:p>
            <a:pPr algn="ctr">
              <a:lnSpc>
                <a:spcPct val="100000"/>
              </a:lnSpc>
              <a:buNone/>
            </a:pPr>
            <a:endParaRPr sz="16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AAED33-2BBE-499B-AF91-3005EEEB90F3}"/>
              </a:ext>
            </a:extLst>
          </p:cNvPr>
          <p:cNvSpPr>
            <a:spLocks noGrp="1"/>
          </p:cNvSpPr>
          <p:nvPr/>
        </p:nvSpPr>
        <p:spPr>
          <a:xfrm>
            <a:off x="594360" y="4751689"/>
            <a:ext cx="6949440" cy="10479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9A12E8C7-69E0-4372-8FE3-1BB1EEE924CC}"/>
              </a:ext>
            </a:extLst>
          </p:cNvPr>
          <p:cNvSpPr>
            <a:spLocks noGrp="1"/>
          </p:cNvSpPr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92EFFF-E6EB-4486-B07C-F6858B65FC2A}"/>
              </a:ext>
            </a:extLst>
          </p:cNvPr>
          <p:cNvSpPr>
            <a:spLocks noGrp="1"/>
          </p:cNvSpPr>
          <p:nvPr/>
        </p:nvSpPr>
        <p:spPr>
          <a:xfrm>
            <a:off x="8949355" y="1865376"/>
            <a:ext cx="1559722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39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Haruを選ぶ理由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4A9093A-F83C-40F0-80F8-1D9B5B02039A}"/>
              </a:ext>
            </a:extLst>
          </p:cNvPr>
          <p:cNvSpPr>
            <a:spLocks noGrp="1"/>
          </p:cNvSpPr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47638F4-C2AE-44AD-B895-D23FAECF8E88}"/>
              </a:ext>
            </a:extLst>
          </p:cNvPr>
          <p:cNvSpPr>
            <a:spLocks noGrp="1"/>
          </p:cNvSpPr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6278261-00EF-4915-8EA9-88453598ECDD}"/>
              </a:ext>
            </a:extLst>
          </p:cNvPr>
          <p:cNvSpPr>
            <a:spLocks noGrp="1"/>
          </p:cNvSpPr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70D9D6A-F59D-4C91-8A8F-E5D2893752AC}"/>
              </a:ext>
            </a:extLst>
          </p:cNvPr>
          <p:cNvSpPr>
            <a:spLocks noGrp="1"/>
          </p:cNvSpPr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47480C-DCED-4713-91B8-ED49E349B3AF}"/>
              </a:ext>
            </a:extLst>
          </p:cNvPr>
          <p:cNvSpPr>
            <a:spLocks noGrp="1"/>
          </p:cNvSpPr>
          <p:nvPr/>
        </p:nvSpPr>
        <p:spPr>
          <a:xfrm>
            <a:off x="8522208" y="2468880"/>
            <a:ext cx="209031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2×2ボタン・音声認識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C151D8B-A1B4-4842-9100-5A7132B64492}"/>
              </a:ext>
            </a:extLst>
          </p:cNvPr>
          <p:cNvSpPr>
            <a:spLocks noGrp="1"/>
          </p:cNvSpPr>
          <p:nvPr/>
        </p:nvSpPr>
        <p:spPr>
          <a:xfrm>
            <a:off x="8119870" y="2822361"/>
            <a:ext cx="3322322" cy="6083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スマホやタッチ操作なし</a:t>
            </a:r>
            <a:endParaRPr lang="en-US"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大画面と4つのボタンで一人で完結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1140CA3E-4863-4AB3-A319-DF64459981DB}"/>
              </a:ext>
            </a:extLst>
          </p:cNvPr>
          <p:cNvSpPr>
            <a:spLocks noGrp="1"/>
          </p:cNvSpPr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035A4BE-2B0A-4249-B3CC-BCC091BEE4FB}"/>
              </a:ext>
            </a:extLst>
          </p:cNvPr>
          <p:cNvSpPr>
            <a:spLocks noGrp="1"/>
          </p:cNvSpPr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F89DDAE-6E33-481B-A4C9-AD6A14CA8C1B}"/>
              </a:ext>
            </a:extLst>
          </p:cNvPr>
          <p:cNvSpPr>
            <a:spLocks noGrp="1"/>
          </p:cNvSpPr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C8E7988-2538-4569-9569-E53271449A0C}"/>
              </a:ext>
            </a:extLst>
          </p:cNvPr>
          <p:cNvSpPr>
            <a:spLocks noGrp="1"/>
          </p:cNvSpPr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415DA0F-807C-4405-8B99-3E5E93C95908}"/>
              </a:ext>
            </a:extLst>
          </p:cNvPr>
          <p:cNvSpPr>
            <a:spLocks noGrp="1"/>
          </p:cNvSpPr>
          <p:nvPr/>
        </p:nvSpPr>
        <p:spPr>
          <a:xfrm>
            <a:off x="8522208" y="3785615"/>
            <a:ext cx="176330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4者を一つにつなぐ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B9EABBF-4121-4DF1-B7FF-8985AF3C8FEF}"/>
              </a:ext>
            </a:extLst>
          </p:cNvPr>
          <p:cNvSpPr>
            <a:spLocks noGrp="1"/>
          </p:cNvSpPr>
          <p:nvPr/>
        </p:nvSpPr>
        <p:spPr>
          <a:xfrm>
            <a:off x="8119871" y="4123243"/>
            <a:ext cx="3048912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高齢者・家族・福祉施設・医療が</a:t>
            </a:r>
          </a:p>
          <a:p>
            <a:pPr algn="l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同じ記録を用途別に共有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15CDE85A-A7E1-42A6-AFC5-033B100905B9}"/>
              </a:ext>
            </a:extLst>
          </p:cNvPr>
          <p:cNvSpPr>
            <a:spLocks noGrp="1"/>
          </p:cNvSpPr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514E69C-953D-4E08-AF3C-0263A486A6CA}"/>
              </a:ext>
            </a:extLst>
          </p:cNvPr>
          <p:cNvSpPr>
            <a:spLocks noGrp="1"/>
          </p:cNvSpPr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3FA7AA4-F196-4ADA-A300-7C2BBB885331}"/>
              </a:ext>
            </a:extLst>
          </p:cNvPr>
          <p:cNvSpPr>
            <a:spLocks noGrp="1"/>
          </p:cNvSpPr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F2BE610-589F-4209-9049-45370ABBB56A}"/>
              </a:ext>
            </a:extLst>
          </p:cNvPr>
          <p:cNvSpPr>
            <a:spLocks noGrp="1"/>
          </p:cNvSpPr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36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21A28FB-D445-4AD0-8C2F-97F5E3378303}"/>
              </a:ext>
            </a:extLst>
          </p:cNvPr>
          <p:cNvSpPr>
            <a:spLocks noGrp="1"/>
          </p:cNvSpPr>
          <p:nvPr/>
        </p:nvSpPr>
        <p:spPr>
          <a:xfrm>
            <a:off x="8522208" y="5102352"/>
            <a:ext cx="203902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AIパーソナライズ設問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7B20EE9-1265-4F23-AFCC-58F8FC199328}"/>
              </a:ext>
            </a:extLst>
          </p:cNvPr>
          <p:cNvSpPr>
            <a:spLocks noGrp="1"/>
          </p:cNvSpPr>
          <p:nvPr/>
        </p:nvSpPr>
        <p:spPr>
          <a:xfrm>
            <a:off x="8119871" y="5455833"/>
            <a:ext cx="2154436" cy="6083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今日の発話を記録し</a:t>
            </a:r>
            <a:r>
              <a:rPr sz="14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、</a:t>
            </a:r>
            <a:endParaRPr lang="en-US"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翌日の設問や相談に再利用</a:t>
            </a:r>
            <a:endParaRPr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943226B-AA4E-46EC-9B77-4A2E8D6434C9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9DD6774-630D-4761-A70B-3B4656166264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Labs・競合比較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ECB9CD5-C773-46D7-83A4-18FEBE7E3DA9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80" name="Picture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EAEBE48-98A0-4C12-ABF8-843D0A7A9D7E}"/>
              </a:ext>
            </a:extLst>
          </p:cNvPr>
          <p:cNvSpPr>
            <a:spLocks noGrp="1"/>
          </p:cNvSpPr>
          <p:nvPr/>
        </p:nvSpPr>
        <p:spPr>
          <a:xfrm>
            <a:off x="594360" y="5155931"/>
            <a:ext cx="6949440" cy="547901"/>
          </a:xfrm>
          <a:prstGeom prst="roundRect">
            <a:avLst>
              <a:gd name="adj" fmla="val 25231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33E561-EEC6-43C4-9D17-94F3EC42C90C}"/>
              </a:ext>
            </a:extLst>
          </p:cNvPr>
          <p:cNvSpPr>
            <a:spLocks noGrp="1"/>
          </p:cNvSpPr>
          <p:nvPr/>
        </p:nvSpPr>
        <p:spPr>
          <a:xfrm>
            <a:off x="3264348" y="5334699"/>
            <a:ext cx="302968" cy="218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2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1/5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0A9713-82D9-4D48-92E1-F4EA59FEDAF1}"/>
              </a:ext>
            </a:extLst>
          </p:cNvPr>
          <p:cNvSpPr>
            <a:spLocks noGrp="1"/>
          </p:cNvSpPr>
          <p:nvPr/>
        </p:nvSpPr>
        <p:spPr>
          <a:xfrm>
            <a:off x="4181674" y="5334699"/>
            <a:ext cx="302968" cy="218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2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1/5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DA70DB-5200-4648-AF3D-248CD5D65FB4}"/>
              </a:ext>
            </a:extLst>
          </p:cNvPr>
          <p:cNvSpPr>
            <a:spLocks noGrp="1"/>
          </p:cNvSpPr>
          <p:nvPr/>
        </p:nvSpPr>
        <p:spPr>
          <a:xfrm>
            <a:off x="5099000" y="5334699"/>
            <a:ext cx="302968" cy="218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2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2/5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C73647-D465-4F4A-977F-01E594A6D286}"/>
              </a:ext>
            </a:extLst>
          </p:cNvPr>
          <p:cNvSpPr>
            <a:spLocks noGrp="1"/>
          </p:cNvSpPr>
          <p:nvPr/>
        </p:nvSpPr>
        <p:spPr>
          <a:xfrm>
            <a:off x="6016326" y="5334699"/>
            <a:ext cx="302968" cy="218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2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2/5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E1F5D2-60C9-4E45-BAA2-2465AF2B3E3E}"/>
              </a:ext>
            </a:extLst>
          </p:cNvPr>
          <p:cNvSpPr>
            <a:spLocks noGrp="1"/>
          </p:cNvSpPr>
          <p:nvPr/>
        </p:nvSpPr>
        <p:spPr>
          <a:xfrm>
            <a:off x="6933652" y="5334699"/>
            <a:ext cx="302968" cy="218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2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5/5</a:t>
            </a:r>
          </a:p>
        </p:txBody>
      </p:sp>
      <p:sp>
        <p:nvSpPr>
          <p:cNvPr id="106" name="TextBox 50">
            <a:extLst>
              <a:ext uri="{FF2B5EF4-FFF2-40B4-BE49-F238E27FC236}">
                <a16:creationId xmlns:a16="http://schemas.microsoft.com/office/drawing/2014/main" id="{463643AB-CA20-B1B4-B055-A000AC09A73D}"/>
              </a:ext>
            </a:extLst>
          </p:cNvPr>
          <p:cNvSpPr>
            <a:spLocks noGrp="1"/>
          </p:cNvSpPr>
          <p:nvPr/>
        </p:nvSpPr>
        <p:spPr>
          <a:xfrm>
            <a:off x="762001" y="5217808"/>
            <a:ext cx="1053173" cy="22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4項目を同時に</a:t>
            </a:r>
          </a:p>
        </p:txBody>
      </p:sp>
      <p:sp>
        <p:nvSpPr>
          <p:cNvPr id="108" name="TextBox 51">
            <a:extLst>
              <a:ext uri="{FF2B5EF4-FFF2-40B4-BE49-F238E27FC236}">
                <a16:creationId xmlns:a16="http://schemas.microsoft.com/office/drawing/2014/main" id="{60C90A43-CBA2-B8F6-FA50-50DB5EA6E12D}"/>
              </a:ext>
            </a:extLst>
          </p:cNvPr>
          <p:cNvSpPr>
            <a:spLocks noGrp="1"/>
          </p:cNvSpPr>
          <p:nvPr/>
        </p:nvSpPr>
        <p:spPr>
          <a:xfrm>
            <a:off x="762001" y="5468929"/>
            <a:ext cx="1407437" cy="221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提供できるのはHaruだけ</a:t>
            </a:r>
            <a:endParaRPr sz="1200" b="1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1191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5EE5B1-BF31-4A83-9B43-7149BBB7252E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BETA TEST・事前検証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B9469-11E6-420E-9671-0CB084A6FAC7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8314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ベータテスト</a:t>
            </a:r>
            <a:r>
              <a:rPr sz="31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で、高齢者に一歩近づきました</a:t>
            </a:r>
            <a:endParaRPr sz="3150" b="1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514BF-699E-47B0-8CFD-D88CF31ECDAE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58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デモ版を用いた20名規模のベータテスト完了</a:t>
            </a:r>
            <a:endParaRPr sz="1580" b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90EE9-5C94-4612-B268-50D226F0D2C0}"/>
              </a:ext>
            </a:extLst>
          </p:cNvPr>
          <p:cNvSpPr>
            <a:spLocks noGrp="1"/>
          </p:cNvSpPr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39" b="1" spc="16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0D293-04E7-4553-A396-1B1300A0007B}"/>
              </a:ext>
            </a:extLst>
          </p:cNvPr>
          <p:cNvSpPr>
            <a:spLocks noGrp="1"/>
          </p:cNvSpPr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21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モバイルURL型Webアプリ</a:t>
            </a:r>
            <a:endParaRPr sz="2210" b="0">
              <a:solidFill>
                <a:srgbClr val="6C5D4C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AD2711-00DD-4660-A389-4E0DBAF818CD}"/>
              </a:ext>
            </a:extLst>
          </p:cNvPr>
          <p:cNvSpPr>
            <a:spLocks noGrp="1"/>
          </p:cNvSpPr>
          <p:nvPr/>
        </p:nvSpPr>
        <p:spPr>
          <a:xfrm>
            <a:off x="5516852" y="3273802"/>
            <a:ext cx="358847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>
                <a:latin typeface="Noto Sans JP"/>
                <a:ea typeface="Noto Sans JP"/>
                <a:cs typeface="Noto Sans JP"/>
              </a:rPr>
              <a:t>20名へのデモベース</a:t>
            </a:r>
            <a:r>
              <a:rPr sz="1300" b="0" dirty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のベータテスト</a:t>
            </a:r>
            <a:r>
              <a:rPr sz="1300" b="0" dirty="0">
                <a:latin typeface="Noto Sans JP"/>
                <a:ea typeface="Noto Sans JP"/>
                <a:cs typeface="Noto Sans JP"/>
              </a:rPr>
              <a:t>結果を反映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46BA8-83EC-419E-A27C-E56A19AE6FC1}"/>
              </a:ext>
            </a:extLst>
          </p:cNvPr>
          <p:cNvSpPr>
            <a:spLocks noGrp="1"/>
          </p:cNvSpPr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639" b="1" spc="1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749EB-55C0-4006-9CD3-21AA49751242}"/>
              </a:ext>
            </a:extLst>
          </p:cNvPr>
          <p:cNvSpPr>
            <a:spLocks noGrp="1"/>
          </p:cNvSpPr>
          <p:nvPr/>
        </p:nvSpPr>
        <p:spPr>
          <a:xfrm>
            <a:off x="5359622" y="2823254"/>
            <a:ext cx="2887009" cy="3400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21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2×2ボタン式キオスク</a:t>
            </a:r>
          </a:p>
        </p:txBody>
      </p:sp>
      <p:pic>
        <p:nvPicPr>
          <p:cNvPr id="148" name="Picture 20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/>
          </a:prstGeom>
          <a:ln w="19050">
            <a:solidFill>
              <a:srgbClr val="F57265"/>
            </a:solidFill>
          </a:ln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C77CCA7-558E-4B21-90F0-98D7F91FD59D}"/>
              </a:ext>
            </a:extLst>
          </p:cNvPr>
          <p:cNvSpPr>
            <a:spLocks noGrp="1"/>
          </p:cNvSpPr>
          <p:nvPr/>
        </p:nvSpPr>
        <p:spPr>
          <a:xfrm>
            <a:off x="5234009" y="3590822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879D3C-6AA5-4B66-96E2-8993D3CBC29C}"/>
              </a:ext>
            </a:extLst>
          </p:cNvPr>
          <p:cNvSpPr>
            <a:spLocks noGrp="1"/>
          </p:cNvSpPr>
          <p:nvPr/>
        </p:nvSpPr>
        <p:spPr>
          <a:xfrm>
            <a:off x="5638042" y="3663974"/>
            <a:ext cx="67326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1" dirty="0" err="1">
                <a:latin typeface="Noto Sans JP"/>
                <a:ea typeface="Noto Sans JP"/>
                <a:cs typeface="Noto Sans JP"/>
              </a:rPr>
              <a:t>小さな画面</a:t>
            </a:r>
            <a:endParaRPr sz="1050" b="1" dirty="0">
              <a:latin typeface="Noto Sans JP"/>
              <a:ea typeface="Noto Sans JP"/>
              <a:cs typeface="Noto Sans JP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5B9FC0E-51E6-46FB-A7EC-C4546E652540}"/>
              </a:ext>
            </a:extLst>
          </p:cNvPr>
          <p:cNvSpPr>
            <a:spLocks noGrp="1"/>
          </p:cNvSpPr>
          <p:nvPr/>
        </p:nvSpPr>
        <p:spPr>
          <a:xfrm rot="5400000">
            <a:off x="6811349" y="3677690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1C941B2-B077-41EB-8E3D-C57894694FE9}"/>
              </a:ext>
            </a:extLst>
          </p:cNvPr>
          <p:cNvSpPr>
            <a:spLocks noGrp="1"/>
          </p:cNvSpPr>
          <p:nvPr/>
        </p:nvSpPr>
        <p:spPr>
          <a:xfrm>
            <a:off x="7044521" y="3590822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49A28-C0A9-4186-A6BD-98BA9A45C12B}"/>
              </a:ext>
            </a:extLst>
          </p:cNvPr>
          <p:cNvSpPr>
            <a:spLocks noGrp="1"/>
          </p:cNvSpPr>
          <p:nvPr/>
        </p:nvSpPr>
        <p:spPr>
          <a:xfrm>
            <a:off x="7807260" y="3645686"/>
            <a:ext cx="89768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大型縦画面</a:t>
            </a:r>
            <a:endParaRPr sz="1400" b="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B793C4E-7C0E-4D0B-84C6-A5DA7654F0B0}"/>
              </a:ext>
            </a:extLst>
          </p:cNvPr>
          <p:cNvSpPr>
            <a:spLocks noGrp="1"/>
          </p:cNvSpPr>
          <p:nvPr/>
        </p:nvSpPr>
        <p:spPr>
          <a:xfrm>
            <a:off x="5234009" y="4044801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E80F11-28E6-48C5-8D7E-54E192BA1190}"/>
              </a:ext>
            </a:extLst>
          </p:cNvPr>
          <p:cNvSpPr>
            <a:spLocks noGrp="1"/>
          </p:cNvSpPr>
          <p:nvPr/>
        </p:nvSpPr>
        <p:spPr>
          <a:xfrm>
            <a:off x="5234086" y="4117953"/>
            <a:ext cx="148117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1">
                <a:latin typeface="Noto Sans JP"/>
                <a:ea typeface="Noto Sans JP"/>
                <a:cs typeface="Noto Sans JP"/>
              </a:rPr>
              <a:t>タッチ・メニューの負担</a:t>
            </a: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E834A01A-E71B-4B18-BC3C-E71DF726C607}"/>
              </a:ext>
            </a:extLst>
          </p:cNvPr>
          <p:cNvSpPr>
            <a:spLocks noGrp="1"/>
          </p:cNvSpPr>
          <p:nvPr/>
        </p:nvSpPr>
        <p:spPr>
          <a:xfrm rot="5400000">
            <a:off x="6811349" y="4131669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4B205A6-8795-46A2-B3A4-24D5865CE0FE}"/>
              </a:ext>
            </a:extLst>
          </p:cNvPr>
          <p:cNvSpPr>
            <a:spLocks noGrp="1"/>
          </p:cNvSpPr>
          <p:nvPr/>
        </p:nvSpPr>
        <p:spPr>
          <a:xfrm>
            <a:off x="7044521" y="4044801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C25692-6F94-44F3-B428-55E4227343A0}"/>
              </a:ext>
            </a:extLst>
          </p:cNvPr>
          <p:cNvSpPr>
            <a:spLocks noGrp="1"/>
          </p:cNvSpPr>
          <p:nvPr/>
        </p:nvSpPr>
        <p:spPr>
          <a:xfrm>
            <a:off x="7757567" y="4099665"/>
            <a:ext cx="99706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4つのボタン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8A246BC-8B46-45FF-B3FC-B0F98A85D524}"/>
              </a:ext>
            </a:extLst>
          </p:cNvPr>
          <p:cNvSpPr>
            <a:spLocks noGrp="1"/>
          </p:cNvSpPr>
          <p:nvPr/>
        </p:nvSpPr>
        <p:spPr>
          <a:xfrm>
            <a:off x="5234009" y="44987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7EF8BA-6BCB-41E1-A3AC-A5EAAE838133}"/>
              </a:ext>
            </a:extLst>
          </p:cNvPr>
          <p:cNvSpPr>
            <a:spLocks noGrp="1"/>
          </p:cNvSpPr>
          <p:nvPr/>
        </p:nvSpPr>
        <p:spPr>
          <a:xfrm>
            <a:off x="5503389" y="4571932"/>
            <a:ext cx="9425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1">
                <a:latin typeface="Noto Sans JP"/>
                <a:ea typeface="Noto Sans JP"/>
                <a:cs typeface="Noto Sans JP"/>
              </a:rPr>
              <a:t>聴取状態が不明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883D171E-D53E-4218-BEE8-9E10B4F6CC6D}"/>
              </a:ext>
            </a:extLst>
          </p:cNvPr>
          <p:cNvSpPr>
            <a:spLocks noGrp="1"/>
          </p:cNvSpPr>
          <p:nvPr/>
        </p:nvSpPr>
        <p:spPr>
          <a:xfrm rot="5400000">
            <a:off x="6811349" y="4585648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AC6FC08-EFA8-446F-8A64-3717B603DCCF}"/>
              </a:ext>
            </a:extLst>
          </p:cNvPr>
          <p:cNvSpPr>
            <a:spLocks noGrp="1"/>
          </p:cNvSpPr>
          <p:nvPr/>
        </p:nvSpPr>
        <p:spPr>
          <a:xfrm>
            <a:off x="7044521" y="449878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4A1B3F-BE90-4769-AE58-C2DEF4044B71}"/>
              </a:ext>
            </a:extLst>
          </p:cNvPr>
          <p:cNvSpPr>
            <a:spLocks noGrp="1"/>
          </p:cNvSpPr>
          <p:nvPr/>
        </p:nvSpPr>
        <p:spPr>
          <a:xfrm>
            <a:off x="7358419" y="4553644"/>
            <a:ext cx="17953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赤色の聴取表示・波形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42A9671-B398-4F73-BCFB-BCCB02B054EB}"/>
              </a:ext>
            </a:extLst>
          </p:cNvPr>
          <p:cNvSpPr>
            <a:spLocks noGrp="1"/>
          </p:cNvSpPr>
          <p:nvPr/>
        </p:nvSpPr>
        <p:spPr>
          <a:xfrm>
            <a:off x="5234009" y="4952759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45BCC7-1805-407F-9ABB-6D8BC5D1DE5E}"/>
              </a:ext>
            </a:extLst>
          </p:cNvPr>
          <p:cNvSpPr>
            <a:spLocks noGrp="1"/>
          </p:cNvSpPr>
          <p:nvPr/>
        </p:nvSpPr>
        <p:spPr>
          <a:xfrm>
            <a:off x="5301412" y="5025911"/>
            <a:ext cx="134652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1">
                <a:latin typeface="Noto Sans JP"/>
                <a:ea typeface="Noto Sans JP"/>
                <a:cs typeface="Noto Sans JP"/>
              </a:rPr>
              <a:t>認識失敗を強く感じる</a:t>
            </a: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66B09DC7-EA13-40C6-B2A5-78D964E65C5F}"/>
              </a:ext>
            </a:extLst>
          </p:cNvPr>
          <p:cNvSpPr>
            <a:spLocks noGrp="1"/>
          </p:cNvSpPr>
          <p:nvPr/>
        </p:nvSpPr>
        <p:spPr>
          <a:xfrm rot="5400000">
            <a:off x="6811349" y="5039627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b="1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4F4443E-9DA2-4C63-8785-15021114A604}"/>
              </a:ext>
            </a:extLst>
          </p:cNvPr>
          <p:cNvSpPr>
            <a:spLocks noGrp="1"/>
          </p:cNvSpPr>
          <p:nvPr/>
        </p:nvSpPr>
        <p:spPr>
          <a:xfrm>
            <a:off x="7044521" y="4952759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AA007D-C345-4D16-8211-DE4FDB66C49E}"/>
              </a:ext>
            </a:extLst>
          </p:cNvPr>
          <p:cNvSpPr>
            <a:spLocks noGrp="1"/>
          </p:cNvSpPr>
          <p:nvPr/>
        </p:nvSpPr>
        <p:spPr>
          <a:xfrm>
            <a:off x="7127587" y="5007622"/>
            <a:ext cx="2257028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再試行可能・失敗しても停止しない</a:t>
            </a:r>
            <a:endParaRPr sz="1100" b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>
            <a:spLocks noGrp="1"/>
          </p:cNvSpPr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>
            <a:spLocks noGrp="1"/>
          </p:cNvSpPr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>
            <a:spLocks noGrp="1"/>
          </p:cNvSpPr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0C1ED05-8E73-48EF-A5BA-FBF890858611}"/>
              </a:ext>
            </a:extLst>
          </p:cNvPr>
          <p:cNvSpPr>
            <a:spLocks noGrp="1"/>
          </p:cNvSpPr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EBB8A3-7F56-4471-AF19-40DB116B2974}"/>
              </a:ext>
            </a:extLst>
          </p:cNvPr>
          <p:cNvSpPr>
            <a:spLocks noGrp="1"/>
          </p:cNvSpPr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2240EC-5DD4-4D4A-90F9-52681C2C55A9}"/>
              </a:ext>
            </a:extLst>
          </p:cNvPr>
          <p:cNvSpPr>
            <a:spLocks noGrp="1"/>
          </p:cNvSpPr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複雑な操作が難しい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5E4DCA-59DC-4DD2-87CC-DC61720DEB52}"/>
              </a:ext>
            </a:extLst>
          </p:cNvPr>
          <p:cNvSpPr>
            <a:spLocks noGrp="1"/>
          </p:cNvSpPr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メニュー移動とタッチ自体が負担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EFC42F2-F82B-4F81-959F-F2BBB53B5906}"/>
              </a:ext>
            </a:extLst>
          </p:cNvPr>
          <p:cNvSpPr>
            <a:spLocks noGrp="1"/>
          </p:cNvSpPr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AE35F1-A9F3-4C4F-8189-3409680FCDFD}"/>
              </a:ext>
            </a:extLst>
          </p:cNvPr>
          <p:cNvSpPr>
            <a:spLocks noGrp="1"/>
          </p:cNvSpPr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023E4C-2E05-445E-A259-CD3FF4AACFA9}"/>
              </a:ext>
            </a:extLst>
          </p:cNvPr>
          <p:cNvSpPr>
            <a:spLocks noGrp="1"/>
          </p:cNvSpPr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文字が小さく見えない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F44A37-D8AF-4FCD-B0AF-471E02649473}"/>
              </a:ext>
            </a:extLst>
          </p:cNvPr>
          <p:cNvSpPr>
            <a:spLocks noGrp="1"/>
          </p:cNvSpPr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拡大しても画面が小さく読みづらい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B146320-576E-4039-A490-19E03918A844}"/>
              </a:ext>
            </a:extLst>
          </p:cNvPr>
          <p:cNvSpPr>
            <a:spLocks noGrp="1"/>
          </p:cNvSpPr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AD78C7-C6E4-4EA7-93DC-AC7296CE8B47}"/>
              </a:ext>
            </a:extLst>
          </p:cNvPr>
          <p:cNvSpPr>
            <a:spLocks noGrp="1"/>
          </p:cNvSpPr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4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3989D3-24D8-4871-9FD0-43BFAD016408}"/>
              </a:ext>
            </a:extLst>
          </p:cNvPr>
          <p:cNvSpPr>
            <a:spLocks noGrp="1"/>
          </p:cNvSpPr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誤操作のまま進んでしまう</a:t>
            </a:r>
            <a:endParaRPr sz="16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147FE9-3355-460E-9729-A6E6A52705D5}"/>
              </a:ext>
            </a:extLst>
          </p:cNvPr>
          <p:cNvSpPr>
            <a:spLocks noGrp="1"/>
          </p:cNvSpPr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取り消す方法がない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85E0D0-4E4D-4DA6-B7AC-2ABE8370E6D6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995B4C-B6C1-4BDE-AEA0-4674A2A4BD52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Labs・使用フロー確認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B615D5-BA75-453C-8CBA-4C1DEEF5CFF0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187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91" name="Rectangle 44">
            <a:extLst>
              <a:ext uri="{FF2B5EF4-FFF2-40B4-BE49-F238E27FC236}">
                <a16:creationId xmlns:a16="http://schemas.microsoft.com/office/drawing/2014/main" id="{44E3FDC0-BF28-00D5-DC24-01F0FFEC61F4}"/>
              </a:ext>
            </a:extLst>
          </p:cNvPr>
          <p:cNvSpPr>
            <a:spLocks noGrp="1"/>
          </p:cNvSpPr>
          <p:nvPr/>
        </p:nvSpPr>
        <p:spPr>
          <a:xfrm>
            <a:off x="593730" y="5586984"/>
            <a:ext cx="11003879" cy="609600"/>
          </a:xfrm>
          <a:prstGeom prst="roundRect">
            <a:avLst>
              <a:gd name="adj" fmla="val 28125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3" name="Freeform 45">
            <a:extLst>
              <a:ext uri="{FF2B5EF4-FFF2-40B4-BE49-F238E27FC236}">
                <a16:creationId xmlns:a16="http://schemas.microsoft.com/office/drawing/2014/main" id="{4201FF42-704F-A1E6-1600-A3E5BAD1E10F}"/>
              </a:ext>
            </a:extLst>
          </p:cNvPr>
          <p:cNvSpPr>
            <a:spLocks noGrp="1"/>
          </p:cNvSpPr>
          <p:nvPr/>
        </p:nvSpPr>
        <p:spPr>
          <a:xfrm>
            <a:off x="881069" y="5783974"/>
            <a:ext cx="217004" cy="217359"/>
          </a:xfrm>
          <a:custGeom>
            <a:avLst/>
            <a:gdLst/>
            <a:ahLst/>
            <a:cxnLst/>
            <a:rect l="l" t="t" r="r" b="b"/>
            <a:pathLst>
              <a:path w="217004" h="217359">
                <a:moveTo>
                  <a:pt x="154781" y="18449"/>
                </a:moveTo>
                <a:cubicBezTo>
                  <a:pt x="197784" y="43278"/>
                  <a:pt x="217004" y="95214"/>
                  <a:pt x="200524" y="142056"/>
                </a:cubicBezTo>
                <a:cubicBezTo>
                  <a:pt x="184045" y="188897"/>
                  <a:pt x="136540" y="217359"/>
                  <a:pt x="87464" y="209794"/>
                </a:cubicBezTo>
                <a:cubicBezTo>
                  <a:pt x="38388" y="202229"/>
                  <a:pt x="1660" y="160783"/>
                  <a:pt x="52" y="111153"/>
                </a:cubicBezTo>
                <a:lnTo>
                  <a:pt x="0" y="107810"/>
                </a:lnTo>
                <a:lnTo>
                  <a:pt x="52" y="104466"/>
                </a:lnTo>
                <a:cubicBezTo>
                  <a:pt x="1227" y="68216"/>
                  <a:pt x="21348" y="35245"/>
                  <a:pt x="53048" y="17623"/>
                </a:cubicBezTo>
                <a:cubicBezTo>
                  <a:pt x="84748" y="0"/>
                  <a:pt x="123372" y="314"/>
                  <a:pt x="154781" y="18449"/>
                </a:cubicBezTo>
                <a:close/>
                <a:moveTo>
                  <a:pt x="141439" y="79877"/>
                </a:moveTo>
                <a:cubicBezTo>
                  <a:pt x="137763" y="76201"/>
                  <a:pt x="131926" y="75834"/>
                  <a:pt x="127818" y="79020"/>
                </a:cubicBezTo>
                <a:lnTo>
                  <a:pt x="126848" y="79877"/>
                </a:lnTo>
                <a:lnTo>
                  <a:pt x="92869" y="113846"/>
                </a:lnTo>
                <a:lnTo>
                  <a:pt x="79527" y="100514"/>
                </a:lnTo>
                <a:lnTo>
                  <a:pt x="78557" y="99658"/>
                </a:lnTo>
                <a:cubicBezTo>
                  <a:pt x="74449" y="96474"/>
                  <a:pt x="68614" y="96842"/>
                  <a:pt x="64939" y="100517"/>
                </a:cubicBezTo>
                <a:cubicBezTo>
                  <a:pt x="61263" y="104192"/>
                  <a:pt x="60895" y="110027"/>
                  <a:pt x="64079" y="114135"/>
                </a:cubicBezTo>
                <a:lnTo>
                  <a:pt x="64936" y="115105"/>
                </a:lnTo>
                <a:lnTo>
                  <a:pt x="85573" y="135743"/>
                </a:lnTo>
                <a:lnTo>
                  <a:pt x="86543" y="136599"/>
                </a:lnTo>
                <a:cubicBezTo>
                  <a:pt x="90266" y="139487"/>
                  <a:pt x="95472" y="139487"/>
                  <a:pt x="99194" y="136599"/>
                </a:cubicBezTo>
                <a:lnTo>
                  <a:pt x="100164" y="135743"/>
                </a:lnTo>
                <a:lnTo>
                  <a:pt x="141439" y="94468"/>
                </a:lnTo>
                <a:lnTo>
                  <a:pt x="142296" y="93498"/>
                </a:lnTo>
                <a:cubicBezTo>
                  <a:pt x="145482" y="89390"/>
                  <a:pt x="145115" y="83553"/>
                  <a:pt x="141439" y="79877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5" name="TextBox 46">
            <a:extLst>
              <a:ext uri="{FF2B5EF4-FFF2-40B4-BE49-F238E27FC236}">
                <a16:creationId xmlns:a16="http://schemas.microsoft.com/office/drawing/2014/main" id="{140DDE60-EFA7-7E61-319C-5F91C8039105}"/>
              </a:ext>
            </a:extLst>
          </p:cNvPr>
          <p:cNvSpPr>
            <a:spLocks noGrp="1"/>
          </p:cNvSpPr>
          <p:nvPr/>
        </p:nvSpPr>
        <p:spPr>
          <a:xfrm>
            <a:off x="1225239" y="5660777"/>
            <a:ext cx="416139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専門家・ベータテストの知見を製品に反映</a:t>
            </a:r>
          </a:p>
        </p:txBody>
      </p:sp>
      <p:sp>
        <p:nvSpPr>
          <p:cNvPr id="97" name="TextBox 47">
            <a:extLst>
              <a:ext uri="{FF2B5EF4-FFF2-40B4-BE49-F238E27FC236}">
                <a16:creationId xmlns:a16="http://schemas.microsoft.com/office/drawing/2014/main" id="{9FBE6DEE-79F8-C146-8689-520485D44756}"/>
              </a:ext>
            </a:extLst>
          </p:cNvPr>
          <p:cNvSpPr>
            <a:spLocks noGrp="1"/>
          </p:cNvSpPr>
          <p:nvPr/>
        </p:nvSpPr>
        <p:spPr>
          <a:xfrm>
            <a:off x="1228572" y="5934885"/>
            <a:ext cx="377026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MVPデモ → メンター／ベータテスト → 改善完了</a:t>
            </a:r>
          </a:p>
        </p:txBody>
      </p:sp>
      <p:sp>
        <p:nvSpPr>
          <p:cNvPr id="99" name="Rectangle 48">
            <a:extLst>
              <a:ext uri="{FF2B5EF4-FFF2-40B4-BE49-F238E27FC236}">
                <a16:creationId xmlns:a16="http://schemas.microsoft.com/office/drawing/2014/main" id="{5780EB86-FAA3-1EFE-303F-E10D0C35A5CF}"/>
              </a:ext>
            </a:extLst>
          </p:cNvPr>
          <p:cNvSpPr>
            <a:spLocks noGrp="1"/>
          </p:cNvSpPr>
          <p:nvPr/>
        </p:nvSpPr>
        <p:spPr>
          <a:xfrm>
            <a:off x="5638043" y="5742293"/>
            <a:ext cx="1986506" cy="313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1" name="TextBox 49">
            <a:extLst>
              <a:ext uri="{FF2B5EF4-FFF2-40B4-BE49-F238E27FC236}">
                <a16:creationId xmlns:a16="http://schemas.microsoft.com/office/drawing/2014/main" id="{AEE9AE0C-7766-2B9C-B470-FCF8F0887C60}"/>
              </a:ext>
            </a:extLst>
          </p:cNvPr>
          <p:cNvSpPr>
            <a:spLocks noGrp="1"/>
          </p:cNvSpPr>
          <p:nvPr/>
        </p:nvSpPr>
        <p:spPr>
          <a:xfrm>
            <a:off x="5961241" y="5815738"/>
            <a:ext cx="134011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高コントラスト・大文字</a:t>
            </a:r>
            <a:endParaRPr sz="1200" b="1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03" name="Rectangle 50">
            <a:extLst>
              <a:ext uri="{FF2B5EF4-FFF2-40B4-BE49-F238E27FC236}">
                <a16:creationId xmlns:a16="http://schemas.microsoft.com/office/drawing/2014/main" id="{F1D72537-EDCB-7F18-927C-5984415F217F}"/>
              </a:ext>
            </a:extLst>
          </p:cNvPr>
          <p:cNvSpPr>
            <a:spLocks noGrp="1"/>
          </p:cNvSpPr>
          <p:nvPr/>
        </p:nvSpPr>
        <p:spPr>
          <a:xfrm>
            <a:off x="7739555" y="5742293"/>
            <a:ext cx="1619250" cy="313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5" name="TextBox 51">
            <a:extLst>
              <a:ext uri="{FF2B5EF4-FFF2-40B4-BE49-F238E27FC236}">
                <a16:creationId xmlns:a16="http://schemas.microsoft.com/office/drawing/2014/main" id="{FCF0F49C-E450-A2F1-4A29-41056F39840F}"/>
              </a:ext>
            </a:extLst>
          </p:cNvPr>
          <p:cNvSpPr>
            <a:spLocks noGrp="1"/>
          </p:cNvSpPr>
          <p:nvPr/>
        </p:nvSpPr>
        <p:spPr>
          <a:xfrm>
            <a:off x="7879125" y="5815738"/>
            <a:ext cx="134011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実物報酬・参加競争</a:t>
            </a:r>
          </a:p>
        </p:txBody>
      </p:sp>
      <p:sp>
        <p:nvSpPr>
          <p:cNvPr id="107" name="Rectangle 52">
            <a:extLst>
              <a:ext uri="{FF2B5EF4-FFF2-40B4-BE49-F238E27FC236}">
                <a16:creationId xmlns:a16="http://schemas.microsoft.com/office/drawing/2014/main" id="{05325A05-E030-1296-3F1F-4C1AE282BB8C}"/>
              </a:ext>
            </a:extLst>
          </p:cNvPr>
          <p:cNvSpPr>
            <a:spLocks noGrp="1"/>
          </p:cNvSpPr>
          <p:nvPr/>
        </p:nvSpPr>
        <p:spPr>
          <a:xfrm>
            <a:off x="9558755" y="5742293"/>
            <a:ext cx="1779176" cy="313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9" name="TextBox 53">
            <a:extLst>
              <a:ext uri="{FF2B5EF4-FFF2-40B4-BE49-F238E27FC236}">
                <a16:creationId xmlns:a16="http://schemas.microsoft.com/office/drawing/2014/main" id="{68C8459A-6EA8-796A-C05F-395772C19637}"/>
              </a:ext>
            </a:extLst>
          </p:cNvPr>
          <p:cNvSpPr>
            <a:spLocks noGrp="1"/>
          </p:cNvSpPr>
          <p:nvPr/>
        </p:nvSpPr>
        <p:spPr>
          <a:xfrm>
            <a:off x="9708557" y="5815738"/>
            <a:ext cx="147957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日常型設問・音声発話</a:t>
            </a:r>
          </a:p>
        </p:txBody>
      </p:sp>
      <p:pic>
        <p:nvPicPr>
          <p:cNvPr id="198" name="그림 120"/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</p:spPr>
      </p:pic>
      <p:sp>
        <p:nvSpPr>
          <p:cNvPr id="136" name="직선 연결선 135">
            <a:extLst>
              <a:ext uri="{FF2B5EF4-FFF2-40B4-BE49-F238E27FC236}">
                <a16:creationId xmlns:a16="http://schemas.microsoft.com/office/drawing/2014/main" id="{D4BD5A05-4ACB-4358-A228-16B9438346FC}"/>
              </a:ext>
            </a:extLst>
          </p:cNvPr>
          <p:cNvSpPr>
            <a:spLocks noGrp="1"/>
          </p:cNvSpPr>
          <p:nvPr/>
        </p:nvSpPr>
        <p:spPr>
          <a:xfrm>
            <a:off x="4798409" y="3133725"/>
            <a:ext cx="45434" cy="2209452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3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39FD66-6F4D-4FF2-8B05-994E9E7FF843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INTERACTION・操作ルール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6C91E-1F3B-4124-9802-8424026A11DA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8152873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2×2ボタンで実現した</a:t>
            </a:r>
            <a:r>
              <a:rPr sz="315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高齢者にやさしい設計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7F60D-95E4-48D3-91E7-3FD9EE81D3C0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選択・再入力で確定・音声案内の単一ルール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FBFE8-AC5E-454F-BC5B-D1A7D57CE55F}"/>
              </a:ext>
            </a:extLst>
          </p:cNvPr>
          <p:cNvSpPr>
            <a:spLocks noGrp="1"/>
          </p:cNvSpPr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実機モックアップ</a:t>
            </a:r>
            <a:endParaRPr b="1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223" name="Picture 6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/>
          </a:prstGeom>
          <a:ln>
            <a:solidFill>
              <a:srgbClr val="F57265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97BD63-0359-4EE8-BF24-EA56D9FF7569}"/>
              </a:ext>
            </a:extLst>
          </p:cNvPr>
          <p:cNvSpPr>
            <a:spLocks noGrp="1"/>
          </p:cNvSpPr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実際の動作映像</a:t>
            </a:r>
            <a:endParaRPr b="1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598B4B1-37EF-41F2-834C-F804A40A0206}"/>
              </a:ext>
            </a:extLst>
          </p:cNvPr>
          <p:cNvSpPr>
            <a:spLocks noGrp="1"/>
          </p:cNvSpPr>
          <p:nvPr/>
        </p:nvSpPr>
        <p:spPr>
          <a:xfrm>
            <a:off x="5165413" y="1996055"/>
            <a:ext cx="1778906" cy="880424"/>
          </a:xfrm>
          <a:prstGeom prst="roundRect">
            <a:avLst>
              <a:gd name="adj" fmla="val 14000"/>
            </a:avLst>
          </a:prstGeom>
          <a:solidFill>
            <a:srgbClr val="FBE0D3"/>
          </a:solidFill>
          <a:ln w="9525">
            <a:solidFill>
              <a:srgbClr val="C8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91A564-F0ED-448D-8D0B-F6BA01926755}"/>
              </a:ext>
            </a:extLst>
          </p:cNvPr>
          <p:cNvSpPr>
            <a:spLocks noGrp="1"/>
          </p:cNvSpPr>
          <p:nvPr/>
        </p:nvSpPr>
        <p:spPr>
          <a:xfrm>
            <a:off x="5296490" y="2088192"/>
            <a:ext cx="374506" cy="2732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630CB2-6133-4341-A7E5-B06EFECA29ED}"/>
              </a:ext>
            </a:extLst>
          </p:cNvPr>
          <p:cNvSpPr>
            <a:spLocks noGrp="1"/>
          </p:cNvSpPr>
          <p:nvPr/>
        </p:nvSpPr>
        <p:spPr>
          <a:xfrm>
            <a:off x="5487148" y="2359355"/>
            <a:ext cx="11541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非常に良い</a:t>
            </a:r>
            <a:endParaRPr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0E77D9-2F65-4148-9C31-A79739EA46A5}"/>
              </a:ext>
            </a:extLst>
          </p:cNvPr>
          <p:cNvSpPr>
            <a:spLocks noGrp="1"/>
          </p:cNvSpPr>
          <p:nvPr/>
        </p:nvSpPr>
        <p:spPr>
          <a:xfrm>
            <a:off x="7037946" y="1996055"/>
            <a:ext cx="1778906" cy="880424"/>
          </a:xfrm>
          <a:prstGeom prst="roundRect">
            <a:avLst>
              <a:gd name="adj" fmla="val 14000"/>
            </a:avLst>
          </a:prstGeom>
          <a:solidFill>
            <a:srgbClr val="FBE6B4"/>
          </a:solidFill>
          <a:ln w="9525">
            <a:solidFill>
              <a:srgbClr val="F4A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55597-5D57-4C6F-96B4-7C29C95DFE85}"/>
              </a:ext>
            </a:extLst>
          </p:cNvPr>
          <p:cNvSpPr>
            <a:spLocks noGrp="1"/>
          </p:cNvSpPr>
          <p:nvPr/>
        </p:nvSpPr>
        <p:spPr>
          <a:xfrm>
            <a:off x="7169023" y="2088192"/>
            <a:ext cx="374506" cy="2732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F80679-CA96-4E12-BD8B-10C4F0CE4C95}"/>
              </a:ext>
            </a:extLst>
          </p:cNvPr>
          <p:cNvSpPr>
            <a:spLocks noGrp="1"/>
          </p:cNvSpPr>
          <p:nvPr/>
        </p:nvSpPr>
        <p:spPr>
          <a:xfrm>
            <a:off x="7705928" y="2359355"/>
            <a:ext cx="46166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良い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D266E1D-B2C6-463D-AF6D-8A8E8697E54C}"/>
              </a:ext>
            </a:extLst>
          </p:cNvPr>
          <p:cNvSpPr>
            <a:spLocks noGrp="1"/>
          </p:cNvSpPr>
          <p:nvPr/>
        </p:nvSpPr>
        <p:spPr>
          <a:xfrm>
            <a:off x="5165413" y="2978854"/>
            <a:ext cx="1778906" cy="880424"/>
          </a:xfrm>
          <a:prstGeom prst="roundRect">
            <a:avLst>
              <a:gd name="adj" fmla="val 14000"/>
            </a:avLst>
          </a:prstGeom>
          <a:solidFill>
            <a:srgbClr val="EAF3E4"/>
          </a:solidFill>
          <a:ln w="9525">
            <a:solidFill>
              <a:srgbClr val="5E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F90EF-823B-4D1D-A01D-E4550E93D326}"/>
              </a:ext>
            </a:extLst>
          </p:cNvPr>
          <p:cNvSpPr>
            <a:spLocks noGrp="1"/>
          </p:cNvSpPr>
          <p:nvPr/>
        </p:nvSpPr>
        <p:spPr>
          <a:xfrm>
            <a:off x="5296490" y="3070991"/>
            <a:ext cx="374506" cy="2732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69558-3DE6-4B99-A8AB-E714447EDC5B}"/>
              </a:ext>
            </a:extLst>
          </p:cNvPr>
          <p:cNvSpPr>
            <a:spLocks noGrp="1"/>
          </p:cNvSpPr>
          <p:nvPr/>
        </p:nvSpPr>
        <p:spPr>
          <a:xfrm>
            <a:off x="5833395" y="3342154"/>
            <a:ext cx="46166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普通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92B4A7-1D1B-4BBC-8089-38DE3BC0AD1C}"/>
              </a:ext>
            </a:extLst>
          </p:cNvPr>
          <p:cNvSpPr>
            <a:spLocks noGrp="1"/>
          </p:cNvSpPr>
          <p:nvPr/>
        </p:nvSpPr>
        <p:spPr>
          <a:xfrm>
            <a:off x="7037946" y="2978854"/>
            <a:ext cx="1778906" cy="880424"/>
          </a:xfrm>
          <a:prstGeom prst="roundRect">
            <a:avLst>
              <a:gd name="adj" fmla="val 14000"/>
            </a:avLst>
          </a:prstGeom>
          <a:solidFill>
            <a:srgbClr val="DFEAF6"/>
          </a:solidFill>
          <a:ln w="9525">
            <a:solidFill>
              <a:srgbClr val="4A7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D8FF2C-2CAF-41D3-A0E6-6AAF8E48BA41}"/>
              </a:ext>
            </a:extLst>
          </p:cNvPr>
          <p:cNvSpPr>
            <a:spLocks noGrp="1"/>
          </p:cNvSpPr>
          <p:nvPr/>
        </p:nvSpPr>
        <p:spPr>
          <a:xfrm>
            <a:off x="7169023" y="3070991"/>
            <a:ext cx="374506" cy="2732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>
                <a:solidFill>
                  <a:srgbClr val="4A779B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492C6C-C6D3-4346-875A-82F9DDBC5284}"/>
              </a:ext>
            </a:extLst>
          </p:cNvPr>
          <p:cNvSpPr>
            <a:spLocks noGrp="1"/>
          </p:cNvSpPr>
          <p:nvPr/>
        </p:nvSpPr>
        <p:spPr>
          <a:xfrm>
            <a:off x="7475096" y="3342154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良くない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2D3C9A4-D54A-41F5-99DD-C4FF8C90CE6B}"/>
              </a:ext>
            </a:extLst>
          </p:cNvPr>
          <p:cNvSpPr>
            <a:spLocks noGrp="1"/>
          </p:cNvSpPr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FB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05F785-B5D1-41EE-8E95-3FA0E14E0854}"/>
              </a:ext>
            </a:extLst>
          </p:cNvPr>
          <p:cNvSpPr>
            <a:spLocks noGrp="1"/>
          </p:cNvSpPr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ボタンの色と位置が画面上の選択肢にそのまま対応します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ABF836-15FA-45FF-8230-B237D6942E40}"/>
              </a:ext>
            </a:extLst>
          </p:cNvPr>
          <p:cNvSpPr>
            <a:spLocks noGrp="1"/>
          </p:cNvSpPr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CBEE67-FC35-4BE5-A13B-958E72E62ED1}"/>
              </a:ext>
            </a:extLst>
          </p:cNvPr>
          <p:cNvSpPr>
            <a:spLocks noGrp="1"/>
          </p:cNvSpPr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音声案内を聞く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6B5BCB-DBF6-4FB0-9668-2CCE7063EF44}"/>
              </a:ext>
            </a:extLst>
          </p:cNvPr>
          <p:cNvSpPr>
            <a:spLocks noGrp="1"/>
          </p:cNvSpPr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AE713A-7AD6-4D6C-A6A3-9EC1E3CCF132}"/>
              </a:ext>
            </a:extLst>
          </p:cNvPr>
          <p:cNvSpPr>
            <a:spLocks noGrp="1"/>
          </p:cNvSpPr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表示位置と同じボタンを押す</a:t>
            </a:r>
            <a:endParaRPr sz="14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3A10C7-8261-45F9-B0F8-863F18463404}"/>
              </a:ext>
            </a:extLst>
          </p:cNvPr>
          <p:cNvSpPr>
            <a:spLocks noGrp="1"/>
          </p:cNvSpPr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F2674D-9E55-40D1-AAF1-62E939D80A02}"/>
              </a:ext>
            </a:extLst>
          </p:cNvPr>
          <p:cNvSpPr>
            <a:spLocks noGrp="1"/>
          </p:cNvSpPr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画面で選択を確認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3B22C-BE5E-4404-B4D5-C8CACBAB1CC8}"/>
              </a:ext>
            </a:extLst>
          </p:cNvPr>
          <p:cNvSpPr>
            <a:spLocks noGrp="1"/>
          </p:cNvSpPr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AB4CF2-4B77-453D-B9C3-47BF0742C89E}"/>
              </a:ext>
            </a:extLst>
          </p:cNvPr>
          <p:cNvSpPr>
            <a:spLocks noGrp="1"/>
          </p:cNvSpPr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同じボタンをもう一度押して確定</a:t>
            </a:r>
            <a:endParaRPr sz="14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1D85F39-4A43-4310-8A9F-2F3C3EA8CF64}"/>
              </a:ext>
            </a:extLst>
          </p:cNvPr>
          <p:cNvSpPr>
            <a:spLocks noGrp="1"/>
          </p:cNvSpPr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F57265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D11C326-CB88-4CEE-A06D-D5A24186EDE4}"/>
              </a:ext>
            </a:extLst>
          </p:cNvPr>
          <p:cNvSpPr>
            <a:spLocks noGrp="1"/>
          </p:cNvSpPr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919669-81E5-4CDB-B6DE-1DC8EA92507E}"/>
              </a:ext>
            </a:extLst>
          </p:cNvPr>
          <p:cNvSpPr>
            <a:spLocks noGrp="1"/>
          </p:cNvSpPr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39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5BBDD4-8F93-4A0F-8104-47F9320054F0}"/>
              </a:ext>
            </a:extLst>
          </p:cNvPr>
          <p:cNvSpPr>
            <a:spLocks noGrp="1"/>
          </p:cNvSpPr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2×2の位置対応・同じボタンの再入力で確定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4FA4276-BF51-4803-9A6D-6D98EBF67C0B}"/>
              </a:ext>
            </a:extLst>
          </p:cNvPr>
          <p:cNvSpPr>
            <a:spLocks noGrp="1"/>
          </p:cNvSpPr>
          <p:nvPr/>
        </p:nvSpPr>
        <p:spPr>
          <a:xfrm>
            <a:off x="6122819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1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</a:rPr>
              <a:t>特許出願進行中</a:t>
            </a:r>
            <a:endParaRPr sz="1360" b="1" dirty="0">
              <a:solidFill>
                <a:schemeClr val="tx1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7374E59-69EA-492B-AB19-577138EE31C4}"/>
              </a:ext>
            </a:extLst>
          </p:cNvPr>
          <p:cNvSpPr>
            <a:spLocks noGrp="1"/>
          </p:cNvSpPr>
          <p:nvPr/>
        </p:nvSpPr>
        <p:spPr>
          <a:xfrm>
            <a:off x="7705254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1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</a:rPr>
              <a:t>KCI論文作成中</a:t>
            </a:r>
            <a:endParaRPr sz="1360" b="1" dirty="0">
              <a:solidFill>
                <a:schemeClr val="tx1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CE80C41-B4A6-41C2-8BD1-F0385ED7D9E9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79D173-E945-4F4F-A84C-999561FBD235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Labs・操作ルール</a:t>
            </a:r>
          </a:p>
        </p:txBody>
      </p:sp>
      <p:pic>
        <p:nvPicPr>
          <p:cNvPr id="257" name="Picture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>
            <a:spLocks noGrp="1"/>
          </p:cNvSpPr>
          <p:nvPr/>
        </p:nvSpPr>
        <p:spPr>
          <a:xfrm>
            <a:off x="9304187" y="5631624"/>
            <a:ext cx="210676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1" dirty="0" err="1">
                <a:solidFill>
                  <a:srgbClr val="FF0000"/>
                </a:solidFill>
                <a:latin typeface="Noto Sans JP"/>
                <a:ea typeface="Noto Sans JP"/>
                <a:cs typeface="Noto Sans JP"/>
              </a:rPr>
              <a:t>日韓</a:t>
            </a:r>
            <a:r>
              <a:rPr sz="1360" b="1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</a:rPr>
              <a:t>両国での実証を予定</a:t>
            </a:r>
            <a:endParaRPr sz="1360" b="1" dirty="0">
              <a:solidFill>
                <a:schemeClr val="tx1"/>
              </a:solidFill>
              <a:latin typeface="Noto Sans JP"/>
              <a:ea typeface="Noto Sans JP"/>
              <a:cs typeface="Noto Sans JP"/>
            </a:endParaRPr>
          </a:p>
        </p:txBody>
      </p:sp>
      <p:cxnSp>
        <p:nvCxnSpPr>
          <p:cNvPr id="259" name="직선 화살표 연결선 60"/>
          <p:cNvCxnSpPr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61"/>
          <p:cNvCxnSpPr/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F8368C-3534-448F-85B4-FD2B91E7AEDA}"/>
              </a:ext>
            </a:extLst>
          </p:cNvPr>
          <p:cNvSpPr>
            <a:spLocks noGrp="1"/>
          </p:cNvSpPr>
          <p:nvPr/>
        </p:nvSpPr>
        <p:spPr>
          <a:xfrm>
            <a:off x="3640283" y="2161652"/>
            <a:ext cx="1025922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画面上の</a:t>
            </a:r>
            <a:endParaRPr lang="en-US" sz="16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選択肢位置</a:t>
            </a:r>
            <a:endParaRPr sz="16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4F2945-E7B9-58D7-D332-CD559B98BF46}"/>
              </a:ext>
            </a:extLst>
          </p:cNvPr>
          <p:cNvSpPr>
            <a:spLocks noGrp="1"/>
          </p:cNvSpPr>
          <p:nvPr/>
        </p:nvSpPr>
        <p:spPr>
          <a:xfrm>
            <a:off x="3398838" y="3232015"/>
            <a:ext cx="150881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60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ボタン位置</a:t>
            </a:r>
            <a:endParaRPr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6E7CFD-5867-32CE-6888-4821ADDFC55E}"/>
              </a:ext>
            </a:extLst>
          </p:cNvPr>
          <p:cNvSpPr>
            <a:spLocks noGrp="1"/>
          </p:cNvSpPr>
          <p:nvPr/>
        </p:nvSpPr>
        <p:spPr>
          <a:xfrm>
            <a:off x="3815531" y="2769373"/>
            <a:ext cx="67542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600" b="0" dirty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=</a:t>
            </a:r>
            <a:endParaRPr sz="1600" dirty="0"/>
          </a:p>
        </p:txBody>
      </p:sp>
      <p:sp>
        <p:nvSpPr>
          <p:cNvPr id="80" name="직선 연결선 79">
            <a:extLst>
              <a:ext uri="{FF2B5EF4-FFF2-40B4-BE49-F238E27FC236}">
                <a16:creationId xmlns:a16="http://schemas.microsoft.com/office/drawing/2014/main" id="{7193BA12-A998-4418-A339-39567202400D}"/>
              </a:ext>
            </a:extLst>
          </p:cNvPr>
          <p:cNvSpPr>
            <a:spLocks noGrp="1"/>
          </p:cNvSpPr>
          <p:nvPr/>
        </p:nvSpPr>
        <p:spPr>
          <a:xfrm>
            <a:off x="4916628" y="2005965"/>
            <a:ext cx="37907" cy="1843403"/>
          </a:xfrm>
          <a:prstGeom prst="line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7" name="TextBox 61">
            <a:extLst>
              <a:ext uri="{FF2B5EF4-FFF2-40B4-BE49-F238E27FC236}">
                <a16:creationId xmlns:a16="http://schemas.microsoft.com/office/drawing/2014/main" id="{52F0D980-C845-8EA9-F177-0DE99A7E0D2A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</a:t>
            </a: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6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6" name="haru_2x2_9s5.mp4">
            <a:hlinkClick r:id="" action="ppaction://media"/>
            <a:extLst>
              <a:ext uri="{FF2B5EF4-FFF2-40B4-BE49-F238E27FC236}">
                <a16:creationId xmlns:a16="http://schemas.microsoft.com/office/drawing/2014/main" id="{84238298-B9EC-656E-EF1F-E872A510BC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208937" y="1179249"/>
            <a:ext cx="2106763" cy="3738597"/>
          </a:xfrm>
          <a:prstGeom prst="roundRect">
            <a:avLst/>
          </a:prstGeom>
          <a:ln w="12700">
            <a:solidFill>
              <a:srgbClr val="F57265"/>
            </a:solidFill>
          </a:ln>
        </p:spPr>
      </p:pic>
    </p:spTree>
    <p:extLst>
      <p:ext uri="{BB962C8B-B14F-4D97-AF65-F5344CB8AC3E}">
        <p14:creationId xmlns:p14="http://schemas.microsoft.com/office/powerpoint/2010/main" val="122675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C000A-63B6-4C45-BC73-A662885D1076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CONTENT・設問体系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61CE4-E65B-4267-9434-7B93B4AB23D1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847026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全設問を、</a:t>
            </a:r>
            <a:r>
              <a:rPr sz="315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検証済みの認知領域</a:t>
            </a:r>
            <a:r>
              <a:rPr sz="31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に基づいて設計</a:t>
            </a:r>
            <a:endParaRPr sz="3150" b="1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B269F-81D6-449E-839D-AB03D0B1FE4F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PHQ-9が抑うつを扱うように、認知領域にはMMSE・CISTの検証済み領域体系があります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FAE542-AE26-4A48-A0BB-1D672C22AEEA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583ED1-1360-44C4-AE8F-45E714CC2582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Labs・設問体系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AAED38-1FFB-4903-B048-6325DC4E199F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158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65" name="Rectangle 9">
            <a:extLst>
              <a:ext uri="{FF2B5EF4-FFF2-40B4-BE49-F238E27FC236}">
                <a16:creationId xmlns:a16="http://schemas.microsoft.com/office/drawing/2014/main" id="{2E04AFD0-D137-B2D4-0D02-E8ADB5F8F8E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6" name="Rectangle 10">
            <a:extLst>
              <a:ext uri="{FF2B5EF4-FFF2-40B4-BE49-F238E27FC236}">
                <a16:creationId xmlns:a16="http://schemas.microsoft.com/office/drawing/2014/main" id="{AF58C334-F112-8D73-0D25-B6B8C1894DCD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75" name="Freeform 11">
            <a:extLst>
              <a:ext uri="{FF2B5EF4-FFF2-40B4-BE49-F238E27FC236}">
                <a16:creationId xmlns:a16="http://schemas.microsoft.com/office/drawing/2014/main" id="{EC63BA7F-C04B-F37E-15CC-136295311956}"/>
              </a:ext>
            </a:extLst>
          </p:cNvPr>
          <p:cNvSpPr>
            <a:spLocks noGrp="1"/>
          </p:cNvSpPr>
          <p:nvPr/>
        </p:nvSpPr>
        <p:spPr>
          <a:xfrm>
            <a:off x="923924" y="1923782"/>
            <a:ext cx="171452" cy="190769"/>
          </a:xfrm>
          <a:custGeom>
            <a:avLst/>
            <a:gdLst/>
            <a:ahLst/>
            <a:cxnLst/>
            <a:rect l="l" t="t" r="r" b="b"/>
            <a:pathLst>
              <a:path w="171452" h="190769">
                <a:moveTo>
                  <a:pt x="123826" y="268"/>
                </a:moveTo>
                <a:cubicBezTo>
                  <a:pt x="128655" y="269"/>
                  <a:pt x="132719" y="3883"/>
                  <a:pt x="133284" y="8679"/>
                </a:cubicBezTo>
                <a:lnTo>
                  <a:pt x="133351" y="9793"/>
                </a:lnTo>
                <a:lnTo>
                  <a:pt x="133351" y="19318"/>
                </a:lnTo>
                <a:lnTo>
                  <a:pt x="142876" y="19318"/>
                </a:lnTo>
                <a:cubicBezTo>
                  <a:pt x="158007" y="19318"/>
                  <a:pt x="170516" y="31112"/>
                  <a:pt x="171403" y="46217"/>
                </a:cubicBezTo>
                <a:lnTo>
                  <a:pt x="171451" y="47893"/>
                </a:lnTo>
                <a:lnTo>
                  <a:pt x="171451" y="162193"/>
                </a:lnTo>
                <a:cubicBezTo>
                  <a:pt x="171452" y="177324"/>
                  <a:pt x="159657" y="189833"/>
                  <a:pt x="144552" y="190721"/>
                </a:cubicBezTo>
                <a:lnTo>
                  <a:pt x="142876" y="190768"/>
                </a:lnTo>
                <a:lnTo>
                  <a:pt x="28576" y="190768"/>
                </a:lnTo>
                <a:cubicBezTo>
                  <a:pt x="13445" y="190769"/>
                  <a:pt x="936" y="178975"/>
                  <a:pt x="48" y="163870"/>
                </a:cubicBezTo>
                <a:lnTo>
                  <a:pt x="1" y="162193"/>
                </a:lnTo>
                <a:lnTo>
                  <a:pt x="1" y="47893"/>
                </a:lnTo>
                <a:cubicBezTo>
                  <a:pt x="0" y="32762"/>
                  <a:pt x="11794" y="20254"/>
                  <a:pt x="26899" y="19366"/>
                </a:cubicBezTo>
                <a:lnTo>
                  <a:pt x="28576" y="19318"/>
                </a:lnTo>
                <a:lnTo>
                  <a:pt x="38101" y="19318"/>
                </a:lnTo>
                <a:lnTo>
                  <a:pt x="38101" y="9793"/>
                </a:lnTo>
                <a:cubicBezTo>
                  <a:pt x="38106" y="4754"/>
                  <a:pt x="42037" y="591"/>
                  <a:pt x="47068" y="295"/>
                </a:cubicBezTo>
                <a:cubicBezTo>
                  <a:pt x="52099" y="0"/>
                  <a:pt x="56489" y="3675"/>
                  <a:pt x="57084" y="8679"/>
                </a:cubicBezTo>
                <a:lnTo>
                  <a:pt x="57151" y="9793"/>
                </a:lnTo>
                <a:lnTo>
                  <a:pt x="57151" y="19318"/>
                </a:lnTo>
                <a:lnTo>
                  <a:pt x="114301" y="19318"/>
                </a:lnTo>
                <a:lnTo>
                  <a:pt x="114301" y="9793"/>
                </a:lnTo>
                <a:cubicBezTo>
                  <a:pt x="114301" y="4533"/>
                  <a:pt x="118565" y="268"/>
                  <a:pt x="123826" y="268"/>
                </a:cubicBezTo>
                <a:close/>
                <a:moveTo>
                  <a:pt x="152401" y="66943"/>
                </a:moveTo>
                <a:lnTo>
                  <a:pt x="19051" y="66943"/>
                </a:lnTo>
                <a:lnTo>
                  <a:pt x="19051" y="158622"/>
                </a:lnTo>
                <a:cubicBezTo>
                  <a:pt x="19051" y="165337"/>
                  <a:pt x="22727" y="170871"/>
                  <a:pt x="27461" y="171633"/>
                </a:cubicBezTo>
                <a:lnTo>
                  <a:pt x="28576" y="171718"/>
                </a:lnTo>
                <a:lnTo>
                  <a:pt x="142876" y="171718"/>
                </a:lnTo>
                <a:cubicBezTo>
                  <a:pt x="147762" y="171718"/>
                  <a:pt x="151791" y="166670"/>
                  <a:pt x="152334" y="160146"/>
                </a:cubicBezTo>
                <a:lnTo>
                  <a:pt x="152401" y="158622"/>
                </a:lnTo>
                <a:lnTo>
                  <a:pt x="152401" y="66943"/>
                </a:lnTo>
                <a:close/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76" name="Freeform 12">
            <a:extLst>
              <a:ext uri="{FF2B5EF4-FFF2-40B4-BE49-F238E27FC236}">
                <a16:creationId xmlns:a16="http://schemas.microsoft.com/office/drawing/2014/main" id="{9F805578-2D51-F4C9-6DDA-8C59AD059AF3}"/>
              </a:ext>
            </a:extLst>
          </p:cNvPr>
          <p:cNvSpPr>
            <a:spLocks noGrp="1"/>
          </p:cNvSpPr>
          <p:nvPr/>
        </p:nvSpPr>
        <p:spPr>
          <a:xfrm>
            <a:off x="990332" y="2019300"/>
            <a:ext cx="28843" cy="47893"/>
          </a:xfrm>
          <a:custGeom>
            <a:avLst/>
            <a:gdLst/>
            <a:ahLst/>
            <a:cxnLst/>
            <a:rect l="l" t="t" r="r" b="b"/>
            <a:pathLst>
              <a:path w="28843" h="47893">
                <a:moveTo>
                  <a:pt x="19318" y="0"/>
                </a:moveTo>
                <a:cubicBezTo>
                  <a:pt x="24147" y="1"/>
                  <a:pt x="28212" y="3615"/>
                  <a:pt x="28777" y="8411"/>
                </a:cubicBezTo>
                <a:lnTo>
                  <a:pt x="28843" y="9525"/>
                </a:lnTo>
                <a:lnTo>
                  <a:pt x="28843" y="38100"/>
                </a:lnTo>
                <a:cubicBezTo>
                  <a:pt x="28838" y="43140"/>
                  <a:pt x="24908" y="47303"/>
                  <a:pt x="19877" y="47598"/>
                </a:cubicBezTo>
                <a:cubicBezTo>
                  <a:pt x="14846" y="47893"/>
                  <a:pt x="10455" y="44219"/>
                  <a:pt x="9860" y="39214"/>
                </a:cubicBezTo>
                <a:lnTo>
                  <a:pt x="9793" y="38100"/>
                </a:lnTo>
                <a:lnTo>
                  <a:pt x="9793" y="19050"/>
                </a:lnTo>
                <a:cubicBezTo>
                  <a:pt x="4754" y="19044"/>
                  <a:pt x="591" y="15114"/>
                  <a:pt x="295" y="10083"/>
                </a:cubicBezTo>
                <a:cubicBezTo>
                  <a:pt x="0" y="5052"/>
                  <a:pt x="3675" y="662"/>
                  <a:pt x="8679" y="67"/>
                </a:cubicBezTo>
                <a:lnTo>
                  <a:pt x="9793" y="0"/>
                </a:lnTo>
                <a:lnTo>
                  <a:pt x="19318" y="0"/>
                </a:lnTo>
                <a:close/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68" name="TextBox 14">
            <a:extLst>
              <a:ext uri="{FF2B5EF4-FFF2-40B4-BE49-F238E27FC236}">
                <a16:creationId xmlns:a16="http://schemas.microsoft.com/office/drawing/2014/main" id="{D36CFF92-7AB5-AC1B-D521-D76C23486B19}"/>
              </a:ext>
            </a:extLst>
          </p:cNvPr>
          <p:cNvSpPr>
            <a:spLocks noGrp="1"/>
          </p:cNvSpPr>
          <p:nvPr/>
        </p:nvSpPr>
        <p:spPr>
          <a:xfrm>
            <a:off x="1295400" y="1877545"/>
            <a:ext cx="52418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見当識</a:t>
            </a:r>
          </a:p>
        </p:txBody>
      </p:sp>
      <p:sp>
        <p:nvSpPr>
          <p:cNvPr id="69" name="TextBox 15">
            <a:extLst>
              <a:ext uri="{FF2B5EF4-FFF2-40B4-BE49-F238E27FC236}">
                <a16:creationId xmlns:a16="http://schemas.microsoft.com/office/drawing/2014/main" id="{6A114974-5B6E-1839-B008-80F28C65F5E4}"/>
              </a:ext>
            </a:extLst>
          </p:cNvPr>
          <p:cNvSpPr>
            <a:spLocks noGrp="1"/>
          </p:cNvSpPr>
          <p:nvPr/>
        </p:nvSpPr>
        <p:spPr>
          <a:xfrm>
            <a:off x="1302544" y="2146697"/>
            <a:ext cx="799899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38"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時間・場所の感覚</a:t>
            </a:r>
          </a:p>
        </p:txBody>
      </p:sp>
      <p:sp>
        <p:nvSpPr>
          <p:cNvPr id="70" name="TextBox 16">
            <a:extLst>
              <a:ext uri="{FF2B5EF4-FFF2-40B4-BE49-F238E27FC236}">
                <a16:creationId xmlns:a16="http://schemas.microsoft.com/office/drawing/2014/main" id="{3238D68D-D1BC-4E2F-D05E-3F6AE082D849}"/>
              </a:ext>
            </a:extLst>
          </p:cNvPr>
          <p:cNvSpPr>
            <a:spLocks noGrp="1"/>
          </p:cNvSpPr>
          <p:nvPr/>
        </p:nvSpPr>
        <p:spPr>
          <a:xfrm>
            <a:off x="806768" y="2428399"/>
            <a:ext cx="2115964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既存検査</a:t>
            </a:r>
            <a:r>
              <a:rPr sz="975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：今日の日付・現在地を確認</a:t>
            </a:r>
          </a:p>
        </p:txBody>
      </p:sp>
      <p:sp>
        <p:nvSpPr>
          <p:cNvPr id="71" name="Rectangle 17">
            <a:extLst>
              <a:ext uri="{FF2B5EF4-FFF2-40B4-BE49-F238E27FC236}">
                <a16:creationId xmlns:a16="http://schemas.microsoft.com/office/drawing/2014/main" id="{16CF1FF2-ED89-273E-36A6-F530076FB765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6954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72" name="TextBox 18">
            <a:extLst>
              <a:ext uri="{FF2B5EF4-FFF2-40B4-BE49-F238E27FC236}">
                <a16:creationId xmlns:a16="http://schemas.microsoft.com/office/drawing/2014/main" id="{796D04D8-F322-B4B2-5601-E2809F2F9EF3}"/>
              </a:ext>
            </a:extLst>
          </p:cNvPr>
          <p:cNvSpPr>
            <a:spLocks noGrp="1"/>
          </p:cNvSpPr>
          <p:nvPr/>
        </p:nvSpPr>
        <p:spPr>
          <a:xfrm>
            <a:off x="940118" y="2752249"/>
            <a:ext cx="1365758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「今日は何曜日ですか？」</a:t>
            </a:r>
          </a:p>
        </p:txBody>
      </p:sp>
      <p:sp>
        <p:nvSpPr>
          <p:cNvPr id="73" name="Rectangle 19">
            <a:extLst>
              <a:ext uri="{FF2B5EF4-FFF2-40B4-BE49-F238E27FC236}">
                <a16:creationId xmlns:a16="http://schemas.microsoft.com/office/drawing/2014/main" id="{A81507A4-3E54-249A-B0E6-9E2FC89660A5}"/>
              </a:ext>
            </a:extLst>
          </p:cNvPr>
          <p:cNvSpPr>
            <a:spLocks noGrp="1"/>
          </p:cNvSpPr>
          <p:nvPr/>
        </p:nvSpPr>
        <p:spPr>
          <a:xfrm>
            <a:off x="819150" y="3009900"/>
            <a:ext cx="205740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74" name="TextBox 20">
            <a:extLst>
              <a:ext uri="{FF2B5EF4-FFF2-40B4-BE49-F238E27FC236}">
                <a16:creationId xmlns:a16="http://schemas.microsoft.com/office/drawing/2014/main" id="{0E4260A6-7DA6-A78E-F3E8-C1CB31C6ACCD}"/>
              </a:ext>
            </a:extLst>
          </p:cNvPr>
          <p:cNvSpPr>
            <a:spLocks noGrp="1"/>
          </p:cNvSpPr>
          <p:nvPr/>
        </p:nvSpPr>
        <p:spPr>
          <a:xfrm>
            <a:off x="940118" y="3076099"/>
            <a:ext cx="1479572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「今日はどこへ行きましたか？」</a:t>
            </a:r>
          </a:p>
        </p:txBody>
      </p:sp>
      <p:sp>
        <p:nvSpPr>
          <p:cNvPr id="78" name="Rectangle 22">
            <a:extLst>
              <a:ext uri="{FF2B5EF4-FFF2-40B4-BE49-F238E27FC236}">
                <a16:creationId xmlns:a16="http://schemas.microsoft.com/office/drawing/2014/main" id="{20A8FE4C-66E0-8175-2570-5A5C7EA3F06D}"/>
              </a:ext>
            </a:extLst>
          </p:cNvPr>
          <p:cNvSpPr>
            <a:spLocks noGrp="1"/>
          </p:cNvSpPr>
          <p:nvPr/>
        </p:nvSpPr>
        <p:spPr>
          <a:xfrm>
            <a:off x="4343400" y="165735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79" name="Rectangle 23">
            <a:extLst>
              <a:ext uri="{FF2B5EF4-FFF2-40B4-BE49-F238E27FC236}">
                <a16:creationId xmlns:a16="http://schemas.microsoft.com/office/drawing/2014/main" id="{1081A191-76A3-404F-9E5C-8DA90C106036}"/>
              </a:ext>
            </a:extLst>
          </p:cNvPr>
          <p:cNvSpPr>
            <a:spLocks noGrp="1"/>
          </p:cNvSpPr>
          <p:nvPr/>
        </p:nvSpPr>
        <p:spPr>
          <a:xfrm>
            <a:off x="4552950" y="18288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80" name="Freeform 24">
            <a:extLst>
              <a:ext uri="{FF2B5EF4-FFF2-40B4-BE49-F238E27FC236}">
                <a16:creationId xmlns:a16="http://schemas.microsoft.com/office/drawing/2014/main" id="{725122E9-990D-97D7-CEBF-92AB8C09B88A}"/>
              </a:ext>
            </a:extLst>
          </p:cNvPr>
          <p:cNvSpPr>
            <a:spLocks noGrp="1"/>
          </p:cNvSpPr>
          <p:nvPr/>
        </p:nvSpPr>
        <p:spPr>
          <a:xfrm>
            <a:off x="4676775" y="1924050"/>
            <a:ext cx="133351" cy="191032"/>
          </a:xfrm>
          <a:custGeom>
            <a:avLst/>
            <a:gdLst/>
            <a:ahLst/>
            <a:cxnLst/>
            <a:rect l="l" t="t" r="r" b="b"/>
            <a:pathLst>
              <a:path w="133351" h="191032">
                <a:moveTo>
                  <a:pt x="85725" y="0"/>
                </a:moveTo>
                <a:cubicBezTo>
                  <a:pt x="112028" y="0"/>
                  <a:pt x="133350" y="21322"/>
                  <a:pt x="133350" y="47625"/>
                </a:cubicBezTo>
                <a:lnTo>
                  <a:pt x="133350" y="180975"/>
                </a:lnTo>
                <a:cubicBezTo>
                  <a:pt x="133351" y="184489"/>
                  <a:pt x="131417" y="187717"/>
                  <a:pt x="128319" y="189375"/>
                </a:cubicBezTo>
                <a:cubicBezTo>
                  <a:pt x="125220" y="191032"/>
                  <a:pt x="121461" y="190850"/>
                  <a:pt x="118539" y="188900"/>
                </a:cubicBezTo>
                <a:lnTo>
                  <a:pt x="66675" y="154324"/>
                </a:lnTo>
                <a:lnTo>
                  <a:pt x="14821" y="188900"/>
                </a:lnTo>
                <a:cubicBezTo>
                  <a:pt x="12057" y="190750"/>
                  <a:pt x="8527" y="191024"/>
                  <a:pt x="5511" y="189622"/>
                </a:cubicBezTo>
                <a:cubicBezTo>
                  <a:pt x="2494" y="188221"/>
                  <a:pt x="427" y="185348"/>
                  <a:pt x="57" y="182042"/>
                </a:cubicBezTo>
                <a:lnTo>
                  <a:pt x="0" y="180975"/>
                </a:ln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lnTo>
                  <a:pt x="85725" y="0"/>
                </a:ln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81" name="TextBox 25">
            <a:extLst>
              <a:ext uri="{FF2B5EF4-FFF2-40B4-BE49-F238E27FC236}">
                <a16:creationId xmlns:a16="http://schemas.microsoft.com/office/drawing/2014/main" id="{DB3DF683-FB89-6881-4836-E418A280171E}"/>
              </a:ext>
            </a:extLst>
          </p:cNvPr>
          <p:cNvSpPr>
            <a:spLocks noGrp="1"/>
          </p:cNvSpPr>
          <p:nvPr/>
        </p:nvSpPr>
        <p:spPr>
          <a:xfrm>
            <a:off x="5029200" y="1877545"/>
            <a:ext cx="52418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記憶</a:t>
            </a:r>
          </a:p>
        </p:txBody>
      </p:sp>
      <p:sp>
        <p:nvSpPr>
          <p:cNvPr id="82" name="TextBox 26">
            <a:extLst>
              <a:ext uri="{FF2B5EF4-FFF2-40B4-BE49-F238E27FC236}">
                <a16:creationId xmlns:a16="http://schemas.microsoft.com/office/drawing/2014/main" id="{38568239-7EF7-733C-5046-F1FBB522B74D}"/>
              </a:ext>
            </a:extLst>
          </p:cNvPr>
          <p:cNvSpPr>
            <a:spLocks noGrp="1"/>
          </p:cNvSpPr>
          <p:nvPr/>
        </p:nvSpPr>
        <p:spPr>
          <a:xfrm>
            <a:off x="5036344" y="2146697"/>
            <a:ext cx="1048364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38"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記銘・遅延再生</a:t>
            </a:r>
          </a:p>
        </p:txBody>
      </p:sp>
      <p:sp>
        <p:nvSpPr>
          <p:cNvPr id="83" name="TextBox 27">
            <a:extLst>
              <a:ext uri="{FF2B5EF4-FFF2-40B4-BE49-F238E27FC236}">
                <a16:creationId xmlns:a16="http://schemas.microsoft.com/office/drawing/2014/main" id="{D0426738-7849-DE00-E57D-0A7C1281BB8B}"/>
              </a:ext>
            </a:extLst>
          </p:cNvPr>
          <p:cNvSpPr>
            <a:spLocks noGrp="1"/>
          </p:cNvSpPr>
          <p:nvPr/>
        </p:nvSpPr>
        <p:spPr>
          <a:xfrm>
            <a:off x="4540568" y="2428399"/>
            <a:ext cx="1736053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既存検査：</a:t>
            </a:r>
            <a:r>
              <a:rPr sz="975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単語・文章を記憶後に想起</a:t>
            </a:r>
          </a:p>
        </p:txBody>
      </p:sp>
      <p:sp>
        <p:nvSpPr>
          <p:cNvPr id="84" name="Rectangle 28">
            <a:extLst>
              <a:ext uri="{FF2B5EF4-FFF2-40B4-BE49-F238E27FC236}">
                <a16:creationId xmlns:a16="http://schemas.microsoft.com/office/drawing/2014/main" id="{BC5E4B1E-7173-1B93-70F6-DA3896A6E1A3}"/>
              </a:ext>
            </a:extLst>
          </p:cNvPr>
          <p:cNvSpPr>
            <a:spLocks noGrp="1"/>
          </p:cNvSpPr>
          <p:nvPr/>
        </p:nvSpPr>
        <p:spPr>
          <a:xfrm>
            <a:off x="4552950" y="2686050"/>
            <a:ext cx="16192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85" name="TextBox 29">
            <a:extLst>
              <a:ext uri="{FF2B5EF4-FFF2-40B4-BE49-F238E27FC236}">
                <a16:creationId xmlns:a16="http://schemas.microsoft.com/office/drawing/2014/main" id="{178C077E-58C0-6AC5-954A-724991ABC8CC}"/>
              </a:ext>
            </a:extLst>
          </p:cNvPr>
          <p:cNvSpPr>
            <a:spLocks noGrp="1"/>
          </p:cNvSpPr>
          <p:nvPr/>
        </p:nvSpPr>
        <p:spPr>
          <a:xfrm>
            <a:off x="4673918" y="2752249"/>
            <a:ext cx="1380186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昨日の話を引き続き質問</a:t>
            </a:r>
          </a:p>
        </p:txBody>
      </p:sp>
      <p:sp>
        <p:nvSpPr>
          <p:cNvPr id="86" name="Rectangle 30">
            <a:extLst>
              <a:ext uri="{FF2B5EF4-FFF2-40B4-BE49-F238E27FC236}">
                <a16:creationId xmlns:a16="http://schemas.microsoft.com/office/drawing/2014/main" id="{3AFBBCAC-0569-1720-9A05-76F2B43AA00B}"/>
              </a:ext>
            </a:extLst>
          </p:cNvPr>
          <p:cNvSpPr>
            <a:spLocks noGrp="1"/>
          </p:cNvSpPr>
          <p:nvPr/>
        </p:nvSpPr>
        <p:spPr>
          <a:xfrm>
            <a:off x="4552950" y="3009900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87" name="TextBox 31">
            <a:extLst>
              <a:ext uri="{FF2B5EF4-FFF2-40B4-BE49-F238E27FC236}">
                <a16:creationId xmlns:a16="http://schemas.microsoft.com/office/drawing/2014/main" id="{F2CDC7AF-A051-3C6E-548F-B4B2E38AC2B5}"/>
              </a:ext>
            </a:extLst>
          </p:cNvPr>
          <p:cNvSpPr>
            <a:spLocks noGrp="1"/>
          </p:cNvSpPr>
          <p:nvPr/>
        </p:nvSpPr>
        <p:spPr>
          <a:xfrm>
            <a:off x="4673918" y="3076099"/>
            <a:ext cx="1208664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家族との食事・外出を回想</a:t>
            </a:r>
          </a:p>
        </p:txBody>
      </p:sp>
      <p:sp>
        <p:nvSpPr>
          <p:cNvPr id="89" name="Rectangle 33">
            <a:extLst>
              <a:ext uri="{FF2B5EF4-FFF2-40B4-BE49-F238E27FC236}">
                <a16:creationId xmlns:a16="http://schemas.microsoft.com/office/drawing/2014/main" id="{867B34B4-2760-649E-A4ED-8A94D3047AA9}"/>
              </a:ext>
            </a:extLst>
          </p:cNvPr>
          <p:cNvSpPr>
            <a:spLocks noGrp="1"/>
          </p:cNvSpPr>
          <p:nvPr/>
        </p:nvSpPr>
        <p:spPr>
          <a:xfrm>
            <a:off x="8077200" y="165735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0" name="Rectangle 34">
            <a:extLst>
              <a:ext uri="{FF2B5EF4-FFF2-40B4-BE49-F238E27FC236}">
                <a16:creationId xmlns:a16="http://schemas.microsoft.com/office/drawing/2014/main" id="{079F5EF4-B915-47B1-1F92-B66EC909B87E}"/>
              </a:ext>
            </a:extLst>
          </p:cNvPr>
          <p:cNvSpPr>
            <a:spLocks noGrp="1"/>
          </p:cNvSpPr>
          <p:nvPr/>
        </p:nvSpPr>
        <p:spPr>
          <a:xfrm>
            <a:off x="8286750" y="18288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1" name="Freeform 35">
            <a:extLst>
              <a:ext uri="{FF2B5EF4-FFF2-40B4-BE49-F238E27FC236}">
                <a16:creationId xmlns:a16="http://schemas.microsoft.com/office/drawing/2014/main" id="{F3EC55A5-4C04-1183-5D30-AE2C194E5E82}"/>
              </a:ext>
            </a:extLst>
          </p:cNvPr>
          <p:cNvSpPr>
            <a:spLocks noGrp="1"/>
          </p:cNvSpPr>
          <p:nvPr/>
        </p:nvSpPr>
        <p:spPr>
          <a:xfrm>
            <a:off x="8391525" y="1924050"/>
            <a:ext cx="171450" cy="190500"/>
          </a:xfrm>
          <a:custGeom>
            <a:avLst/>
            <a:gdLst/>
            <a:ahLst/>
            <a:cxnLst/>
            <a:rect l="l" t="t" r="r" b="b"/>
            <a:pathLst>
              <a:path w="171450" h="19050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61925"/>
                </a:lnTo>
                <a:cubicBezTo>
                  <a:pt x="171450" y="177707"/>
                  <a:pt x="158657" y="190500"/>
                  <a:pt x="1428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  <a:moveTo>
                  <a:pt x="47625" y="142875"/>
                </a:moveTo>
                <a:cubicBezTo>
                  <a:pt x="42364" y="142875"/>
                  <a:pt x="38100" y="147139"/>
                  <a:pt x="38100" y="152400"/>
                </a:cubicBezTo>
                <a:lnTo>
                  <a:pt x="38167" y="153610"/>
                </a:lnTo>
                <a:cubicBezTo>
                  <a:pt x="38762" y="158614"/>
                  <a:pt x="43152" y="162289"/>
                  <a:pt x="48183" y="161993"/>
                </a:cubicBezTo>
                <a:cubicBezTo>
                  <a:pt x="53214" y="161698"/>
                  <a:pt x="57144" y="157535"/>
                  <a:pt x="57150" y="152495"/>
                </a:cubicBezTo>
                <a:lnTo>
                  <a:pt x="57083" y="151286"/>
                </a:lnTo>
                <a:cubicBezTo>
                  <a:pt x="56518" y="146490"/>
                  <a:pt x="52454" y="142876"/>
                  <a:pt x="47625" y="142875"/>
                </a:cubicBezTo>
                <a:close/>
                <a:moveTo>
                  <a:pt x="85725" y="142875"/>
                </a:moveTo>
                <a:cubicBezTo>
                  <a:pt x="80464" y="142875"/>
                  <a:pt x="76200" y="147139"/>
                  <a:pt x="76200" y="152400"/>
                </a:cubicBezTo>
                <a:lnTo>
                  <a:pt x="76267" y="153610"/>
                </a:lnTo>
                <a:cubicBezTo>
                  <a:pt x="76862" y="158614"/>
                  <a:pt x="81252" y="162289"/>
                  <a:pt x="86283" y="161993"/>
                </a:cubicBezTo>
                <a:cubicBezTo>
                  <a:pt x="91314" y="161698"/>
                  <a:pt x="95244" y="157535"/>
                  <a:pt x="95250" y="152495"/>
                </a:cubicBezTo>
                <a:lnTo>
                  <a:pt x="95183" y="151286"/>
                </a:lnTo>
                <a:cubicBezTo>
                  <a:pt x="94618" y="146490"/>
                  <a:pt x="90554" y="142876"/>
                  <a:pt x="85725" y="142875"/>
                </a:cubicBezTo>
                <a:close/>
                <a:moveTo>
                  <a:pt x="123825" y="142875"/>
                </a:moveTo>
                <a:cubicBezTo>
                  <a:pt x="118564" y="142875"/>
                  <a:pt x="114300" y="147139"/>
                  <a:pt x="114300" y="152400"/>
                </a:cubicBezTo>
                <a:lnTo>
                  <a:pt x="114367" y="153610"/>
                </a:lnTo>
                <a:cubicBezTo>
                  <a:pt x="114962" y="158614"/>
                  <a:pt x="119352" y="162289"/>
                  <a:pt x="124383" y="161993"/>
                </a:cubicBezTo>
                <a:cubicBezTo>
                  <a:pt x="129414" y="161698"/>
                  <a:pt x="133344" y="157535"/>
                  <a:pt x="133350" y="152495"/>
                </a:cubicBezTo>
                <a:lnTo>
                  <a:pt x="133283" y="151286"/>
                </a:lnTo>
                <a:cubicBezTo>
                  <a:pt x="132718" y="146490"/>
                  <a:pt x="128654" y="142876"/>
                  <a:pt x="123825" y="142875"/>
                </a:cubicBezTo>
                <a:close/>
                <a:moveTo>
                  <a:pt x="47625" y="104775"/>
                </a:moveTo>
                <a:cubicBezTo>
                  <a:pt x="42364" y="104775"/>
                  <a:pt x="38100" y="109039"/>
                  <a:pt x="38100" y="114300"/>
                </a:cubicBezTo>
                <a:lnTo>
                  <a:pt x="38167" y="115510"/>
                </a:lnTo>
                <a:cubicBezTo>
                  <a:pt x="38762" y="120514"/>
                  <a:pt x="43152" y="124189"/>
                  <a:pt x="48183" y="123893"/>
                </a:cubicBezTo>
                <a:cubicBezTo>
                  <a:pt x="53214" y="123598"/>
                  <a:pt x="57144" y="119435"/>
                  <a:pt x="57150" y="114395"/>
                </a:cubicBezTo>
                <a:lnTo>
                  <a:pt x="57083" y="113186"/>
                </a:lnTo>
                <a:cubicBezTo>
                  <a:pt x="56518" y="108390"/>
                  <a:pt x="52454" y="104776"/>
                  <a:pt x="47625" y="104775"/>
                </a:cubicBezTo>
                <a:close/>
                <a:moveTo>
                  <a:pt x="85725" y="104775"/>
                </a:moveTo>
                <a:cubicBezTo>
                  <a:pt x="80464" y="104775"/>
                  <a:pt x="76200" y="109039"/>
                  <a:pt x="76200" y="114300"/>
                </a:cubicBezTo>
                <a:lnTo>
                  <a:pt x="76267" y="115510"/>
                </a:lnTo>
                <a:cubicBezTo>
                  <a:pt x="76862" y="120514"/>
                  <a:pt x="81252" y="124189"/>
                  <a:pt x="86283" y="123893"/>
                </a:cubicBezTo>
                <a:cubicBezTo>
                  <a:pt x="91314" y="123598"/>
                  <a:pt x="95244" y="119435"/>
                  <a:pt x="95250" y="114395"/>
                </a:cubicBezTo>
                <a:lnTo>
                  <a:pt x="95183" y="113186"/>
                </a:lnTo>
                <a:cubicBezTo>
                  <a:pt x="94618" y="108390"/>
                  <a:pt x="90554" y="104776"/>
                  <a:pt x="85725" y="104775"/>
                </a:cubicBezTo>
                <a:close/>
                <a:moveTo>
                  <a:pt x="123825" y="104775"/>
                </a:moveTo>
                <a:cubicBezTo>
                  <a:pt x="118564" y="104775"/>
                  <a:pt x="114300" y="109039"/>
                  <a:pt x="114300" y="114300"/>
                </a:cubicBezTo>
                <a:lnTo>
                  <a:pt x="114367" y="115510"/>
                </a:lnTo>
                <a:cubicBezTo>
                  <a:pt x="114962" y="120514"/>
                  <a:pt x="119352" y="124189"/>
                  <a:pt x="124383" y="123893"/>
                </a:cubicBezTo>
                <a:cubicBezTo>
                  <a:pt x="129414" y="123598"/>
                  <a:pt x="133344" y="119435"/>
                  <a:pt x="133350" y="114395"/>
                </a:cubicBezTo>
                <a:lnTo>
                  <a:pt x="133283" y="113186"/>
                </a:lnTo>
                <a:cubicBezTo>
                  <a:pt x="132718" y="108390"/>
                  <a:pt x="128654" y="104776"/>
                  <a:pt x="123825" y="104775"/>
                </a:cubicBezTo>
                <a:close/>
                <a:moveTo>
                  <a:pt x="114300" y="38100"/>
                </a:moveTo>
                <a:lnTo>
                  <a:pt x="57150" y="38100"/>
                </a:lnTo>
                <a:cubicBezTo>
                  <a:pt x="46629" y="38100"/>
                  <a:pt x="38100" y="46629"/>
                  <a:pt x="38100" y="57150"/>
                </a:cubicBezTo>
                <a:lnTo>
                  <a:pt x="38100" y="66675"/>
                </a:lnTo>
                <a:cubicBezTo>
                  <a:pt x="38100" y="77196"/>
                  <a:pt x="46629" y="85725"/>
                  <a:pt x="57150" y="85725"/>
                </a:cubicBezTo>
                <a:lnTo>
                  <a:pt x="114300" y="85725"/>
                </a:lnTo>
                <a:cubicBezTo>
                  <a:pt x="124821" y="85725"/>
                  <a:pt x="133350" y="77196"/>
                  <a:pt x="133350" y="66675"/>
                </a:cubicBezTo>
                <a:lnTo>
                  <a:pt x="133350" y="57150"/>
                </a:lnTo>
                <a:cubicBezTo>
                  <a:pt x="133350" y="46629"/>
                  <a:pt x="124821" y="38100"/>
                  <a:pt x="114300" y="38100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A04E5A72-4C5C-C95D-8C6E-89C906ADA5C0}"/>
              </a:ext>
            </a:extLst>
          </p:cNvPr>
          <p:cNvSpPr>
            <a:spLocks noGrp="1"/>
          </p:cNvSpPr>
          <p:nvPr/>
        </p:nvSpPr>
        <p:spPr>
          <a:xfrm>
            <a:off x="8763000" y="1877545"/>
            <a:ext cx="88325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注意・計算</a:t>
            </a:r>
          </a:p>
        </p:txBody>
      </p:sp>
      <p:sp>
        <p:nvSpPr>
          <p:cNvPr id="93" name="TextBox 37">
            <a:extLst>
              <a:ext uri="{FF2B5EF4-FFF2-40B4-BE49-F238E27FC236}">
                <a16:creationId xmlns:a16="http://schemas.microsoft.com/office/drawing/2014/main" id="{0A9582FA-3FF6-08E9-0AAE-B80B79D246CC}"/>
              </a:ext>
            </a:extLst>
          </p:cNvPr>
          <p:cNvSpPr>
            <a:spLocks noGrp="1"/>
          </p:cNvSpPr>
          <p:nvPr/>
        </p:nvSpPr>
        <p:spPr>
          <a:xfrm>
            <a:off x="8770144" y="2146697"/>
            <a:ext cx="769441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38"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注意集中・演算</a:t>
            </a:r>
          </a:p>
        </p:txBody>
      </p:sp>
      <p:sp>
        <p:nvSpPr>
          <p:cNvPr id="94" name="Rectangle 38">
            <a:extLst>
              <a:ext uri="{FF2B5EF4-FFF2-40B4-BE49-F238E27FC236}">
                <a16:creationId xmlns:a16="http://schemas.microsoft.com/office/drawing/2014/main" id="{1203F14B-73F5-A818-43B5-E1F81791F2B5}"/>
              </a:ext>
            </a:extLst>
          </p:cNvPr>
          <p:cNvSpPr>
            <a:spLocks noGrp="1"/>
          </p:cNvSpPr>
          <p:nvPr/>
        </p:nvSpPr>
        <p:spPr>
          <a:xfrm>
            <a:off x="10429875" y="1817438"/>
            <a:ext cx="962025" cy="2308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5" name="TextBox 39">
            <a:extLst>
              <a:ext uri="{FF2B5EF4-FFF2-40B4-BE49-F238E27FC236}">
                <a16:creationId xmlns:a16="http://schemas.microsoft.com/office/drawing/2014/main" id="{4EA063ED-0FF7-E096-C08A-249AD08A4B61}"/>
              </a:ext>
            </a:extLst>
          </p:cNvPr>
          <p:cNvSpPr>
            <a:spLocks noGrp="1"/>
          </p:cNvSpPr>
          <p:nvPr/>
        </p:nvSpPr>
        <p:spPr>
          <a:xfrm>
            <a:off x="10649551" y="1855881"/>
            <a:ext cx="532198" cy="132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62" b="1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メンタリング反映</a:t>
            </a:r>
            <a:endParaRPr sz="862" b="1" dirty="0">
              <a:solidFill>
                <a:srgbClr val="FFFFFF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6" name="TextBox 40">
            <a:extLst>
              <a:ext uri="{FF2B5EF4-FFF2-40B4-BE49-F238E27FC236}">
                <a16:creationId xmlns:a16="http://schemas.microsoft.com/office/drawing/2014/main" id="{E9C686B5-E061-CDF6-850A-448D5A96DED5}"/>
              </a:ext>
            </a:extLst>
          </p:cNvPr>
          <p:cNvSpPr>
            <a:spLocks noGrp="1"/>
          </p:cNvSpPr>
          <p:nvPr/>
        </p:nvSpPr>
        <p:spPr>
          <a:xfrm>
            <a:off x="8274368" y="2428399"/>
            <a:ext cx="1596591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既存検査：</a:t>
            </a:r>
            <a:r>
              <a:rPr sz="975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引き算・数列をつなぐ</a:t>
            </a:r>
          </a:p>
        </p:txBody>
      </p:sp>
      <p:sp>
        <p:nvSpPr>
          <p:cNvPr id="97" name="Rectangle 41">
            <a:extLst>
              <a:ext uri="{FF2B5EF4-FFF2-40B4-BE49-F238E27FC236}">
                <a16:creationId xmlns:a16="http://schemas.microsoft.com/office/drawing/2014/main" id="{358FE79B-76E7-A825-1CBC-C917A02B9BE2}"/>
              </a:ext>
            </a:extLst>
          </p:cNvPr>
          <p:cNvSpPr>
            <a:spLocks noGrp="1"/>
          </p:cNvSpPr>
          <p:nvPr/>
        </p:nvSpPr>
        <p:spPr>
          <a:xfrm>
            <a:off x="8286750" y="2686050"/>
            <a:ext cx="1252835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E95B5B15-E986-0171-7084-94BCDF6220F0}"/>
              </a:ext>
            </a:extLst>
          </p:cNvPr>
          <p:cNvSpPr>
            <a:spLocks noGrp="1"/>
          </p:cNvSpPr>
          <p:nvPr/>
        </p:nvSpPr>
        <p:spPr>
          <a:xfrm>
            <a:off x="8407718" y="2752249"/>
            <a:ext cx="860813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買い物の金額計算</a:t>
            </a:r>
          </a:p>
        </p:txBody>
      </p:sp>
      <p:sp>
        <p:nvSpPr>
          <p:cNvPr id="99" name="Rectangle 43">
            <a:extLst>
              <a:ext uri="{FF2B5EF4-FFF2-40B4-BE49-F238E27FC236}">
                <a16:creationId xmlns:a16="http://schemas.microsoft.com/office/drawing/2014/main" id="{EC08778F-9089-C4BB-73E7-A1CBC23A79F6}"/>
              </a:ext>
            </a:extLst>
          </p:cNvPr>
          <p:cNvSpPr>
            <a:spLocks noGrp="1"/>
          </p:cNvSpPr>
          <p:nvPr/>
        </p:nvSpPr>
        <p:spPr>
          <a:xfrm>
            <a:off x="8286750" y="3009900"/>
            <a:ext cx="1577797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0" name="TextBox 44">
            <a:extLst>
              <a:ext uri="{FF2B5EF4-FFF2-40B4-BE49-F238E27FC236}">
                <a16:creationId xmlns:a16="http://schemas.microsoft.com/office/drawing/2014/main" id="{9F8C49C1-7438-59FE-D156-A05C44360912}"/>
              </a:ext>
            </a:extLst>
          </p:cNvPr>
          <p:cNvSpPr>
            <a:spLocks noGrp="1"/>
          </p:cNvSpPr>
          <p:nvPr/>
        </p:nvSpPr>
        <p:spPr>
          <a:xfrm>
            <a:off x="8407718" y="3076099"/>
            <a:ext cx="1240724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服薬時間・数字パターン</a:t>
            </a:r>
          </a:p>
        </p:txBody>
      </p:sp>
      <p:sp>
        <p:nvSpPr>
          <p:cNvPr id="102" name="Rectangle 46">
            <a:extLst>
              <a:ext uri="{FF2B5EF4-FFF2-40B4-BE49-F238E27FC236}">
                <a16:creationId xmlns:a16="http://schemas.microsoft.com/office/drawing/2014/main" id="{F9784F3D-6A6F-722C-41D4-2C64A983349F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3" name="Rectangle 47">
            <a:extLst>
              <a:ext uri="{FF2B5EF4-FFF2-40B4-BE49-F238E27FC236}">
                <a16:creationId xmlns:a16="http://schemas.microsoft.com/office/drawing/2014/main" id="{3BAE612F-108E-63A0-FAAC-C8E3DEF567A7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4" name="Freeform 48">
            <a:extLst>
              <a:ext uri="{FF2B5EF4-FFF2-40B4-BE49-F238E27FC236}">
                <a16:creationId xmlns:a16="http://schemas.microsoft.com/office/drawing/2014/main" id="{28C7573C-B5C1-0236-E226-D6E72510F27B}"/>
              </a:ext>
            </a:extLst>
          </p:cNvPr>
          <p:cNvSpPr>
            <a:spLocks noGrp="1"/>
          </p:cNvSpPr>
          <p:nvPr/>
        </p:nvSpPr>
        <p:spPr>
          <a:xfrm>
            <a:off x="933446" y="3914775"/>
            <a:ext cx="152408" cy="200025"/>
          </a:xfrm>
          <a:custGeom>
            <a:avLst/>
            <a:gdLst/>
            <a:ahLst/>
            <a:cxnLst/>
            <a:rect l="l" t="t" r="r" b="b"/>
            <a:pathLst>
              <a:path w="152408" h="200025">
                <a:moveTo>
                  <a:pt x="142879" y="76200"/>
                </a:moveTo>
                <a:cubicBezTo>
                  <a:pt x="148139" y="76200"/>
                  <a:pt x="152404" y="80464"/>
                  <a:pt x="152404" y="85725"/>
                </a:cubicBezTo>
                <a:cubicBezTo>
                  <a:pt x="152408" y="124126"/>
                  <a:pt x="123837" y="156530"/>
                  <a:pt x="85738" y="161334"/>
                </a:cubicBezTo>
                <a:lnTo>
                  <a:pt x="85729" y="180975"/>
                </a:lnTo>
                <a:lnTo>
                  <a:pt x="114304" y="180975"/>
                </a:lnTo>
                <a:cubicBezTo>
                  <a:pt x="119564" y="180975"/>
                  <a:pt x="123829" y="185239"/>
                  <a:pt x="123829" y="190500"/>
                </a:cubicBezTo>
                <a:cubicBezTo>
                  <a:pt x="123829" y="195761"/>
                  <a:pt x="119564" y="200025"/>
                  <a:pt x="114304" y="200025"/>
                </a:cubicBezTo>
                <a:lnTo>
                  <a:pt x="38104" y="200025"/>
                </a:lnTo>
                <a:cubicBezTo>
                  <a:pt x="32843" y="200025"/>
                  <a:pt x="28579" y="195761"/>
                  <a:pt x="28579" y="190500"/>
                </a:cubicBezTo>
                <a:cubicBezTo>
                  <a:pt x="28579" y="185239"/>
                  <a:pt x="32843" y="180975"/>
                  <a:pt x="38104" y="180975"/>
                </a:cubicBezTo>
                <a:lnTo>
                  <a:pt x="66679" y="180975"/>
                </a:lnTo>
                <a:lnTo>
                  <a:pt x="66679" y="161334"/>
                </a:lnTo>
                <a:cubicBezTo>
                  <a:pt x="28576" y="156534"/>
                  <a:pt x="0" y="124129"/>
                  <a:pt x="4" y="85725"/>
                </a:cubicBezTo>
                <a:cubicBezTo>
                  <a:pt x="4" y="80464"/>
                  <a:pt x="4268" y="76200"/>
                  <a:pt x="9529" y="76200"/>
                </a:cubicBezTo>
                <a:cubicBezTo>
                  <a:pt x="14789" y="76200"/>
                  <a:pt x="19054" y="80464"/>
                  <a:pt x="19054" y="85725"/>
                </a:cubicBezTo>
                <a:cubicBezTo>
                  <a:pt x="19054" y="117288"/>
                  <a:pt x="44641" y="142875"/>
                  <a:pt x="76204" y="142875"/>
                </a:cubicBezTo>
                <a:cubicBezTo>
                  <a:pt x="107767" y="142875"/>
                  <a:pt x="133354" y="117288"/>
                  <a:pt x="133354" y="85725"/>
                </a:cubicBezTo>
                <a:cubicBezTo>
                  <a:pt x="133354" y="80464"/>
                  <a:pt x="137618" y="76200"/>
                  <a:pt x="142879" y="76200"/>
                </a:cubicBezTo>
                <a:moveTo>
                  <a:pt x="76204" y="0"/>
                </a:moveTo>
                <a:cubicBezTo>
                  <a:pt x="97246" y="0"/>
                  <a:pt x="114304" y="17058"/>
                  <a:pt x="114304" y="38100"/>
                </a:cubicBezTo>
                <a:lnTo>
                  <a:pt x="114304" y="85725"/>
                </a:lnTo>
                <a:cubicBezTo>
                  <a:pt x="114304" y="106767"/>
                  <a:pt x="97246" y="123825"/>
                  <a:pt x="76204" y="123825"/>
                </a:cubicBezTo>
                <a:cubicBezTo>
                  <a:pt x="55162" y="123825"/>
                  <a:pt x="38104" y="106767"/>
                  <a:pt x="38104" y="85725"/>
                </a:cubicBezTo>
                <a:lnTo>
                  <a:pt x="38104" y="38100"/>
                </a:lnTo>
                <a:cubicBezTo>
                  <a:pt x="38104" y="17058"/>
                  <a:pt x="55162" y="0"/>
                  <a:pt x="76204" y="0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5" name="TextBox 49">
            <a:extLst>
              <a:ext uri="{FF2B5EF4-FFF2-40B4-BE49-F238E27FC236}">
                <a16:creationId xmlns:a16="http://schemas.microsoft.com/office/drawing/2014/main" id="{1481F92F-F7C5-EC1C-29B0-CD57BB2B8B51}"/>
              </a:ext>
            </a:extLst>
          </p:cNvPr>
          <p:cNvSpPr>
            <a:spLocks noGrp="1"/>
          </p:cNvSpPr>
          <p:nvPr/>
        </p:nvSpPr>
        <p:spPr>
          <a:xfrm>
            <a:off x="1295400" y="3877795"/>
            <a:ext cx="34945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言語</a:t>
            </a:r>
          </a:p>
        </p:txBody>
      </p:sp>
      <p:sp>
        <p:nvSpPr>
          <p:cNvPr id="106" name="TextBox 50">
            <a:extLst>
              <a:ext uri="{FF2B5EF4-FFF2-40B4-BE49-F238E27FC236}">
                <a16:creationId xmlns:a16="http://schemas.microsoft.com/office/drawing/2014/main" id="{231A6560-C424-8D94-2C41-0170623D802A}"/>
              </a:ext>
            </a:extLst>
          </p:cNvPr>
          <p:cNvSpPr>
            <a:spLocks noGrp="1"/>
          </p:cNvSpPr>
          <p:nvPr/>
        </p:nvSpPr>
        <p:spPr>
          <a:xfrm>
            <a:off x="1302544" y="4146947"/>
            <a:ext cx="1102866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38"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呼称・理解・発話</a:t>
            </a:r>
          </a:p>
        </p:txBody>
      </p:sp>
      <p:sp>
        <p:nvSpPr>
          <p:cNvPr id="107" name="Rectangle 51">
            <a:extLst>
              <a:ext uri="{FF2B5EF4-FFF2-40B4-BE49-F238E27FC236}">
                <a16:creationId xmlns:a16="http://schemas.microsoft.com/office/drawing/2014/main" id="{B28B705D-7A76-8D78-429D-F1026A711FB7}"/>
              </a:ext>
            </a:extLst>
          </p:cNvPr>
          <p:cNvSpPr>
            <a:spLocks noGrp="1"/>
          </p:cNvSpPr>
          <p:nvPr/>
        </p:nvSpPr>
        <p:spPr>
          <a:xfrm>
            <a:off x="3048000" y="381000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8" name="TextBox 52">
            <a:extLst>
              <a:ext uri="{FF2B5EF4-FFF2-40B4-BE49-F238E27FC236}">
                <a16:creationId xmlns:a16="http://schemas.microsoft.com/office/drawing/2014/main" id="{34EB1C96-41C4-1F34-F910-B7C829369EBB}"/>
              </a:ext>
            </a:extLst>
          </p:cNvPr>
          <p:cNvSpPr>
            <a:spLocks noGrp="1"/>
          </p:cNvSpPr>
          <p:nvPr/>
        </p:nvSpPr>
        <p:spPr>
          <a:xfrm>
            <a:off x="3155933" y="3851709"/>
            <a:ext cx="660437" cy="132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62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音声認識技術</a:t>
            </a:r>
            <a:endParaRPr sz="862" b="1">
              <a:solidFill>
                <a:srgbClr val="FFFFFF"/>
              </a:solidFill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09" name="TextBox 53">
            <a:extLst>
              <a:ext uri="{FF2B5EF4-FFF2-40B4-BE49-F238E27FC236}">
                <a16:creationId xmlns:a16="http://schemas.microsoft.com/office/drawing/2014/main" id="{BE875033-8E3B-49FA-3075-243B3825CE4B}"/>
              </a:ext>
            </a:extLst>
          </p:cNvPr>
          <p:cNvSpPr>
            <a:spLocks noGrp="1"/>
          </p:cNvSpPr>
          <p:nvPr/>
        </p:nvSpPr>
        <p:spPr>
          <a:xfrm>
            <a:off x="806768" y="4428649"/>
            <a:ext cx="1792157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既存検</a:t>
            </a:r>
            <a:r>
              <a:rPr sz="975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査：呼称・復唱</a:t>
            </a:r>
          </a:p>
        </p:txBody>
      </p:sp>
      <p:sp>
        <p:nvSpPr>
          <p:cNvPr id="110" name="Rectangle 54">
            <a:extLst>
              <a:ext uri="{FF2B5EF4-FFF2-40B4-BE49-F238E27FC236}">
                <a16:creationId xmlns:a16="http://schemas.microsoft.com/office/drawing/2014/main" id="{CF232EAA-8AC9-F3F2-2D32-B6F8791609DA}"/>
              </a:ext>
            </a:extLst>
          </p:cNvPr>
          <p:cNvSpPr>
            <a:spLocks noGrp="1"/>
          </p:cNvSpPr>
          <p:nvPr/>
        </p:nvSpPr>
        <p:spPr>
          <a:xfrm>
            <a:off x="819150" y="4686300"/>
            <a:ext cx="14287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11" name="TextBox 55">
            <a:extLst>
              <a:ext uri="{FF2B5EF4-FFF2-40B4-BE49-F238E27FC236}">
                <a16:creationId xmlns:a16="http://schemas.microsoft.com/office/drawing/2014/main" id="{9DBC9E1D-247C-BC09-4B9D-3BEE8614907A}"/>
              </a:ext>
            </a:extLst>
          </p:cNvPr>
          <p:cNvSpPr>
            <a:spLocks noGrp="1"/>
          </p:cNvSpPr>
          <p:nvPr/>
        </p:nvSpPr>
        <p:spPr>
          <a:xfrm>
            <a:off x="940118" y="4752499"/>
            <a:ext cx="1138132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今日行った場所を話す</a:t>
            </a:r>
          </a:p>
        </p:txBody>
      </p:sp>
      <p:sp>
        <p:nvSpPr>
          <p:cNvPr id="112" name="Rectangle 56">
            <a:extLst>
              <a:ext uri="{FF2B5EF4-FFF2-40B4-BE49-F238E27FC236}">
                <a16:creationId xmlns:a16="http://schemas.microsoft.com/office/drawing/2014/main" id="{6C7B09A5-3D28-6CF5-1AE2-82C715510F97}"/>
              </a:ext>
            </a:extLst>
          </p:cNvPr>
          <p:cNvSpPr>
            <a:spLocks noGrp="1"/>
          </p:cNvSpPr>
          <p:nvPr/>
        </p:nvSpPr>
        <p:spPr>
          <a:xfrm>
            <a:off x="819150" y="5010150"/>
            <a:ext cx="14287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13" name="TextBox 57">
            <a:extLst>
              <a:ext uri="{FF2B5EF4-FFF2-40B4-BE49-F238E27FC236}">
                <a16:creationId xmlns:a16="http://schemas.microsoft.com/office/drawing/2014/main" id="{FF749C33-F3C6-52A9-9546-212FA5E7BAD0}"/>
              </a:ext>
            </a:extLst>
          </p:cNvPr>
          <p:cNvSpPr>
            <a:spLocks noGrp="1"/>
          </p:cNvSpPr>
          <p:nvPr/>
        </p:nvSpPr>
        <p:spPr>
          <a:xfrm>
            <a:off x="940118" y="5076349"/>
            <a:ext cx="746999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ことわざの意味を選ぶ</a:t>
            </a:r>
          </a:p>
        </p:txBody>
      </p:sp>
      <p:sp>
        <p:nvSpPr>
          <p:cNvPr id="115" name="Rectangle 59">
            <a:extLst>
              <a:ext uri="{FF2B5EF4-FFF2-40B4-BE49-F238E27FC236}">
                <a16:creationId xmlns:a16="http://schemas.microsoft.com/office/drawing/2014/main" id="{7A747763-9A0D-C8F4-48F5-E596D0B5D9D3}"/>
              </a:ext>
            </a:extLst>
          </p:cNvPr>
          <p:cNvSpPr>
            <a:spLocks noGrp="1"/>
          </p:cNvSpPr>
          <p:nvPr/>
        </p:nvSpPr>
        <p:spPr>
          <a:xfrm>
            <a:off x="4343400" y="365760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16" name="Rectangle 60">
            <a:extLst>
              <a:ext uri="{FF2B5EF4-FFF2-40B4-BE49-F238E27FC236}">
                <a16:creationId xmlns:a16="http://schemas.microsoft.com/office/drawing/2014/main" id="{EE7C53B8-E06B-3BAE-B0D2-CD0A72A0FAB1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25" name="Freeform 61">
            <a:extLst>
              <a:ext uri="{FF2B5EF4-FFF2-40B4-BE49-F238E27FC236}">
                <a16:creationId xmlns:a16="http://schemas.microsoft.com/office/drawing/2014/main" id="{C6B2E840-F16C-7202-0528-91B080D7622E}"/>
              </a:ext>
            </a:extLst>
          </p:cNvPr>
          <p:cNvSpPr>
            <a:spLocks noGrp="1"/>
          </p:cNvSpPr>
          <p:nvPr/>
        </p:nvSpPr>
        <p:spPr>
          <a:xfrm>
            <a:off x="4695399" y="3924305"/>
            <a:ext cx="96103" cy="85720"/>
          </a:xfrm>
          <a:custGeom>
            <a:avLst/>
            <a:gdLst/>
            <a:ahLst/>
            <a:cxnLst/>
            <a:rect l="l" t="t" r="r" b="b"/>
            <a:pathLst>
              <a:path w="96103" h="85720">
                <a:moveTo>
                  <a:pt x="39784" y="4795"/>
                </a:moveTo>
                <a:lnTo>
                  <a:pt x="1684" y="71470"/>
                </a:lnTo>
                <a:cubicBezTo>
                  <a:pt x="0" y="74418"/>
                  <a:pt x="12" y="78039"/>
                  <a:pt x="1716" y="80975"/>
                </a:cubicBezTo>
                <a:cubicBezTo>
                  <a:pt x="3419" y="83911"/>
                  <a:pt x="6557" y="85719"/>
                  <a:pt x="9951" y="85720"/>
                </a:cubicBezTo>
                <a:lnTo>
                  <a:pt x="86151" y="85720"/>
                </a:lnTo>
                <a:cubicBezTo>
                  <a:pt x="89546" y="85719"/>
                  <a:pt x="92683" y="83911"/>
                  <a:pt x="94387" y="80975"/>
                </a:cubicBezTo>
                <a:cubicBezTo>
                  <a:pt x="96091" y="78039"/>
                  <a:pt x="96103" y="74418"/>
                  <a:pt x="94419" y="71470"/>
                </a:cubicBezTo>
                <a:lnTo>
                  <a:pt x="56319" y="4795"/>
                </a:lnTo>
                <a:cubicBezTo>
                  <a:pt x="54623" y="1830"/>
                  <a:pt x="51468" y="0"/>
                  <a:pt x="48051" y="0"/>
                </a:cubicBezTo>
                <a:cubicBezTo>
                  <a:pt x="44635" y="0"/>
                  <a:pt x="41480" y="1830"/>
                  <a:pt x="39784" y="4795"/>
                </a:cubicBez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26" name="Freeform 62">
            <a:extLst>
              <a:ext uri="{FF2B5EF4-FFF2-40B4-BE49-F238E27FC236}">
                <a16:creationId xmlns:a16="http://schemas.microsoft.com/office/drawing/2014/main" id="{C79EECB8-1BBC-17D7-4D0D-9E6E253E13ED}"/>
              </a:ext>
            </a:extLst>
          </p:cNvPr>
          <p:cNvSpPr>
            <a:spLocks noGrp="1"/>
          </p:cNvSpPr>
          <p:nvPr/>
        </p:nvSpPr>
        <p:spPr>
          <a:xfrm>
            <a:off x="4752975" y="4029075"/>
            <a:ext cx="76541" cy="76872"/>
          </a:xfrm>
          <a:custGeom>
            <a:avLst/>
            <a:gdLst/>
            <a:ahLst/>
            <a:cxnLst/>
            <a:rect l="l" t="t" r="r" b="b"/>
            <a:pathLst>
              <a:path w="76541" h="76872">
                <a:moveTo>
                  <a:pt x="38100" y="0"/>
                </a:moveTo>
                <a:cubicBezTo>
                  <a:pt x="58894" y="0"/>
                  <a:pt x="75848" y="16673"/>
                  <a:pt x="76195" y="37465"/>
                </a:cubicBezTo>
                <a:cubicBezTo>
                  <a:pt x="76541" y="58256"/>
                  <a:pt x="60153" y="75486"/>
                  <a:pt x="39370" y="76179"/>
                </a:cubicBezTo>
                <a:cubicBezTo>
                  <a:pt x="18587" y="76872"/>
                  <a:pt x="1087" y="60773"/>
                  <a:pt x="48" y="40005"/>
                </a:cubicBezTo>
                <a:lnTo>
                  <a:pt x="0" y="38100"/>
                </a:lnTo>
                <a:lnTo>
                  <a:pt x="48" y="36195"/>
                </a:lnTo>
                <a:cubicBezTo>
                  <a:pt x="1063" y="15919"/>
                  <a:pt x="17798" y="0"/>
                  <a:pt x="38100" y="0"/>
                </a:cubicBez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27" name="Freeform 63">
            <a:extLst>
              <a:ext uri="{FF2B5EF4-FFF2-40B4-BE49-F238E27FC236}">
                <a16:creationId xmlns:a16="http://schemas.microsoft.com/office/drawing/2014/main" id="{F98479BA-6DA7-A2A6-9AFC-3F9FBAA9F7C1}"/>
              </a:ext>
            </a:extLst>
          </p:cNvPr>
          <p:cNvSpPr>
            <a:spLocks noGrp="1"/>
          </p:cNvSpPr>
          <p:nvPr/>
        </p:nvSpPr>
        <p:spPr>
          <a:xfrm>
            <a:off x="4657725" y="40290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57150" y="0"/>
                </a:moveTo>
                <a:lnTo>
                  <a:pt x="19050" y="0"/>
                </a:lnTo>
                <a:cubicBezTo>
                  <a:pt x="8529" y="0"/>
                  <a:pt x="0" y="8529"/>
                  <a:pt x="0" y="19050"/>
                </a:cubicBezTo>
                <a:lnTo>
                  <a:pt x="0" y="57150"/>
                </a:lnTo>
                <a:cubicBezTo>
                  <a:pt x="0" y="67671"/>
                  <a:pt x="8529" y="76200"/>
                  <a:pt x="19050" y="76200"/>
                </a:cubicBezTo>
                <a:lnTo>
                  <a:pt x="57150" y="76200"/>
                </a:lnTo>
                <a:cubicBezTo>
                  <a:pt x="67671" y="76200"/>
                  <a:pt x="76200" y="67671"/>
                  <a:pt x="76200" y="57150"/>
                </a:cubicBezTo>
                <a:lnTo>
                  <a:pt x="76200" y="19050"/>
                </a:lnTo>
                <a:cubicBezTo>
                  <a:pt x="76200" y="8529"/>
                  <a:pt x="67671" y="0"/>
                  <a:pt x="57150" y="0"/>
                </a:cubicBez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18" name="TextBox 65">
            <a:extLst>
              <a:ext uri="{FF2B5EF4-FFF2-40B4-BE49-F238E27FC236}">
                <a16:creationId xmlns:a16="http://schemas.microsoft.com/office/drawing/2014/main" id="{DD20CF61-0F44-4C8C-68E4-0CF84F9299F2}"/>
              </a:ext>
            </a:extLst>
          </p:cNvPr>
          <p:cNvSpPr>
            <a:spLocks noGrp="1"/>
          </p:cNvSpPr>
          <p:nvPr/>
        </p:nvSpPr>
        <p:spPr>
          <a:xfrm>
            <a:off x="5029200" y="3877795"/>
            <a:ext cx="52418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視空間</a:t>
            </a:r>
          </a:p>
        </p:txBody>
      </p:sp>
      <p:sp>
        <p:nvSpPr>
          <p:cNvPr id="119" name="TextBox 66">
            <a:extLst>
              <a:ext uri="{FF2B5EF4-FFF2-40B4-BE49-F238E27FC236}">
                <a16:creationId xmlns:a16="http://schemas.microsoft.com/office/drawing/2014/main" id="{F601CD11-C722-DFBD-BAA3-2CBC4FED0C37}"/>
              </a:ext>
            </a:extLst>
          </p:cNvPr>
          <p:cNvSpPr>
            <a:spLocks noGrp="1"/>
          </p:cNvSpPr>
          <p:nvPr/>
        </p:nvSpPr>
        <p:spPr>
          <a:xfrm>
            <a:off x="5036344" y="4146947"/>
            <a:ext cx="823944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38" b="1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視空間構成能力</a:t>
            </a:r>
            <a:endParaRPr sz="938" b="1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20" name="TextBox 67">
            <a:extLst>
              <a:ext uri="{FF2B5EF4-FFF2-40B4-BE49-F238E27FC236}">
                <a16:creationId xmlns:a16="http://schemas.microsoft.com/office/drawing/2014/main" id="{07CE41D9-0240-7294-D347-C8140F9E88A8}"/>
              </a:ext>
            </a:extLst>
          </p:cNvPr>
          <p:cNvSpPr>
            <a:spLocks noGrp="1"/>
          </p:cNvSpPr>
          <p:nvPr/>
        </p:nvSpPr>
        <p:spPr>
          <a:xfrm>
            <a:off x="4540568" y="4428649"/>
            <a:ext cx="1420261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既存検査：</a:t>
            </a:r>
            <a:r>
              <a:rPr sz="975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重なった図形を描く</a:t>
            </a:r>
          </a:p>
        </p:txBody>
      </p:sp>
      <p:sp>
        <p:nvSpPr>
          <p:cNvPr id="121" name="Rectangle 68">
            <a:extLst>
              <a:ext uri="{FF2B5EF4-FFF2-40B4-BE49-F238E27FC236}">
                <a16:creationId xmlns:a16="http://schemas.microsoft.com/office/drawing/2014/main" id="{B3441CEF-424A-8FB3-7F1B-92565C633424}"/>
              </a:ext>
            </a:extLst>
          </p:cNvPr>
          <p:cNvSpPr>
            <a:spLocks noGrp="1"/>
          </p:cNvSpPr>
          <p:nvPr/>
        </p:nvSpPr>
        <p:spPr>
          <a:xfrm>
            <a:off x="4552951" y="4686300"/>
            <a:ext cx="1570186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22" name="TextBox 69">
            <a:extLst>
              <a:ext uri="{FF2B5EF4-FFF2-40B4-BE49-F238E27FC236}">
                <a16:creationId xmlns:a16="http://schemas.microsoft.com/office/drawing/2014/main" id="{FCFA9D65-D33F-645E-4E47-51E60F89BFED}"/>
              </a:ext>
            </a:extLst>
          </p:cNvPr>
          <p:cNvSpPr>
            <a:spLocks noGrp="1"/>
          </p:cNvSpPr>
          <p:nvPr/>
        </p:nvSpPr>
        <p:spPr>
          <a:xfrm>
            <a:off x="4673918" y="4752499"/>
            <a:ext cx="1348126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聞いた順にボタンを押す</a:t>
            </a:r>
          </a:p>
        </p:txBody>
      </p:sp>
      <p:sp>
        <p:nvSpPr>
          <p:cNvPr id="123" name="Rectangle 70">
            <a:extLst>
              <a:ext uri="{FF2B5EF4-FFF2-40B4-BE49-F238E27FC236}">
                <a16:creationId xmlns:a16="http://schemas.microsoft.com/office/drawing/2014/main" id="{0BE1AC33-CF37-AB67-CA44-4F2FE39336A1}"/>
              </a:ext>
            </a:extLst>
          </p:cNvPr>
          <p:cNvSpPr>
            <a:spLocks noGrp="1"/>
          </p:cNvSpPr>
          <p:nvPr/>
        </p:nvSpPr>
        <p:spPr>
          <a:xfrm>
            <a:off x="4552950" y="5010150"/>
            <a:ext cx="1570187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24" name="TextBox 71">
            <a:extLst>
              <a:ext uri="{FF2B5EF4-FFF2-40B4-BE49-F238E27FC236}">
                <a16:creationId xmlns:a16="http://schemas.microsoft.com/office/drawing/2014/main" id="{1D81F552-35AC-D37F-D647-DD53A5CEFFBA}"/>
              </a:ext>
            </a:extLst>
          </p:cNvPr>
          <p:cNvSpPr>
            <a:spLocks noGrp="1"/>
          </p:cNvSpPr>
          <p:nvPr/>
        </p:nvSpPr>
        <p:spPr>
          <a:xfrm>
            <a:off x="4673918" y="5076349"/>
            <a:ext cx="1266372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絵を見て同じものを選ぶ</a:t>
            </a:r>
          </a:p>
        </p:txBody>
      </p:sp>
      <p:sp>
        <p:nvSpPr>
          <p:cNvPr id="129" name="Rectangle 73">
            <a:extLst>
              <a:ext uri="{FF2B5EF4-FFF2-40B4-BE49-F238E27FC236}">
                <a16:creationId xmlns:a16="http://schemas.microsoft.com/office/drawing/2014/main" id="{2FB03F16-7DA5-A817-3219-CF49F52517BB}"/>
              </a:ext>
            </a:extLst>
          </p:cNvPr>
          <p:cNvSpPr>
            <a:spLocks noGrp="1"/>
          </p:cNvSpPr>
          <p:nvPr/>
        </p:nvSpPr>
        <p:spPr>
          <a:xfrm>
            <a:off x="8077200" y="365760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30" name="Rectangle 74">
            <a:extLst>
              <a:ext uri="{FF2B5EF4-FFF2-40B4-BE49-F238E27FC236}">
                <a16:creationId xmlns:a16="http://schemas.microsoft.com/office/drawing/2014/main" id="{7EFF1018-EAC6-9EB2-82FA-5433378F5176}"/>
              </a:ext>
            </a:extLst>
          </p:cNvPr>
          <p:cNvSpPr>
            <a:spLocks noGrp="1"/>
          </p:cNvSpPr>
          <p:nvPr/>
        </p:nvSpPr>
        <p:spPr>
          <a:xfrm>
            <a:off x="8286750" y="382905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31" name="Freeform 75">
            <a:extLst>
              <a:ext uri="{FF2B5EF4-FFF2-40B4-BE49-F238E27FC236}">
                <a16:creationId xmlns:a16="http://schemas.microsoft.com/office/drawing/2014/main" id="{A3BEA368-6B0A-F001-814B-27C1B41B09B3}"/>
              </a:ext>
            </a:extLst>
          </p:cNvPr>
          <p:cNvSpPr>
            <a:spLocks noGrp="1"/>
          </p:cNvSpPr>
          <p:nvPr/>
        </p:nvSpPr>
        <p:spPr>
          <a:xfrm>
            <a:off x="8382000" y="39200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125730" y="121291"/>
                </a:moveTo>
                <a:cubicBezTo>
                  <a:pt x="121974" y="117609"/>
                  <a:pt x="115944" y="117669"/>
                  <a:pt x="112262" y="121424"/>
                </a:cubicBezTo>
                <a:cubicBezTo>
                  <a:pt x="107783" y="125997"/>
                  <a:pt x="101651" y="128574"/>
                  <a:pt x="95250" y="128574"/>
                </a:cubicBezTo>
                <a:cubicBezTo>
                  <a:pt x="88849" y="128574"/>
                  <a:pt x="82717" y="125997"/>
                  <a:pt x="78238" y="121424"/>
                </a:cubicBezTo>
                <a:cubicBezTo>
                  <a:pt x="74540" y="117758"/>
                  <a:pt x="68583" y="117742"/>
                  <a:pt x="64865" y="121387"/>
                </a:cubicBezTo>
                <a:cubicBezTo>
                  <a:pt x="61146" y="125033"/>
                  <a:pt x="61045" y="130989"/>
                  <a:pt x="64637" y="134759"/>
                </a:cubicBezTo>
                <a:cubicBezTo>
                  <a:pt x="72698" y="142986"/>
                  <a:pt x="83732" y="147621"/>
                  <a:pt x="95250" y="147621"/>
                </a:cubicBezTo>
                <a:cubicBezTo>
                  <a:pt x="106768" y="147621"/>
                  <a:pt x="117802" y="142986"/>
                  <a:pt x="125863" y="134759"/>
                </a:cubicBezTo>
                <a:cubicBezTo>
                  <a:pt x="129545" y="131003"/>
                  <a:pt x="129485" y="124973"/>
                  <a:pt x="125730" y="121291"/>
                </a:cubicBezTo>
                <a:close/>
                <a:moveTo>
                  <a:pt x="66770" y="70942"/>
                </a:moveTo>
                <a:lnTo>
                  <a:pt x="65561" y="71008"/>
                </a:lnTo>
                <a:cubicBezTo>
                  <a:pt x="60556" y="71604"/>
                  <a:pt x="56882" y="75994"/>
                  <a:pt x="57177" y="81025"/>
                </a:cubicBezTo>
                <a:cubicBezTo>
                  <a:pt x="57472" y="86056"/>
                  <a:pt x="61635" y="89986"/>
                  <a:pt x="66675" y="89992"/>
                </a:cubicBezTo>
                <a:lnTo>
                  <a:pt x="67885" y="89925"/>
                </a:lnTo>
                <a:cubicBezTo>
                  <a:pt x="72889" y="89330"/>
                  <a:pt x="76564" y="84939"/>
                  <a:pt x="76268" y="79908"/>
                </a:cubicBezTo>
                <a:cubicBezTo>
                  <a:pt x="75973" y="74877"/>
                  <a:pt x="71810" y="70947"/>
                  <a:pt x="66770" y="70942"/>
                </a:cubicBezTo>
                <a:close/>
                <a:moveTo>
                  <a:pt x="123920" y="70942"/>
                </a:moveTo>
                <a:lnTo>
                  <a:pt x="122711" y="71008"/>
                </a:lnTo>
                <a:cubicBezTo>
                  <a:pt x="117706" y="71604"/>
                  <a:pt x="114032" y="75994"/>
                  <a:pt x="114327" y="81025"/>
                </a:cubicBezTo>
                <a:cubicBezTo>
                  <a:pt x="114622" y="86056"/>
                  <a:pt x="118785" y="89986"/>
                  <a:pt x="123825" y="89992"/>
                </a:cubicBezTo>
                <a:lnTo>
                  <a:pt x="125035" y="89925"/>
                </a:lnTo>
                <a:cubicBezTo>
                  <a:pt x="130039" y="89330"/>
                  <a:pt x="133714" y="84939"/>
                  <a:pt x="133418" y="79908"/>
                </a:cubicBezTo>
                <a:cubicBezTo>
                  <a:pt x="133123" y="74877"/>
                  <a:pt x="128960" y="70947"/>
                  <a:pt x="123920" y="70942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32" name="TextBox 76">
            <a:extLst>
              <a:ext uri="{FF2B5EF4-FFF2-40B4-BE49-F238E27FC236}">
                <a16:creationId xmlns:a16="http://schemas.microsoft.com/office/drawing/2014/main" id="{A771D792-CAAF-E35D-1E97-61BA93BBAE0A}"/>
              </a:ext>
            </a:extLst>
          </p:cNvPr>
          <p:cNvSpPr>
            <a:spLocks noGrp="1"/>
          </p:cNvSpPr>
          <p:nvPr/>
        </p:nvSpPr>
        <p:spPr>
          <a:xfrm>
            <a:off x="8763000" y="3877795"/>
            <a:ext cx="34945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感情</a:t>
            </a:r>
          </a:p>
        </p:txBody>
      </p:sp>
      <p:sp>
        <p:nvSpPr>
          <p:cNvPr id="133" name="TextBox 77">
            <a:extLst>
              <a:ext uri="{FF2B5EF4-FFF2-40B4-BE49-F238E27FC236}">
                <a16:creationId xmlns:a16="http://schemas.microsoft.com/office/drawing/2014/main" id="{6C7789B4-7383-AFF3-230B-896B824D8D82}"/>
              </a:ext>
            </a:extLst>
          </p:cNvPr>
          <p:cNvSpPr>
            <a:spLocks noGrp="1"/>
          </p:cNvSpPr>
          <p:nvPr/>
        </p:nvSpPr>
        <p:spPr>
          <a:xfrm>
            <a:off x="8770144" y="4146947"/>
            <a:ext cx="799899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38" b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気分・情緒の観察</a:t>
            </a:r>
          </a:p>
        </p:txBody>
      </p:sp>
      <p:sp>
        <p:nvSpPr>
          <p:cNvPr id="134" name="TextBox 78">
            <a:extLst>
              <a:ext uri="{FF2B5EF4-FFF2-40B4-BE49-F238E27FC236}">
                <a16:creationId xmlns:a16="http://schemas.microsoft.com/office/drawing/2014/main" id="{BFDE73E3-010C-242E-4390-9A2CF0898217}"/>
              </a:ext>
            </a:extLst>
          </p:cNvPr>
          <p:cNvSpPr>
            <a:spLocks noGrp="1"/>
          </p:cNvSpPr>
          <p:nvPr/>
        </p:nvSpPr>
        <p:spPr>
          <a:xfrm>
            <a:off x="8274368" y="4428649"/>
            <a:ext cx="1590179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既存検査：気分</a:t>
            </a:r>
            <a:r>
              <a:rPr sz="975">
                <a:solidFill>
                  <a:srgbClr val="6E5D49"/>
                </a:solidFill>
                <a:latin typeface="Noto Sans JP"/>
                <a:ea typeface="Noto Sans JP"/>
                <a:cs typeface="Noto Sans JP"/>
              </a:rPr>
              <a:t>・抑うつスクリーニング質問票</a:t>
            </a:r>
          </a:p>
        </p:txBody>
      </p:sp>
      <p:sp>
        <p:nvSpPr>
          <p:cNvPr id="135" name="Rectangle 79">
            <a:extLst>
              <a:ext uri="{FF2B5EF4-FFF2-40B4-BE49-F238E27FC236}">
                <a16:creationId xmlns:a16="http://schemas.microsoft.com/office/drawing/2014/main" id="{B081523F-21D0-0A98-094F-7088A14B4E53}"/>
              </a:ext>
            </a:extLst>
          </p:cNvPr>
          <p:cNvSpPr>
            <a:spLocks noGrp="1"/>
          </p:cNvSpPr>
          <p:nvPr/>
        </p:nvSpPr>
        <p:spPr>
          <a:xfrm>
            <a:off x="8286749" y="4686300"/>
            <a:ext cx="1745273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36" name="TextBox 80">
            <a:extLst>
              <a:ext uri="{FF2B5EF4-FFF2-40B4-BE49-F238E27FC236}">
                <a16:creationId xmlns:a16="http://schemas.microsoft.com/office/drawing/2014/main" id="{4A2513CE-5510-A949-6A7F-E64D8F87368A}"/>
              </a:ext>
            </a:extLst>
          </p:cNvPr>
          <p:cNvSpPr>
            <a:spLocks noGrp="1"/>
          </p:cNvSpPr>
          <p:nvPr/>
        </p:nvSpPr>
        <p:spPr>
          <a:xfrm>
            <a:off x="8407718" y="4752499"/>
            <a:ext cx="1493999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今日の気分を4択から選ぶ</a:t>
            </a:r>
          </a:p>
        </p:txBody>
      </p:sp>
      <p:sp>
        <p:nvSpPr>
          <p:cNvPr id="137" name="Rectangle 81">
            <a:extLst>
              <a:ext uri="{FF2B5EF4-FFF2-40B4-BE49-F238E27FC236}">
                <a16:creationId xmlns:a16="http://schemas.microsoft.com/office/drawing/2014/main" id="{D0A01F53-0E58-E632-D47C-D1A344B5A3AF}"/>
              </a:ext>
            </a:extLst>
          </p:cNvPr>
          <p:cNvSpPr>
            <a:spLocks noGrp="1"/>
          </p:cNvSpPr>
          <p:nvPr/>
        </p:nvSpPr>
        <p:spPr>
          <a:xfrm>
            <a:off x="8286749" y="5010150"/>
            <a:ext cx="1173773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38" name="TextBox 82">
            <a:extLst>
              <a:ext uri="{FF2B5EF4-FFF2-40B4-BE49-F238E27FC236}">
                <a16:creationId xmlns:a16="http://schemas.microsoft.com/office/drawing/2014/main" id="{41FDE1EB-612E-B03E-0D3C-CB74A9D7C39F}"/>
              </a:ext>
            </a:extLst>
          </p:cNvPr>
          <p:cNvSpPr>
            <a:spLocks noGrp="1"/>
          </p:cNvSpPr>
          <p:nvPr/>
        </p:nvSpPr>
        <p:spPr>
          <a:xfrm>
            <a:off x="8407718" y="5076349"/>
            <a:ext cx="860813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今日一日を話す</a:t>
            </a:r>
          </a:p>
        </p:txBody>
      </p: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>
            <a:spLocks noGrp="1"/>
          </p:cNvSpPr>
          <p:nvPr/>
        </p:nvSpPr>
        <p:spPr>
          <a:xfrm>
            <a:off x="770796" y="5724525"/>
            <a:ext cx="2385137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>
            <a:spLocks noGrp="1"/>
          </p:cNvSpPr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>
            <a:spLocks noGrp="1"/>
          </p:cNvSpPr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確認</a:t>
            </a:r>
            <a:r>
              <a:rPr sz="9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・今日の実施内容から変化を観察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>
            <a:spLocks noGrp="1"/>
          </p:cNvSpPr>
          <p:nvPr/>
        </p:nvSpPr>
        <p:spPr>
          <a:xfrm>
            <a:off x="3242589" y="5790632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1275" b="1" dirty="0">
                <a:solidFill>
                  <a:srgbClr val="6E5D49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>
            <a:spLocks noGrp="1"/>
          </p:cNvSpPr>
          <p:nvPr/>
        </p:nvSpPr>
        <p:spPr>
          <a:xfrm>
            <a:off x="3426071" y="5724525"/>
            <a:ext cx="2241658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>
            <a:spLocks noGrp="1"/>
          </p:cNvSpPr>
          <p:nvPr/>
        </p:nvSpPr>
        <p:spPr>
          <a:xfrm>
            <a:off x="3554659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>
            <a:spLocks noGrp="1"/>
          </p:cNvSpPr>
          <p:nvPr/>
        </p:nvSpPr>
        <p:spPr>
          <a:xfrm>
            <a:off x="3774686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強化</a:t>
            </a:r>
            <a:r>
              <a:rPr sz="82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・毎日の反復で認知トレーニング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>
            <a:spLocks noGrp="1"/>
          </p:cNvSpPr>
          <p:nvPr/>
        </p:nvSpPr>
        <p:spPr>
          <a:xfrm>
            <a:off x="6556007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>
            <a:spLocks noGrp="1"/>
          </p:cNvSpPr>
          <p:nvPr/>
        </p:nvSpPr>
        <p:spPr>
          <a:xfrm>
            <a:off x="6830010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75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専門家提案の設問―金額</a:t>
            </a:r>
            <a:r>
              <a:rPr sz="975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計算・単純発話・注意集中を</a:t>
            </a:r>
            <a:r>
              <a:rPr sz="975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反映完了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>
            <a:spLocks noGrp="1"/>
          </p:cNvSpPr>
          <p:nvPr/>
        </p:nvSpPr>
        <p:spPr>
          <a:xfrm>
            <a:off x="8953500" y="1319011"/>
            <a:ext cx="2589276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1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7日×1日6活動＝42の固定活動</a:t>
            </a:r>
          </a:p>
        </p:txBody>
      </p:sp>
      <p:sp>
        <p:nvSpPr>
          <p:cNvPr id="6" name="Rectangle 51">
            <a:extLst>
              <a:ext uri="{FF2B5EF4-FFF2-40B4-BE49-F238E27FC236}">
                <a16:creationId xmlns:a16="http://schemas.microsoft.com/office/drawing/2014/main" id="{E2FF8F8A-6771-62A5-F65B-9D2EEE17AA00}"/>
              </a:ext>
            </a:extLst>
          </p:cNvPr>
          <p:cNvSpPr>
            <a:spLocks noGrp="1"/>
          </p:cNvSpPr>
          <p:nvPr/>
        </p:nvSpPr>
        <p:spPr>
          <a:xfrm>
            <a:off x="6696075" y="1817438"/>
            <a:ext cx="989710" cy="20186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  <p:sp>
        <p:nvSpPr>
          <p:cNvPr id="8" name="TextBox 52">
            <a:extLst>
              <a:ext uri="{FF2B5EF4-FFF2-40B4-BE49-F238E27FC236}">
                <a16:creationId xmlns:a16="http://schemas.microsoft.com/office/drawing/2014/main" id="{9BD8F312-1851-B089-901E-10B91C31FE97}"/>
              </a:ext>
            </a:extLst>
          </p:cNvPr>
          <p:cNvSpPr>
            <a:spLocks noGrp="1"/>
          </p:cNvSpPr>
          <p:nvPr/>
        </p:nvSpPr>
        <p:spPr>
          <a:xfrm>
            <a:off x="6969670" y="1855881"/>
            <a:ext cx="436017" cy="132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62" b="1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AIパーソナライズ</a:t>
            </a:r>
            <a:endParaRPr sz="862" b="1" dirty="0">
              <a:solidFill>
                <a:srgbClr val="FFFFFF"/>
              </a:solidFill>
              <a:latin typeface="나눔스퀘어라운드OTF Bold"/>
              <a:ea typeface="나눔스퀘어라운드OTF Bold"/>
              <a:cs typeface="나눔스퀘어라운드OTF Bold"/>
            </a:endParaRPr>
          </a:p>
        </p:txBody>
      </p:sp>
    </p:spTree>
    <p:extLst>
      <p:ext uri="{BB962C8B-B14F-4D97-AF65-F5344CB8AC3E}">
        <p14:creationId xmlns:p14="http://schemas.microsoft.com/office/powerpoint/2010/main" val="84738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8A1157-BD45-4965-BA61-B0F568829877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DEVELOPMENT・開発完成度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0A4AE-CA56-4854-893D-310A3E1A088B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7106112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1回の応答が</a:t>
            </a:r>
            <a:r>
              <a:rPr sz="315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次の対話につながる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仕組み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98941-584A-47ED-8BF1-1E5F5303B4E4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音声記録・応答結果の活用・家族および専門家向けレポート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77936-FE1D-4845-A8F9-30F98B764E39}"/>
              </a:ext>
            </a:extLst>
          </p:cNvPr>
          <p:cNvSpPr>
            <a:spLocks noGrp="1"/>
          </p:cNvSpPr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25378-DD64-4498-B490-E3CDA1FEC454}"/>
              </a:ext>
            </a:extLst>
          </p:cNvPr>
          <p:cNvSpPr>
            <a:spLocks noGrp="1"/>
          </p:cNvSpPr>
          <p:nvPr/>
        </p:nvSpPr>
        <p:spPr>
          <a:xfrm>
            <a:off x="594360" y="4430716"/>
            <a:ext cx="1344920" cy="316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3分間のルーティン活動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3CE1C-FB08-47D3-B4EB-7F19C8FC5FD4}"/>
              </a:ext>
            </a:extLst>
          </p:cNvPr>
          <p:cNvSpPr>
            <a:spLocks noGrp="1"/>
          </p:cNvSpPr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同じルールで毎日6つ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3E8EC-BE86-4EEB-8AF0-BEFA392F456A}"/>
              </a:ext>
            </a:extLst>
          </p:cNvPr>
          <p:cNvSpPr>
            <a:spLocks noGrp="1"/>
          </p:cNvSpPr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09CE1D-46AC-43DA-9B07-5CEF7483DD50}"/>
              </a:ext>
            </a:extLst>
          </p:cNvPr>
          <p:cNvSpPr>
            <a:spLocks noGrp="1"/>
          </p:cNvSpPr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5F814F-D072-4F8E-AE6E-FCA7BC8122B7}"/>
              </a:ext>
            </a:extLst>
          </p:cNvPr>
          <p:cNvSpPr>
            <a:spLocks noGrp="1"/>
          </p:cNvSpPr>
          <p:nvPr/>
        </p:nvSpPr>
        <p:spPr>
          <a:xfrm>
            <a:off x="3392424" y="4430716"/>
            <a:ext cx="1776127" cy="316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活動を正確に記録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12E4D-E676-4580-BB94-7C7997F8851D}"/>
              </a:ext>
            </a:extLst>
          </p:cNvPr>
          <p:cNvSpPr>
            <a:spLocks noGrp="1"/>
          </p:cNvSpPr>
          <p:nvPr/>
        </p:nvSpPr>
        <p:spPr>
          <a:xfrm>
            <a:off x="3392424" y="4792890"/>
            <a:ext cx="21544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小さな声や</a:t>
            </a:r>
            <a:r>
              <a:rPr lang="ko-KR" altLang="en-US"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長</a:t>
            </a:r>
            <a:r>
              <a:rPr lang="ja-JP" altLang="en-US"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い</a:t>
            </a:r>
            <a:r>
              <a:rPr lang="ko-KR" altLang="en-US"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沈黙</a:t>
            </a:r>
            <a:r>
              <a:rPr sz="12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もそのまま</a:t>
            </a:r>
            <a:endParaRPr sz="12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11852-3062-4460-AA58-D265BAF8C3B1}"/>
              </a:ext>
            </a:extLst>
          </p:cNvPr>
          <p:cNvSpPr>
            <a:spLocks noGrp="1"/>
          </p:cNvSpPr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C55B8-BED5-4F41-B70E-927883A11FFD}"/>
              </a:ext>
            </a:extLst>
          </p:cNvPr>
          <p:cNvSpPr>
            <a:spLocks noGrp="1"/>
          </p:cNvSpPr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E94CB-9214-4BAF-B985-3737F489295E}"/>
              </a:ext>
            </a:extLst>
          </p:cNvPr>
          <p:cNvSpPr>
            <a:spLocks noGrp="1"/>
          </p:cNvSpPr>
          <p:nvPr/>
        </p:nvSpPr>
        <p:spPr>
          <a:xfrm>
            <a:off x="6190488" y="4430716"/>
            <a:ext cx="1404231" cy="316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パーソナライズ設問を提供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17D96-E946-47EB-B75A-3F96E0F7B9F4}"/>
              </a:ext>
            </a:extLst>
          </p:cNvPr>
          <p:cNvSpPr>
            <a:spLocks noGrp="1"/>
          </p:cNvSpPr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過去の応答に基づく設問を生成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B3E565-62FC-4D2B-9680-352E06AB4DF2}"/>
              </a:ext>
            </a:extLst>
          </p:cNvPr>
          <p:cNvSpPr>
            <a:spLocks noGrp="1"/>
          </p:cNvSpPr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639" b="1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1A2885-C341-4273-A6AE-CED05168C92E}"/>
              </a:ext>
            </a:extLst>
          </p:cNvPr>
          <p:cNvSpPr>
            <a:spLocks noGrp="1"/>
          </p:cNvSpPr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19236-1757-4D36-BDC6-82543C152E2F}"/>
              </a:ext>
            </a:extLst>
          </p:cNvPr>
          <p:cNvSpPr>
            <a:spLocks noGrp="1"/>
          </p:cNvSpPr>
          <p:nvPr/>
        </p:nvSpPr>
        <p:spPr>
          <a:xfrm>
            <a:off x="8988552" y="4430716"/>
            <a:ext cx="981038" cy="316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レポートを提供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B898E9-0A2F-4937-8CB3-1F757BE2742A}"/>
              </a:ext>
            </a:extLst>
          </p:cNvPr>
          <p:cNvSpPr>
            <a:spLocks noGrp="1"/>
          </p:cNvSpPr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記録と数値を統合して提供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D43101-52FF-4D1F-A6A7-4BF02B43E031}"/>
              </a:ext>
            </a:extLst>
          </p:cNvPr>
          <p:cNvSpPr>
            <a:spLocks noGrp="1"/>
          </p:cNvSpPr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47B832-7374-4B60-B06C-33E8800EAAF9}"/>
              </a:ext>
            </a:extLst>
          </p:cNvPr>
          <p:cNvSpPr>
            <a:spLocks noGrp="1"/>
          </p:cNvSpPr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spc="6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開発完成度</a:t>
            </a:r>
            <a:r>
              <a:rPr sz="1600" b="0" spc="6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600" b="0" spc="60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CHECK LIST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CF51A2-4499-42B9-9367-7419363B9638}"/>
              </a:ext>
            </a:extLst>
          </p:cNvPr>
          <p:cNvSpPr>
            <a:spLocks noGrp="1"/>
          </p:cNvSpPr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r>
              <a:rPr sz="12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  <a:endParaRPr sz="1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49188D-6F5E-49BC-89F3-EA6517DD2270}"/>
              </a:ext>
            </a:extLst>
          </p:cNvPr>
          <p:cNvSpPr>
            <a:spLocks noGrp="1"/>
          </p:cNvSpPr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音声認識精度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939497-E9DC-47DE-84EF-CC151C3D54D5}"/>
              </a:ext>
            </a:extLst>
          </p:cNvPr>
          <p:cNvSpPr>
            <a:spLocks noGrp="1"/>
          </p:cNvSpPr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高度化完了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0752871-5712-4A21-8ED3-542F9115DF9A}"/>
              </a:ext>
            </a:extLst>
          </p:cNvPr>
          <p:cNvSpPr>
            <a:spLocks noGrp="1"/>
          </p:cNvSpPr>
          <p:nvPr/>
        </p:nvSpPr>
        <p:spPr>
          <a:xfrm>
            <a:off x="2498071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r>
              <a:rPr sz="12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  <a:endParaRPr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29720D-FF80-4942-8C67-C0927C07214A}"/>
              </a:ext>
            </a:extLst>
          </p:cNvPr>
          <p:cNvSpPr>
            <a:spLocks noGrp="1"/>
          </p:cNvSpPr>
          <p:nvPr/>
        </p:nvSpPr>
        <p:spPr>
          <a:xfrm>
            <a:off x="2817758" y="5651514"/>
            <a:ext cx="10932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NFCタグによる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D462C-8FF5-4FA6-B666-AA63DF015904}"/>
              </a:ext>
            </a:extLst>
          </p:cNvPr>
          <p:cNvSpPr>
            <a:spLocks noGrp="1"/>
          </p:cNvSpPr>
          <p:nvPr/>
        </p:nvSpPr>
        <p:spPr>
          <a:xfrm>
            <a:off x="2817758" y="5906138"/>
            <a:ext cx="151644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データベース化完了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576235-D46B-46FA-A802-7C77ACA4A73E}"/>
              </a:ext>
            </a:extLst>
          </p:cNvPr>
          <p:cNvSpPr>
            <a:spLocks noGrp="1"/>
          </p:cNvSpPr>
          <p:nvPr/>
        </p:nvSpPr>
        <p:spPr>
          <a:xfrm>
            <a:off x="4755040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r>
              <a:rPr sz="12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  <a:endParaRPr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485E07-8AAF-4230-8D1F-3AC98B9C0542}"/>
              </a:ext>
            </a:extLst>
          </p:cNvPr>
          <p:cNvSpPr>
            <a:spLocks noGrp="1"/>
          </p:cNvSpPr>
          <p:nvPr/>
        </p:nvSpPr>
        <p:spPr>
          <a:xfrm>
            <a:off x="5074728" y="5651514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個人情報同意書を整備・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159222-8D6D-4A69-9776-C67DA5A4D0FE}"/>
              </a:ext>
            </a:extLst>
          </p:cNvPr>
          <p:cNvSpPr>
            <a:spLocks noGrp="1"/>
          </p:cNvSpPr>
          <p:nvPr/>
        </p:nvSpPr>
        <p:spPr>
          <a:xfrm>
            <a:off x="5074728" y="5906138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セキュリティ設計完了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39312D-97F6-42D8-B18E-FB4DB979561E}"/>
              </a:ext>
            </a:extLst>
          </p:cNvPr>
          <p:cNvSpPr>
            <a:spLocks noGrp="1"/>
          </p:cNvSpPr>
          <p:nvPr/>
        </p:nvSpPr>
        <p:spPr>
          <a:xfrm>
            <a:off x="726112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r>
              <a:rPr sz="12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  <a:endParaRPr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CD8E7E-DE8F-48BB-8043-AC41F5EED62E}"/>
              </a:ext>
            </a:extLst>
          </p:cNvPr>
          <p:cNvSpPr>
            <a:spLocks noGrp="1"/>
          </p:cNvSpPr>
          <p:nvPr/>
        </p:nvSpPr>
        <p:spPr>
          <a:xfrm>
            <a:off x="7580810" y="5651514"/>
            <a:ext cx="102592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キオスク試作機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DA88AC-724F-475F-B7F8-05C24D99D20C}"/>
              </a:ext>
            </a:extLst>
          </p:cNvPr>
          <p:cNvSpPr>
            <a:spLocks noGrp="1"/>
          </p:cNvSpPr>
          <p:nvPr/>
        </p:nvSpPr>
        <p:spPr>
          <a:xfrm>
            <a:off x="7580810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製作完了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F090EAC-CEEA-4113-AE35-9B64FBFC0A4E}"/>
              </a:ext>
            </a:extLst>
          </p:cNvPr>
          <p:cNvSpPr>
            <a:spLocks noGrp="1"/>
          </p:cNvSpPr>
          <p:nvPr/>
        </p:nvSpPr>
        <p:spPr>
          <a:xfrm>
            <a:off x="9134504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r>
              <a:rPr sz="1200" b="1">
                <a:solidFill>
                  <a:srgbClr val="5E9A6A"/>
                </a:solidFill>
                <a:latin typeface="나눔스퀘어라운드OTF Bold"/>
                <a:ea typeface="나눔스퀘어라운드OTF Bold"/>
                <a:cs typeface="나눔스퀘어라운드OTF Bold"/>
              </a:rPr>
              <a:t>✓</a:t>
            </a:r>
            <a:endParaRPr sz="1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154505-958D-47BA-82DD-5567351DA9B8}"/>
              </a:ext>
            </a:extLst>
          </p:cNvPr>
          <p:cNvSpPr>
            <a:spLocks noGrp="1"/>
          </p:cNvSpPr>
          <p:nvPr/>
        </p:nvSpPr>
        <p:spPr>
          <a:xfrm>
            <a:off x="9454193" y="5651514"/>
            <a:ext cx="14058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AIパーソナライズアルゴリズム</a:t>
            </a:r>
            <a:endParaRPr sz="14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C61D01-D94A-4976-B262-072DADDD9443}"/>
              </a:ext>
            </a:extLst>
          </p:cNvPr>
          <p:cNvSpPr>
            <a:spLocks noGrp="1"/>
          </p:cNvSpPr>
          <p:nvPr/>
        </p:nvSpPr>
        <p:spPr>
          <a:xfrm>
            <a:off x="9454193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設計完了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3EF2FA4-CE94-46DB-A606-418D1030BB5F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CD824D-D3B8-4806-9873-CB3DDBA1A629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Labs・開発完成度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6397E5-EDD8-4EC8-BCE0-9DB88FBFAC86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97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pic>
        <p:nvPicPr>
          <p:cNvPr id="9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</p:spPr>
      </p:pic>
      <p:pic>
        <p:nvPicPr>
          <p:cNvPr id="99" name="그림 9"/>
          <p:cNvPicPr>
            <a:picLocks noChangeAspect="1"/>
          </p:cNvPicPr>
          <p:nvPr/>
        </p:nvPicPr>
        <p:blipFill>
          <a:blip r:embed="rId5"/>
          <a:srcRect l="1302" t="6083" r="-1302" b="1633"/>
          <a:stretch>
            <a:fillRect/>
          </a:stretch>
        </p:blipFill>
        <p:spPr>
          <a:xfrm>
            <a:off x="3373268" y="1597316"/>
            <a:ext cx="1981104" cy="2501110"/>
          </a:xfrm>
          <a:prstGeom prst="roundRect">
            <a:avLst>
              <a:gd name="adj" fmla="val 8567"/>
            </a:avLst>
          </a:prstGeom>
          <a:ln w="28575">
            <a:solidFill>
              <a:srgbClr val="F78E84"/>
            </a:solidFill>
          </a:ln>
        </p:spPr>
      </p:pic>
      <p:pic>
        <p:nvPicPr>
          <p:cNvPr id="100" name="그림 19"/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7681"/>
            </a:avLst>
          </a:prstGeom>
          <a:ln w="28575">
            <a:solidFill>
              <a:srgbClr val="F57265"/>
            </a:solidFill>
          </a:ln>
        </p:spPr>
      </p:pic>
      <p:pic>
        <p:nvPicPr>
          <p:cNvPr id="101" name="그림 4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81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>
            <a:spLocks noGrp="1"/>
          </p:cNvSpPr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F78549-1608-4AF3-A90A-67A8B1B8D74E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READINESS・実証準備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4C02B-F681-4E48-83C5-AFF1E7EF9CC8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5490286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実証に必要な</a:t>
            </a:r>
            <a:r>
              <a:rPr sz="3150" b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4つの準備を完了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3D6BF-E359-49CA-A28B-F7B3F814B92B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研究根拠・研究倫理・権利化・個人情報運用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CCA7409-8B06-481F-8BD9-E1F2361AEB7F}"/>
              </a:ext>
            </a:extLst>
          </p:cNvPr>
          <p:cNvSpPr>
            <a:spLocks noGrp="1"/>
          </p:cNvSpPr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200232-DA99-439C-8882-923A19B416F7}"/>
              </a:ext>
            </a:extLst>
          </p:cNvPr>
          <p:cNvSpPr>
            <a:spLocks noGrp="1"/>
          </p:cNvSpPr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F89D8-1365-46CA-9181-9CF8A481ABF4}"/>
              </a:ext>
            </a:extLst>
          </p:cNvPr>
          <p:cNvSpPr>
            <a:spLocks noGrp="1"/>
          </p:cNvSpPr>
          <p:nvPr/>
        </p:nvSpPr>
        <p:spPr>
          <a:xfrm>
            <a:off x="886967" y="1873591"/>
            <a:ext cx="252202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KCI論文化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226636-EDD2-49A5-B0BF-D4E263D3BA26}"/>
              </a:ext>
            </a:extLst>
          </p:cNvPr>
          <p:cNvSpPr>
            <a:spLocks noGrp="1"/>
          </p:cNvSpPr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chemeClr val="accent3">
                    <a:lumMod val="50000"/>
                  </a:schemeClr>
                </a:solidFill>
                <a:latin typeface="Noto Sans JP"/>
                <a:ea typeface="Noto Sans JP"/>
                <a:cs typeface="Noto Sans JP"/>
              </a:rPr>
              <a:t>根拠整理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5DE93E-785D-40CC-A1E7-A1AC3BA45CB7}"/>
              </a:ext>
            </a:extLst>
          </p:cNvPr>
          <p:cNvSpPr>
            <a:spLocks noGrp="1"/>
          </p:cNvSpPr>
          <p:nvPr/>
        </p:nvSpPr>
        <p:spPr>
          <a:xfrm>
            <a:off x="914400" y="2524462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E3E10-1237-4182-8C00-E30FE46137C7}"/>
              </a:ext>
            </a:extLst>
          </p:cNvPr>
          <p:cNvSpPr>
            <a:spLocks noGrp="1"/>
          </p:cNvSpPr>
          <p:nvPr/>
        </p:nvSpPr>
        <p:spPr>
          <a:xfrm>
            <a:off x="1124712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高齢者UX・認知活動の文献レビュー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54FDD5-6E9C-4867-A12A-DC6B50A4273A}"/>
              </a:ext>
            </a:extLst>
          </p:cNvPr>
          <p:cNvSpPr>
            <a:spLocks noGrp="1"/>
          </p:cNvSpPr>
          <p:nvPr/>
        </p:nvSpPr>
        <p:spPr>
          <a:xfrm>
            <a:off x="914400" y="281742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02BE0B-0A28-4D19-8A8A-758A9FD104E0}"/>
              </a:ext>
            </a:extLst>
          </p:cNvPr>
          <p:cNvSpPr>
            <a:spLocks noGrp="1"/>
          </p:cNvSpPr>
          <p:nvPr/>
        </p:nvSpPr>
        <p:spPr>
          <a:xfrm>
            <a:off x="1124712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音声処理・個人記憶構造のレビュー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3152FE-F76C-4A19-BFDE-127E63C23976}"/>
              </a:ext>
            </a:extLst>
          </p:cNvPr>
          <p:cNvSpPr>
            <a:spLocks noGrp="1"/>
          </p:cNvSpPr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335FA-F4CE-4E3D-B22D-C7027466FA8D}"/>
              </a:ext>
            </a:extLst>
          </p:cNvPr>
          <p:cNvSpPr>
            <a:spLocks noGrp="1"/>
          </p:cNvSpPr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設計判断ごとに参考根拠を整理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7C0B37-2331-4D85-B1CA-B081DAC96F27}"/>
              </a:ext>
            </a:extLst>
          </p:cNvPr>
          <p:cNvSpPr>
            <a:spLocks noGrp="1"/>
          </p:cNvSpPr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677EB-24C4-4ADA-9829-AB51A8E0EB25}"/>
              </a:ext>
            </a:extLst>
          </p:cNvPr>
          <p:cNvSpPr>
            <a:spLocks noGrp="1"/>
          </p:cNvSpPr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6C2C78-6D5D-4234-82D2-CD4ED1B12C9B}"/>
              </a:ext>
            </a:extLst>
          </p:cNvPr>
          <p:cNvSpPr>
            <a:spLocks noGrp="1"/>
          </p:cNvSpPr>
          <p:nvPr/>
        </p:nvSpPr>
        <p:spPr>
          <a:xfrm>
            <a:off x="4937759" y="1873592"/>
            <a:ext cx="313522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IRB審査申請</a:t>
            </a:r>
            <a:endParaRPr b="1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30C2869-77C8-4432-8BE9-2FBD2F01B8CA}"/>
              </a:ext>
            </a:extLst>
          </p:cNvPr>
          <p:cNvSpPr>
            <a:spLocks noGrp="1"/>
          </p:cNvSpPr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審査申請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89E537-7557-4804-84AE-0B95B759DFB6}"/>
              </a:ext>
            </a:extLst>
          </p:cNvPr>
          <p:cNvSpPr>
            <a:spLocks noGrp="1"/>
          </p:cNvSpPr>
          <p:nvPr/>
        </p:nvSpPr>
        <p:spPr>
          <a:xfrm>
            <a:off x="4965192" y="2524462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542844-9367-432E-AFA4-8604D7BBF2F5}"/>
              </a:ext>
            </a:extLst>
          </p:cNvPr>
          <p:cNvSpPr>
            <a:spLocks noGrp="1"/>
          </p:cNvSpPr>
          <p:nvPr/>
        </p:nvSpPr>
        <p:spPr>
          <a:xfrm>
            <a:off x="5175504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利害関係のない対象年齢層での研究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6E2C43-8B88-4258-AB74-362B8526B8EE}"/>
              </a:ext>
            </a:extLst>
          </p:cNvPr>
          <p:cNvSpPr>
            <a:spLocks noGrp="1"/>
          </p:cNvSpPr>
          <p:nvPr/>
        </p:nvSpPr>
        <p:spPr>
          <a:xfrm>
            <a:off x="4965192" y="2817427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2FB6D1-FC99-4CE7-BACB-DA9C4F91174B}"/>
              </a:ext>
            </a:extLst>
          </p:cNvPr>
          <p:cNvSpPr>
            <a:spLocks noGrp="1"/>
          </p:cNvSpPr>
          <p:nvPr/>
        </p:nvSpPr>
        <p:spPr>
          <a:xfrm>
            <a:off x="5175504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参加者募集・同意手続きを設計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B0C5FB-4849-482D-BB8B-852403B7BAFE}"/>
              </a:ext>
            </a:extLst>
          </p:cNvPr>
          <p:cNvSpPr>
            <a:spLocks noGrp="1"/>
          </p:cNvSpPr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18C47D-6814-464C-B23B-436453C911D7}"/>
              </a:ext>
            </a:extLst>
          </p:cNvPr>
          <p:cNvSpPr>
            <a:spLocks noGrp="1"/>
          </p:cNvSpPr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承認後に実施予定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854D941-59C2-47AA-8291-16355C7FBF48}"/>
              </a:ext>
            </a:extLst>
          </p:cNvPr>
          <p:cNvSpPr>
            <a:spLocks noGrp="1"/>
          </p:cNvSpPr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F89D05-2411-44B0-A7F9-5A726EEC7ECF}"/>
              </a:ext>
            </a:extLst>
          </p:cNvPr>
          <p:cNvSpPr>
            <a:spLocks noGrp="1"/>
          </p:cNvSpPr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8AE54-CC7F-4ADB-8D84-6A0B5EBC5AAE}"/>
              </a:ext>
            </a:extLst>
          </p:cNvPr>
          <p:cNvSpPr>
            <a:spLocks noGrp="1"/>
          </p:cNvSpPr>
          <p:nvPr/>
        </p:nvSpPr>
        <p:spPr>
          <a:xfrm>
            <a:off x="886967" y="3786661"/>
            <a:ext cx="227990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特許申請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21525E-6AE2-4F1E-978F-9C04E34214C1}"/>
              </a:ext>
            </a:extLst>
          </p:cNvPr>
          <p:cNvSpPr>
            <a:spLocks noGrp="1"/>
          </p:cNvSpPr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chemeClr val="accent2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出願進行中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9F4858D-0837-4C04-BF2D-0E7EDD77BF41}"/>
              </a:ext>
            </a:extLst>
          </p:cNvPr>
          <p:cNvSpPr>
            <a:spLocks noGrp="1"/>
          </p:cNvSpPr>
          <p:nvPr/>
        </p:nvSpPr>
        <p:spPr>
          <a:xfrm>
            <a:off x="914400" y="443753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B7DE4D-FF20-4966-BB1B-9F2C501DC745}"/>
              </a:ext>
            </a:extLst>
          </p:cNvPr>
          <p:cNvSpPr>
            <a:spLocks noGrp="1"/>
          </p:cNvSpPr>
          <p:nvPr/>
        </p:nvSpPr>
        <p:spPr>
          <a:xfrm>
            <a:off x="1124712" y="4382667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2×2ボタン式の高齢者向けインターフェース</a:t>
            </a:r>
            <a:endParaRPr sz="1200" b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C7B0F0-1BB9-437F-8B48-70C293A93284}"/>
              </a:ext>
            </a:extLst>
          </p:cNvPr>
          <p:cNvSpPr>
            <a:spLocks noGrp="1"/>
          </p:cNvSpPr>
          <p:nvPr/>
        </p:nvSpPr>
        <p:spPr>
          <a:xfrm>
            <a:off x="914400" y="473049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9D0ACA-D89C-4B42-8490-516EB8A7DA33}"/>
              </a:ext>
            </a:extLst>
          </p:cNvPr>
          <p:cNvSpPr>
            <a:spLocks noGrp="1"/>
          </p:cNvSpPr>
          <p:nvPr/>
        </p:nvSpPr>
        <p:spPr>
          <a:xfrm>
            <a:off x="1124712" y="4675633"/>
            <a:ext cx="13705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キオスク型端末</a:t>
            </a:r>
            <a:endParaRPr sz="1200" b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1F2438-6265-4FBE-AC0A-72635A3F0AEF}"/>
              </a:ext>
            </a:extLst>
          </p:cNvPr>
          <p:cNvSpPr>
            <a:spLocks noGrp="1"/>
          </p:cNvSpPr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176BA0-F48F-4D6D-89A7-66962CD937DF}"/>
              </a:ext>
            </a:extLst>
          </p:cNvPr>
          <p:cNvSpPr>
            <a:spLocks noGrp="1"/>
          </p:cNvSpPr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弁理士と協議中―特許出願書作成完了</a:t>
            </a:r>
            <a:endParaRPr sz="1200" b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14F2ADB-69B7-4461-A3F1-E9B0799688E0}"/>
              </a:ext>
            </a:extLst>
          </p:cNvPr>
          <p:cNvSpPr>
            <a:spLocks noGrp="1"/>
          </p:cNvSpPr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784AC3-C8FF-4819-97DC-8BB20DA0BC5A}"/>
              </a:ext>
            </a:extLst>
          </p:cNvPr>
          <p:cNvSpPr>
            <a:spLocks noGrp="1"/>
          </p:cNvSpPr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3159F8-E216-4BFC-A4D4-2481B31C6B48}"/>
              </a:ext>
            </a:extLst>
          </p:cNvPr>
          <p:cNvSpPr>
            <a:spLocks noGrp="1"/>
          </p:cNvSpPr>
          <p:nvPr/>
        </p:nvSpPr>
        <p:spPr>
          <a:xfrm>
            <a:off x="4937760" y="378666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個人情報運用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212FF46-9D3F-40AD-BF26-960A76725E3B}"/>
              </a:ext>
            </a:extLst>
          </p:cNvPr>
          <p:cNvSpPr>
            <a:spLocks noGrp="1"/>
          </p:cNvSpPr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運用設計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583CA00-695A-483F-BFD3-F035A41B226F}"/>
              </a:ext>
            </a:extLst>
          </p:cNvPr>
          <p:cNvSpPr>
            <a:spLocks noGrp="1"/>
          </p:cNvSpPr>
          <p:nvPr/>
        </p:nvSpPr>
        <p:spPr>
          <a:xfrm>
            <a:off x="4965192" y="44375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DB3A5-20C7-4011-98A0-0F5D270B1A16}"/>
              </a:ext>
            </a:extLst>
          </p:cNvPr>
          <p:cNvSpPr>
            <a:spLocks noGrp="1"/>
          </p:cNvSpPr>
          <p:nvPr/>
        </p:nvSpPr>
        <p:spPr>
          <a:xfrm>
            <a:off x="5175504" y="4382667"/>
            <a:ext cx="2595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福祉施設で登録・日韓個人情報利用同意書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39DF46-F8BD-430A-9BFE-35733A09B95E}"/>
              </a:ext>
            </a:extLst>
          </p:cNvPr>
          <p:cNvSpPr>
            <a:spLocks noGrp="1"/>
          </p:cNvSpPr>
          <p:nvPr/>
        </p:nvSpPr>
        <p:spPr>
          <a:xfrm>
            <a:off x="4965192" y="473049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769719-623A-4178-8F93-838C88E62D43}"/>
              </a:ext>
            </a:extLst>
          </p:cNvPr>
          <p:cNvSpPr>
            <a:spLocks noGrp="1"/>
          </p:cNvSpPr>
          <p:nvPr/>
        </p:nvSpPr>
        <p:spPr>
          <a:xfrm>
            <a:off x="5175504" y="4675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NFC仮名ID・識別情報を分離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7ACC9B8-EAD5-4625-95E5-1BD6F6E20742}"/>
              </a:ext>
            </a:extLst>
          </p:cNvPr>
          <p:cNvSpPr>
            <a:spLocks noGrp="1"/>
          </p:cNvSpPr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1C5618-27C4-48E2-B29B-535F080479DB}"/>
              </a:ext>
            </a:extLst>
          </p:cNvPr>
          <p:cNvSpPr>
            <a:spLocks noGrp="1"/>
          </p:cNvSpPr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役割別の最小開示・撤回および削除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CB775A-3CF4-4CF9-AD77-8D4FB63BCD46}"/>
              </a:ext>
            </a:extLst>
          </p:cNvPr>
          <p:cNvSpPr>
            <a:spLocks noGrp="1"/>
          </p:cNvSpPr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進行中の公式手続き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0156FE-495F-4377-9EF8-7981AB116E07}"/>
              </a:ext>
            </a:extLst>
          </p:cNvPr>
          <p:cNvSpPr>
            <a:spLocks noGrp="1"/>
          </p:cNvSpPr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IRB審査申請書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78CD34-5BA1-4AF9-B9D9-446950B5D250}"/>
              </a:ext>
            </a:extLst>
          </p:cNvPr>
          <p:cNvSpPr>
            <a:spLocks noGrp="1"/>
          </p:cNvSpPr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特許出願書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DA93926-33E0-449D-85C2-FF2C66606922}"/>
              </a:ext>
            </a:extLst>
          </p:cNvPr>
          <p:cNvSpPr>
            <a:spLocks noGrp="1"/>
          </p:cNvSpPr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4DDE90-98C1-448A-84BC-5212ED87561D}"/>
              </a:ext>
            </a:extLst>
          </p:cNvPr>
          <p:cNvSpPr>
            <a:spLocks noGrp="1"/>
          </p:cNvSpPr>
          <p:nvPr/>
        </p:nvSpPr>
        <p:spPr>
          <a:xfrm>
            <a:off x="9225800" y="4480560"/>
            <a:ext cx="2368791" cy="1482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latin typeface="Noto Sans JP"/>
                <a:ea typeface="Noto Sans JP"/>
                <a:cs typeface="Noto Sans JP"/>
              </a:rPr>
              <a:t>承認後、対象年齢層で</a:t>
            </a:r>
          </a:p>
          <a:p>
            <a:pPr algn="l">
              <a:lnSpc>
                <a:spcPct val="15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latin typeface="Noto Sans JP"/>
                <a:ea typeface="Noto Sans JP"/>
                <a:cs typeface="Noto Sans JP"/>
              </a:rPr>
              <a:t>実証を開始します。</a:t>
            </a:r>
          </a:p>
          <a:p>
            <a:pPr algn="l">
              <a:lnSpc>
                <a:spcPct val="152000"/>
              </a:lnSpc>
              <a:buNone/>
            </a:pPr>
            <a:endParaRPr sz="800" b="0"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5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latin typeface="Noto Sans JP"/>
                <a:ea typeface="Noto Sans JP"/>
                <a:cs typeface="Noto Sans JP"/>
              </a:rPr>
              <a:t>結果は韓国での現場適用と</a:t>
            </a:r>
          </a:p>
          <a:p>
            <a:pPr algn="l">
              <a:lnSpc>
                <a:spcPct val="15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latin typeface="Noto Sans JP"/>
                <a:ea typeface="Noto Sans JP"/>
                <a:cs typeface="Noto Sans JP"/>
              </a:rPr>
              <a:t>日本展開の根拠となります。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978-3496-45D0-997C-BD009A725F69}"/>
              </a:ext>
            </a:extLst>
          </p:cNvPr>
          <p:cNvSpPr>
            <a:spLocks noGrp="1"/>
          </p:cNvSpPr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製品だけでなく、</a:t>
            </a:r>
            <a:r>
              <a:rPr sz="160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国内外の実証</a:t>
            </a:r>
            <a:r>
              <a:rPr sz="160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を始める条件も整えました</a:t>
            </a:r>
            <a:endParaRPr sz="1600" b="1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5E7853-6B4D-4564-8FA8-471A373EF5A7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A5A186-95EA-419B-A7A7-AE4B1127F667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Labs・実証準備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36E9D9-5732-4EAE-A5F3-84ABAA23847E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1061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pic>
        <p:nvPicPr>
          <p:cNvPr id="1062" name="그림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63" name="그림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>
            <a:spLocks noGrp="1"/>
          </p:cNvSpPr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>
            <a:spLocks noGrp="1"/>
          </p:cNvSpPr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01" name="TextBox 1001">
            <a:extLst>
              <a:ext uri="{FF2B5EF4-FFF2-40B4-BE49-F238E27FC236}">
                <a16:creationId xmlns:a16="http://schemas.microsoft.com/office/drawing/2014/main" id="{96A818C5-ADC4-4954-9491-AED28EF367AF}"/>
              </a:ext>
            </a:extLst>
          </p:cNvPr>
          <p:cNvSpPr>
            <a:spLocks noGrp="1"/>
          </p:cNvSpPr>
          <p:nvPr/>
        </p:nvSpPr>
        <p:spPr>
          <a:xfrm>
            <a:off x="886967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修士・博士課程のメンバーが直接執筆</a:t>
            </a:r>
          </a:p>
        </p:txBody>
      </p:sp>
      <p:sp>
        <p:nvSpPr>
          <p:cNvPr id="1002" name="TextBox 1002">
            <a:extLst>
              <a:ext uri="{FF2B5EF4-FFF2-40B4-BE49-F238E27FC236}">
                <a16:creationId xmlns:a16="http://schemas.microsoft.com/office/drawing/2014/main" id="{F22CC4DB-75B5-43D9-A4B8-D66057BB53FA}"/>
              </a:ext>
            </a:extLst>
          </p:cNvPr>
          <p:cNvSpPr>
            <a:spLocks noGrp="1"/>
          </p:cNvSpPr>
          <p:nvPr/>
        </p:nvSpPr>
        <p:spPr>
          <a:xfrm>
            <a:off x="4937759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医療IRB経験者が直接申請</a:t>
            </a:r>
          </a:p>
        </p:txBody>
      </p:sp>
      <p:sp>
        <p:nvSpPr>
          <p:cNvPr id="1003" name="TextBox 1003">
            <a:extLst>
              <a:ext uri="{FF2B5EF4-FFF2-40B4-BE49-F238E27FC236}">
                <a16:creationId xmlns:a16="http://schemas.microsoft.com/office/drawing/2014/main" id="{535AE2CF-ABD4-42B3-91CE-13ACA40DE783}"/>
              </a:ext>
            </a:extLst>
          </p:cNvPr>
          <p:cNvSpPr>
            <a:spLocks noGrp="1"/>
          </p:cNvSpPr>
          <p:nvPr/>
        </p:nvSpPr>
        <p:spPr>
          <a:xfrm>
            <a:off x="886967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KAIST弁理士相談プログラムを活用</a:t>
            </a:r>
          </a:p>
        </p:txBody>
      </p:sp>
      <p:sp>
        <p:nvSpPr>
          <p:cNvPr id="1004" name="TextBox 1004">
            <a:extLst>
              <a:ext uri="{FF2B5EF4-FFF2-40B4-BE49-F238E27FC236}">
                <a16:creationId xmlns:a16="http://schemas.microsoft.com/office/drawing/2014/main" id="{37DC5A10-2716-46CD-87D1-BF32C9C31459}"/>
              </a:ext>
            </a:extLst>
          </p:cNvPr>
          <p:cNvSpPr>
            <a:spLocks noGrp="1"/>
          </p:cNvSpPr>
          <p:nvPr/>
        </p:nvSpPr>
        <p:spPr>
          <a:xfrm>
            <a:off x="4937760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KAISTセキュリティ学会の経験を活用</a:t>
            </a:r>
          </a:p>
        </p:txBody>
      </p:sp>
    </p:spTree>
    <p:extLst>
      <p:ext uri="{BB962C8B-B14F-4D97-AF65-F5344CB8AC3E}">
        <p14:creationId xmlns:p14="http://schemas.microsoft.com/office/powerpoint/2010/main" val="197478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553FA-F866-400B-8818-1E27A3E21E5D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BUSINESS・事業化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EA940-BA80-442D-963A-6FF966D1B37D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6859250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施設が</a:t>
            </a:r>
            <a:r>
              <a:rPr sz="3150" b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すぐ導</a:t>
            </a:r>
            <a:r>
              <a:rPr sz="31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入できる運用モデルです</a:t>
            </a:r>
            <a:endParaRPr sz="3150" b="1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4512F-6221-4316-83A2-96B991D9979D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61827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B2B・B2G・全工程を自社開発（施設設置型キオスク＋運用レポートのサブスク）</a:t>
            </a:r>
            <a:endParaRPr sz="1580" b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0BD6C-3BC1-4F72-87D7-08D74E27B107}"/>
              </a:ext>
            </a:extLst>
          </p:cNvPr>
          <p:cNvSpPr>
            <a:spLocks noGrp="1"/>
          </p:cNvSpPr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2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初期顧客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684DDC-569A-4495-B623-7352B08FFDD8}"/>
              </a:ext>
            </a:extLst>
          </p:cNvPr>
          <p:cNvSpPr>
            <a:spLocks noGrp="1"/>
          </p:cNvSpPr>
          <p:nvPr/>
        </p:nvSpPr>
        <p:spPr>
          <a:xfrm>
            <a:off x="1920240" y="1772143"/>
            <a:ext cx="9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療養病院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A136A1-80EE-4FCB-9DE5-7934D274E2D7}"/>
              </a:ext>
            </a:extLst>
          </p:cNvPr>
          <p:cNvSpPr>
            <a:spLocks noGrp="1"/>
          </p:cNvSpPr>
          <p:nvPr/>
        </p:nvSpPr>
        <p:spPr>
          <a:xfrm>
            <a:off x="2950240" y="1772143"/>
            <a:ext cx="171701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介護施設・療養施設</a:t>
            </a:r>
            <a:endParaRPr sz="13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E8C968-8FE9-490A-B204-936F43251B2D}"/>
              </a:ext>
            </a:extLst>
          </p:cNvPr>
          <p:cNvSpPr>
            <a:spLocks noGrp="1"/>
          </p:cNvSpPr>
          <p:nvPr/>
        </p:nvSpPr>
        <p:spPr>
          <a:xfrm>
            <a:off x="4844331" y="1763355"/>
            <a:ext cx="135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デイ・ナイトケア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E86423-C98E-4AB0-A1C6-87B5A7BDC06D}"/>
              </a:ext>
            </a:extLst>
          </p:cNvPr>
          <p:cNvSpPr>
            <a:spLocks noGrp="1"/>
          </p:cNvSpPr>
          <p:nvPr/>
        </p:nvSpPr>
        <p:spPr>
          <a:xfrm>
            <a:off x="6374565" y="1772143"/>
            <a:ext cx="253131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福祉施設・認知症安心センタ</a:t>
            </a:r>
            <a:r>
              <a:rPr sz="13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12983-87EE-433D-996A-F63330249B85}"/>
              </a:ext>
            </a:extLst>
          </p:cNvPr>
          <p:cNvSpPr>
            <a:spLocks noGrp="1"/>
          </p:cNvSpPr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2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運用フロー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391BE4-B355-451A-93E0-32BF9BC7CBCE}"/>
              </a:ext>
            </a:extLst>
          </p:cNvPr>
          <p:cNvSpPr>
            <a:spLocks noGrp="1"/>
          </p:cNvSpPr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B43FC-60E1-4047-8106-7AA9D863B343}"/>
              </a:ext>
            </a:extLst>
          </p:cNvPr>
          <p:cNvSpPr>
            <a:spLocks noGrp="1"/>
          </p:cNvSpPr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施設登録・同意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EB4363A-23BF-4DE1-85D9-F4A2F021BAF4}"/>
              </a:ext>
            </a:extLst>
          </p:cNvPr>
          <p:cNvSpPr>
            <a:spLocks noGrp="1"/>
          </p:cNvSpPr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8E2E6B-D75F-434E-B3F2-4C4766798131}"/>
              </a:ext>
            </a:extLst>
          </p:cNvPr>
          <p:cNvSpPr>
            <a:spLocks noGrp="1"/>
          </p:cNvSpPr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2D6EE7-FE72-4795-B6C1-9DE96F0491CB}"/>
              </a:ext>
            </a:extLst>
          </p:cNvPr>
          <p:cNvSpPr>
            <a:spLocks noGrp="1"/>
          </p:cNvSpPr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NFC仮名ID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FBFCFF7-8BCD-453D-8D07-F1C1B4E36807}"/>
              </a:ext>
            </a:extLst>
          </p:cNvPr>
          <p:cNvSpPr>
            <a:spLocks noGrp="1"/>
          </p:cNvSpPr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304E237-3278-4D91-AFB4-520CF305C239}"/>
              </a:ext>
            </a:extLst>
          </p:cNvPr>
          <p:cNvSpPr>
            <a:spLocks noGrp="1"/>
          </p:cNvSpPr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998987-CE0A-4E72-9D1B-65F5E4E7C61F}"/>
              </a:ext>
            </a:extLst>
          </p:cNvPr>
          <p:cNvSpPr>
            <a:spLocks noGrp="1"/>
          </p:cNvSpPr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1日のルーティン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2A1961D-D6F2-481D-901E-543902F3186C}"/>
              </a:ext>
            </a:extLst>
          </p:cNvPr>
          <p:cNvSpPr>
            <a:spLocks noGrp="1"/>
          </p:cNvSpPr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A824697-6728-4B22-AC1A-A1A6F6526651}"/>
              </a:ext>
            </a:extLst>
          </p:cNvPr>
          <p:cNvSpPr>
            <a:spLocks noGrp="1"/>
          </p:cNvSpPr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F14BB3-535F-43B6-9307-03AB77A464DB}"/>
              </a:ext>
            </a:extLst>
          </p:cNvPr>
          <p:cNvSpPr>
            <a:spLocks noGrp="1"/>
          </p:cNvSpPr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役割別レポート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BE44F27-80D7-40E4-BD2E-09E7BF3DC080}"/>
              </a:ext>
            </a:extLst>
          </p:cNvPr>
          <p:cNvSpPr>
            <a:spLocks noGrp="1"/>
          </p:cNvSpPr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E8A51BE-5770-44F3-9F6A-0E5DFBE6F469}"/>
              </a:ext>
            </a:extLst>
          </p:cNvPr>
          <p:cNvSpPr>
            <a:spLocks noGrp="1"/>
          </p:cNvSpPr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488FBD-DB31-4D46-9951-2139DC7E9D72}"/>
              </a:ext>
            </a:extLst>
          </p:cNvPr>
          <p:cNvSpPr>
            <a:spLocks noGrp="1"/>
          </p:cNvSpPr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専門相談への連携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63360A-3D3C-4D22-A2CA-D0E46C382E53}"/>
              </a:ext>
            </a:extLst>
          </p:cNvPr>
          <p:cNvSpPr>
            <a:spLocks noGrp="1"/>
          </p:cNvSpPr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15830DC-C28A-469B-B91C-4F499D2E61B1}"/>
              </a:ext>
            </a:extLst>
          </p:cNvPr>
          <p:cNvSpPr>
            <a:spLocks noGrp="1"/>
          </p:cNvSpPr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3063FB-11E4-443D-A01E-07267ABB3B0A}"/>
              </a:ext>
            </a:extLst>
          </p:cNvPr>
          <p:cNvSpPr>
            <a:spLocks noGrp="1"/>
          </p:cNvSpPr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E2DAC21-A051-4936-9264-07C16C9567C4}"/>
              </a:ext>
            </a:extLst>
          </p:cNvPr>
          <p:cNvSpPr>
            <a:spLocks noGrp="1"/>
          </p:cNvSpPr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19CE96-AC54-45D1-915E-B96D2F61DCA5}"/>
              </a:ext>
            </a:extLst>
          </p:cNvPr>
          <p:cNvSpPr>
            <a:spLocks noGrp="1"/>
          </p:cNvSpPr>
          <p:nvPr/>
        </p:nvSpPr>
        <p:spPr>
          <a:xfrm>
            <a:off x="1307234" y="3255878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収益構造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FD3D81-B990-43B5-9E8B-36F30759015F}"/>
              </a:ext>
            </a:extLst>
          </p:cNvPr>
          <p:cNvSpPr>
            <a:spLocks noGrp="1"/>
          </p:cNvSpPr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何で収益を得るか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CD980F0-49C9-4801-952E-6C71400BBDF3}"/>
              </a:ext>
            </a:extLst>
          </p:cNvPr>
          <p:cNvSpPr>
            <a:spLocks noGrp="1"/>
          </p:cNvSpPr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8C532C-B9B8-436E-8F17-BEA52B1D84C8}"/>
              </a:ext>
            </a:extLst>
          </p:cNvPr>
          <p:cNvSpPr>
            <a:spLocks noGrp="1"/>
          </p:cNvSpPr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端末設置・保守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24C268-0E8E-4640-9A64-B01CA170EA9E}"/>
              </a:ext>
            </a:extLst>
          </p:cNvPr>
          <p:cNvSpPr>
            <a:spLocks noGrp="1"/>
          </p:cNvSpPr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32D6FE-5D44-4295-A842-D551D06716E3}"/>
              </a:ext>
            </a:extLst>
          </p:cNvPr>
          <p:cNvSpPr>
            <a:spLocks noGrp="1"/>
          </p:cNvSpPr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サブスクリプション型サービス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FCEDF8A-5156-4415-910B-1044AA2E6E77}"/>
              </a:ext>
            </a:extLst>
          </p:cNvPr>
          <p:cNvSpPr>
            <a:spLocks noGrp="1"/>
          </p:cNvSpPr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4D3D7D-0492-4E91-9F19-E9218B74D5E1}"/>
              </a:ext>
            </a:extLst>
          </p:cNvPr>
          <p:cNvSpPr>
            <a:spLocks noGrp="1"/>
          </p:cNvSpPr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施設ユーザー管理ライセンス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2204878-DF11-4FFB-81EA-39B42174CB93}"/>
              </a:ext>
            </a:extLst>
          </p:cNvPr>
          <p:cNvSpPr>
            <a:spLocks noGrp="1"/>
          </p:cNvSpPr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9BEC90-A6B9-487B-98EC-937B80054D94}"/>
              </a:ext>
            </a:extLst>
          </p:cNvPr>
          <p:cNvSpPr>
            <a:spLocks noGrp="1"/>
          </p:cNvSpPr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家族・専門家向けレポート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43CD018-9A77-49BE-9DA2-8F5E3A1CB1B5}"/>
              </a:ext>
            </a:extLst>
          </p:cNvPr>
          <p:cNvSpPr>
            <a:spLocks noGrp="1"/>
          </p:cNvSpPr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839287-33DD-4F5B-88D5-8EA07981D91E}"/>
              </a:ext>
            </a:extLst>
          </p:cNvPr>
          <p:cNvSpPr>
            <a:spLocks noGrp="1"/>
          </p:cNvSpPr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AB39186-7478-4428-877B-EBA96C2309B1}"/>
              </a:ext>
            </a:extLst>
          </p:cNvPr>
          <p:cNvSpPr>
            <a:spLocks noGrp="1"/>
          </p:cNvSpPr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0D2D86-2771-4033-BF50-7733355DEF0C}"/>
              </a:ext>
            </a:extLst>
          </p:cNvPr>
          <p:cNvSpPr>
            <a:spLocks noGrp="1"/>
          </p:cNvSpPr>
          <p:nvPr/>
        </p:nvSpPr>
        <p:spPr>
          <a:xfrm>
            <a:off x="5056274" y="3255878"/>
            <a:ext cx="207749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自社開発・原価削減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E094FB-9496-4A19-AA47-AA44F53FA4EA}"/>
              </a:ext>
            </a:extLst>
          </p:cNvPr>
          <p:cNvSpPr>
            <a:spLocks noGrp="1"/>
          </p:cNvSpPr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なぜ低価格で提供できるか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25C425E-89B2-407E-B753-88959FDA708C}"/>
              </a:ext>
            </a:extLst>
          </p:cNvPr>
          <p:cNvSpPr>
            <a:spLocks noGrp="1"/>
          </p:cNvSpPr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83C372-6A9F-495D-AAB0-59F92148F3CC}"/>
              </a:ext>
            </a:extLst>
          </p:cNvPr>
          <p:cNvSpPr>
            <a:spLocks noGrp="1"/>
          </p:cNvSpPr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ハード・アプリ・音声・記憶を自社開発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1F78B6-DD40-44E7-9B7B-50B564312025}"/>
              </a:ext>
            </a:extLst>
          </p:cNvPr>
          <p:cNvSpPr>
            <a:spLocks noGrp="1"/>
          </p:cNvSpPr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283806-36D2-4D80-A773-36DF79203252}"/>
              </a:ext>
            </a:extLst>
          </p:cNvPr>
          <p:cNvSpPr>
            <a:spLocks noGrp="1"/>
          </p:cNvSpPr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外注費なしで試作品まで製作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23E09BB-6A75-4ECE-B462-F226D3667E7D}"/>
              </a:ext>
            </a:extLst>
          </p:cNvPr>
          <p:cNvSpPr>
            <a:spLocks noGrp="1"/>
          </p:cNvSpPr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1F4F7D-D56E-443D-87D2-45D1DFD70442}"/>
              </a:ext>
            </a:extLst>
          </p:cNvPr>
          <p:cNvSpPr>
            <a:spLocks noGrp="1"/>
          </p:cNvSpPr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設置単価を下げ、施設の導入障壁を緩和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D6B39A7-7E97-40F3-B845-5BF81A0EB901}"/>
              </a:ext>
            </a:extLst>
          </p:cNvPr>
          <p:cNvSpPr>
            <a:spLocks noGrp="1"/>
          </p:cNvSpPr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420ACC-AFE4-42F8-A5DD-1A76D21CB5C1}"/>
              </a:ext>
            </a:extLst>
          </p:cNvPr>
          <p:cNvSpPr>
            <a:spLocks noGrp="1"/>
          </p:cNvSpPr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現場ニーズをチームで直接反映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7B04396-9CE6-48A1-A3B0-6026B9592B64}"/>
              </a:ext>
            </a:extLst>
          </p:cNvPr>
          <p:cNvSpPr>
            <a:spLocks noGrp="1"/>
          </p:cNvSpPr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2FB0B59-1DF6-412E-837A-5A777B6C1321}"/>
              </a:ext>
            </a:extLst>
          </p:cNvPr>
          <p:cNvSpPr>
            <a:spLocks noGrp="1"/>
          </p:cNvSpPr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E4AE31D-30FF-446F-9600-6FA4241BF383}"/>
              </a:ext>
            </a:extLst>
          </p:cNvPr>
          <p:cNvSpPr>
            <a:spLocks noGrp="1"/>
          </p:cNvSpPr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1200" b="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E3382E-6C47-42C6-9C03-75CC44AEE5F1}"/>
              </a:ext>
            </a:extLst>
          </p:cNvPr>
          <p:cNvSpPr>
            <a:spLocks noGrp="1"/>
          </p:cNvSpPr>
          <p:nvPr/>
        </p:nvSpPr>
        <p:spPr>
          <a:xfrm>
            <a:off x="8805314" y="3255878"/>
            <a:ext cx="230191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社会的企業として運営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CAEA3B-F259-42B1-A5E4-B29B234D8D47}"/>
              </a:ext>
            </a:extLst>
          </p:cNvPr>
          <p:cNvSpPr>
            <a:spLocks noGrp="1"/>
          </p:cNvSpPr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何を優先するか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663A5E3-6CA9-4E1A-9242-B45E1CAD0EA4}"/>
              </a:ext>
            </a:extLst>
          </p:cNvPr>
          <p:cNvSpPr>
            <a:spLocks noGrp="1"/>
          </p:cNvSpPr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F9C442-795F-47F8-9E55-F0034B0E9A0F}"/>
              </a:ext>
            </a:extLst>
          </p:cNvPr>
          <p:cNvSpPr>
            <a:spLocks noGrp="1"/>
          </p:cNvSpPr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利益最大化よりアクセシビリティを優先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F066E3F-EF85-463D-BBAB-87F26F6F8DF3}"/>
              </a:ext>
            </a:extLst>
          </p:cNvPr>
          <p:cNvSpPr>
            <a:spLocks noGrp="1"/>
          </p:cNvSpPr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4B12EE-2CD1-4FE6-B49B-4E1CEE00E911}"/>
              </a:ext>
            </a:extLst>
          </p:cNvPr>
          <p:cNvSpPr>
            <a:spLocks noGrp="1"/>
          </p:cNvSpPr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福祉施設・自治体予算と連携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4B59794-2FAE-4DFD-AD26-C74AE13BCA23}"/>
              </a:ext>
            </a:extLst>
          </p:cNvPr>
          <p:cNvSpPr>
            <a:spLocks noGrp="1"/>
          </p:cNvSpPr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BB0E0E-1826-4D3B-B830-E43CD29823E2}"/>
              </a:ext>
            </a:extLst>
          </p:cNvPr>
          <p:cNvSpPr>
            <a:spLocks noGrp="1"/>
          </p:cNvSpPr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ケア人材が不足する現場に優先配置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831A580-F84B-46F0-8624-C6F37ACFE30A}"/>
              </a:ext>
            </a:extLst>
          </p:cNvPr>
          <p:cNvSpPr>
            <a:spLocks noGrp="1"/>
          </p:cNvSpPr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1EFB4E-A3E0-49E4-B4EA-6295C560D1F6}"/>
              </a:ext>
            </a:extLst>
          </p:cNvPr>
          <p:cNvSpPr>
            <a:spLocks noGrp="1"/>
          </p:cNvSpPr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忠清圏地域と連携して運営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8C40EA-DE0F-44CD-BC27-FAD773E1A93D}"/>
              </a:ext>
            </a:extLst>
          </p:cNvPr>
          <p:cNvSpPr>
            <a:spLocks noGrp="1"/>
          </p:cNvSpPr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B31643-5626-4548-95C3-08F5BA9D0D68}"/>
              </a:ext>
            </a:extLst>
          </p:cNvPr>
          <p:cNvSpPr>
            <a:spLocks noGrp="1"/>
          </p:cNvSpPr>
          <p:nvPr/>
        </p:nvSpPr>
        <p:spPr>
          <a:xfrm>
            <a:off x="594359" y="5791919"/>
            <a:ext cx="170964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施設との連携状況</a:t>
            </a:r>
            <a:endParaRPr sz="16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EC7C86-FB0E-4892-A93A-9A6091272962}"/>
              </a:ext>
            </a:extLst>
          </p:cNvPr>
          <p:cNvSpPr>
            <a:spLocks noGrp="1"/>
          </p:cNvSpPr>
          <p:nvPr/>
        </p:nvSpPr>
        <p:spPr>
          <a:xfrm>
            <a:off x="2652982" y="5715062"/>
            <a:ext cx="2194560" cy="414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0" dirty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10以上の福祉施設と</a:t>
            </a:r>
            <a:endParaRPr lang="en-US" sz="1360" b="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連携を協議中</a:t>
            </a:r>
            <a:endParaRPr sz="1360" b="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B72547E-5CD2-41CD-97F1-E364FAFEE85E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2AF32ED-809B-4A57-A792-566034E7DA3A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Labs・事業化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AFEB2F-09E6-4DA2-B6E8-DA2D889678DF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154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>
            <a:spLocks noGrp="1"/>
          </p:cNvSpPr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>
            <a:spLocks noGrp="1"/>
          </p:cNvSpPr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>
            <a:spLocks noGrp="1"/>
          </p:cNvSpPr>
          <p:nvPr/>
        </p:nvSpPr>
        <p:spPr>
          <a:xfrm>
            <a:off x="4959712" y="5711911"/>
            <a:ext cx="2699499" cy="414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>
                <a:latin typeface="Noto Sans JP"/>
                <a:ea typeface="Noto Sans JP"/>
                <a:cs typeface="Noto Sans JP"/>
              </a:defRPr>
            </a:pPr>
            <a:r>
              <a:rPr lang="en-US" sz="1360" dirty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CHA Medical Center</a:t>
            </a:r>
            <a:r>
              <a:rPr sz="1360" dirty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6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精神健康医学科との助言協力</a:t>
            </a:r>
            <a:endParaRPr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>
            <a:spLocks noGrp="1"/>
          </p:cNvSpPr>
          <p:nvPr/>
        </p:nvSpPr>
        <p:spPr>
          <a:xfrm>
            <a:off x="8103867" y="5718221"/>
            <a:ext cx="2833764" cy="414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>
                <a:latin typeface="Noto Sans JP"/>
                <a:ea typeface="Noto Sans JP"/>
                <a:cs typeface="Noto Sans JP"/>
              </a:defRPr>
            </a:pPr>
            <a:r>
              <a:rPr sz="136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陸軍士官学校研究センターとの</a:t>
            </a:r>
            <a:endParaRPr lang="en-US" sz="136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defRPr>
                <a:latin typeface="Noto Sans JP"/>
                <a:ea typeface="Noto Sans JP"/>
                <a:cs typeface="Noto Sans JP"/>
              </a:defRPr>
            </a:pPr>
            <a:r>
              <a:rPr sz="136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共同研究進行中</a:t>
            </a:r>
            <a:endParaRPr sz="1360" b="0" dirty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50824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1005" name="TextBox 1005">
            <a:extLst>
              <a:ext uri="{FF2B5EF4-FFF2-40B4-BE49-F238E27FC236}">
                <a16:creationId xmlns:a16="http://schemas.microsoft.com/office/drawing/2014/main" id="{D336AE19-9E85-4CA5-91BA-106EE5B8B067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MARKET・市場分析</a:t>
            </a:r>
          </a:p>
        </p:txBody>
      </p:sp>
      <p:sp>
        <p:nvSpPr>
          <p:cNvPr id="1006" name="TextBox 1006">
            <a:extLst>
              <a:ext uri="{FF2B5EF4-FFF2-40B4-BE49-F238E27FC236}">
                <a16:creationId xmlns:a16="http://schemas.microsoft.com/office/drawing/2014/main" id="{1EFA636E-A95E-4F9C-AC7C-3D65A850F22E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韓</a:t>
            </a:r>
            <a:r>
              <a:rPr lang="ko-KR" altLang="en-US"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の主要施設</a:t>
            </a:r>
            <a:r>
              <a:rPr sz="315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3.9万カ所のうち500施設の獲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得を目指します</a:t>
            </a:r>
          </a:p>
        </p:txBody>
      </p:sp>
      <p:sp>
        <p:nvSpPr>
          <p:cNvPr id="1007" name="TextBox 1007">
            <a:extLst>
              <a:ext uri="{FF2B5EF4-FFF2-40B4-BE49-F238E27FC236}">
                <a16:creationId xmlns:a16="http://schemas.microsoft.com/office/drawing/2014/main" id="{21007E8A-6643-4DD3-98E3-A15F5A51EA56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認知症・軽度認知障害（MCI）のケア施設を基準としたTAM・SAM・SOM</a:t>
            </a:r>
          </a:p>
        </p:txBody>
      </p:sp>
      <p:sp>
        <p:nvSpPr>
          <p:cNvPr id="1008" name="Shape 1008">
            <a:extLst>
              <a:ext uri="{FF2B5EF4-FFF2-40B4-BE49-F238E27FC236}">
                <a16:creationId xmlns:a16="http://schemas.microsoft.com/office/drawing/2014/main" id="{0652D6AB-C0E9-4A3C-91EE-B07D2F8711CE}"/>
              </a:ext>
            </a:extLst>
          </p:cNvPr>
          <p:cNvSpPr>
            <a:spLocks noGrp="1"/>
          </p:cNvSpPr>
          <p:nvPr/>
        </p:nvSpPr>
        <p:spPr>
          <a:xfrm>
            <a:off x="594359" y="1768965"/>
            <a:ext cx="6927029" cy="422688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10" name="Shape 1010">
            <a:extLst>
              <a:ext uri="{FF2B5EF4-FFF2-40B4-BE49-F238E27FC236}">
                <a16:creationId xmlns:a16="http://schemas.microsoft.com/office/drawing/2014/main" id="{FC0D80E4-8FA4-4C3C-9C33-A33ABFB62B77}"/>
              </a:ext>
            </a:extLst>
          </p:cNvPr>
          <p:cNvSpPr>
            <a:spLocks noGrp="1"/>
          </p:cNvSpPr>
          <p:nvPr/>
        </p:nvSpPr>
        <p:spPr>
          <a:xfrm>
            <a:off x="7860526" y="2088236"/>
            <a:ext cx="3641193" cy="97757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11" name="Shape 1011">
            <a:extLst>
              <a:ext uri="{FF2B5EF4-FFF2-40B4-BE49-F238E27FC236}">
                <a16:creationId xmlns:a16="http://schemas.microsoft.com/office/drawing/2014/main" id="{5897BACF-FAAD-471E-A021-F1B341325A8E}"/>
              </a:ext>
            </a:extLst>
          </p:cNvPr>
          <p:cNvSpPr>
            <a:spLocks noGrp="1"/>
          </p:cNvSpPr>
          <p:nvPr/>
        </p:nvSpPr>
        <p:spPr>
          <a:xfrm>
            <a:off x="7860526" y="2208236"/>
            <a:ext cx="45719" cy="560000"/>
          </a:xfrm>
          <a:prstGeom prst="rect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12" name="TextBox 1012">
            <a:extLst>
              <a:ext uri="{FF2B5EF4-FFF2-40B4-BE49-F238E27FC236}">
                <a16:creationId xmlns:a16="http://schemas.microsoft.com/office/drawing/2014/main" id="{756CD025-0BCA-4559-A801-8E356A7CEAE4}"/>
              </a:ext>
            </a:extLst>
          </p:cNvPr>
          <p:cNvSpPr>
            <a:spLocks noGrp="1"/>
          </p:cNvSpPr>
          <p:nvPr/>
        </p:nvSpPr>
        <p:spPr>
          <a:xfrm>
            <a:off x="8080526" y="2247026"/>
            <a:ext cx="3381309" cy="240000"/>
          </a:xfrm>
          <a:prstGeom prst="rect">
            <a:avLst/>
          </a:prstGeom>
          <a:noFill/>
        </p:spPr>
        <p:txBody>
          <a:bodyPr wrap="non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9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韓国</a:t>
            </a:r>
            <a:r>
              <a:rPr sz="10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   </a:t>
            </a:r>
            <a:r>
              <a:rPr sz="12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KOREA</a:t>
            </a:r>
            <a:endParaRPr sz="10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013" name="TextBox 1013">
            <a:extLst>
              <a:ext uri="{FF2B5EF4-FFF2-40B4-BE49-F238E27FC236}">
                <a16:creationId xmlns:a16="http://schemas.microsoft.com/office/drawing/2014/main" id="{B233A5E2-9AC6-49B5-B4A3-B0DD205E139C}"/>
              </a:ext>
            </a:extLst>
          </p:cNvPr>
          <p:cNvSpPr>
            <a:spLocks noGrp="1"/>
          </p:cNvSpPr>
          <p:nvPr/>
        </p:nvSpPr>
        <p:spPr>
          <a:xfrm>
            <a:off x="8080526" y="2574435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認知症101万人・MCI314万人</a:t>
            </a:r>
          </a:p>
        </p:txBody>
      </p:sp>
      <p:sp>
        <p:nvSpPr>
          <p:cNvPr id="1014" name="TextBox 1014">
            <a:extLst>
              <a:ext uri="{FF2B5EF4-FFF2-40B4-BE49-F238E27FC236}">
                <a16:creationId xmlns:a16="http://schemas.microsoft.com/office/drawing/2014/main" id="{DEE6B8E4-5EE1-4DCF-921A-6E0D3564395A}"/>
              </a:ext>
            </a:extLst>
          </p:cNvPr>
          <p:cNvSpPr>
            <a:spLocks noGrp="1"/>
          </p:cNvSpPr>
          <p:nvPr/>
        </p:nvSpPr>
        <p:spPr>
          <a:xfrm>
            <a:off x="8080526" y="2792360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政府の認知症管理予算1,849億ウォン</a:t>
            </a:r>
          </a:p>
        </p:txBody>
      </p:sp>
      <p:sp>
        <p:nvSpPr>
          <p:cNvPr id="1015" name="Shape 1015">
            <a:extLst>
              <a:ext uri="{FF2B5EF4-FFF2-40B4-BE49-F238E27FC236}">
                <a16:creationId xmlns:a16="http://schemas.microsoft.com/office/drawing/2014/main" id="{2FF8393F-5101-4891-BAE0-A3CEA9EB2EBF}"/>
              </a:ext>
            </a:extLst>
          </p:cNvPr>
          <p:cNvSpPr>
            <a:spLocks noGrp="1"/>
          </p:cNvSpPr>
          <p:nvPr/>
        </p:nvSpPr>
        <p:spPr>
          <a:xfrm>
            <a:off x="7860526" y="3212359"/>
            <a:ext cx="3641193" cy="98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16" name="Shape 1016">
            <a:extLst>
              <a:ext uri="{FF2B5EF4-FFF2-40B4-BE49-F238E27FC236}">
                <a16:creationId xmlns:a16="http://schemas.microsoft.com/office/drawing/2014/main" id="{3BC1CC3A-4457-45D4-AFF2-195B46F11317}"/>
              </a:ext>
            </a:extLst>
          </p:cNvPr>
          <p:cNvSpPr>
            <a:spLocks noGrp="1"/>
          </p:cNvSpPr>
          <p:nvPr/>
        </p:nvSpPr>
        <p:spPr>
          <a:xfrm>
            <a:off x="7860526" y="3332359"/>
            <a:ext cx="45719" cy="560000"/>
          </a:xfrm>
          <a:prstGeom prst="rect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17" name="TextBox 1017">
            <a:extLst>
              <a:ext uri="{FF2B5EF4-FFF2-40B4-BE49-F238E27FC236}">
                <a16:creationId xmlns:a16="http://schemas.microsoft.com/office/drawing/2014/main" id="{B1CD34F6-0DAE-43DF-9355-CDF2821A93EB}"/>
              </a:ext>
            </a:extLst>
          </p:cNvPr>
          <p:cNvSpPr>
            <a:spLocks noGrp="1"/>
          </p:cNvSpPr>
          <p:nvPr/>
        </p:nvSpPr>
        <p:spPr>
          <a:xfrm>
            <a:off x="8080526" y="3371149"/>
            <a:ext cx="3381309" cy="240000"/>
          </a:xfrm>
          <a:prstGeom prst="rect">
            <a:avLst/>
          </a:prstGeom>
          <a:noFill/>
        </p:spPr>
        <p:txBody>
          <a:bodyPr wrap="none" lIns="0" tIns="0" rIns="0" bIns="0" anchor="t">
            <a:normAutofit fontScale="92500" lnSpcReduction="20000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9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日本</a:t>
            </a:r>
            <a:r>
              <a:rPr sz="10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   </a:t>
            </a:r>
            <a:r>
              <a:rPr sz="12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JAPAN</a:t>
            </a:r>
            <a:endParaRPr sz="10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018" name="TextBox 1018">
            <a:extLst>
              <a:ext uri="{FF2B5EF4-FFF2-40B4-BE49-F238E27FC236}">
                <a16:creationId xmlns:a16="http://schemas.microsoft.com/office/drawing/2014/main" id="{64F19EB3-B7A9-4CE3-BD0F-4809EBAEE6C1}"/>
              </a:ext>
            </a:extLst>
          </p:cNvPr>
          <p:cNvSpPr>
            <a:spLocks noGrp="1"/>
          </p:cNvSpPr>
          <p:nvPr/>
        </p:nvSpPr>
        <p:spPr>
          <a:xfrm>
            <a:off x="8080526" y="3698558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認知症472万人・MCI564万人</a:t>
            </a:r>
          </a:p>
        </p:txBody>
      </p:sp>
      <p:sp>
        <p:nvSpPr>
          <p:cNvPr id="1019" name="TextBox 1019">
            <a:extLst>
              <a:ext uri="{FF2B5EF4-FFF2-40B4-BE49-F238E27FC236}">
                <a16:creationId xmlns:a16="http://schemas.microsoft.com/office/drawing/2014/main" id="{2BDA9694-E9B4-4CAB-9FC4-6830EFA968BC}"/>
              </a:ext>
            </a:extLst>
          </p:cNvPr>
          <p:cNvSpPr>
            <a:spLocks noGrp="1"/>
          </p:cNvSpPr>
          <p:nvPr/>
        </p:nvSpPr>
        <p:spPr>
          <a:xfrm>
            <a:off x="8080526" y="3916483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政府の認知症政策予算125億円（約1,085億ウォン）</a:t>
            </a:r>
          </a:p>
        </p:txBody>
      </p:sp>
      <p:sp>
        <p:nvSpPr>
          <p:cNvPr id="1020" name="Shape 1020">
            <a:extLst>
              <a:ext uri="{FF2B5EF4-FFF2-40B4-BE49-F238E27FC236}">
                <a16:creationId xmlns:a16="http://schemas.microsoft.com/office/drawing/2014/main" id="{70C2EE40-C311-4A86-9CE6-56C74D4E026E}"/>
              </a:ext>
            </a:extLst>
          </p:cNvPr>
          <p:cNvSpPr>
            <a:spLocks noGrp="1"/>
          </p:cNvSpPr>
          <p:nvPr/>
        </p:nvSpPr>
        <p:spPr>
          <a:xfrm>
            <a:off x="7860526" y="4811604"/>
            <a:ext cx="3641193" cy="868783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solidFill>
              <a:srgbClr val="A89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22" name="TextBox 1022">
            <a:extLst>
              <a:ext uri="{FF2B5EF4-FFF2-40B4-BE49-F238E27FC236}">
                <a16:creationId xmlns:a16="http://schemas.microsoft.com/office/drawing/2014/main" id="{AA3FBAE8-1428-4A7D-9AD9-12E8A8B544AF}"/>
              </a:ext>
            </a:extLst>
          </p:cNvPr>
          <p:cNvSpPr>
            <a:spLocks noGrp="1"/>
          </p:cNvSpPr>
          <p:nvPr/>
        </p:nvSpPr>
        <p:spPr>
          <a:xfrm>
            <a:off x="8080527" y="4877138"/>
            <a:ext cx="2716996" cy="731961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588"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韓</a:t>
            </a:r>
            <a:r>
              <a:rPr lang="ko-KR" altLang="en-US"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</a:t>
            </a:r>
            <a:r>
              <a:rPr sz="12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政府の認知症政策予算合計</a:t>
            </a:r>
            <a:endParaRPr sz="12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約2,934億ウォン</a:t>
            </a:r>
            <a:r>
              <a:rPr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規模の市場</a:t>
            </a:r>
          </a:p>
        </p:txBody>
      </p:sp>
      <p:sp>
        <p:nvSpPr>
          <p:cNvPr id="1033" name="Shape 1033">
            <a:extLst>
              <a:ext uri="{FF2B5EF4-FFF2-40B4-BE49-F238E27FC236}">
                <a16:creationId xmlns:a16="http://schemas.microsoft.com/office/drawing/2014/main" id="{E0BD1527-39CD-431B-809B-44C2FCBC6852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34" name="TextBox 1034">
            <a:extLst>
              <a:ext uri="{FF2B5EF4-FFF2-40B4-BE49-F238E27FC236}">
                <a16:creationId xmlns:a16="http://schemas.microsoft.com/office/drawing/2014/main" id="{2BBA7BE2-4605-477C-8E39-1BE55B8A1790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Labs・市場分析</a:t>
            </a:r>
          </a:p>
        </p:txBody>
      </p:sp>
      <p:sp>
        <p:nvSpPr>
          <p:cNvPr id="1035" name="TextBox 1035">
            <a:extLst>
              <a:ext uri="{FF2B5EF4-FFF2-40B4-BE49-F238E27FC236}">
                <a16:creationId xmlns:a16="http://schemas.microsoft.com/office/drawing/2014/main" id="{BD44E2C6-7CA7-4855-BE51-D4B57263355C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sp>
        <p:nvSpPr>
          <p:cNvPr id="1001" name="Shape 1001">
            <a:extLst>
              <a:ext uri="{FF2B5EF4-FFF2-40B4-BE49-F238E27FC236}">
                <a16:creationId xmlns:a16="http://schemas.microsoft.com/office/drawing/2014/main" id="{F09AB79B-EA23-4D85-9A6C-44E115BE771B}"/>
              </a:ext>
            </a:extLst>
          </p:cNvPr>
          <p:cNvSpPr>
            <a:spLocks noGrp="1"/>
          </p:cNvSpPr>
          <p:nvPr/>
        </p:nvSpPr>
        <p:spPr>
          <a:xfrm>
            <a:off x="1024432" y="1975928"/>
            <a:ext cx="1147335" cy="285083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韓国  KOREA</a:t>
            </a:r>
          </a:p>
        </p:txBody>
      </p:sp>
      <p:sp>
        <p:nvSpPr>
          <p:cNvPr id="1002" name="Shape 1002">
            <a:extLst>
              <a:ext uri="{FF2B5EF4-FFF2-40B4-BE49-F238E27FC236}">
                <a16:creationId xmlns:a16="http://schemas.microsoft.com/office/drawing/2014/main" id="{FE3084B6-BBDC-43C5-9EAB-09F7B6A3E3FA}"/>
              </a:ext>
            </a:extLst>
          </p:cNvPr>
          <p:cNvSpPr>
            <a:spLocks noGrp="1"/>
          </p:cNvSpPr>
          <p:nvPr/>
        </p:nvSpPr>
        <p:spPr>
          <a:xfrm>
            <a:off x="5821610" y="1975928"/>
            <a:ext cx="1147335" cy="285083"/>
          </a:xfrm>
          <a:prstGeom prst="roundRect">
            <a:avLst>
              <a:gd name="adj" fmla="val 50000"/>
            </a:avLst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日本  JAPAN</a:t>
            </a:r>
          </a:p>
        </p:txBody>
      </p:sp>
      <p:sp>
        <p:nvSpPr>
          <p:cNvPr id="1003" name="Tier 1003">
            <a:extLst>
              <a:ext uri="{FF2B5EF4-FFF2-40B4-BE49-F238E27FC236}">
                <a16:creationId xmlns:a16="http://schemas.microsoft.com/office/drawing/2014/main" id="{E3AE74F2-6776-4208-A235-A1BB2BAA9E1D}"/>
              </a:ext>
            </a:extLst>
          </p:cNvPr>
          <p:cNvSpPr>
            <a:spLocks noGrp="1"/>
          </p:cNvSpPr>
          <p:nvPr/>
        </p:nvSpPr>
        <p:spPr>
          <a:xfrm>
            <a:off x="3076272" y="2380131"/>
            <a:ext cx="1850000" cy="1080000"/>
          </a:xfrm>
          <a:prstGeom prst="trapezoid">
            <a:avLst>
              <a:gd name="adj" fmla="val 20833"/>
            </a:avLst>
          </a:prstGeom>
          <a:solidFill>
            <a:srgbClr val="F7EEE0"/>
          </a:solidFill>
          <a:ln w="9525">
            <a:solidFill>
              <a:srgbClr val="E0D4C1"/>
            </a:solidFill>
          </a:ln>
          <a:effectLst>
            <a:outerShdw blurRad="50800" dist="25400" dir="5400000" algn="t" rotWithShape="0">
              <a:srgbClr val="7A5A3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04" name="Shape 1004">
            <a:extLst>
              <a:ext uri="{FF2B5EF4-FFF2-40B4-BE49-F238E27FC236}">
                <a16:creationId xmlns:a16="http://schemas.microsoft.com/office/drawing/2014/main" id="{9DBD9FD6-15AD-476F-A17B-BCE21C4B72F0}"/>
              </a:ext>
            </a:extLst>
          </p:cNvPr>
          <p:cNvSpPr>
            <a:spLocks noGrp="1"/>
          </p:cNvSpPr>
          <p:nvPr/>
        </p:nvSpPr>
        <p:spPr>
          <a:xfrm>
            <a:off x="3401272" y="2450131"/>
            <a:ext cx="1200000" cy="220000"/>
          </a:xfrm>
          <a:prstGeom prst="roundRect">
            <a:avLst>
              <a:gd name="adj" fmla="val 50000"/>
            </a:avLst>
          </a:prstGeom>
          <a:solidFill>
            <a:srgbClr val="9C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TAM</a:t>
            </a:r>
          </a:p>
        </p:txBody>
      </p:sp>
      <p:sp>
        <p:nvSpPr>
          <p:cNvPr id="2" name="TextBox 1005">
            <a:extLst>
              <a:ext uri="{FF2B5EF4-FFF2-40B4-BE49-F238E27FC236}">
                <a16:creationId xmlns:a16="http://schemas.microsoft.com/office/drawing/2014/main" id="{3A581762-3FE2-4D23-AD7D-065AC2BEFB22}"/>
              </a:ext>
            </a:extLst>
          </p:cNvPr>
          <p:cNvSpPr>
            <a:spLocks noGrp="1"/>
          </p:cNvSpPr>
          <p:nvPr/>
        </p:nvSpPr>
        <p:spPr>
          <a:xfrm>
            <a:off x="3001272" y="2727715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全設置対象施設</a:t>
            </a:r>
          </a:p>
        </p:txBody>
      </p:sp>
      <p:sp>
        <p:nvSpPr>
          <p:cNvPr id="3" name="TextBox 1006">
            <a:extLst>
              <a:ext uri="{FF2B5EF4-FFF2-40B4-BE49-F238E27FC236}">
                <a16:creationId xmlns:a16="http://schemas.microsoft.com/office/drawing/2014/main" id="{8298E607-457D-410B-AFD9-DB9C7A00FDA3}"/>
              </a:ext>
            </a:extLst>
          </p:cNvPr>
          <p:cNvSpPr>
            <a:spLocks noGrp="1"/>
          </p:cNvSpPr>
          <p:nvPr/>
        </p:nvSpPr>
        <p:spPr>
          <a:xfrm>
            <a:off x="2801272" y="2900131"/>
            <a:ext cx="2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2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73,383</a:t>
            </a:r>
            <a:r>
              <a:rPr sz="13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4" name="TextBox 1007">
            <a:extLst>
              <a:ext uri="{FF2B5EF4-FFF2-40B4-BE49-F238E27FC236}">
                <a16:creationId xmlns:a16="http://schemas.microsoft.com/office/drawing/2014/main" id="{5E9C01B9-605D-44EE-B6C9-F040FBB8F84C}"/>
              </a:ext>
            </a:extLst>
          </p:cNvPr>
          <p:cNvSpPr>
            <a:spLocks noGrp="1"/>
          </p:cNvSpPr>
          <p:nvPr/>
        </p:nvSpPr>
        <p:spPr>
          <a:xfrm>
            <a:off x="3001272" y="3240131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約3,062億ウォン</a:t>
            </a:r>
          </a:p>
        </p:txBody>
      </p:sp>
      <p:sp>
        <p:nvSpPr>
          <p:cNvPr id="5" name="TextBox 1008">
            <a:extLst>
              <a:ext uri="{FF2B5EF4-FFF2-40B4-BE49-F238E27FC236}">
                <a16:creationId xmlns:a16="http://schemas.microsoft.com/office/drawing/2014/main" id="{10F5AC67-A5FC-485A-8680-85FAA4E15CCD}"/>
              </a:ext>
            </a:extLst>
          </p:cNvPr>
          <p:cNvSpPr>
            <a:spLocks noGrp="1"/>
          </p:cNvSpPr>
          <p:nvPr/>
        </p:nvSpPr>
        <p:spPr>
          <a:xfrm>
            <a:off x="1017925" y="2624963"/>
            <a:ext cx="1250000" cy="330000"/>
          </a:xfrm>
          <a:prstGeom prst="rect">
            <a:avLst/>
          </a:prstGeom>
          <a:noFill/>
        </p:spPr>
        <p:txBody>
          <a:bodyPr wrap="non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12,669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1009" name="TextBox 1009">
            <a:extLst>
              <a:ext uri="{FF2B5EF4-FFF2-40B4-BE49-F238E27FC236}">
                <a16:creationId xmlns:a16="http://schemas.microsoft.com/office/drawing/2014/main" id="{A342B7FA-B8D2-404E-911A-313E022C41E8}"/>
              </a:ext>
            </a:extLst>
          </p:cNvPr>
          <p:cNvSpPr>
            <a:spLocks noGrp="1"/>
          </p:cNvSpPr>
          <p:nvPr/>
        </p:nvSpPr>
        <p:spPr>
          <a:xfrm>
            <a:off x="1017925" y="2988923"/>
            <a:ext cx="125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約532億ウォン</a:t>
            </a:r>
          </a:p>
        </p:txBody>
      </p:sp>
      <p:cxnSp>
        <p:nvCxnSpPr>
          <p:cNvPr id="1237" name="Dotted 1010"/>
          <p:cNvCxnSpPr>
            <a:endCxn id="7" idx="6"/>
          </p:cNvCxnSpPr>
          <p:nvPr/>
        </p:nvCxnSpPr>
        <p:spPr>
          <a:xfrm>
            <a:off x="2272065" y="2920131"/>
            <a:ext cx="926707" cy="0"/>
          </a:xfrm>
          <a:prstGeom prst="line">
            <a:avLst/>
          </a:prstGeom>
          <a:ln w="19050">
            <a:solidFill>
              <a:srgbClr val="9C8B77"/>
            </a:solidFill>
            <a:prstDash val="sysDot"/>
            <a:round/>
          </a:ln>
        </p:spPr>
      </p:cxnSp>
      <p:sp>
        <p:nvSpPr>
          <p:cNvPr id="7" name="Shape 1011">
            <a:extLst>
              <a:ext uri="{FF2B5EF4-FFF2-40B4-BE49-F238E27FC236}">
                <a16:creationId xmlns:a16="http://schemas.microsoft.com/office/drawing/2014/main" id="{3601A62E-4468-489A-9A23-047BD89498A6}"/>
              </a:ext>
            </a:extLst>
          </p:cNvPr>
          <p:cNvSpPr>
            <a:spLocks noGrp="1"/>
          </p:cNvSpPr>
          <p:nvPr/>
        </p:nvSpPr>
        <p:spPr>
          <a:xfrm>
            <a:off x="3098772" y="2870131"/>
            <a:ext cx="100000" cy="100000"/>
          </a:xfrm>
          <a:prstGeom prst="ellipse">
            <a:avLst/>
          </a:prstGeom>
          <a:solidFill>
            <a:srgbClr val="9C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1012">
            <a:extLst>
              <a:ext uri="{FF2B5EF4-FFF2-40B4-BE49-F238E27FC236}">
                <a16:creationId xmlns:a16="http://schemas.microsoft.com/office/drawing/2014/main" id="{95FA9143-96C4-4D46-94A8-CFAF989CD68C}"/>
              </a:ext>
            </a:extLst>
          </p:cNvPr>
          <p:cNvSpPr>
            <a:spLocks noGrp="1"/>
          </p:cNvSpPr>
          <p:nvPr/>
        </p:nvSpPr>
        <p:spPr>
          <a:xfrm>
            <a:off x="5839507" y="2624963"/>
            <a:ext cx="1250000" cy="330000"/>
          </a:xfrm>
          <a:prstGeom prst="rect">
            <a:avLst/>
          </a:prstGeom>
          <a:noFill/>
        </p:spPr>
        <p:txBody>
          <a:bodyPr wrap="non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0" dirty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60,714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9" name="TextBox 1013">
            <a:extLst>
              <a:ext uri="{FF2B5EF4-FFF2-40B4-BE49-F238E27FC236}">
                <a16:creationId xmlns:a16="http://schemas.microsoft.com/office/drawing/2014/main" id="{988AA135-37C4-42E9-B964-8FF0D5828652}"/>
              </a:ext>
            </a:extLst>
          </p:cNvPr>
          <p:cNvSpPr>
            <a:spLocks noGrp="1"/>
          </p:cNvSpPr>
          <p:nvPr/>
        </p:nvSpPr>
        <p:spPr>
          <a:xfrm>
            <a:off x="5839507" y="2988923"/>
            <a:ext cx="125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約2,530億ウォン</a:t>
            </a:r>
          </a:p>
        </p:txBody>
      </p:sp>
      <p:sp>
        <p:nvSpPr>
          <p:cNvPr id="11" name="Shape 1015">
            <a:extLst>
              <a:ext uri="{FF2B5EF4-FFF2-40B4-BE49-F238E27FC236}">
                <a16:creationId xmlns:a16="http://schemas.microsoft.com/office/drawing/2014/main" id="{FE6FB695-FE4E-464B-8FFD-CC3E7FDF28B1}"/>
              </a:ext>
            </a:extLst>
          </p:cNvPr>
          <p:cNvSpPr>
            <a:spLocks noGrp="1"/>
          </p:cNvSpPr>
          <p:nvPr/>
        </p:nvSpPr>
        <p:spPr>
          <a:xfrm>
            <a:off x="4803772" y="2870131"/>
            <a:ext cx="100000" cy="100000"/>
          </a:xfrm>
          <a:prstGeom prst="ellipse">
            <a:avLst/>
          </a:prstGeom>
          <a:solidFill>
            <a:srgbClr val="9C8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Tier 1016">
            <a:extLst>
              <a:ext uri="{FF2B5EF4-FFF2-40B4-BE49-F238E27FC236}">
                <a16:creationId xmlns:a16="http://schemas.microsoft.com/office/drawing/2014/main" id="{7FC4390E-1212-4F95-83E3-32C7174BF887}"/>
              </a:ext>
            </a:extLst>
          </p:cNvPr>
          <p:cNvSpPr>
            <a:spLocks noGrp="1"/>
          </p:cNvSpPr>
          <p:nvPr/>
        </p:nvSpPr>
        <p:spPr>
          <a:xfrm>
            <a:off x="2851272" y="3540991"/>
            <a:ext cx="2300000" cy="1080000"/>
          </a:xfrm>
          <a:prstGeom prst="trapezoid">
            <a:avLst>
              <a:gd name="adj" fmla="val 20833"/>
            </a:avLst>
          </a:prstGeom>
          <a:solidFill>
            <a:srgbClr val="E8F2E6"/>
          </a:solidFill>
          <a:ln w="9525">
            <a:solidFill>
              <a:srgbClr val="E0D4C1"/>
            </a:solidFill>
          </a:ln>
          <a:effectLst>
            <a:outerShdw blurRad="50800" dist="25400" dir="5400000" algn="t" rotWithShape="0">
              <a:srgbClr val="7A5A3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3" name="Shape 1017">
            <a:extLst>
              <a:ext uri="{FF2B5EF4-FFF2-40B4-BE49-F238E27FC236}">
                <a16:creationId xmlns:a16="http://schemas.microsoft.com/office/drawing/2014/main" id="{4373C105-78E0-4D27-B352-6FD0EFA96B19}"/>
              </a:ext>
            </a:extLst>
          </p:cNvPr>
          <p:cNvSpPr>
            <a:spLocks noGrp="1"/>
          </p:cNvSpPr>
          <p:nvPr/>
        </p:nvSpPr>
        <p:spPr>
          <a:xfrm>
            <a:off x="3401272" y="3610991"/>
            <a:ext cx="1200000" cy="220000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SAM</a:t>
            </a:r>
          </a:p>
        </p:txBody>
      </p:sp>
      <p:sp>
        <p:nvSpPr>
          <p:cNvPr id="14" name="TextBox 1018">
            <a:extLst>
              <a:ext uri="{FF2B5EF4-FFF2-40B4-BE49-F238E27FC236}">
                <a16:creationId xmlns:a16="http://schemas.microsoft.com/office/drawing/2014/main" id="{8C33587C-F0B2-40B6-ABB1-C34205997AAD}"/>
              </a:ext>
            </a:extLst>
          </p:cNvPr>
          <p:cNvSpPr>
            <a:spLocks noGrp="1"/>
          </p:cNvSpPr>
          <p:nvPr/>
        </p:nvSpPr>
        <p:spPr>
          <a:xfrm>
            <a:off x="3001272" y="3888575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初期重点対象施設</a:t>
            </a:r>
            <a:endParaRPr sz="10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5" name="TextBox 1019">
            <a:extLst>
              <a:ext uri="{FF2B5EF4-FFF2-40B4-BE49-F238E27FC236}">
                <a16:creationId xmlns:a16="http://schemas.microsoft.com/office/drawing/2014/main" id="{051D7FB3-4E04-495E-9768-03B96959AC4D}"/>
              </a:ext>
            </a:extLst>
          </p:cNvPr>
          <p:cNvSpPr>
            <a:spLocks noGrp="1"/>
          </p:cNvSpPr>
          <p:nvPr/>
        </p:nvSpPr>
        <p:spPr>
          <a:xfrm>
            <a:off x="2801272" y="4060991"/>
            <a:ext cx="2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2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39,037</a:t>
            </a:r>
            <a:r>
              <a:rPr sz="13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16" name="TextBox 1020">
            <a:extLst>
              <a:ext uri="{FF2B5EF4-FFF2-40B4-BE49-F238E27FC236}">
                <a16:creationId xmlns:a16="http://schemas.microsoft.com/office/drawing/2014/main" id="{006D2968-337B-4521-8ABA-E3C50297D17E}"/>
              </a:ext>
            </a:extLst>
          </p:cNvPr>
          <p:cNvSpPr>
            <a:spLocks noGrp="1"/>
          </p:cNvSpPr>
          <p:nvPr/>
        </p:nvSpPr>
        <p:spPr>
          <a:xfrm>
            <a:off x="3001272" y="4400991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約1,629億ウォン</a:t>
            </a:r>
          </a:p>
        </p:txBody>
      </p:sp>
      <p:sp>
        <p:nvSpPr>
          <p:cNvPr id="17" name="TextBox 1021">
            <a:extLst>
              <a:ext uri="{FF2B5EF4-FFF2-40B4-BE49-F238E27FC236}">
                <a16:creationId xmlns:a16="http://schemas.microsoft.com/office/drawing/2014/main" id="{DA932E0D-03EA-45C7-B991-AEC8DB5DE82D}"/>
              </a:ext>
            </a:extLst>
          </p:cNvPr>
          <p:cNvSpPr>
            <a:spLocks noGrp="1"/>
          </p:cNvSpPr>
          <p:nvPr/>
        </p:nvSpPr>
        <p:spPr>
          <a:xfrm>
            <a:off x="1017925" y="3785823"/>
            <a:ext cx="1250000" cy="330000"/>
          </a:xfrm>
          <a:prstGeom prst="rect">
            <a:avLst/>
          </a:prstGeom>
          <a:noFill/>
        </p:spPr>
        <p:txBody>
          <a:bodyPr wrap="non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0" dirty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6,308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18" name="TextBox 1022">
            <a:extLst>
              <a:ext uri="{FF2B5EF4-FFF2-40B4-BE49-F238E27FC236}">
                <a16:creationId xmlns:a16="http://schemas.microsoft.com/office/drawing/2014/main" id="{DF128852-0C7C-4CBC-BDE7-9A2C76BAE431}"/>
              </a:ext>
            </a:extLst>
          </p:cNvPr>
          <p:cNvSpPr>
            <a:spLocks noGrp="1"/>
          </p:cNvSpPr>
          <p:nvPr/>
        </p:nvSpPr>
        <p:spPr>
          <a:xfrm>
            <a:off x="1017925" y="4149783"/>
            <a:ext cx="125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約265億ウォン</a:t>
            </a:r>
          </a:p>
        </p:txBody>
      </p:sp>
      <p:cxnSp>
        <p:nvCxnSpPr>
          <p:cNvPr id="1249" name="Dotted 1023"/>
          <p:cNvCxnSpPr>
            <a:endCxn id="20" idx="2"/>
          </p:cNvCxnSpPr>
          <p:nvPr/>
        </p:nvCxnSpPr>
        <p:spPr>
          <a:xfrm>
            <a:off x="2272065" y="4080991"/>
            <a:ext cx="601707" cy="0"/>
          </a:xfrm>
          <a:prstGeom prst="line">
            <a:avLst/>
          </a:prstGeom>
          <a:ln w="19050">
            <a:solidFill>
              <a:srgbClr val="5E9A6A"/>
            </a:solidFill>
            <a:prstDash val="sysDot"/>
            <a:round/>
          </a:ln>
        </p:spPr>
      </p:cxnSp>
      <p:sp>
        <p:nvSpPr>
          <p:cNvPr id="20" name="Shape 1024">
            <a:extLst>
              <a:ext uri="{FF2B5EF4-FFF2-40B4-BE49-F238E27FC236}">
                <a16:creationId xmlns:a16="http://schemas.microsoft.com/office/drawing/2014/main" id="{964F3220-544E-4B0F-8CFC-80681B72B12A}"/>
              </a:ext>
            </a:extLst>
          </p:cNvPr>
          <p:cNvSpPr>
            <a:spLocks noGrp="1"/>
          </p:cNvSpPr>
          <p:nvPr/>
        </p:nvSpPr>
        <p:spPr>
          <a:xfrm>
            <a:off x="2873772" y="4030991"/>
            <a:ext cx="100000" cy="10000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1025">
            <a:extLst>
              <a:ext uri="{FF2B5EF4-FFF2-40B4-BE49-F238E27FC236}">
                <a16:creationId xmlns:a16="http://schemas.microsoft.com/office/drawing/2014/main" id="{213050F7-1B18-45F6-B70F-9A612911A7ED}"/>
              </a:ext>
            </a:extLst>
          </p:cNvPr>
          <p:cNvSpPr>
            <a:spLocks noGrp="1"/>
          </p:cNvSpPr>
          <p:nvPr/>
        </p:nvSpPr>
        <p:spPr>
          <a:xfrm>
            <a:off x="5839507" y="3785823"/>
            <a:ext cx="1250000" cy="330000"/>
          </a:xfrm>
          <a:prstGeom prst="rect">
            <a:avLst/>
          </a:prstGeom>
          <a:noFill/>
        </p:spPr>
        <p:txBody>
          <a:bodyPr wrap="non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0" dirty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32,729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22" name="TextBox 1026">
            <a:extLst>
              <a:ext uri="{FF2B5EF4-FFF2-40B4-BE49-F238E27FC236}">
                <a16:creationId xmlns:a16="http://schemas.microsoft.com/office/drawing/2014/main" id="{94857A4F-A9E7-4DCB-9D16-CBF5D4ED4054}"/>
              </a:ext>
            </a:extLst>
          </p:cNvPr>
          <p:cNvSpPr>
            <a:spLocks noGrp="1"/>
          </p:cNvSpPr>
          <p:nvPr/>
        </p:nvSpPr>
        <p:spPr>
          <a:xfrm>
            <a:off x="5839507" y="4149783"/>
            <a:ext cx="125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約1,364億ウォン</a:t>
            </a:r>
          </a:p>
        </p:txBody>
      </p:sp>
      <p:sp>
        <p:nvSpPr>
          <p:cNvPr id="24" name="Shape 1028">
            <a:extLst>
              <a:ext uri="{FF2B5EF4-FFF2-40B4-BE49-F238E27FC236}">
                <a16:creationId xmlns:a16="http://schemas.microsoft.com/office/drawing/2014/main" id="{1DDDD048-9E76-4395-82AE-9BAD7F46099B}"/>
              </a:ext>
            </a:extLst>
          </p:cNvPr>
          <p:cNvSpPr>
            <a:spLocks noGrp="1"/>
          </p:cNvSpPr>
          <p:nvPr/>
        </p:nvSpPr>
        <p:spPr>
          <a:xfrm>
            <a:off x="5028772" y="4030991"/>
            <a:ext cx="100000" cy="10000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5" name="Tier 1029">
            <a:extLst>
              <a:ext uri="{FF2B5EF4-FFF2-40B4-BE49-F238E27FC236}">
                <a16:creationId xmlns:a16="http://schemas.microsoft.com/office/drawing/2014/main" id="{D5BAE713-B5D5-4110-8E2F-9D187140665C}"/>
              </a:ext>
            </a:extLst>
          </p:cNvPr>
          <p:cNvSpPr>
            <a:spLocks noGrp="1"/>
          </p:cNvSpPr>
          <p:nvPr/>
        </p:nvSpPr>
        <p:spPr>
          <a:xfrm>
            <a:off x="2626272" y="4701850"/>
            <a:ext cx="2750000" cy="1079999"/>
          </a:xfrm>
          <a:prstGeom prst="trapezoid">
            <a:avLst>
              <a:gd name="adj" fmla="val 20833"/>
            </a:avLst>
          </a:prstGeom>
          <a:solidFill>
            <a:srgbClr val="FDE4DC"/>
          </a:solidFill>
          <a:ln w="9525">
            <a:solidFill>
              <a:srgbClr val="E0D4C1"/>
            </a:solidFill>
          </a:ln>
          <a:effectLst>
            <a:outerShdw blurRad="50800" dist="25400" dir="5400000" algn="t" rotWithShape="0">
              <a:srgbClr val="7A5A3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6" name="Shape 1030">
            <a:extLst>
              <a:ext uri="{FF2B5EF4-FFF2-40B4-BE49-F238E27FC236}">
                <a16:creationId xmlns:a16="http://schemas.microsoft.com/office/drawing/2014/main" id="{99CFFBC1-8AED-44FA-8010-F1B813593568}"/>
              </a:ext>
            </a:extLst>
          </p:cNvPr>
          <p:cNvSpPr>
            <a:spLocks noGrp="1"/>
          </p:cNvSpPr>
          <p:nvPr/>
        </p:nvSpPr>
        <p:spPr>
          <a:xfrm>
            <a:off x="3401272" y="4771851"/>
            <a:ext cx="1200000" cy="22000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SOM・3年目標</a:t>
            </a:r>
          </a:p>
        </p:txBody>
      </p:sp>
      <p:sp>
        <p:nvSpPr>
          <p:cNvPr id="27" name="TextBox 1031">
            <a:extLst>
              <a:ext uri="{FF2B5EF4-FFF2-40B4-BE49-F238E27FC236}">
                <a16:creationId xmlns:a16="http://schemas.microsoft.com/office/drawing/2014/main" id="{C946A975-FC81-4989-BC0D-4807731BCF5D}"/>
              </a:ext>
            </a:extLst>
          </p:cNvPr>
          <p:cNvSpPr>
            <a:spLocks noGrp="1"/>
          </p:cNvSpPr>
          <p:nvPr/>
        </p:nvSpPr>
        <p:spPr>
          <a:xfrm>
            <a:off x="3001272" y="5049435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3年以内の獲得目標</a:t>
            </a:r>
          </a:p>
        </p:txBody>
      </p:sp>
      <p:sp>
        <p:nvSpPr>
          <p:cNvPr id="28" name="TextBox 1032">
            <a:extLst>
              <a:ext uri="{FF2B5EF4-FFF2-40B4-BE49-F238E27FC236}">
                <a16:creationId xmlns:a16="http://schemas.microsoft.com/office/drawing/2014/main" id="{138A2B9F-8499-416C-AD7A-A0D69C041F44}"/>
              </a:ext>
            </a:extLst>
          </p:cNvPr>
          <p:cNvSpPr>
            <a:spLocks noGrp="1"/>
          </p:cNvSpPr>
          <p:nvPr/>
        </p:nvSpPr>
        <p:spPr>
          <a:xfrm>
            <a:off x="2801272" y="5221851"/>
            <a:ext cx="2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2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500</a:t>
            </a:r>
            <a:r>
              <a:rPr sz="13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29" name="TextBox 1033">
            <a:extLst>
              <a:ext uri="{FF2B5EF4-FFF2-40B4-BE49-F238E27FC236}">
                <a16:creationId xmlns:a16="http://schemas.microsoft.com/office/drawing/2014/main" id="{2497EC47-DE13-46CD-A059-AF47FA99D5B3}"/>
              </a:ext>
            </a:extLst>
          </p:cNvPr>
          <p:cNvSpPr>
            <a:spLocks noGrp="1"/>
          </p:cNvSpPr>
          <p:nvPr/>
        </p:nvSpPr>
        <p:spPr>
          <a:xfrm>
            <a:off x="3001272" y="5561851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SAMの約1.3%</a:t>
            </a:r>
          </a:p>
        </p:txBody>
      </p:sp>
      <p:sp>
        <p:nvSpPr>
          <p:cNvPr id="30" name="TextBox 1034">
            <a:extLst>
              <a:ext uri="{FF2B5EF4-FFF2-40B4-BE49-F238E27FC236}">
                <a16:creationId xmlns:a16="http://schemas.microsoft.com/office/drawing/2014/main" id="{74AD2EA0-DC4D-4E49-A3B4-A59CD9E6931A}"/>
              </a:ext>
            </a:extLst>
          </p:cNvPr>
          <p:cNvSpPr>
            <a:spLocks noGrp="1"/>
          </p:cNvSpPr>
          <p:nvPr/>
        </p:nvSpPr>
        <p:spPr>
          <a:xfrm>
            <a:off x="1017925" y="4946683"/>
            <a:ext cx="1250000" cy="330000"/>
          </a:xfrm>
          <a:prstGeom prst="rect">
            <a:avLst/>
          </a:prstGeom>
          <a:noFill/>
        </p:spPr>
        <p:txBody>
          <a:bodyPr wrap="non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lang="en-US" altLang="ko-KR" sz="2400" b="0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200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31" name="TextBox 1035">
            <a:extLst>
              <a:ext uri="{FF2B5EF4-FFF2-40B4-BE49-F238E27FC236}">
                <a16:creationId xmlns:a16="http://schemas.microsoft.com/office/drawing/2014/main" id="{9BA4683C-294C-44FB-AC81-3791D3832521}"/>
              </a:ext>
            </a:extLst>
          </p:cNvPr>
          <p:cNvSpPr>
            <a:spLocks noGrp="1"/>
          </p:cNvSpPr>
          <p:nvPr/>
        </p:nvSpPr>
        <p:spPr>
          <a:xfrm>
            <a:off x="1017925" y="5310643"/>
            <a:ext cx="125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約8.4億ウォン</a:t>
            </a:r>
          </a:p>
        </p:txBody>
      </p:sp>
      <p:cxnSp>
        <p:nvCxnSpPr>
          <p:cNvPr id="1261" name="Dotted 1036"/>
          <p:cNvCxnSpPr>
            <a:endCxn id="1037" idx="6"/>
          </p:cNvCxnSpPr>
          <p:nvPr/>
        </p:nvCxnSpPr>
        <p:spPr>
          <a:xfrm>
            <a:off x="2267925" y="5241851"/>
            <a:ext cx="480847" cy="0"/>
          </a:xfrm>
          <a:prstGeom prst="line">
            <a:avLst/>
          </a:prstGeom>
          <a:ln w="19050">
            <a:solidFill>
              <a:srgbClr val="F57265"/>
            </a:solidFill>
            <a:prstDash val="sysDot"/>
            <a:round/>
          </a:ln>
        </p:spPr>
      </p:cxnSp>
      <p:sp>
        <p:nvSpPr>
          <p:cNvPr id="1037" name="Shape 1037">
            <a:extLst>
              <a:ext uri="{FF2B5EF4-FFF2-40B4-BE49-F238E27FC236}">
                <a16:creationId xmlns:a16="http://schemas.microsoft.com/office/drawing/2014/main" id="{299AB2E9-381A-4E39-BB8C-261E9F28763B}"/>
              </a:ext>
            </a:extLst>
          </p:cNvPr>
          <p:cNvSpPr>
            <a:spLocks noGrp="1"/>
          </p:cNvSpPr>
          <p:nvPr/>
        </p:nvSpPr>
        <p:spPr>
          <a:xfrm>
            <a:off x="2648772" y="5191851"/>
            <a:ext cx="100000" cy="10000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38" name="TextBox 1038">
            <a:extLst>
              <a:ext uri="{FF2B5EF4-FFF2-40B4-BE49-F238E27FC236}">
                <a16:creationId xmlns:a16="http://schemas.microsoft.com/office/drawing/2014/main" id="{0DB6FFA2-2A74-4711-A958-0224C26EFBCB}"/>
              </a:ext>
            </a:extLst>
          </p:cNvPr>
          <p:cNvSpPr>
            <a:spLocks noGrp="1"/>
          </p:cNvSpPr>
          <p:nvPr/>
        </p:nvSpPr>
        <p:spPr>
          <a:xfrm>
            <a:off x="5839507" y="4946683"/>
            <a:ext cx="1250000" cy="330000"/>
          </a:xfrm>
          <a:prstGeom prst="rect">
            <a:avLst/>
          </a:prstGeom>
          <a:noFill/>
        </p:spPr>
        <p:txBody>
          <a:bodyPr wrap="none" lIns="0" tIns="0" rIns="0" bIns="0" anchor="t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400" b="0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300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</a:t>
            </a:r>
          </a:p>
        </p:txBody>
      </p:sp>
      <p:sp>
        <p:nvSpPr>
          <p:cNvPr id="1039" name="TextBox 1039">
            <a:extLst>
              <a:ext uri="{FF2B5EF4-FFF2-40B4-BE49-F238E27FC236}">
                <a16:creationId xmlns:a16="http://schemas.microsoft.com/office/drawing/2014/main" id="{7A4EB5B8-2AC6-43E4-BC78-040BAF581B22}"/>
              </a:ext>
            </a:extLst>
          </p:cNvPr>
          <p:cNvSpPr>
            <a:spLocks noGrp="1"/>
          </p:cNvSpPr>
          <p:nvPr/>
        </p:nvSpPr>
        <p:spPr>
          <a:xfrm>
            <a:off x="5839507" y="5310643"/>
            <a:ext cx="1250000" cy="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約12.6億ウォン</a:t>
            </a:r>
          </a:p>
        </p:txBody>
      </p:sp>
      <p:sp>
        <p:nvSpPr>
          <p:cNvPr id="1040" name="Dotted 1040">
            <a:extLst>
              <a:ext uri="{FF2B5EF4-FFF2-40B4-BE49-F238E27FC236}">
                <a16:creationId xmlns:a16="http://schemas.microsoft.com/office/drawing/2014/main" id="{DA26380C-1A96-4CAD-98DE-B2C7EF4A6418}"/>
              </a:ext>
            </a:extLst>
          </p:cNvPr>
          <p:cNvSpPr>
            <a:spLocks noGrp="1"/>
          </p:cNvSpPr>
          <p:nvPr/>
        </p:nvSpPr>
        <p:spPr>
          <a:xfrm>
            <a:off x="5303772" y="5241851"/>
            <a:ext cx="47500" cy="0"/>
          </a:xfrm>
          <a:prstGeom prst="line">
            <a:avLst/>
          </a:prstGeom>
          <a:ln w="19050">
            <a:solidFill>
              <a:srgbClr val="F57265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1" name="Shape 1041">
            <a:extLst>
              <a:ext uri="{FF2B5EF4-FFF2-40B4-BE49-F238E27FC236}">
                <a16:creationId xmlns:a16="http://schemas.microsoft.com/office/drawing/2014/main" id="{22710813-BEC0-4FF4-B5E9-B5CEEDE7BA06}"/>
              </a:ext>
            </a:extLst>
          </p:cNvPr>
          <p:cNvSpPr>
            <a:spLocks noGrp="1"/>
          </p:cNvSpPr>
          <p:nvPr/>
        </p:nvSpPr>
        <p:spPr>
          <a:xfrm>
            <a:off x="5253772" y="5191851"/>
            <a:ext cx="100000" cy="10000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9" name="Dotted 1036">
            <a:extLst>
              <a:ext uri="{FF2B5EF4-FFF2-40B4-BE49-F238E27FC236}">
                <a16:creationId xmlns:a16="http://schemas.microsoft.com/office/drawing/2014/main" id="{FA1E2E36-10BB-4B50-8794-463A99069EB5}"/>
              </a:ext>
            </a:extLst>
          </p:cNvPr>
          <p:cNvSpPr>
            <a:spLocks noGrp="1"/>
          </p:cNvSpPr>
          <p:nvPr/>
        </p:nvSpPr>
        <p:spPr>
          <a:xfrm>
            <a:off x="5253772" y="5241851"/>
            <a:ext cx="585735" cy="0"/>
          </a:xfrm>
          <a:prstGeom prst="line">
            <a:avLst/>
          </a:prstGeom>
          <a:ln w="19050">
            <a:solidFill>
              <a:srgbClr val="F57265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Dotted 1023">
            <a:extLst>
              <a:ext uri="{FF2B5EF4-FFF2-40B4-BE49-F238E27FC236}">
                <a16:creationId xmlns:a16="http://schemas.microsoft.com/office/drawing/2014/main" id="{B76BFE6B-A1E2-4B9E-8C4D-4D67B79852E5}"/>
              </a:ext>
            </a:extLst>
          </p:cNvPr>
          <p:cNvSpPr>
            <a:spLocks noGrp="1"/>
          </p:cNvSpPr>
          <p:nvPr/>
        </p:nvSpPr>
        <p:spPr>
          <a:xfrm>
            <a:off x="5128772" y="4080991"/>
            <a:ext cx="601707" cy="0"/>
          </a:xfrm>
          <a:prstGeom prst="line">
            <a:avLst/>
          </a:prstGeom>
          <a:ln w="19050">
            <a:solidFill>
              <a:srgbClr val="5E9A6A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Dotted 1010">
            <a:extLst>
              <a:ext uri="{FF2B5EF4-FFF2-40B4-BE49-F238E27FC236}">
                <a16:creationId xmlns:a16="http://schemas.microsoft.com/office/drawing/2014/main" id="{CB6B3D8A-1ED7-41E7-BEBF-09C22E8636D4}"/>
              </a:ext>
            </a:extLst>
          </p:cNvPr>
          <p:cNvSpPr>
            <a:spLocks noGrp="1"/>
          </p:cNvSpPr>
          <p:nvPr/>
        </p:nvSpPr>
        <p:spPr>
          <a:xfrm>
            <a:off x="4840418" y="2920131"/>
            <a:ext cx="926707" cy="0"/>
          </a:xfrm>
          <a:prstGeom prst="line">
            <a:avLst/>
          </a:prstGeom>
          <a:ln w="19050">
            <a:solidFill>
              <a:srgbClr val="9C8B77"/>
            </a:solidFill>
            <a:prstDash val="sysDot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09F8D5ED-9D34-91B1-5C03-E3C179D65AB6}"/>
              </a:ext>
            </a:extLst>
          </p:cNvPr>
          <p:cNvSpPr>
            <a:spLocks noGrp="1"/>
          </p:cNvSpPr>
          <p:nvPr/>
        </p:nvSpPr>
        <p:spPr>
          <a:xfrm rot="10800000">
            <a:off x="9556988" y="4420900"/>
            <a:ext cx="248268" cy="138635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1036" name="TextBox 1036">
            <a:extLst>
              <a:ext uri="{FF2B5EF4-FFF2-40B4-BE49-F238E27FC236}">
                <a16:creationId xmlns:a16="http://schemas.microsoft.com/office/drawing/2014/main" id="{AE7C82A4-9877-4EA8-A310-A082268D1A05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BUDGET・予算・事業化</a:t>
            </a:r>
          </a:p>
        </p:txBody>
      </p:sp>
      <p:sp>
        <p:nvSpPr>
          <p:cNvPr id="1037" name="TextBox 1037">
            <a:extLst>
              <a:ext uri="{FF2B5EF4-FFF2-40B4-BE49-F238E27FC236}">
                <a16:creationId xmlns:a16="http://schemas.microsoft.com/office/drawing/2014/main" id="{4D75294E-89B6-4521-BF51-D3771C804005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初期資金</a:t>
            </a:r>
            <a:r>
              <a:rPr sz="315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2,000万ウォン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で試作品10台まで完成させます</a:t>
            </a:r>
          </a:p>
        </p:txBody>
      </p:sp>
      <p:sp>
        <p:nvSpPr>
          <p:cNvPr id="1038" name="TextBox 1038">
            <a:extLst>
              <a:ext uri="{FF2B5EF4-FFF2-40B4-BE49-F238E27FC236}">
                <a16:creationId xmlns:a16="http://schemas.microsoft.com/office/drawing/2014/main" id="{2D322746-49E3-4D9D-91B0-B4B67C008E54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軍貯蓄・大会賞金で自己調達・忠清圏大会賞金の一部は再投資完了・全工程の内製で外注費0ウォン</a:t>
            </a:r>
          </a:p>
        </p:txBody>
      </p:sp>
      <p:sp>
        <p:nvSpPr>
          <p:cNvPr id="1039" name="Shape 1039">
            <a:extLst>
              <a:ext uri="{FF2B5EF4-FFF2-40B4-BE49-F238E27FC236}">
                <a16:creationId xmlns:a16="http://schemas.microsoft.com/office/drawing/2014/main" id="{AB53CEED-A157-4D7F-8DC0-32444AFA6040}"/>
              </a:ext>
            </a:extLst>
          </p:cNvPr>
          <p:cNvSpPr>
            <a:spLocks noGrp="1"/>
          </p:cNvSpPr>
          <p:nvPr/>
        </p:nvSpPr>
        <p:spPr>
          <a:xfrm>
            <a:off x="594360" y="1675859"/>
            <a:ext cx="6560000" cy="30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40" name="Shape 1040">
            <a:extLst>
              <a:ext uri="{FF2B5EF4-FFF2-40B4-BE49-F238E27FC236}">
                <a16:creationId xmlns:a16="http://schemas.microsoft.com/office/drawing/2014/main" id="{20BC8725-8DC8-476D-A88F-F2ABC692E93D}"/>
              </a:ext>
            </a:extLst>
          </p:cNvPr>
          <p:cNvSpPr>
            <a:spLocks noGrp="1"/>
          </p:cNvSpPr>
          <p:nvPr/>
        </p:nvSpPr>
        <p:spPr>
          <a:xfrm>
            <a:off x="594360" y="1915859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41" name="Shape 1041">
            <a:extLst>
              <a:ext uri="{FF2B5EF4-FFF2-40B4-BE49-F238E27FC236}">
                <a16:creationId xmlns:a16="http://schemas.microsoft.com/office/drawing/2014/main" id="{233E78DD-3A62-4FDA-B4B3-D6AA43921CDE}"/>
              </a:ext>
            </a:extLst>
          </p:cNvPr>
          <p:cNvSpPr>
            <a:spLocks noGrp="1"/>
          </p:cNvSpPr>
          <p:nvPr/>
        </p:nvSpPr>
        <p:spPr>
          <a:xfrm>
            <a:off x="7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01</a:t>
            </a:r>
          </a:p>
        </p:txBody>
      </p:sp>
      <p:sp>
        <p:nvSpPr>
          <p:cNvPr id="1042" name="TextBox 1042">
            <a:extLst>
              <a:ext uri="{FF2B5EF4-FFF2-40B4-BE49-F238E27FC236}">
                <a16:creationId xmlns:a16="http://schemas.microsoft.com/office/drawing/2014/main" id="{98484BE2-77B7-4D51-828A-5E64475E2A97}"/>
              </a:ext>
            </a:extLst>
          </p:cNvPr>
          <p:cNvSpPr>
            <a:spLocks noGrp="1"/>
          </p:cNvSpPr>
          <p:nvPr/>
        </p:nvSpPr>
        <p:spPr>
          <a:xfrm>
            <a:off x="1307234" y="1799859"/>
            <a:ext cx="2600000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資金使用計画</a:t>
            </a:r>
          </a:p>
        </p:txBody>
      </p:sp>
      <p:sp>
        <p:nvSpPr>
          <p:cNvPr id="1043" name="TextBox 1043">
            <a:extLst>
              <a:ext uri="{FF2B5EF4-FFF2-40B4-BE49-F238E27FC236}">
                <a16:creationId xmlns:a16="http://schemas.microsoft.com/office/drawing/2014/main" id="{5D5C158B-17BB-4083-9EB6-FE34B26CE0B5}"/>
              </a:ext>
            </a:extLst>
          </p:cNvPr>
          <p:cNvSpPr>
            <a:spLocks noGrp="1"/>
          </p:cNvSpPr>
          <p:nvPr/>
        </p:nvSpPr>
        <p:spPr>
          <a:xfrm>
            <a:off x="1289304" y="2122859"/>
            <a:ext cx="2600000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合計2,000万ウォン・使途</a:t>
            </a:r>
          </a:p>
        </p:txBody>
      </p:sp>
      <p:sp>
        <p:nvSpPr>
          <p:cNvPr id="1044" name="TextBox 1044">
            <a:extLst>
              <a:ext uri="{FF2B5EF4-FFF2-40B4-BE49-F238E27FC236}">
                <a16:creationId xmlns:a16="http://schemas.microsoft.com/office/drawing/2014/main" id="{F12A6BF9-F5E1-49D7-8FE9-BF0671A87F27}"/>
              </a:ext>
            </a:extLst>
          </p:cNvPr>
          <p:cNvSpPr>
            <a:spLocks noGrp="1"/>
          </p:cNvSpPr>
          <p:nvPr/>
        </p:nvSpPr>
        <p:spPr>
          <a:xfrm>
            <a:off x="4894360" y="1777929"/>
            <a:ext cx="2100000" cy="52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0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2,000</a:t>
            </a: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万ウォン</a:t>
            </a:r>
          </a:p>
        </p:txBody>
      </p:sp>
      <p:sp>
        <p:nvSpPr>
          <p:cNvPr id="1045" name="TextBox 1045">
            <a:extLst>
              <a:ext uri="{FF2B5EF4-FFF2-40B4-BE49-F238E27FC236}">
                <a16:creationId xmlns:a16="http://schemas.microsoft.com/office/drawing/2014/main" id="{32149A0B-6F1D-41E0-8CE6-C016ED3A3FB1}"/>
              </a:ext>
            </a:extLst>
          </p:cNvPr>
          <p:cNvSpPr>
            <a:spLocks noGrp="1"/>
          </p:cNvSpPr>
          <p:nvPr/>
        </p:nvSpPr>
        <p:spPr>
          <a:xfrm>
            <a:off x="4894360" y="2315859"/>
            <a:ext cx="2100000" cy="20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総必要資金</a:t>
            </a:r>
          </a:p>
        </p:txBody>
      </p:sp>
      <p:sp>
        <p:nvSpPr>
          <p:cNvPr id="1046" name="Shape 1046">
            <a:extLst>
              <a:ext uri="{FF2B5EF4-FFF2-40B4-BE49-F238E27FC236}">
                <a16:creationId xmlns:a16="http://schemas.microsoft.com/office/drawing/2014/main" id="{3B73C1A3-5138-45C3-98AA-A091BEBDBD59}"/>
              </a:ext>
            </a:extLst>
          </p:cNvPr>
          <p:cNvSpPr>
            <a:spLocks noGrp="1"/>
          </p:cNvSpPr>
          <p:nvPr/>
        </p:nvSpPr>
        <p:spPr>
          <a:xfrm>
            <a:off x="844360" y="2552423"/>
            <a:ext cx="3030000" cy="260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47" name="TextBox 1047">
            <a:extLst>
              <a:ext uri="{FF2B5EF4-FFF2-40B4-BE49-F238E27FC236}">
                <a16:creationId xmlns:a16="http://schemas.microsoft.com/office/drawing/2014/main" id="{07DD8721-A5B7-48EC-BB07-ABC642D131F0}"/>
              </a:ext>
            </a:extLst>
          </p:cNvPr>
          <p:cNvSpPr>
            <a:spLocks noGrp="1"/>
          </p:cNvSpPr>
          <p:nvPr/>
        </p:nvSpPr>
        <p:spPr>
          <a:xfrm>
            <a:off x="844360" y="2592423"/>
            <a:ext cx="303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1,000万ウォン</a:t>
            </a:r>
          </a:p>
        </p:txBody>
      </p:sp>
      <p:sp>
        <p:nvSpPr>
          <p:cNvPr id="1048" name="Shape 1048">
            <a:extLst>
              <a:ext uri="{FF2B5EF4-FFF2-40B4-BE49-F238E27FC236}">
                <a16:creationId xmlns:a16="http://schemas.microsoft.com/office/drawing/2014/main" id="{F0E2C2E8-EAF9-4D56-9C85-7E4C8F66AE01}"/>
              </a:ext>
            </a:extLst>
          </p:cNvPr>
          <p:cNvSpPr>
            <a:spLocks noGrp="1"/>
          </p:cNvSpPr>
          <p:nvPr/>
        </p:nvSpPr>
        <p:spPr>
          <a:xfrm>
            <a:off x="3874360" y="2552423"/>
            <a:ext cx="303000" cy="260000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49" name="Shape 1049">
            <a:extLst>
              <a:ext uri="{FF2B5EF4-FFF2-40B4-BE49-F238E27FC236}">
                <a16:creationId xmlns:a16="http://schemas.microsoft.com/office/drawing/2014/main" id="{93282D73-1FFF-42DD-8D27-7AF7756BF453}"/>
              </a:ext>
            </a:extLst>
          </p:cNvPr>
          <p:cNvSpPr>
            <a:spLocks noGrp="1"/>
          </p:cNvSpPr>
          <p:nvPr/>
        </p:nvSpPr>
        <p:spPr>
          <a:xfrm>
            <a:off x="4177360" y="2552423"/>
            <a:ext cx="1060500" cy="260000"/>
          </a:xfrm>
          <a:prstGeom prst="rect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50" name="TextBox 1050">
            <a:extLst>
              <a:ext uri="{FF2B5EF4-FFF2-40B4-BE49-F238E27FC236}">
                <a16:creationId xmlns:a16="http://schemas.microsoft.com/office/drawing/2014/main" id="{17617E9B-4946-48F8-ADF9-17C41B2A71C5}"/>
              </a:ext>
            </a:extLst>
          </p:cNvPr>
          <p:cNvSpPr>
            <a:spLocks noGrp="1"/>
          </p:cNvSpPr>
          <p:nvPr/>
        </p:nvSpPr>
        <p:spPr>
          <a:xfrm>
            <a:off x="4177360" y="2592423"/>
            <a:ext cx="1060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350万ウォン</a:t>
            </a:r>
          </a:p>
        </p:txBody>
      </p:sp>
      <p:sp>
        <p:nvSpPr>
          <p:cNvPr id="1051" name="Shape 1051">
            <a:extLst>
              <a:ext uri="{FF2B5EF4-FFF2-40B4-BE49-F238E27FC236}">
                <a16:creationId xmlns:a16="http://schemas.microsoft.com/office/drawing/2014/main" id="{5E348C85-3325-4265-817C-37CA75D44942}"/>
              </a:ext>
            </a:extLst>
          </p:cNvPr>
          <p:cNvSpPr>
            <a:spLocks noGrp="1"/>
          </p:cNvSpPr>
          <p:nvPr/>
        </p:nvSpPr>
        <p:spPr>
          <a:xfrm>
            <a:off x="5237860" y="2552423"/>
            <a:ext cx="909000" cy="260000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52" name="TextBox 1052">
            <a:extLst>
              <a:ext uri="{FF2B5EF4-FFF2-40B4-BE49-F238E27FC236}">
                <a16:creationId xmlns:a16="http://schemas.microsoft.com/office/drawing/2014/main" id="{870C0CA5-3893-497F-9DCD-E096B20EC167}"/>
              </a:ext>
            </a:extLst>
          </p:cNvPr>
          <p:cNvSpPr>
            <a:spLocks noGrp="1"/>
          </p:cNvSpPr>
          <p:nvPr/>
        </p:nvSpPr>
        <p:spPr>
          <a:xfrm>
            <a:off x="5237860" y="2592423"/>
            <a:ext cx="909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300万ウォン</a:t>
            </a:r>
          </a:p>
        </p:txBody>
      </p:sp>
      <p:sp>
        <p:nvSpPr>
          <p:cNvPr id="1053" name="Shape 1053">
            <a:extLst>
              <a:ext uri="{FF2B5EF4-FFF2-40B4-BE49-F238E27FC236}">
                <a16:creationId xmlns:a16="http://schemas.microsoft.com/office/drawing/2014/main" id="{4E42C934-89D1-4B9C-9496-6A30BF31B08F}"/>
              </a:ext>
            </a:extLst>
          </p:cNvPr>
          <p:cNvSpPr>
            <a:spLocks noGrp="1"/>
          </p:cNvSpPr>
          <p:nvPr/>
        </p:nvSpPr>
        <p:spPr>
          <a:xfrm>
            <a:off x="6146860" y="2552423"/>
            <a:ext cx="757500" cy="260000"/>
          </a:xfrm>
          <a:prstGeom prst="rect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54" name="TextBox 1054">
            <a:extLst>
              <a:ext uri="{FF2B5EF4-FFF2-40B4-BE49-F238E27FC236}">
                <a16:creationId xmlns:a16="http://schemas.microsoft.com/office/drawing/2014/main" id="{EDE092FE-A948-4293-BB7F-8027AC18F81F}"/>
              </a:ext>
            </a:extLst>
          </p:cNvPr>
          <p:cNvSpPr>
            <a:spLocks noGrp="1"/>
          </p:cNvSpPr>
          <p:nvPr/>
        </p:nvSpPr>
        <p:spPr>
          <a:xfrm>
            <a:off x="6146860" y="2592423"/>
            <a:ext cx="757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250万ウォン</a:t>
            </a:r>
          </a:p>
        </p:txBody>
      </p:sp>
      <p:sp>
        <p:nvSpPr>
          <p:cNvPr id="1055" name="Shape 1055">
            <a:extLst>
              <a:ext uri="{FF2B5EF4-FFF2-40B4-BE49-F238E27FC236}">
                <a16:creationId xmlns:a16="http://schemas.microsoft.com/office/drawing/2014/main" id="{4F69A25E-289F-4937-8C78-CB00CC175287}"/>
              </a:ext>
            </a:extLst>
          </p:cNvPr>
          <p:cNvSpPr>
            <a:spLocks noGrp="1"/>
          </p:cNvSpPr>
          <p:nvPr/>
        </p:nvSpPr>
        <p:spPr>
          <a:xfrm>
            <a:off x="960901" y="3025349"/>
            <a:ext cx="120000" cy="120000"/>
          </a:xfrm>
          <a:prstGeom prst="roundRect">
            <a:avLst>
              <a:gd name="adj" fmla="val 25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56" name="TextBox 1056">
            <a:extLst>
              <a:ext uri="{FF2B5EF4-FFF2-40B4-BE49-F238E27FC236}">
                <a16:creationId xmlns:a16="http://schemas.microsoft.com/office/drawing/2014/main" id="{D2FCC1ED-22A4-43DF-B020-F66F4B76E9CE}"/>
              </a:ext>
            </a:extLst>
          </p:cNvPr>
          <p:cNvSpPr>
            <a:spLocks noGrp="1"/>
          </p:cNvSpPr>
          <p:nvPr/>
        </p:nvSpPr>
        <p:spPr>
          <a:xfrm>
            <a:off x="1160901" y="2970349"/>
            <a:ext cx="20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試作品10台完成</a:t>
            </a:r>
          </a:p>
        </p:txBody>
      </p:sp>
      <p:sp>
        <p:nvSpPr>
          <p:cNvPr id="1057" name="TextBox 1057">
            <a:extLst>
              <a:ext uri="{FF2B5EF4-FFF2-40B4-BE49-F238E27FC236}">
                <a16:creationId xmlns:a16="http://schemas.microsoft.com/office/drawing/2014/main" id="{4E178D13-A985-4E16-ABD3-8FB8D2A6A3F8}"/>
              </a:ext>
            </a:extLst>
          </p:cNvPr>
          <p:cNvSpPr>
            <a:spLocks noGrp="1"/>
          </p:cNvSpPr>
          <p:nvPr/>
        </p:nvSpPr>
        <p:spPr>
          <a:xfrm>
            <a:off x="3002641" y="2970349"/>
            <a:ext cx="9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 fontScale="99358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1,000万ウォン</a:t>
            </a:r>
          </a:p>
        </p:txBody>
      </p:sp>
      <p:sp>
        <p:nvSpPr>
          <p:cNvPr id="1058" name="TextBox 1058">
            <a:extLst>
              <a:ext uri="{FF2B5EF4-FFF2-40B4-BE49-F238E27FC236}">
                <a16:creationId xmlns:a16="http://schemas.microsoft.com/office/drawing/2014/main" id="{0333C8F8-D0B0-462A-AF48-C9A372FE7F95}"/>
              </a:ext>
            </a:extLst>
          </p:cNvPr>
          <p:cNvSpPr>
            <a:spLocks noGrp="1"/>
          </p:cNvSpPr>
          <p:nvPr/>
        </p:nvSpPr>
        <p:spPr>
          <a:xfrm>
            <a:off x="4010901" y="2970349"/>
            <a:ext cx="301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 fontScale="97871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1台50～100万ウォン・チームが全量を自社開発・製作</a:t>
            </a:r>
          </a:p>
        </p:txBody>
      </p:sp>
      <p:sp>
        <p:nvSpPr>
          <p:cNvPr id="1059" name="Shape 1059">
            <a:extLst>
              <a:ext uri="{FF2B5EF4-FFF2-40B4-BE49-F238E27FC236}">
                <a16:creationId xmlns:a16="http://schemas.microsoft.com/office/drawing/2014/main" id="{D3525856-1627-431B-9EE5-CB5061010106}"/>
              </a:ext>
            </a:extLst>
          </p:cNvPr>
          <p:cNvSpPr>
            <a:spLocks noGrp="1"/>
          </p:cNvSpPr>
          <p:nvPr/>
        </p:nvSpPr>
        <p:spPr>
          <a:xfrm>
            <a:off x="960901" y="3375691"/>
            <a:ext cx="120000" cy="120000"/>
          </a:xfrm>
          <a:prstGeom prst="roundRect">
            <a:avLst>
              <a:gd name="adj" fmla="val 25000"/>
            </a:avLst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60" name="TextBox 1060">
            <a:extLst>
              <a:ext uri="{FF2B5EF4-FFF2-40B4-BE49-F238E27FC236}">
                <a16:creationId xmlns:a16="http://schemas.microsoft.com/office/drawing/2014/main" id="{2AD28FAA-CAAE-4014-B629-A393C8CC96BA}"/>
              </a:ext>
            </a:extLst>
          </p:cNvPr>
          <p:cNvSpPr>
            <a:spLocks noGrp="1"/>
          </p:cNvSpPr>
          <p:nvPr/>
        </p:nvSpPr>
        <p:spPr>
          <a:xfrm>
            <a:off x="1160901" y="3320691"/>
            <a:ext cx="20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初期モックアップ製作</a:t>
            </a:r>
          </a:p>
        </p:txBody>
      </p:sp>
      <p:sp>
        <p:nvSpPr>
          <p:cNvPr id="1061" name="TextBox 1061">
            <a:extLst>
              <a:ext uri="{FF2B5EF4-FFF2-40B4-BE49-F238E27FC236}">
                <a16:creationId xmlns:a16="http://schemas.microsoft.com/office/drawing/2014/main" id="{E1F8125D-BAD8-4047-A184-BEC64F98F249}"/>
              </a:ext>
            </a:extLst>
          </p:cNvPr>
          <p:cNvSpPr>
            <a:spLocks noGrp="1"/>
          </p:cNvSpPr>
          <p:nvPr/>
        </p:nvSpPr>
        <p:spPr>
          <a:xfrm>
            <a:off x="3002641" y="3320691"/>
            <a:ext cx="9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F4A81D"/>
                </a:solidFill>
                <a:latin typeface="Noto Sans JP"/>
                <a:ea typeface="Noto Sans JP"/>
                <a:cs typeface="Noto Sans JP"/>
              </a:rPr>
              <a:t>100万ウォン</a:t>
            </a:r>
          </a:p>
        </p:txBody>
      </p:sp>
      <p:sp>
        <p:nvSpPr>
          <p:cNvPr id="1062" name="TextBox 1062">
            <a:extLst>
              <a:ext uri="{FF2B5EF4-FFF2-40B4-BE49-F238E27FC236}">
                <a16:creationId xmlns:a16="http://schemas.microsoft.com/office/drawing/2014/main" id="{C683189F-A9FA-49A7-845A-E0898612F915}"/>
              </a:ext>
            </a:extLst>
          </p:cNvPr>
          <p:cNvSpPr>
            <a:spLocks noGrp="1"/>
          </p:cNvSpPr>
          <p:nvPr/>
        </p:nvSpPr>
        <p:spPr>
          <a:xfrm>
            <a:off x="4010901" y="3320691"/>
            <a:ext cx="301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 fontScale="96881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実証用モックアップ第1弾の製作</a:t>
            </a:r>
            <a:r>
              <a:rPr sz="1000" b="0" spc="-15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（完成分の再投資を含む）</a:t>
            </a:r>
          </a:p>
        </p:txBody>
      </p:sp>
      <p:sp>
        <p:nvSpPr>
          <p:cNvPr id="1063" name="Shape 1063">
            <a:extLst>
              <a:ext uri="{FF2B5EF4-FFF2-40B4-BE49-F238E27FC236}">
                <a16:creationId xmlns:a16="http://schemas.microsoft.com/office/drawing/2014/main" id="{2C00A236-B73C-41DB-85ED-55850B9E1403}"/>
              </a:ext>
            </a:extLst>
          </p:cNvPr>
          <p:cNvSpPr>
            <a:spLocks noGrp="1"/>
          </p:cNvSpPr>
          <p:nvPr/>
        </p:nvSpPr>
        <p:spPr>
          <a:xfrm>
            <a:off x="960901" y="3726033"/>
            <a:ext cx="120000" cy="120000"/>
          </a:xfrm>
          <a:prstGeom prst="roundRect">
            <a:avLst>
              <a:gd name="adj" fmla="val 25000"/>
            </a:avLst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64" name="TextBox 1064">
            <a:extLst>
              <a:ext uri="{FF2B5EF4-FFF2-40B4-BE49-F238E27FC236}">
                <a16:creationId xmlns:a16="http://schemas.microsoft.com/office/drawing/2014/main" id="{38BD7317-659E-47AD-8CBF-2AEBABB09178}"/>
              </a:ext>
            </a:extLst>
          </p:cNvPr>
          <p:cNvSpPr>
            <a:spLocks noGrp="1"/>
          </p:cNvSpPr>
          <p:nvPr/>
        </p:nvSpPr>
        <p:spPr>
          <a:xfrm>
            <a:off x="1160901" y="3671033"/>
            <a:ext cx="20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知的財産権・法務</a:t>
            </a:r>
          </a:p>
        </p:txBody>
      </p:sp>
      <p:sp>
        <p:nvSpPr>
          <p:cNvPr id="1065" name="TextBox 1065">
            <a:extLst>
              <a:ext uri="{FF2B5EF4-FFF2-40B4-BE49-F238E27FC236}">
                <a16:creationId xmlns:a16="http://schemas.microsoft.com/office/drawing/2014/main" id="{9510A615-2899-4611-939B-F9353EBAC441}"/>
              </a:ext>
            </a:extLst>
          </p:cNvPr>
          <p:cNvSpPr>
            <a:spLocks noGrp="1"/>
          </p:cNvSpPr>
          <p:nvPr/>
        </p:nvSpPr>
        <p:spPr>
          <a:xfrm>
            <a:off x="3002641" y="3671033"/>
            <a:ext cx="9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350万ウォン</a:t>
            </a:r>
          </a:p>
        </p:txBody>
      </p:sp>
      <p:sp>
        <p:nvSpPr>
          <p:cNvPr id="1066" name="TextBox 1066">
            <a:extLst>
              <a:ext uri="{FF2B5EF4-FFF2-40B4-BE49-F238E27FC236}">
                <a16:creationId xmlns:a16="http://schemas.microsoft.com/office/drawing/2014/main" id="{618AC2F3-6EDB-4407-9A5F-693D19657D30}"/>
              </a:ext>
            </a:extLst>
          </p:cNvPr>
          <p:cNvSpPr>
            <a:spLocks noGrp="1"/>
          </p:cNvSpPr>
          <p:nvPr/>
        </p:nvSpPr>
        <p:spPr>
          <a:xfrm>
            <a:off x="4010901" y="3671033"/>
            <a:ext cx="301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特許出願・個人情報同意スキームの法務確認</a:t>
            </a:r>
            <a:endParaRPr sz="10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067" name="Shape 1067">
            <a:extLst>
              <a:ext uri="{FF2B5EF4-FFF2-40B4-BE49-F238E27FC236}">
                <a16:creationId xmlns:a16="http://schemas.microsoft.com/office/drawing/2014/main" id="{9452462C-D7AC-4FC2-836A-5A817889750F}"/>
              </a:ext>
            </a:extLst>
          </p:cNvPr>
          <p:cNvSpPr>
            <a:spLocks noGrp="1"/>
          </p:cNvSpPr>
          <p:nvPr/>
        </p:nvSpPr>
        <p:spPr>
          <a:xfrm>
            <a:off x="960901" y="4076375"/>
            <a:ext cx="120000" cy="120000"/>
          </a:xfrm>
          <a:prstGeom prst="roundRect">
            <a:avLst>
              <a:gd name="adj" fmla="val 25000"/>
            </a:avLst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68" name="TextBox 1068">
            <a:extLst>
              <a:ext uri="{FF2B5EF4-FFF2-40B4-BE49-F238E27FC236}">
                <a16:creationId xmlns:a16="http://schemas.microsoft.com/office/drawing/2014/main" id="{FA024080-C006-42C8-B6CF-D7599F8C01B8}"/>
              </a:ext>
            </a:extLst>
          </p:cNvPr>
          <p:cNvSpPr>
            <a:spLocks noGrp="1"/>
          </p:cNvSpPr>
          <p:nvPr/>
        </p:nvSpPr>
        <p:spPr>
          <a:xfrm>
            <a:off x="1160901" y="4021375"/>
            <a:ext cx="20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マーケティング・実証運営</a:t>
            </a:r>
          </a:p>
        </p:txBody>
      </p:sp>
      <p:sp>
        <p:nvSpPr>
          <p:cNvPr id="1069" name="TextBox 1069">
            <a:extLst>
              <a:ext uri="{FF2B5EF4-FFF2-40B4-BE49-F238E27FC236}">
                <a16:creationId xmlns:a16="http://schemas.microsoft.com/office/drawing/2014/main" id="{02E980A3-736D-4385-B990-38991BAF1A7A}"/>
              </a:ext>
            </a:extLst>
          </p:cNvPr>
          <p:cNvSpPr>
            <a:spLocks noGrp="1"/>
          </p:cNvSpPr>
          <p:nvPr/>
        </p:nvSpPr>
        <p:spPr>
          <a:xfrm>
            <a:off x="3002641" y="4021375"/>
            <a:ext cx="9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300万ウォン</a:t>
            </a:r>
          </a:p>
        </p:txBody>
      </p:sp>
      <p:sp>
        <p:nvSpPr>
          <p:cNvPr id="1070" name="TextBox 1070">
            <a:extLst>
              <a:ext uri="{FF2B5EF4-FFF2-40B4-BE49-F238E27FC236}">
                <a16:creationId xmlns:a16="http://schemas.microsoft.com/office/drawing/2014/main" id="{66889EF3-CA16-4FB3-B2BA-67A779403CC6}"/>
              </a:ext>
            </a:extLst>
          </p:cNvPr>
          <p:cNvSpPr>
            <a:spLocks noGrp="1"/>
          </p:cNvSpPr>
          <p:nvPr/>
        </p:nvSpPr>
        <p:spPr>
          <a:xfrm>
            <a:off x="4010901" y="4021375"/>
            <a:ext cx="301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施設デモ・日韓実証の現場運営費</a:t>
            </a:r>
          </a:p>
        </p:txBody>
      </p:sp>
      <p:sp>
        <p:nvSpPr>
          <p:cNvPr id="1071" name="Shape 1071">
            <a:extLst>
              <a:ext uri="{FF2B5EF4-FFF2-40B4-BE49-F238E27FC236}">
                <a16:creationId xmlns:a16="http://schemas.microsoft.com/office/drawing/2014/main" id="{E8814F6A-292A-422F-B9D4-18A8B484E9CD}"/>
              </a:ext>
            </a:extLst>
          </p:cNvPr>
          <p:cNvSpPr>
            <a:spLocks noGrp="1"/>
          </p:cNvSpPr>
          <p:nvPr/>
        </p:nvSpPr>
        <p:spPr>
          <a:xfrm>
            <a:off x="960901" y="4426719"/>
            <a:ext cx="120000" cy="120000"/>
          </a:xfrm>
          <a:prstGeom prst="roundRect">
            <a:avLst>
              <a:gd name="adj" fmla="val 25000"/>
            </a:avLst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72" name="TextBox 1072">
            <a:extLst>
              <a:ext uri="{FF2B5EF4-FFF2-40B4-BE49-F238E27FC236}">
                <a16:creationId xmlns:a16="http://schemas.microsoft.com/office/drawing/2014/main" id="{B63DBFCB-E933-4276-AC1F-FF270A0A4DB8}"/>
              </a:ext>
            </a:extLst>
          </p:cNvPr>
          <p:cNvSpPr>
            <a:spLocks noGrp="1"/>
          </p:cNvSpPr>
          <p:nvPr/>
        </p:nvSpPr>
        <p:spPr>
          <a:xfrm>
            <a:off x="1160901" y="4371719"/>
            <a:ext cx="20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サーバー・データベース維持</a:t>
            </a:r>
          </a:p>
        </p:txBody>
      </p:sp>
      <p:sp>
        <p:nvSpPr>
          <p:cNvPr id="1073" name="TextBox 1073">
            <a:extLst>
              <a:ext uri="{FF2B5EF4-FFF2-40B4-BE49-F238E27FC236}">
                <a16:creationId xmlns:a16="http://schemas.microsoft.com/office/drawing/2014/main" id="{1978E78B-50B3-404E-B53A-DCB3F1EAF938}"/>
              </a:ext>
            </a:extLst>
          </p:cNvPr>
          <p:cNvSpPr>
            <a:spLocks noGrp="1"/>
          </p:cNvSpPr>
          <p:nvPr/>
        </p:nvSpPr>
        <p:spPr>
          <a:xfrm>
            <a:off x="3002641" y="4371719"/>
            <a:ext cx="90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4A779B"/>
                </a:solidFill>
                <a:latin typeface="Noto Sans JP"/>
                <a:ea typeface="Noto Sans JP"/>
                <a:cs typeface="Noto Sans JP"/>
              </a:rPr>
              <a:t>250万ウォン</a:t>
            </a:r>
          </a:p>
        </p:txBody>
      </p:sp>
      <p:sp>
        <p:nvSpPr>
          <p:cNvPr id="1074" name="TextBox 1074">
            <a:extLst>
              <a:ext uri="{FF2B5EF4-FFF2-40B4-BE49-F238E27FC236}">
                <a16:creationId xmlns:a16="http://schemas.microsoft.com/office/drawing/2014/main" id="{7BAE1DE9-01D1-4848-900C-BEB4BF3C7E49}"/>
              </a:ext>
            </a:extLst>
          </p:cNvPr>
          <p:cNvSpPr>
            <a:spLocks noGrp="1"/>
          </p:cNvSpPr>
          <p:nvPr/>
        </p:nvSpPr>
        <p:spPr>
          <a:xfrm>
            <a:off x="4010901" y="4371719"/>
            <a:ext cx="3010000" cy="23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音声記録・レポート用サーバーおよびDB運用</a:t>
            </a:r>
          </a:p>
        </p:txBody>
      </p:sp>
      <p:sp>
        <p:nvSpPr>
          <p:cNvPr id="1075" name="Shape 1075">
            <a:extLst>
              <a:ext uri="{FF2B5EF4-FFF2-40B4-BE49-F238E27FC236}">
                <a16:creationId xmlns:a16="http://schemas.microsoft.com/office/drawing/2014/main" id="{9ADC33E2-EA54-4240-896C-0ECA929E4C56}"/>
              </a:ext>
            </a:extLst>
          </p:cNvPr>
          <p:cNvSpPr>
            <a:spLocks noGrp="1"/>
          </p:cNvSpPr>
          <p:nvPr/>
        </p:nvSpPr>
        <p:spPr>
          <a:xfrm>
            <a:off x="7394360" y="16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76" name="Shape 1076">
            <a:extLst>
              <a:ext uri="{FF2B5EF4-FFF2-40B4-BE49-F238E27FC236}">
                <a16:creationId xmlns:a16="http://schemas.microsoft.com/office/drawing/2014/main" id="{5A19932B-F118-427E-A1E5-67996F445BE9}"/>
              </a:ext>
            </a:extLst>
          </p:cNvPr>
          <p:cNvSpPr>
            <a:spLocks noGrp="1"/>
          </p:cNvSpPr>
          <p:nvPr/>
        </p:nvSpPr>
        <p:spPr>
          <a:xfrm>
            <a:off x="7394360" y="1915859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77" name="Shape 1077">
            <a:extLst>
              <a:ext uri="{FF2B5EF4-FFF2-40B4-BE49-F238E27FC236}">
                <a16:creationId xmlns:a16="http://schemas.microsoft.com/office/drawing/2014/main" id="{4A71D673-E5C4-4823-BFF0-AEB23295DD1C}"/>
              </a:ext>
            </a:extLst>
          </p:cNvPr>
          <p:cNvSpPr>
            <a:spLocks noGrp="1"/>
          </p:cNvSpPr>
          <p:nvPr/>
        </p:nvSpPr>
        <p:spPr>
          <a:xfrm>
            <a:off x="75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sp>
        <p:nvSpPr>
          <p:cNvPr id="1078" name="TextBox 1078">
            <a:extLst>
              <a:ext uri="{FF2B5EF4-FFF2-40B4-BE49-F238E27FC236}">
                <a16:creationId xmlns:a16="http://schemas.microsoft.com/office/drawing/2014/main" id="{1CB88BD9-02F9-4206-B78A-D739882BC21F}"/>
              </a:ext>
            </a:extLst>
          </p:cNvPr>
          <p:cNvSpPr>
            <a:spLocks noGrp="1"/>
          </p:cNvSpPr>
          <p:nvPr/>
        </p:nvSpPr>
        <p:spPr>
          <a:xfrm>
            <a:off x="8107234" y="17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資金調達</a:t>
            </a:r>
          </a:p>
        </p:txBody>
      </p:sp>
      <p:sp>
        <p:nvSpPr>
          <p:cNvPr id="1079" name="TextBox 1079">
            <a:extLst>
              <a:ext uri="{FF2B5EF4-FFF2-40B4-BE49-F238E27FC236}">
                <a16:creationId xmlns:a16="http://schemas.microsoft.com/office/drawing/2014/main" id="{A592FBDE-4477-4585-A902-5808DDE84F3F}"/>
              </a:ext>
            </a:extLst>
          </p:cNvPr>
          <p:cNvSpPr>
            <a:spLocks noGrp="1"/>
          </p:cNvSpPr>
          <p:nvPr/>
        </p:nvSpPr>
        <p:spPr>
          <a:xfrm>
            <a:off x="8089304" y="21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どこから調達するか</a:t>
            </a:r>
          </a:p>
        </p:txBody>
      </p:sp>
      <p:sp>
        <p:nvSpPr>
          <p:cNvPr id="1080" name="Shape 1080">
            <a:extLst>
              <a:ext uri="{FF2B5EF4-FFF2-40B4-BE49-F238E27FC236}">
                <a16:creationId xmlns:a16="http://schemas.microsoft.com/office/drawing/2014/main" id="{3FF0F218-9F43-463A-9552-06A6E1D2BA57}"/>
              </a:ext>
            </a:extLst>
          </p:cNvPr>
          <p:cNvSpPr>
            <a:spLocks noGrp="1"/>
          </p:cNvSpPr>
          <p:nvPr/>
        </p:nvSpPr>
        <p:spPr>
          <a:xfrm>
            <a:off x="7694360" y="24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81" name="TextBox 1081">
            <a:extLst>
              <a:ext uri="{FF2B5EF4-FFF2-40B4-BE49-F238E27FC236}">
                <a16:creationId xmlns:a16="http://schemas.microsoft.com/office/drawing/2014/main" id="{F275ACDE-8AE6-4896-B7D2-B9392B413863}"/>
              </a:ext>
            </a:extLst>
          </p:cNvPr>
          <p:cNvSpPr>
            <a:spLocks noGrp="1"/>
          </p:cNvSpPr>
          <p:nvPr/>
        </p:nvSpPr>
        <p:spPr>
          <a:xfrm>
            <a:off x="7884360" y="24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軍貯蓄＋創業コンテスト賞金で全額自己調達</a:t>
            </a:r>
          </a:p>
        </p:txBody>
      </p:sp>
      <p:sp>
        <p:nvSpPr>
          <p:cNvPr id="1082" name="Shape 1082">
            <a:extLst>
              <a:ext uri="{FF2B5EF4-FFF2-40B4-BE49-F238E27FC236}">
                <a16:creationId xmlns:a16="http://schemas.microsoft.com/office/drawing/2014/main" id="{8F8AE5E3-53E6-45E6-9711-9AAFDF9875F7}"/>
              </a:ext>
            </a:extLst>
          </p:cNvPr>
          <p:cNvSpPr>
            <a:spLocks noGrp="1"/>
          </p:cNvSpPr>
          <p:nvPr/>
        </p:nvSpPr>
        <p:spPr>
          <a:xfrm>
            <a:off x="7694360" y="27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83" name="TextBox 1083">
            <a:extLst>
              <a:ext uri="{FF2B5EF4-FFF2-40B4-BE49-F238E27FC236}">
                <a16:creationId xmlns:a16="http://schemas.microsoft.com/office/drawing/2014/main" id="{4A940D17-455C-4F55-9583-F2E6BD8899BE}"/>
              </a:ext>
            </a:extLst>
          </p:cNvPr>
          <p:cNvSpPr>
            <a:spLocks noGrp="1"/>
          </p:cNvSpPr>
          <p:nvPr/>
        </p:nvSpPr>
        <p:spPr>
          <a:xfrm>
            <a:off x="7884360" y="27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477" lnSpcReduction="10000"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忠清圏大会賞金 → モックアップ・フォーメックス仕上げに再投資完了</a:t>
            </a:r>
          </a:p>
        </p:txBody>
      </p:sp>
      <p:sp>
        <p:nvSpPr>
          <p:cNvPr id="1084" name="Shape 1084">
            <a:extLst>
              <a:ext uri="{FF2B5EF4-FFF2-40B4-BE49-F238E27FC236}">
                <a16:creationId xmlns:a16="http://schemas.microsoft.com/office/drawing/2014/main" id="{23235100-9471-45FA-85FF-AF8DB2EC58C5}"/>
              </a:ext>
            </a:extLst>
          </p:cNvPr>
          <p:cNvSpPr>
            <a:spLocks noGrp="1"/>
          </p:cNvSpPr>
          <p:nvPr/>
        </p:nvSpPr>
        <p:spPr>
          <a:xfrm>
            <a:off x="7394360" y="32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85" name="Shape 1085">
            <a:extLst>
              <a:ext uri="{FF2B5EF4-FFF2-40B4-BE49-F238E27FC236}">
                <a16:creationId xmlns:a16="http://schemas.microsoft.com/office/drawing/2014/main" id="{9342BD3E-A42A-4176-9698-A5613C403304}"/>
              </a:ext>
            </a:extLst>
          </p:cNvPr>
          <p:cNvSpPr>
            <a:spLocks noGrp="1"/>
          </p:cNvSpPr>
          <p:nvPr/>
        </p:nvSpPr>
        <p:spPr>
          <a:xfrm>
            <a:off x="7394360" y="3515859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86" name="Shape 1086">
            <a:extLst>
              <a:ext uri="{FF2B5EF4-FFF2-40B4-BE49-F238E27FC236}">
                <a16:creationId xmlns:a16="http://schemas.microsoft.com/office/drawing/2014/main" id="{C1FDB80D-C5C8-49F2-9132-BF06D322D823}"/>
              </a:ext>
            </a:extLst>
          </p:cNvPr>
          <p:cNvSpPr>
            <a:spLocks noGrp="1"/>
          </p:cNvSpPr>
          <p:nvPr/>
        </p:nvSpPr>
        <p:spPr>
          <a:xfrm>
            <a:off x="7595528" y="34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sp>
        <p:nvSpPr>
          <p:cNvPr id="1087" name="TextBox 1087">
            <a:extLst>
              <a:ext uri="{FF2B5EF4-FFF2-40B4-BE49-F238E27FC236}">
                <a16:creationId xmlns:a16="http://schemas.microsoft.com/office/drawing/2014/main" id="{4230343E-D206-47F1-AFCA-2D73098667D1}"/>
              </a:ext>
            </a:extLst>
          </p:cNvPr>
          <p:cNvSpPr>
            <a:spLocks noGrp="1"/>
          </p:cNvSpPr>
          <p:nvPr/>
        </p:nvSpPr>
        <p:spPr>
          <a:xfrm>
            <a:off x="8107234" y="33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試作品の原価構造</a:t>
            </a:r>
          </a:p>
        </p:txBody>
      </p:sp>
      <p:sp>
        <p:nvSpPr>
          <p:cNvPr id="1088" name="TextBox 1088">
            <a:extLst>
              <a:ext uri="{FF2B5EF4-FFF2-40B4-BE49-F238E27FC236}">
                <a16:creationId xmlns:a16="http://schemas.microsoft.com/office/drawing/2014/main" id="{5727A1F7-847D-4EDF-8238-021E58ED7B5B}"/>
              </a:ext>
            </a:extLst>
          </p:cNvPr>
          <p:cNvSpPr>
            <a:spLocks noGrp="1"/>
          </p:cNvSpPr>
          <p:nvPr/>
        </p:nvSpPr>
        <p:spPr>
          <a:xfrm>
            <a:off x="8089304" y="37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なぜ2,000万ウォンで可能か</a:t>
            </a:r>
          </a:p>
        </p:txBody>
      </p:sp>
      <p:sp>
        <p:nvSpPr>
          <p:cNvPr id="1089" name="Shape 1089">
            <a:extLst>
              <a:ext uri="{FF2B5EF4-FFF2-40B4-BE49-F238E27FC236}">
                <a16:creationId xmlns:a16="http://schemas.microsoft.com/office/drawing/2014/main" id="{912DD037-2FB0-44DC-A0E2-EF8763CB47A4}"/>
              </a:ext>
            </a:extLst>
          </p:cNvPr>
          <p:cNvSpPr>
            <a:spLocks noGrp="1"/>
          </p:cNvSpPr>
          <p:nvPr/>
        </p:nvSpPr>
        <p:spPr>
          <a:xfrm>
            <a:off x="7694360" y="40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90" name="TextBox 1090">
            <a:extLst>
              <a:ext uri="{FF2B5EF4-FFF2-40B4-BE49-F238E27FC236}">
                <a16:creationId xmlns:a16="http://schemas.microsoft.com/office/drawing/2014/main" id="{C6E84E76-6C69-4195-82D3-C761F1E215D0}"/>
              </a:ext>
            </a:extLst>
          </p:cNvPr>
          <p:cNvSpPr>
            <a:spLocks noGrp="1"/>
          </p:cNvSpPr>
          <p:nvPr/>
        </p:nvSpPr>
        <p:spPr>
          <a:xfrm>
            <a:off x="7884360" y="40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3085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ハードウェア・アプリ・音声・AI設問をすべてチーム内で開発</a:t>
            </a:r>
          </a:p>
        </p:txBody>
      </p:sp>
      <p:sp>
        <p:nvSpPr>
          <p:cNvPr id="1091" name="Shape 1091">
            <a:extLst>
              <a:ext uri="{FF2B5EF4-FFF2-40B4-BE49-F238E27FC236}">
                <a16:creationId xmlns:a16="http://schemas.microsoft.com/office/drawing/2014/main" id="{EFE17A4A-BF53-48C6-B8FB-F2C471F1441D}"/>
              </a:ext>
            </a:extLst>
          </p:cNvPr>
          <p:cNvSpPr>
            <a:spLocks noGrp="1"/>
          </p:cNvSpPr>
          <p:nvPr/>
        </p:nvSpPr>
        <p:spPr>
          <a:xfrm>
            <a:off x="7694360" y="43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92" name="TextBox 1092">
            <a:extLst>
              <a:ext uri="{FF2B5EF4-FFF2-40B4-BE49-F238E27FC236}">
                <a16:creationId xmlns:a16="http://schemas.microsoft.com/office/drawing/2014/main" id="{D91B47C1-A585-4CE3-A501-CE78B901FB51}"/>
              </a:ext>
            </a:extLst>
          </p:cNvPr>
          <p:cNvSpPr>
            <a:spLocks noGrp="1"/>
          </p:cNvSpPr>
          <p:nvPr/>
        </p:nvSpPr>
        <p:spPr>
          <a:xfrm>
            <a:off x="7884360" y="43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外注費なしでモックアップから試作品10台まで自社製作</a:t>
            </a:r>
          </a:p>
        </p:txBody>
      </p:sp>
      <p:sp>
        <p:nvSpPr>
          <p:cNvPr id="1093" name="Shape 1093">
            <a:extLst>
              <a:ext uri="{FF2B5EF4-FFF2-40B4-BE49-F238E27FC236}">
                <a16:creationId xmlns:a16="http://schemas.microsoft.com/office/drawing/2014/main" id="{A4E72907-0757-4659-A1AF-64F1C7F25FB3}"/>
              </a:ext>
            </a:extLst>
          </p:cNvPr>
          <p:cNvSpPr>
            <a:spLocks noGrp="1"/>
          </p:cNvSpPr>
          <p:nvPr/>
        </p:nvSpPr>
        <p:spPr>
          <a:xfrm>
            <a:off x="594360" y="5030329"/>
            <a:ext cx="11003249" cy="1137512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94" name="TextBox 1094">
            <a:extLst>
              <a:ext uri="{FF2B5EF4-FFF2-40B4-BE49-F238E27FC236}">
                <a16:creationId xmlns:a16="http://schemas.microsoft.com/office/drawing/2014/main" id="{3C46EEDB-EC0A-467E-8132-76933204BCE8}"/>
              </a:ext>
            </a:extLst>
          </p:cNvPr>
          <p:cNvSpPr>
            <a:spLocks noGrp="1"/>
          </p:cNvSpPr>
          <p:nvPr/>
        </p:nvSpPr>
        <p:spPr>
          <a:xfrm>
            <a:off x="777813" y="5238998"/>
            <a:ext cx="1500000" cy="720174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初期資金後の計画</a:t>
            </a:r>
          </a:p>
        </p:txBody>
      </p:sp>
      <p:sp>
        <p:nvSpPr>
          <p:cNvPr id="1095" name="Shape 1095">
            <a:extLst>
              <a:ext uri="{FF2B5EF4-FFF2-40B4-BE49-F238E27FC236}">
                <a16:creationId xmlns:a16="http://schemas.microsoft.com/office/drawing/2014/main" id="{4AAAA394-C0D1-4BFD-85D4-C1DF9A2CF81B}"/>
              </a:ext>
            </a:extLst>
          </p:cNvPr>
          <p:cNvSpPr>
            <a:spLocks noGrp="1"/>
          </p:cNvSpPr>
          <p:nvPr/>
        </p:nvSpPr>
        <p:spPr>
          <a:xfrm>
            <a:off x="2421255" y="5162770"/>
            <a:ext cx="1843933" cy="8726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96" name="TextBox 1096">
            <a:extLst>
              <a:ext uri="{FF2B5EF4-FFF2-40B4-BE49-F238E27FC236}">
                <a16:creationId xmlns:a16="http://schemas.microsoft.com/office/drawing/2014/main" id="{7CCD0D2B-EED3-4495-866C-FE2C5C48F251}"/>
              </a:ext>
            </a:extLst>
          </p:cNvPr>
          <p:cNvSpPr>
            <a:spLocks noGrp="1"/>
          </p:cNvSpPr>
          <p:nvPr/>
        </p:nvSpPr>
        <p:spPr>
          <a:xfrm>
            <a:off x="2571255" y="5261382"/>
            <a:ext cx="1604286" cy="6672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2026.12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協議中の10施設へ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低価格で初期供給</a:t>
            </a:r>
          </a:p>
        </p:txBody>
      </p:sp>
      <p:sp>
        <p:nvSpPr>
          <p:cNvPr id="1097" name="Shape 1097">
            <a:extLst>
              <a:ext uri="{FF2B5EF4-FFF2-40B4-BE49-F238E27FC236}">
                <a16:creationId xmlns:a16="http://schemas.microsoft.com/office/drawing/2014/main" id="{FEF55091-9012-4E9B-9CDB-8961A5ABA262}"/>
              </a:ext>
            </a:extLst>
          </p:cNvPr>
          <p:cNvSpPr>
            <a:spLocks noGrp="1"/>
          </p:cNvSpPr>
          <p:nvPr/>
        </p:nvSpPr>
        <p:spPr>
          <a:xfrm rot="5400000">
            <a:off x="4408627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98" name="Shape 1098">
            <a:extLst>
              <a:ext uri="{FF2B5EF4-FFF2-40B4-BE49-F238E27FC236}">
                <a16:creationId xmlns:a16="http://schemas.microsoft.com/office/drawing/2014/main" id="{BA192793-B1BE-4CB7-B875-8183B00F42F6}"/>
              </a:ext>
            </a:extLst>
          </p:cNvPr>
          <p:cNvSpPr>
            <a:spLocks noGrp="1"/>
          </p:cNvSpPr>
          <p:nvPr/>
        </p:nvSpPr>
        <p:spPr>
          <a:xfrm>
            <a:off x="4672066" y="5162770"/>
            <a:ext cx="1843933" cy="8726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99" name="TextBox 1099">
            <a:extLst>
              <a:ext uri="{FF2B5EF4-FFF2-40B4-BE49-F238E27FC236}">
                <a16:creationId xmlns:a16="http://schemas.microsoft.com/office/drawing/2014/main" id="{210517AB-71D6-4124-BA16-5A7302F85418}"/>
              </a:ext>
            </a:extLst>
          </p:cNvPr>
          <p:cNvSpPr>
            <a:spLocks noGrp="1"/>
          </p:cNvSpPr>
          <p:nvPr/>
        </p:nvSpPr>
        <p:spPr>
          <a:xfrm>
            <a:off x="4762500" y="5261420"/>
            <a:ext cx="1714500" cy="66732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2027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実証データを基に</a:t>
            </a:r>
            <a:endParaRPr sz="1200" b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国の予算を確保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認知症安心センター・自治体B2G</a:t>
            </a:r>
          </a:p>
        </p:txBody>
      </p:sp>
      <p:sp>
        <p:nvSpPr>
          <p:cNvPr id="1100" name="Shape 1100">
            <a:extLst>
              <a:ext uri="{FF2B5EF4-FFF2-40B4-BE49-F238E27FC236}">
                <a16:creationId xmlns:a16="http://schemas.microsoft.com/office/drawing/2014/main" id="{BCBD3B54-7B79-43A5-ABA2-018A6D27E807}"/>
              </a:ext>
            </a:extLst>
          </p:cNvPr>
          <p:cNvSpPr>
            <a:spLocks noGrp="1"/>
          </p:cNvSpPr>
          <p:nvPr/>
        </p:nvSpPr>
        <p:spPr>
          <a:xfrm rot="5400000">
            <a:off x="6659438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01" name="Shape 1101">
            <a:extLst>
              <a:ext uri="{FF2B5EF4-FFF2-40B4-BE49-F238E27FC236}">
                <a16:creationId xmlns:a16="http://schemas.microsoft.com/office/drawing/2014/main" id="{2A14F3B9-C0A7-49E8-83F1-E466B4486481}"/>
              </a:ext>
            </a:extLst>
          </p:cNvPr>
          <p:cNvSpPr>
            <a:spLocks noGrp="1"/>
          </p:cNvSpPr>
          <p:nvPr/>
        </p:nvSpPr>
        <p:spPr>
          <a:xfrm>
            <a:off x="6922877" y="5162770"/>
            <a:ext cx="1843933" cy="8726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02" name="TextBox 1102">
            <a:extLst>
              <a:ext uri="{FF2B5EF4-FFF2-40B4-BE49-F238E27FC236}">
                <a16:creationId xmlns:a16="http://schemas.microsoft.com/office/drawing/2014/main" id="{DF975F20-6F48-4369-BB72-C052D61ACA29}"/>
              </a:ext>
            </a:extLst>
          </p:cNvPr>
          <p:cNvSpPr>
            <a:spLocks noGrp="1"/>
          </p:cNvSpPr>
          <p:nvPr/>
        </p:nvSpPr>
        <p:spPr>
          <a:xfrm>
            <a:off x="7072877" y="5261382"/>
            <a:ext cx="1604286" cy="66727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6312" lnSpcReduction="10000"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2027～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日本市場参入</a:t>
            </a:r>
            <a:endParaRPr sz="12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（</a:t>
            </a:r>
            <a:r>
              <a:rPr sz="10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北海道大学</a:t>
            </a:r>
            <a:endParaRPr lang="en-US" sz="10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lang="en-US" sz="10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    </a:t>
            </a:r>
            <a:r>
              <a:rPr sz="10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アクセラレーション</a:t>
            </a:r>
            <a:r>
              <a:rPr sz="10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）</a:t>
            </a:r>
          </a:p>
        </p:txBody>
      </p:sp>
      <p:sp>
        <p:nvSpPr>
          <p:cNvPr id="1103" name="Shape 1103">
            <a:extLst>
              <a:ext uri="{FF2B5EF4-FFF2-40B4-BE49-F238E27FC236}">
                <a16:creationId xmlns:a16="http://schemas.microsoft.com/office/drawing/2014/main" id="{071144C9-44D7-4A29-AD2A-BAACB60D68F4}"/>
              </a:ext>
            </a:extLst>
          </p:cNvPr>
          <p:cNvSpPr>
            <a:spLocks noGrp="1"/>
          </p:cNvSpPr>
          <p:nvPr/>
        </p:nvSpPr>
        <p:spPr>
          <a:xfrm rot="5400000">
            <a:off x="8910249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04" name="Shape 1104">
            <a:extLst>
              <a:ext uri="{FF2B5EF4-FFF2-40B4-BE49-F238E27FC236}">
                <a16:creationId xmlns:a16="http://schemas.microsoft.com/office/drawing/2014/main" id="{D809C96F-63B0-46B5-924A-7869B9471F74}"/>
              </a:ext>
            </a:extLst>
          </p:cNvPr>
          <p:cNvSpPr>
            <a:spLocks noGrp="1"/>
          </p:cNvSpPr>
          <p:nvPr/>
        </p:nvSpPr>
        <p:spPr>
          <a:xfrm>
            <a:off x="9173691" y="5162770"/>
            <a:ext cx="1843933" cy="8726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05" name="TextBox 1105">
            <a:extLst>
              <a:ext uri="{FF2B5EF4-FFF2-40B4-BE49-F238E27FC236}">
                <a16:creationId xmlns:a16="http://schemas.microsoft.com/office/drawing/2014/main" id="{7756DF25-EA24-46A1-8556-1E9A425E18D1}"/>
              </a:ext>
            </a:extLst>
          </p:cNvPr>
          <p:cNvSpPr>
            <a:spLocks noGrp="1"/>
          </p:cNvSpPr>
          <p:nvPr/>
        </p:nvSpPr>
        <p:spPr>
          <a:xfrm>
            <a:off x="9323691" y="5261382"/>
            <a:ext cx="1604286" cy="6672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3年以内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日韓500施設を獲得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SAMの1.3%・約21億ウォン</a:t>
            </a:r>
          </a:p>
        </p:txBody>
      </p:sp>
      <p:sp>
        <p:nvSpPr>
          <p:cNvPr id="1106" name="Shape 1106">
            <a:extLst>
              <a:ext uri="{FF2B5EF4-FFF2-40B4-BE49-F238E27FC236}">
                <a16:creationId xmlns:a16="http://schemas.microsoft.com/office/drawing/2014/main" id="{A1656C30-0110-40C2-BCFC-59748E15F48E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07" name="TextBox 1107">
            <a:extLst>
              <a:ext uri="{FF2B5EF4-FFF2-40B4-BE49-F238E27FC236}">
                <a16:creationId xmlns:a16="http://schemas.microsoft.com/office/drawing/2014/main" id="{0C97F9AA-49EE-4EB4-86B8-EFE38CFFBA6D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Labs・予算・事業化</a:t>
            </a:r>
          </a:p>
        </p:txBody>
      </p:sp>
      <p:sp>
        <p:nvSpPr>
          <p:cNvPr id="1108" name="TextBox 1108">
            <a:extLst>
              <a:ext uri="{FF2B5EF4-FFF2-40B4-BE49-F238E27FC236}">
                <a16:creationId xmlns:a16="http://schemas.microsoft.com/office/drawing/2014/main" id="{3EAB100D-1C63-43F1-8B09-105EFC8674D0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1109" name="TextBox 1109">
            <a:extLst>
              <a:ext uri="{FF2B5EF4-FFF2-40B4-BE49-F238E27FC236}">
                <a16:creationId xmlns:a16="http://schemas.microsoft.com/office/drawing/2014/main" id="{0EEA3931-B35B-44A6-A380-077CE93C0C01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ROADMAP・ロードマップ</a:t>
            </a:r>
          </a:p>
        </p:txBody>
      </p:sp>
      <p:sp>
        <p:nvSpPr>
          <p:cNvPr id="1110" name="TextBox 1110">
            <a:extLst>
              <a:ext uri="{FF2B5EF4-FFF2-40B4-BE49-F238E27FC236}">
                <a16:creationId xmlns:a16="http://schemas.microsoft.com/office/drawing/2014/main" id="{6B1C8948-ADA8-40BE-B70F-194F1CBEE347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実証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 → </a:t>
            </a:r>
            <a:r>
              <a:rPr sz="31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初期供給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 → </a:t>
            </a:r>
            <a:r>
              <a:rPr lang="ja-JP" altLang="en-US" sz="315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国家</a:t>
            </a:r>
            <a:r>
              <a:rPr sz="315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予算・日本市場参入</a:t>
            </a:r>
            <a:endParaRPr sz="3150" b="1" dirty="0">
              <a:solidFill>
                <a:srgbClr val="F57265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11" name="TextBox 1111">
            <a:extLst>
              <a:ext uri="{FF2B5EF4-FFF2-40B4-BE49-F238E27FC236}">
                <a16:creationId xmlns:a16="http://schemas.microsoft.com/office/drawing/2014/main" id="{8F098B17-1262-4D62-B0D3-B8B9F8C5B386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10～11月の日韓実証後に最終試作品を完成・協議中の10施設への初期供給を足掛かりに拡大</a:t>
            </a:r>
          </a:p>
        </p:txBody>
      </p:sp>
      <p:sp>
        <p:nvSpPr>
          <p:cNvPr id="1112" name="Shape 1112">
            <a:extLst>
              <a:ext uri="{FF2B5EF4-FFF2-40B4-BE49-F238E27FC236}">
                <a16:creationId xmlns:a16="http://schemas.microsoft.com/office/drawing/2014/main" id="{3F699B49-3330-46A6-B893-789C1E103E05}"/>
              </a:ext>
            </a:extLst>
          </p:cNvPr>
          <p:cNvSpPr>
            <a:spLocks noGrp="1"/>
          </p:cNvSpPr>
          <p:nvPr/>
        </p:nvSpPr>
        <p:spPr>
          <a:xfrm>
            <a:off x="794360" y="2200000"/>
            <a:ext cx="10603249" cy="60000"/>
          </a:xfrm>
          <a:prstGeom prst="rect">
            <a:avLst/>
          </a:prstGeom>
          <a:solidFill>
            <a:srgbClr val="E8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13" name="Shape 1113">
            <a:extLst>
              <a:ext uri="{FF2B5EF4-FFF2-40B4-BE49-F238E27FC236}">
                <a16:creationId xmlns:a16="http://schemas.microsoft.com/office/drawing/2014/main" id="{58EF05E4-BF58-425F-9101-4D2A6E306083}"/>
              </a:ext>
            </a:extLst>
          </p:cNvPr>
          <p:cNvSpPr>
            <a:spLocks noGrp="1"/>
          </p:cNvSpPr>
          <p:nvPr/>
        </p:nvSpPr>
        <p:spPr>
          <a:xfrm>
            <a:off x="117796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2026.08</a:t>
            </a:r>
          </a:p>
        </p:txBody>
      </p:sp>
      <p:sp>
        <p:nvSpPr>
          <p:cNvPr id="1114" name="Shape 1114">
            <a:extLst>
              <a:ext uri="{FF2B5EF4-FFF2-40B4-BE49-F238E27FC236}">
                <a16:creationId xmlns:a16="http://schemas.microsoft.com/office/drawing/2014/main" id="{4DDD4F79-3EA2-4BDD-AC48-78CAB9084288}"/>
              </a:ext>
            </a:extLst>
          </p:cNvPr>
          <p:cNvSpPr>
            <a:spLocks noGrp="1"/>
          </p:cNvSpPr>
          <p:nvPr/>
        </p:nvSpPr>
        <p:spPr>
          <a:xfrm>
            <a:off x="154796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15" name="Shape 1115">
            <a:extLst>
              <a:ext uri="{FF2B5EF4-FFF2-40B4-BE49-F238E27FC236}">
                <a16:creationId xmlns:a16="http://schemas.microsoft.com/office/drawing/2014/main" id="{A5938771-560B-4102-BE2E-9C040CCEB622}"/>
              </a:ext>
            </a:extLst>
          </p:cNvPr>
          <p:cNvSpPr>
            <a:spLocks noGrp="1"/>
          </p:cNvSpPr>
          <p:nvPr/>
        </p:nvSpPr>
        <p:spPr>
          <a:xfrm>
            <a:off x="1622964" y="2175000"/>
            <a:ext cx="110000" cy="11000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16" name="Shape 1116">
            <a:extLst>
              <a:ext uri="{FF2B5EF4-FFF2-40B4-BE49-F238E27FC236}">
                <a16:creationId xmlns:a16="http://schemas.microsoft.com/office/drawing/2014/main" id="{74147C15-C40D-46BA-AC4F-EC957E515EA5}"/>
              </a:ext>
            </a:extLst>
          </p:cNvPr>
          <p:cNvSpPr>
            <a:spLocks noGrp="1"/>
          </p:cNvSpPr>
          <p:nvPr/>
        </p:nvSpPr>
        <p:spPr>
          <a:xfrm rot="5400000">
            <a:off x="2491568" y="2150000"/>
            <a:ext cx="140000" cy="160000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17" name="TextBox 1117">
            <a:extLst>
              <a:ext uri="{FF2B5EF4-FFF2-40B4-BE49-F238E27FC236}">
                <a16:creationId xmlns:a16="http://schemas.microsoft.com/office/drawing/2014/main" id="{9E17D8F2-97F7-4CD7-90BE-CB9C9C3959EF}"/>
              </a:ext>
            </a:extLst>
          </p:cNvPr>
          <p:cNvSpPr>
            <a:spLocks noGrp="1"/>
          </p:cNvSpPr>
          <p:nvPr/>
        </p:nvSpPr>
        <p:spPr>
          <a:xfrm>
            <a:off x="79436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5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最終開発</a:t>
            </a:r>
          </a:p>
        </p:txBody>
      </p:sp>
      <p:sp>
        <p:nvSpPr>
          <p:cNvPr id="1118" name="TextBox 1118">
            <a:extLst>
              <a:ext uri="{FF2B5EF4-FFF2-40B4-BE49-F238E27FC236}">
                <a16:creationId xmlns:a16="http://schemas.microsoft.com/office/drawing/2014/main" id="{CB9987EB-6507-4FF2-A2AC-4629C79697DE}"/>
              </a:ext>
            </a:extLst>
          </p:cNvPr>
          <p:cNvSpPr>
            <a:spLocks noGrp="1"/>
          </p:cNvSpPr>
          <p:nvPr/>
        </p:nvSpPr>
        <p:spPr>
          <a:xfrm>
            <a:off x="794360" y="2790000"/>
            <a:ext cx="172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743"/>
          </a:bodyPr>
          <a:lstStyle/>
          <a:p>
            <a:pPr algn="ctr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キオスク・音声・レポートを完成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現場運用に向けた連携と安定化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特許出願・IRB承認を目標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19" name="Shape 1119">
            <a:extLst>
              <a:ext uri="{FF2B5EF4-FFF2-40B4-BE49-F238E27FC236}">
                <a16:creationId xmlns:a16="http://schemas.microsoft.com/office/drawing/2014/main" id="{53575AF9-ACB7-4024-8DA3-94F2383089C1}"/>
              </a:ext>
            </a:extLst>
          </p:cNvPr>
          <p:cNvSpPr>
            <a:spLocks noGrp="1"/>
          </p:cNvSpPr>
          <p:nvPr/>
        </p:nvSpPr>
        <p:spPr>
          <a:xfrm>
            <a:off x="2945172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2026.09</a:t>
            </a:r>
          </a:p>
        </p:txBody>
      </p:sp>
      <p:sp>
        <p:nvSpPr>
          <p:cNvPr id="1120" name="Shape 1120">
            <a:extLst>
              <a:ext uri="{FF2B5EF4-FFF2-40B4-BE49-F238E27FC236}">
                <a16:creationId xmlns:a16="http://schemas.microsoft.com/office/drawing/2014/main" id="{5E24B46E-A213-42E1-BD8E-068B69007445}"/>
              </a:ext>
            </a:extLst>
          </p:cNvPr>
          <p:cNvSpPr>
            <a:spLocks noGrp="1"/>
          </p:cNvSpPr>
          <p:nvPr/>
        </p:nvSpPr>
        <p:spPr>
          <a:xfrm>
            <a:off x="3315172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4A8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21" name="Shape 1121">
            <a:extLst>
              <a:ext uri="{FF2B5EF4-FFF2-40B4-BE49-F238E27FC236}">
                <a16:creationId xmlns:a16="http://schemas.microsoft.com/office/drawing/2014/main" id="{530297EF-0B98-4415-A8F2-3271CFE92B1B}"/>
              </a:ext>
            </a:extLst>
          </p:cNvPr>
          <p:cNvSpPr>
            <a:spLocks noGrp="1"/>
          </p:cNvSpPr>
          <p:nvPr/>
        </p:nvSpPr>
        <p:spPr>
          <a:xfrm>
            <a:off x="3390172" y="2175000"/>
            <a:ext cx="110000" cy="11000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22" name="Shape 1122">
            <a:extLst>
              <a:ext uri="{FF2B5EF4-FFF2-40B4-BE49-F238E27FC236}">
                <a16:creationId xmlns:a16="http://schemas.microsoft.com/office/drawing/2014/main" id="{58603441-462D-4F01-8E15-9AF57057E6CE}"/>
              </a:ext>
            </a:extLst>
          </p:cNvPr>
          <p:cNvSpPr>
            <a:spLocks noGrp="1"/>
          </p:cNvSpPr>
          <p:nvPr/>
        </p:nvSpPr>
        <p:spPr>
          <a:xfrm rot="5400000">
            <a:off x="4258776" y="2150000"/>
            <a:ext cx="140000" cy="160000"/>
          </a:xfrm>
          <a:prstGeom prst="triangle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23" name="TextBox 1123">
            <a:extLst>
              <a:ext uri="{FF2B5EF4-FFF2-40B4-BE49-F238E27FC236}">
                <a16:creationId xmlns:a16="http://schemas.microsoft.com/office/drawing/2014/main" id="{302891C0-47D9-44A0-82D2-FB68D9F6E70B}"/>
              </a:ext>
            </a:extLst>
          </p:cNvPr>
          <p:cNvSpPr>
            <a:spLocks noGrp="1"/>
          </p:cNvSpPr>
          <p:nvPr/>
        </p:nvSpPr>
        <p:spPr>
          <a:xfrm>
            <a:off x="2561568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実証準備</a:t>
            </a:r>
          </a:p>
        </p:txBody>
      </p:sp>
      <p:sp>
        <p:nvSpPr>
          <p:cNvPr id="1124" name="TextBox 1124">
            <a:extLst>
              <a:ext uri="{FF2B5EF4-FFF2-40B4-BE49-F238E27FC236}">
                <a16:creationId xmlns:a16="http://schemas.microsoft.com/office/drawing/2014/main" id="{15DA4CD9-72CF-4B83-9C37-99F95017BD94}"/>
              </a:ext>
            </a:extLst>
          </p:cNvPr>
          <p:cNvSpPr>
            <a:spLocks noGrp="1"/>
          </p:cNvSpPr>
          <p:nvPr/>
        </p:nvSpPr>
        <p:spPr>
          <a:xfrm>
            <a:off x="2601568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9335"/>
          </a:bodyPr>
          <a:lstStyle/>
          <a:p>
            <a:pPr algn="ctr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IRB承認後に参加者募集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協力施設への設置・同意手続き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日本語・敬語の設問調整</a:t>
            </a:r>
          </a:p>
        </p:txBody>
      </p:sp>
      <p:sp>
        <p:nvSpPr>
          <p:cNvPr id="1125" name="Shape 1125">
            <a:extLst>
              <a:ext uri="{FF2B5EF4-FFF2-40B4-BE49-F238E27FC236}">
                <a16:creationId xmlns:a16="http://schemas.microsoft.com/office/drawing/2014/main" id="{4BD2B23D-7FF0-4796-8CF7-733487B2B3C6}"/>
              </a:ext>
            </a:extLst>
          </p:cNvPr>
          <p:cNvSpPr>
            <a:spLocks noGrp="1"/>
          </p:cNvSpPr>
          <p:nvPr/>
        </p:nvSpPr>
        <p:spPr>
          <a:xfrm>
            <a:off x="4712380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2026.10~11</a:t>
            </a:r>
          </a:p>
        </p:txBody>
      </p:sp>
      <p:sp>
        <p:nvSpPr>
          <p:cNvPr id="1126" name="Shape 1126">
            <a:extLst>
              <a:ext uri="{FF2B5EF4-FFF2-40B4-BE49-F238E27FC236}">
                <a16:creationId xmlns:a16="http://schemas.microsoft.com/office/drawing/2014/main" id="{CA55CD89-5766-4E59-9308-D99F50ED0E20}"/>
              </a:ext>
            </a:extLst>
          </p:cNvPr>
          <p:cNvSpPr>
            <a:spLocks noGrp="1"/>
          </p:cNvSpPr>
          <p:nvPr/>
        </p:nvSpPr>
        <p:spPr>
          <a:xfrm>
            <a:off x="5082380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E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27" name="Shape 1127">
            <a:extLst>
              <a:ext uri="{FF2B5EF4-FFF2-40B4-BE49-F238E27FC236}">
                <a16:creationId xmlns:a16="http://schemas.microsoft.com/office/drawing/2014/main" id="{6834D2DC-DCAE-4595-A3B0-5CADAF474982}"/>
              </a:ext>
            </a:extLst>
          </p:cNvPr>
          <p:cNvSpPr>
            <a:spLocks noGrp="1"/>
          </p:cNvSpPr>
          <p:nvPr/>
        </p:nvSpPr>
        <p:spPr>
          <a:xfrm>
            <a:off x="5157380" y="2175000"/>
            <a:ext cx="110000" cy="11000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28" name="Shape 1128">
            <a:extLst>
              <a:ext uri="{FF2B5EF4-FFF2-40B4-BE49-F238E27FC236}">
                <a16:creationId xmlns:a16="http://schemas.microsoft.com/office/drawing/2014/main" id="{9B226330-2E8E-406D-A0D9-D4799226C642}"/>
              </a:ext>
            </a:extLst>
          </p:cNvPr>
          <p:cNvSpPr>
            <a:spLocks noGrp="1"/>
          </p:cNvSpPr>
          <p:nvPr/>
        </p:nvSpPr>
        <p:spPr>
          <a:xfrm rot="5400000">
            <a:off x="6025984" y="2150000"/>
            <a:ext cx="140000" cy="160000"/>
          </a:xfrm>
          <a:prstGeom prst="triangl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29" name="TextBox 1129">
            <a:extLst>
              <a:ext uri="{FF2B5EF4-FFF2-40B4-BE49-F238E27FC236}">
                <a16:creationId xmlns:a16="http://schemas.microsoft.com/office/drawing/2014/main" id="{7D247F15-559B-4909-BD67-682A581D6F93}"/>
              </a:ext>
            </a:extLst>
          </p:cNvPr>
          <p:cNvSpPr>
            <a:spLocks noGrp="1"/>
          </p:cNvSpPr>
          <p:nvPr/>
        </p:nvSpPr>
        <p:spPr>
          <a:xfrm>
            <a:off x="4328776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日韓両国で実証</a:t>
            </a:r>
          </a:p>
        </p:txBody>
      </p:sp>
      <p:sp>
        <p:nvSpPr>
          <p:cNvPr id="1130" name="TextBox 1130">
            <a:extLst>
              <a:ext uri="{FF2B5EF4-FFF2-40B4-BE49-F238E27FC236}">
                <a16:creationId xmlns:a16="http://schemas.microsoft.com/office/drawing/2014/main" id="{40E797B6-1657-4FBA-8F54-2D4DD003E847}"/>
              </a:ext>
            </a:extLst>
          </p:cNvPr>
          <p:cNvSpPr>
            <a:spLocks noGrp="1"/>
          </p:cNvSpPr>
          <p:nvPr/>
        </p:nvSpPr>
        <p:spPr>
          <a:xfrm>
            <a:off x="4300201" y="2790000"/>
            <a:ext cx="184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796"/>
          </a:bodyPr>
          <a:lstStyle/>
          <a:p>
            <a:pPr algn="ctr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韓国施設でボタンのユーザビリティ検証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日本の現地施設でユーザビリティ確認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日本語音声認識の精度確認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31" name="Shape 1131">
            <a:extLst>
              <a:ext uri="{FF2B5EF4-FFF2-40B4-BE49-F238E27FC236}">
                <a16:creationId xmlns:a16="http://schemas.microsoft.com/office/drawing/2014/main" id="{804D5B89-B655-4E5C-A8DE-86BC211284C3}"/>
              </a:ext>
            </a:extLst>
          </p:cNvPr>
          <p:cNvSpPr>
            <a:spLocks noGrp="1"/>
          </p:cNvSpPr>
          <p:nvPr/>
        </p:nvSpPr>
        <p:spPr>
          <a:xfrm>
            <a:off x="6479588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0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1132" name="Shape 1132">
            <a:extLst>
              <a:ext uri="{FF2B5EF4-FFF2-40B4-BE49-F238E27FC236}">
                <a16:creationId xmlns:a16="http://schemas.microsoft.com/office/drawing/2014/main" id="{BE9FDAC4-87BB-4E50-995F-44B721B57F70}"/>
              </a:ext>
            </a:extLst>
          </p:cNvPr>
          <p:cNvSpPr>
            <a:spLocks noGrp="1"/>
          </p:cNvSpPr>
          <p:nvPr/>
        </p:nvSpPr>
        <p:spPr>
          <a:xfrm>
            <a:off x="6849588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841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33" name="Shape 1133">
            <a:extLst>
              <a:ext uri="{FF2B5EF4-FFF2-40B4-BE49-F238E27FC236}">
                <a16:creationId xmlns:a16="http://schemas.microsoft.com/office/drawing/2014/main" id="{7F57327C-B0D9-4FFC-A91D-7E8004B1CA5C}"/>
              </a:ext>
            </a:extLst>
          </p:cNvPr>
          <p:cNvSpPr>
            <a:spLocks noGrp="1"/>
          </p:cNvSpPr>
          <p:nvPr/>
        </p:nvSpPr>
        <p:spPr>
          <a:xfrm>
            <a:off x="6924588" y="2175000"/>
            <a:ext cx="110000" cy="11000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34" name="Shape 1134">
            <a:extLst>
              <a:ext uri="{FF2B5EF4-FFF2-40B4-BE49-F238E27FC236}">
                <a16:creationId xmlns:a16="http://schemas.microsoft.com/office/drawing/2014/main" id="{2DFBB74C-1E9F-4D68-8131-F37BF3D7FDD7}"/>
              </a:ext>
            </a:extLst>
          </p:cNvPr>
          <p:cNvSpPr>
            <a:spLocks noGrp="1"/>
          </p:cNvSpPr>
          <p:nvPr/>
        </p:nvSpPr>
        <p:spPr>
          <a:xfrm rot="5400000">
            <a:off x="7793192" y="2150000"/>
            <a:ext cx="140000" cy="160000"/>
          </a:xfrm>
          <a:prstGeom prst="triangl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35" name="TextBox 1135">
            <a:extLst>
              <a:ext uri="{FF2B5EF4-FFF2-40B4-BE49-F238E27FC236}">
                <a16:creationId xmlns:a16="http://schemas.microsoft.com/office/drawing/2014/main" id="{FAF3E03D-2B81-4EFD-B15A-F07991708D8C}"/>
              </a:ext>
            </a:extLst>
          </p:cNvPr>
          <p:cNvSpPr>
            <a:spLocks noGrp="1"/>
          </p:cNvSpPr>
          <p:nvPr/>
        </p:nvSpPr>
        <p:spPr>
          <a:xfrm>
            <a:off x="6095984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最終試作品・初期供給</a:t>
            </a:r>
          </a:p>
        </p:txBody>
      </p:sp>
      <p:sp>
        <p:nvSpPr>
          <p:cNvPr id="1136" name="TextBox 1136">
            <a:extLst>
              <a:ext uri="{FF2B5EF4-FFF2-40B4-BE49-F238E27FC236}">
                <a16:creationId xmlns:a16="http://schemas.microsoft.com/office/drawing/2014/main" id="{C7726A08-4F1E-4A40-87A8-4EBA3412F238}"/>
              </a:ext>
            </a:extLst>
          </p:cNvPr>
          <p:cNvSpPr>
            <a:spLocks noGrp="1"/>
          </p:cNvSpPr>
          <p:nvPr/>
        </p:nvSpPr>
        <p:spPr>
          <a:xfrm>
            <a:off x="6135984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実証データを反映した微調整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最終試作品10台を完成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協議中の10施設へ低価格供給</a:t>
            </a:r>
          </a:p>
        </p:txBody>
      </p:sp>
      <p:sp>
        <p:nvSpPr>
          <p:cNvPr id="1137" name="Shape 1137">
            <a:extLst>
              <a:ext uri="{FF2B5EF4-FFF2-40B4-BE49-F238E27FC236}">
                <a16:creationId xmlns:a16="http://schemas.microsoft.com/office/drawing/2014/main" id="{2F5CCA82-E9FD-400C-A2CC-7AA241FEA9A1}"/>
              </a:ext>
            </a:extLst>
          </p:cNvPr>
          <p:cNvSpPr>
            <a:spLocks noGrp="1"/>
          </p:cNvSpPr>
          <p:nvPr/>
        </p:nvSpPr>
        <p:spPr>
          <a:xfrm>
            <a:off x="8246796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2027上期</a:t>
            </a:r>
          </a:p>
        </p:txBody>
      </p:sp>
      <p:sp>
        <p:nvSpPr>
          <p:cNvPr id="1138" name="Shape 1138">
            <a:extLst>
              <a:ext uri="{FF2B5EF4-FFF2-40B4-BE49-F238E27FC236}">
                <a16:creationId xmlns:a16="http://schemas.microsoft.com/office/drawing/2014/main" id="{01F65C56-1696-40CF-93E2-1ED0DC8D75DE}"/>
              </a:ext>
            </a:extLst>
          </p:cNvPr>
          <p:cNvSpPr>
            <a:spLocks noGrp="1"/>
          </p:cNvSpPr>
          <p:nvPr/>
        </p:nvSpPr>
        <p:spPr>
          <a:xfrm>
            <a:off x="8616796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7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39" name="Shape 1139">
            <a:extLst>
              <a:ext uri="{FF2B5EF4-FFF2-40B4-BE49-F238E27FC236}">
                <a16:creationId xmlns:a16="http://schemas.microsoft.com/office/drawing/2014/main" id="{CCB82EA0-8C3F-4253-A9C4-F2E531A2D5E3}"/>
              </a:ext>
            </a:extLst>
          </p:cNvPr>
          <p:cNvSpPr>
            <a:spLocks noGrp="1"/>
          </p:cNvSpPr>
          <p:nvPr/>
        </p:nvSpPr>
        <p:spPr>
          <a:xfrm>
            <a:off x="8691796" y="2175000"/>
            <a:ext cx="110000" cy="110000"/>
          </a:xfrm>
          <a:prstGeom prst="ellipse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40" name="Shape 1140">
            <a:extLst>
              <a:ext uri="{FF2B5EF4-FFF2-40B4-BE49-F238E27FC236}">
                <a16:creationId xmlns:a16="http://schemas.microsoft.com/office/drawing/2014/main" id="{1E4940CE-E4C1-416A-8ABE-FC037F83CB57}"/>
              </a:ext>
            </a:extLst>
          </p:cNvPr>
          <p:cNvSpPr>
            <a:spLocks noGrp="1"/>
          </p:cNvSpPr>
          <p:nvPr/>
        </p:nvSpPr>
        <p:spPr>
          <a:xfrm rot="5400000">
            <a:off x="9560400" y="2150000"/>
            <a:ext cx="140000" cy="160000"/>
          </a:xfrm>
          <a:prstGeom prst="triangle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41" name="TextBox 1141">
            <a:extLst>
              <a:ext uri="{FF2B5EF4-FFF2-40B4-BE49-F238E27FC236}">
                <a16:creationId xmlns:a16="http://schemas.microsoft.com/office/drawing/2014/main" id="{2564C0FE-E49F-4B58-8510-696ABE18F87A}"/>
              </a:ext>
            </a:extLst>
          </p:cNvPr>
          <p:cNvSpPr>
            <a:spLocks noGrp="1"/>
          </p:cNvSpPr>
          <p:nvPr/>
        </p:nvSpPr>
        <p:spPr>
          <a:xfrm>
            <a:off x="7863192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国の予算を確保</a:t>
            </a:r>
          </a:p>
        </p:txBody>
      </p:sp>
      <p:sp>
        <p:nvSpPr>
          <p:cNvPr id="1142" name="TextBox 1142">
            <a:extLst>
              <a:ext uri="{FF2B5EF4-FFF2-40B4-BE49-F238E27FC236}">
                <a16:creationId xmlns:a16="http://schemas.microsoft.com/office/drawing/2014/main" id="{57718C4B-EF01-4EA3-8921-31D3DE77A872}"/>
              </a:ext>
            </a:extLst>
          </p:cNvPr>
          <p:cNvSpPr>
            <a:spLocks noGrp="1"/>
          </p:cNvSpPr>
          <p:nvPr/>
        </p:nvSpPr>
        <p:spPr>
          <a:xfrm>
            <a:off x="7903192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796"/>
          </a:bodyPr>
          <a:lstStyle/>
          <a:p>
            <a:pPr algn="ctr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初期供給の成果データを蓄積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自治体・認知症安心センターへB2G提案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5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政府実証事業・予算と連携</a:t>
            </a:r>
            <a:endParaRPr sz="95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43" name="Shape 1143">
            <a:extLst>
              <a:ext uri="{FF2B5EF4-FFF2-40B4-BE49-F238E27FC236}">
                <a16:creationId xmlns:a16="http://schemas.microsoft.com/office/drawing/2014/main" id="{415314D5-299E-4987-BC04-EE6E63D3F914}"/>
              </a:ext>
            </a:extLst>
          </p:cNvPr>
          <p:cNvSpPr>
            <a:spLocks noGrp="1"/>
          </p:cNvSpPr>
          <p:nvPr/>
        </p:nvSpPr>
        <p:spPr>
          <a:xfrm>
            <a:off x="1001400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2027下期</a:t>
            </a:r>
          </a:p>
        </p:txBody>
      </p:sp>
      <p:sp>
        <p:nvSpPr>
          <p:cNvPr id="1144" name="Shape 1144">
            <a:extLst>
              <a:ext uri="{FF2B5EF4-FFF2-40B4-BE49-F238E27FC236}">
                <a16:creationId xmlns:a16="http://schemas.microsoft.com/office/drawing/2014/main" id="{FBD625A7-7412-4A77-A7D9-7C98C2E51E96}"/>
              </a:ext>
            </a:extLst>
          </p:cNvPr>
          <p:cNvSpPr>
            <a:spLocks noGrp="1"/>
          </p:cNvSpPr>
          <p:nvPr/>
        </p:nvSpPr>
        <p:spPr>
          <a:xfrm>
            <a:off x="1038400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45" name="Shape 1145">
            <a:extLst>
              <a:ext uri="{FF2B5EF4-FFF2-40B4-BE49-F238E27FC236}">
                <a16:creationId xmlns:a16="http://schemas.microsoft.com/office/drawing/2014/main" id="{10D00CEB-D95E-445D-AAF4-CACCA04AAC70}"/>
              </a:ext>
            </a:extLst>
          </p:cNvPr>
          <p:cNvSpPr>
            <a:spLocks noGrp="1"/>
          </p:cNvSpPr>
          <p:nvPr/>
        </p:nvSpPr>
        <p:spPr>
          <a:xfrm>
            <a:off x="10459004" y="2175000"/>
            <a:ext cx="110000" cy="110000"/>
          </a:xfrm>
          <a:prstGeom prst="ellipse">
            <a:avLst/>
          </a:prstGeom>
          <a:solidFill>
            <a:srgbClr val="7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46" name="TextBox 1146">
            <a:extLst>
              <a:ext uri="{FF2B5EF4-FFF2-40B4-BE49-F238E27FC236}">
                <a16:creationId xmlns:a16="http://schemas.microsoft.com/office/drawing/2014/main" id="{39E6F35E-7719-4703-9E00-9F90EF8223CE}"/>
              </a:ext>
            </a:extLst>
          </p:cNvPr>
          <p:cNvSpPr>
            <a:spLocks noGrp="1"/>
          </p:cNvSpPr>
          <p:nvPr/>
        </p:nvSpPr>
        <p:spPr>
          <a:xfrm>
            <a:off x="963040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5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日本市場参入</a:t>
            </a:r>
          </a:p>
        </p:txBody>
      </p:sp>
      <p:sp>
        <p:nvSpPr>
          <p:cNvPr id="1147" name="TextBox 1147">
            <a:extLst>
              <a:ext uri="{FF2B5EF4-FFF2-40B4-BE49-F238E27FC236}">
                <a16:creationId xmlns:a16="http://schemas.microsoft.com/office/drawing/2014/main" id="{83761689-E4B6-4278-9642-DCE30778F9FC}"/>
              </a:ext>
            </a:extLst>
          </p:cNvPr>
          <p:cNvSpPr>
            <a:spLocks noGrp="1"/>
          </p:cNvSpPr>
          <p:nvPr/>
        </p:nvSpPr>
        <p:spPr>
          <a:xfrm>
            <a:off x="9670399" y="2790000"/>
            <a:ext cx="1767207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ナ・ヒョヌの除隊後、日本拠点に合流</a:t>
            </a:r>
            <a:endParaRPr sz="8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北海道大学アクセラレーションに参加</a:t>
            </a:r>
            <a:endParaRPr sz="8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50000"/>
              </a:lnSpc>
              <a:spcBef>
                <a:spcPts val="150"/>
              </a:spcBef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日本のパートナーと現地事業化</a:t>
            </a:r>
            <a:endParaRPr sz="8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48" name="Shape 1148">
            <a:extLst>
              <a:ext uri="{FF2B5EF4-FFF2-40B4-BE49-F238E27FC236}">
                <a16:creationId xmlns:a16="http://schemas.microsoft.com/office/drawing/2014/main" id="{C3214C0F-7385-451A-A38B-3094E4F48802}"/>
              </a:ext>
            </a:extLst>
          </p:cNvPr>
          <p:cNvSpPr>
            <a:spLocks noGrp="1"/>
          </p:cNvSpPr>
          <p:nvPr/>
        </p:nvSpPr>
        <p:spPr>
          <a:xfrm>
            <a:off x="594360" y="3770000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49" name="Shape 1149">
            <a:extLst>
              <a:ext uri="{FF2B5EF4-FFF2-40B4-BE49-F238E27FC236}">
                <a16:creationId xmlns:a16="http://schemas.microsoft.com/office/drawing/2014/main" id="{1A396230-1208-49B2-AE50-DD8AF7E844D3}"/>
              </a:ext>
            </a:extLst>
          </p:cNvPr>
          <p:cNvSpPr>
            <a:spLocks noGrp="1"/>
          </p:cNvSpPr>
          <p:nvPr/>
        </p:nvSpPr>
        <p:spPr>
          <a:xfrm>
            <a:off x="594360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50" name="Shape 1150">
            <a:extLst>
              <a:ext uri="{FF2B5EF4-FFF2-40B4-BE49-F238E27FC236}">
                <a16:creationId xmlns:a16="http://schemas.microsoft.com/office/drawing/2014/main" id="{AB5A5D9E-893E-4B8A-A606-D510403EF829}"/>
              </a:ext>
            </a:extLst>
          </p:cNvPr>
          <p:cNvSpPr>
            <a:spLocks noGrp="1"/>
          </p:cNvSpPr>
          <p:nvPr/>
        </p:nvSpPr>
        <p:spPr>
          <a:xfrm>
            <a:off x="594360" y="4120000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51" name="Shape 1151">
            <a:extLst>
              <a:ext uri="{FF2B5EF4-FFF2-40B4-BE49-F238E27FC236}">
                <a16:creationId xmlns:a16="http://schemas.microsoft.com/office/drawing/2014/main" id="{8225B60C-8587-41BD-BE16-DDC3F96E29AA}"/>
              </a:ext>
            </a:extLst>
          </p:cNvPr>
          <p:cNvSpPr>
            <a:spLocks noGrp="1"/>
          </p:cNvSpPr>
          <p:nvPr/>
        </p:nvSpPr>
        <p:spPr>
          <a:xfrm>
            <a:off x="795528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01</a:t>
            </a:r>
          </a:p>
        </p:txBody>
      </p:sp>
      <p:sp>
        <p:nvSpPr>
          <p:cNvPr id="1152" name="TextBox 1152">
            <a:extLst>
              <a:ext uri="{FF2B5EF4-FFF2-40B4-BE49-F238E27FC236}">
                <a16:creationId xmlns:a16="http://schemas.microsoft.com/office/drawing/2014/main" id="{83C06293-8919-410D-8069-4B2A1859732F}"/>
              </a:ext>
            </a:extLst>
          </p:cNvPr>
          <p:cNvSpPr>
            <a:spLocks noGrp="1"/>
          </p:cNvSpPr>
          <p:nvPr/>
        </p:nvSpPr>
        <p:spPr>
          <a:xfrm>
            <a:off x="1307234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最終試作品・初期供給</a:t>
            </a:r>
          </a:p>
        </p:txBody>
      </p:sp>
      <p:sp>
        <p:nvSpPr>
          <p:cNvPr id="1153" name="TextBox 1153">
            <a:extLst>
              <a:ext uri="{FF2B5EF4-FFF2-40B4-BE49-F238E27FC236}">
                <a16:creationId xmlns:a16="http://schemas.microsoft.com/office/drawing/2014/main" id="{847E49FB-8754-4B91-870D-28C31E095EBB}"/>
              </a:ext>
            </a:extLst>
          </p:cNvPr>
          <p:cNvSpPr>
            <a:spLocks noGrp="1"/>
          </p:cNvSpPr>
          <p:nvPr/>
        </p:nvSpPr>
        <p:spPr>
          <a:xfrm>
            <a:off x="1289304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2026.12・実証結果を反映</a:t>
            </a:r>
          </a:p>
        </p:txBody>
      </p:sp>
      <p:sp>
        <p:nvSpPr>
          <p:cNvPr id="1160" name="Shape 1160">
            <a:extLst>
              <a:ext uri="{FF2B5EF4-FFF2-40B4-BE49-F238E27FC236}">
                <a16:creationId xmlns:a16="http://schemas.microsoft.com/office/drawing/2014/main" id="{742F0C75-3791-4498-9121-EE1EC5C92ED6}"/>
              </a:ext>
            </a:extLst>
          </p:cNvPr>
          <p:cNvSpPr>
            <a:spLocks noGrp="1"/>
          </p:cNvSpPr>
          <p:nvPr/>
        </p:nvSpPr>
        <p:spPr>
          <a:xfrm>
            <a:off x="4335443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61" name="Shape 1161">
            <a:extLst>
              <a:ext uri="{FF2B5EF4-FFF2-40B4-BE49-F238E27FC236}">
                <a16:creationId xmlns:a16="http://schemas.microsoft.com/office/drawing/2014/main" id="{9B635B35-8CD1-47AB-8BC9-728EC5318B58}"/>
              </a:ext>
            </a:extLst>
          </p:cNvPr>
          <p:cNvSpPr>
            <a:spLocks noGrp="1"/>
          </p:cNvSpPr>
          <p:nvPr/>
        </p:nvSpPr>
        <p:spPr>
          <a:xfrm>
            <a:off x="4335443" y="4120000"/>
            <a:ext cx="50292" cy="658368"/>
          </a:xfrm>
          <a:prstGeom prst="rect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62" name="Shape 1162">
            <a:extLst>
              <a:ext uri="{FF2B5EF4-FFF2-40B4-BE49-F238E27FC236}">
                <a16:creationId xmlns:a16="http://schemas.microsoft.com/office/drawing/2014/main" id="{ED609B48-D031-4A91-9143-29A78B881D69}"/>
              </a:ext>
            </a:extLst>
          </p:cNvPr>
          <p:cNvSpPr>
            <a:spLocks noGrp="1"/>
          </p:cNvSpPr>
          <p:nvPr/>
        </p:nvSpPr>
        <p:spPr>
          <a:xfrm>
            <a:off x="4536611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sp>
        <p:nvSpPr>
          <p:cNvPr id="1163" name="TextBox 1163">
            <a:extLst>
              <a:ext uri="{FF2B5EF4-FFF2-40B4-BE49-F238E27FC236}">
                <a16:creationId xmlns:a16="http://schemas.microsoft.com/office/drawing/2014/main" id="{A340CE4F-95B3-4D08-BF57-084C60D3FF8E}"/>
              </a:ext>
            </a:extLst>
          </p:cNvPr>
          <p:cNvSpPr>
            <a:spLocks noGrp="1"/>
          </p:cNvSpPr>
          <p:nvPr/>
        </p:nvSpPr>
        <p:spPr>
          <a:xfrm>
            <a:off x="5048317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国の予算を確保（B2G）</a:t>
            </a:r>
          </a:p>
        </p:txBody>
      </p:sp>
      <p:sp>
        <p:nvSpPr>
          <p:cNvPr id="1164" name="TextBox 1164">
            <a:extLst>
              <a:ext uri="{FF2B5EF4-FFF2-40B4-BE49-F238E27FC236}">
                <a16:creationId xmlns:a16="http://schemas.microsoft.com/office/drawing/2014/main" id="{003FC4C0-91F7-4330-BEAB-18966D0D2390}"/>
              </a:ext>
            </a:extLst>
          </p:cNvPr>
          <p:cNvSpPr>
            <a:spLocks noGrp="1"/>
          </p:cNvSpPr>
          <p:nvPr/>
        </p:nvSpPr>
        <p:spPr>
          <a:xfrm>
            <a:off x="5030387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2027上期・初期供給の成果に基づく</a:t>
            </a:r>
          </a:p>
        </p:txBody>
      </p:sp>
      <p:sp>
        <p:nvSpPr>
          <p:cNvPr id="1171" name="Shape 1171">
            <a:extLst>
              <a:ext uri="{FF2B5EF4-FFF2-40B4-BE49-F238E27FC236}">
                <a16:creationId xmlns:a16="http://schemas.microsoft.com/office/drawing/2014/main" id="{816EF0AC-4ECC-4A09-9665-7AA96ED307AB}"/>
              </a:ext>
            </a:extLst>
          </p:cNvPr>
          <p:cNvSpPr>
            <a:spLocks noGrp="1"/>
          </p:cNvSpPr>
          <p:nvPr/>
        </p:nvSpPr>
        <p:spPr>
          <a:xfrm>
            <a:off x="8076526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72" name="Shape 1172">
            <a:extLst>
              <a:ext uri="{FF2B5EF4-FFF2-40B4-BE49-F238E27FC236}">
                <a16:creationId xmlns:a16="http://schemas.microsoft.com/office/drawing/2014/main" id="{D50AEC42-2E23-4100-8047-0329C8BCB0DB}"/>
              </a:ext>
            </a:extLst>
          </p:cNvPr>
          <p:cNvSpPr>
            <a:spLocks noGrp="1"/>
          </p:cNvSpPr>
          <p:nvPr/>
        </p:nvSpPr>
        <p:spPr>
          <a:xfrm>
            <a:off x="8076526" y="4120000"/>
            <a:ext cx="50292" cy="658368"/>
          </a:xfrm>
          <a:prstGeom prst="rect">
            <a:avLst/>
          </a:prstGeom>
          <a:solidFill>
            <a:srgbClr val="7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73" name="Shape 1173">
            <a:extLst>
              <a:ext uri="{FF2B5EF4-FFF2-40B4-BE49-F238E27FC236}">
                <a16:creationId xmlns:a16="http://schemas.microsoft.com/office/drawing/2014/main" id="{BE937136-DFB2-4179-82EB-CB54BFBF9B0C}"/>
              </a:ext>
            </a:extLst>
          </p:cNvPr>
          <p:cNvSpPr>
            <a:spLocks noGrp="1"/>
          </p:cNvSpPr>
          <p:nvPr/>
        </p:nvSpPr>
        <p:spPr>
          <a:xfrm>
            <a:off x="8277694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7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sp>
        <p:nvSpPr>
          <p:cNvPr id="1174" name="TextBox 1174">
            <a:extLst>
              <a:ext uri="{FF2B5EF4-FFF2-40B4-BE49-F238E27FC236}">
                <a16:creationId xmlns:a16="http://schemas.microsoft.com/office/drawing/2014/main" id="{D6D24050-9E23-4BB8-9FB7-D390C1FF161B}"/>
              </a:ext>
            </a:extLst>
          </p:cNvPr>
          <p:cNvSpPr>
            <a:spLocks noGrp="1"/>
          </p:cNvSpPr>
          <p:nvPr/>
        </p:nvSpPr>
        <p:spPr>
          <a:xfrm>
            <a:off x="8789400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日本市場参入</a:t>
            </a:r>
          </a:p>
        </p:txBody>
      </p:sp>
      <p:sp>
        <p:nvSpPr>
          <p:cNvPr id="1175" name="TextBox 1175">
            <a:extLst>
              <a:ext uri="{FF2B5EF4-FFF2-40B4-BE49-F238E27FC236}">
                <a16:creationId xmlns:a16="http://schemas.microsoft.com/office/drawing/2014/main" id="{4549BE78-F01A-4ADB-9457-367523F7CEDD}"/>
              </a:ext>
            </a:extLst>
          </p:cNvPr>
          <p:cNvSpPr>
            <a:spLocks noGrp="1"/>
          </p:cNvSpPr>
          <p:nvPr/>
        </p:nvSpPr>
        <p:spPr>
          <a:xfrm>
            <a:off x="8771470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2027下期・現地パートナーと事業化</a:t>
            </a:r>
          </a:p>
        </p:txBody>
      </p:sp>
      <p:sp>
        <p:nvSpPr>
          <p:cNvPr id="1154" name="Shape 1154">
            <a:extLst>
              <a:ext uri="{FF2B5EF4-FFF2-40B4-BE49-F238E27FC236}">
                <a16:creationId xmlns:a16="http://schemas.microsoft.com/office/drawing/2014/main" id="{E8782663-DAED-4A67-B4B7-A21696A65589}"/>
              </a:ext>
            </a:extLst>
          </p:cNvPr>
          <p:cNvSpPr>
            <a:spLocks noGrp="1"/>
          </p:cNvSpPr>
          <p:nvPr/>
        </p:nvSpPr>
        <p:spPr>
          <a:xfrm>
            <a:off x="894360" y="4685000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55" name="TextBox 1155">
            <a:extLst>
              <a:ext uri="{FF2B5EF4-FFF2-40B4-BE49-F238E27FC236}">
                <a16:creationId xmlns:a16="http://schemas.microsoft.com/office/drawing/2014/main" id="{1E18099B-32F2-494A-A866-56D000DCFF94}"/>
              </a:ext>
            </a:extLst>
          </p:cNvPr>
          <p:cNvSpPr>
            <a:spLocks noGrp="1"/>
          </p:cNvSpPr>
          <p:nvPr/>
        </p:nvSpPr>
        <p:spPr>
          <a:xfrm>
            <a:off x="1084360" y="4640000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日韓実証のフィードバックを反映し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、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最終試作品10台を自社製作</a:t>
            </a:r>
          </a:p>
        </p:txBody>
      </p:sp>
      <p:sp>
        <p:nvSpPr>
          <p:cNvPr id="1165" name="Shape 1165">
            <a:extLst>
              <a:ext uri="{FF2B5EF4-FFF2-40B4-BE49-F238E27FC236}">
                <a16:creationId xmlns:a16="http://schemas.microsoft.com/office/drawing/2014/main" id="{8EA7A3A2-EB0E-4A17-B9F5-7A4FDD49396E}"/>
              </a:ext>
            </a:extLst>
          </p:cNvPr>
          <p:cNvSpPr>
            <a:spLocks noGrp="1"/>
          </p:cNvSpPr>
          <p:nvPr/>
        </p:nvSpPr>
        <p:spPr>
          <a:xfrm>
            <a:off x="4635443" y="4685000"/>
            <a:ext cx="91440" cy="91440"/>
          </a:xfrm>
          <a:prstGeom prst="ellipse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66" name="TextBox 1166">
            <a:extLst>
              <a:ext uri="{FF2B5EF4-FFF2-40B4-BE49-F238E27FC236}">
                <a16:creationId xmlns:a16="http://schemas.microsoft.com/office/drawing/2014/main" id="{3D4F4C2C-A1B7-43F6-B184-34DD7682A88C}"/>
              </a:ext>
            </a:extLst>
          </p:cNvPr>
          <p:cNvSpPr>
            <a:spLocks noGrp="1"/>
          </p:cNvSpPr>
          <p:nvPr/>
        </p:nvSpPr>
        <p:spPr>
          <a:xfrm>
            <a:off x="4825443" y="4640000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施設運用レポート・参加率データで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政府投資の妥当性を示す</a:t>
            </a:r>
            <a:endParaRPr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76" name="Shape 1176">
            <a:extLst>
              <a:ext uri="{FF2B5EF4-FFF2-40B4-BE49-F238E27FC236}">
                <a16:creationId xmlns:a16="http://schemas.microsoft.com/office/drawing/2014/main" id="{561BB05E-C21C-415B-8C39-940364EDBC40}"/>
              </a:ext>
            </a:extLst>
          </p:cNvPr>
          <p:cNvSpPr>
            <a:spLocks noGrp="1"/>
          </p:cNvSpPr>
          <p:nvPr/>
        </p:nvSpPr>
        <p:spPr>
          <a:xfrm>
            <a:off x="8376526" y="4685000"/>
            <a:ext cx="91440" cy="91440"/>
          </a:xfrm>
          <a:prstGeom prst="ellipse">
            <a:avLst/>
          </a:prstGeom>
          <a:solidFill>
            <a:srgbClr val="7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77" name="TextBox 1177">
            <a:extLst>
              <a:ext uri="{FF2B5EF4-FFF2-40B4-BE49-F238E27FC236}">
                <a16:creationId xmlns:a16="http://schemas.microsoft.com/office/drawing/2014/main" id="{BF8D5F8B-098F-4CBE-ABA2-4835AD46F895}"/>
              </a:ext>
            </a:extLst>
          </p:cNvPr>
          <p:cNvSpPr>
            <a:spLocks noGrp="1"/>
          </p:cNvSpPr>
          <p:nvPr/>
        </p:nvSpPr>
        <p:spPr>
          <a:xfrm>
            <a:off x="8566526" y="4640000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北海道大学のナ・ヒョヌが来年除隊後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、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大学アクセラレーションに参加</a:t>
            </a:r>
            <a:endParaRPr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56" name="Shape 1156">
            <a:extLst>
              <a:ext uri="{FF2B5EF4-FFF2-40B4-BE49-F238E27FC236}">
                <a16:creationId xmlns:a16="http://schemas.microsoft.com/office/drawing/2014/main" id="{C172A69A-3F0D-4687-8D02-AA5832C2A6C1}"/>
              </a:ext>
            </a:extLst>
          </p:cNvPr>
          <p:cNvSpPr>
            <a:spLocks noGrp="1"/>
          </p:cNvSpPr>
          <p:nvPr/>
        </p:nvSpPr>
        <p:spPr>
          <a:xfrm>
            <a:off x="894360" y="5188094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57" name="TextBox 1157">
            <a:extLst>
              <a:ext uri="{FF2B5EF4-FFF2-40B4-BE49-F238E27FC236}">
                <a16:creationId xmlns:a16="http://schemas.microsoft.com/office/drawing/2014/main" id="{48AA4398-4FB2-42C1-BB87-4643DF040238}"/>
              </a:ext>
            </a:extLst>
          </p:cNvPr>
          <p:cNvSpPr>
            <a:spLocks noGrp="1"/>
          </p:cNvSpPr>
          <p:nvPr/>
        </p:nvSpPr>
        <p:spPr>
          <a:xfrm>
            <a:off x="1084360" y="5143094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協議中の10施設（療養病院・福祉施設等）へ低価格で初期導入</a:t>
            </a:r>
          </a:p>
        </p:txBody>
      </p:sp>
      <p:sp>
        <p:nvSpPr>
          <p:cNvPr id="1167" name="Shape 1167">
            <a:extLst>
              <a:ext uri="{FF2B5EF4-FFF2-40B4-BE49-F238E27FC236}">
                <a16:creationId xmlns:a16="http://schemas.microsoft.com/office/drawing/2014/main" id="{1D01B687-A98B-4684-A760-7FCAE4885A30}"/>
              </a:ext>
            </a:extLst>
          </p:cNvPr>
          <p:cNvSpPr>
            <a:spLocks noGrp="1"/>
          </p:cNvSpPr>
          <p:nvPr/>
        </p:nvSpPr>
        <p:spPr>
          <a:xfrm>
            <a:off x="4635443" y="5188094"/>
            <a:ext cx="91440" cy="91440"/>
          </a:xfrm>
          <a:prstGeom prst="ellipse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68" name="TextBox 1168">
            <a:extLst>
              <a:ext uri="{FF2B5EF4-FFF2-40B4-BE49-F238E27FC236}">
                <a16:creationId xmlns:a16="http://schemas.microsoft.com/office/drawing/2014/main" id="{392C17A3-213B-46F6-9C25-1302A0E5985C}"/>
              </a:ext>
            </a:extLst>
          </p:cNvPr>
          <p:cNvSpPr>
            <a:spLocks noGrp="1"/>
          </p:cNvSpPr>
          <p:nvPr/>
        </p:nvSpPr>
        <p:spPr>
          <a:xfrm>
            <a:off x="4825443" y="5143094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認知症安心センタ</a:t>
            </a: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ー・</a:t>
            </a: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自治体の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認知症管理予算と連携した実証事業を提案</a:t>
            </a:r>
            <a:endParaRPr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78" name="Shape 1178">
            <a:extLst>
              <a:ext uri="{FF2B5EF4-FFF2-40B4-BE49-F238E27FC236}">
                <a16:creationId xmlns:a16="http://schemas.microsoft.com/office/drawing/2014/main" id="{6E3A7FF3-E23B-45E0-99AF-7E61B7096925}"/>
              </a:ext>
            </a:extLst>
          </p:cNvPr>
          <p:cNvSpPr>
            <a:spLocks noGrp="1"/>
          </p:cNvSpPr>
          <p:nvPr/>
        </p:nvSpPr>
        <p:spPr>
          <a:xfrm>
            <a:off x="8376526" y="5188094"/>
            <a:ext cx="91440" cy="91440"/>
          </a:xfrm>
          <a:prstGeom prst="ellipse">
            <a:avLst/>
          </a:prstGeom>
          <a:solidFill>
            <a:srgbClr val="7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79" name="TextBox 1179">
            <a:extLst>
              <a:ext uri="{FF2B5EF4-FFF2-40B4-BE49-F238E27FC236}">
                <a16:creationId xmlns:a16="http://schemas.microsoft.com/office/drawing/2014/main" id="{E2132A8D-62DC-4E27-893A-08AF62B161F2}"/>
              </a:ext>
            </a:extLst>
          </p:cNvPr>
          <p:cNvSpPr>
            <a:spLocks noGrp="1"/>
          </p:cNvSpPr>
          <p:nvPr/>
        </p:nvSpPr>
        <p:spPr>
          <a:xfrm>
            <a:off x="8566526" y="5143094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10～11月に日本の実証パートナー施設と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現地供給・運用を協議</a:t>
            </a:r>
            <a:endParaRPr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58" name="Shape 1158">
            <a:extLst>
              <a:ext uri="{FF2B5EF4-FFF2-40B4-BE49-F238E27FC236}">
                <a16:creationId xmlns:a16="http://schemas.microsoft.com/office/drawing/2014/main" id="{8641BD57-4A9C-43ED-8AB6-61786BA1CDFF}"/>
              </a:ext>
            </a:extLst>
          </p:cNvPr>
          <p:cNvSpPr>
            <a:spLocks noGrp="1"/>
          </p:cNvSpPr>
          <p:nvPr/>
        </p:nvSpPr>
        <p:spPr>
          <a:xfrm>
            <a:off x="894360" y="5691188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59" name="TextBox 1159">
            <a:extLst>
              <a:ext uri="{FF2B5EF4-FFF2-40B4-BE49-F238E27FC236}">
                <a16:creationId xmlns:a16="http://schemas.microsoft.com/office/drawing/2014/main" id="{90FEB0FE-0D1B-42CF-871D-E6955E4B0024}"/>
              </a:ext>
            </a:extLst>
          </p:cNvPr>
          <p:cNvSpPr>
            <a:spLocks noGrp="1"/>
          </p:cNvSpPr>
          <p:nvPr/>
        </p:nvSpPr>
        <p:spPr>
          <a:xfrm>
            <a:off x="1084360" y="5646188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導入施設の運用データが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次段階の根拠になります</a:t>
            </a:r>
            <a:endParaRPr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69" name="Shape 1169">
            <a:extLst>
              <a:ext uri="{FF2B5EF4-FFF2-40B4-BE49-F238E27FC236}">
                <a16:creationId xmlns:a16="http://schemas.microsoft.com/office/drawing/2014/main" id="{B36FF23A-0F55-4F76-8F91-C39487B5E33A}"/>
              </a:ext>
            </a:extLst>
          </p:cNvPr>
          <p:cNvSpPr>
            <a:spLocks noGrp="1"/>
          </p:cNvSpPr>
          <p:nvPr/>
        </p:nvSpPr>
        <p:spPr>
          <a:xfrm>
            <a:off x="4635443" y="5691188"/>
            <a:ext cx="91440" cy="91440"/>
          </a:xfrm>
          <a:prstGeom prst="ellipse">
            <a:avLst/>
          </a:prstGeom>
          <a:solidFill>
            <a:srgbClr val="4A7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70" name="TextBox 1170">
            <a:extLst>
              <a:ext uri="{FF2B5EF4-FFF2-40B4-BE49-F238E27FC236}">
                <a16:creationId xmlns:a16="http://schemas.microsoft.com/office/drawing/2014/main" id="{4CBBD238-90A3-4FD6-9009-ADEDC5F426B8}"/>
              </a:ext>
            </a:extLst>
          </p:cNvPr>
          <p:cNvSpPr>
            <a:spLocks noGrp="1"/>
          </p:cNvSpPr>
          <p:nvPr/>
        </p:nvSpPr>
        <p:spPr>
          <a:xfrm>
            <a:off x="4825443" y="5646188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韓国の認知症管理予算1,849億ウォン市場で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施設単位に拡大</a:t>
            </a:r>
            <a:endParaRPr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180" name="Shape 1180">
            <a:extLst>
              <a:ext uri="{FF2B5EF4-FFF2-40B4-BE49-F238E27FC236}">
                <a16:creationId xmlns:a16="http://schemas.microsoft.com/office/drawing/2014/main" id="{B8E448B4-E70F-4B24-90E1-A5C0DC1A5049}"/>
              </a:ext>
            </a:extLst>
          </p:cNvPr>
          <p:cNvSpPr>
            <a:spLocks noGrp="1"/>
          </p:cNvSpPr>
          <p:nvPr/>
        </p:nvSpPr>
        <p:spPr>
          <a:xfrm>
            <a:off x="8376526" y="5691188"/>
            <a:ext cx="91440" cy="91440"/>
          </a:xfrm>
          <a:prstGeom prst="ellipse">
            <a:avLst/>
          </a:prstGeom>
          <a:solidFill>
            <a:srgbClr val="7A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81" name="TextBox 1181">
            <a:extLst>
              <a:ext uri="{FF2B5EF4-FFF2-40B4-BE49-F238E27FC236}">
                <a16:creationId xmlns:a16="http://schemas.microsoft.com/office/drawing/2014/main" id="{EBBA568B-4025-42B9-A087-C0788EFFA778}"/>
              </a:ext>
            </a:extLst>
          </p:cNvPr>
          <p:cNvSpPr>
            <a:spLocks noGrp="1"/>
          </p:cNvSpPr>
          <p:nvPr/>
        </p:nvSpPr>
        <p:spPr>
          <a:xfrm>
            <a:off x="8566526" y="5646188"/>
            <a:ext cx="2911083" cy="4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日本の認知症政策予算125億円・</a:t>
            </a:r>
            <a:endParaRPr lang="en-US" sz="11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主要施設3.3万カ所へ拡大</a:t>
            </a:r>
          </a:p>
        </p:txBody>
      </p:sp>
      <p:sp>
        <p:nvSpPr>
          <p:cNvPr id="1182" name="Shape 1182">
            <a:extLst>
              <a:ext uri="{FF2B5EF4-FFF2-40B4-BE49-F238E27FC236}">
                <a16:creationId xmlns:a16="http://schemas.microsoft.com/office/drawing/2014/main" id="{41150CD0-21C8-4E95-A0D2-060A32E14C64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183" name="TextBox 1183">
            <a:extLst>
              <a:ext uri="{FF2B5EF4-FFF2-40B4-BE49-F238E27FC236}">
                <a16:creationId xmlns:a16="http://schemas.microsoft.com/office/drawing/2014/main" id="{1DF586E5-EA1D-48D7-B336-AB5CDC564CF2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Labs・ロードマップ</a:t>
            </a:r>
          </a:p>
        </p:txBody>
      </p:sp>
      <p:sp>
        <p:nvSpPr>
          <p:cNvPr id="1184" name="TextBox 1184">
            <a:extLst>
              <a:ext uri="{FF2B5EF4-FFF2-40B4-BE49-F238E27FC236}">
                <a16:creationId xmlns:a16="http://schemas.microsoft.com/office/drawing/2014/main" id="{79C27AA0-924C-401B-B787-56A037F59E63}"/>
              </a:ext>
            </a:extLst>
          </p:cNvPr>
          <p:cNvSpPr>
            <a:spLocks noGrp="1"/>
          </p:cNvSpPr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3633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4D1E3-05D4-4952-9C57-944FAD4D9EF7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90D500-DD6D-46CD-A575-217E89C1DD24}"/>
              </a:ext>
            </a:extLst>
          </p:cNvPr>
          <p:cNvSpPr>
            <a:spLocks noGrp="1"/>
          </p:cNvSpPr>
          <p:nvPr/>
        </p:nvSpPr>
        <p:spPr>
          <a:xfrm>
            <a:off x="3392424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4DE7E75-3540-4755-84AA-EA06526DD534}"/>
              </a:ext>
            </a:extLst>
          </p:cNvPr>
          <p:cNvSpPr>
            <a:spLocks noGrp="1"/>
          </p:cNvSpPr>
          <p:nvPr/>
        </p:nvSpPr>
        <p:spPr>
          <a:xfrm>
            <a:off x="6190488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9C0D405-91D1-4406-B90C-14D7A2CD8E03}"/>
              </a:ext>
            </a:extLst>
          </p:cNvPr>
          <p:cNvSpPr>
            <a:spLocks noGrp="1"/>
          </p:cNvSpPr>
          <p:nvPr/>
        </p:nvSpPr>
        <p:spPr>
          <a:xfrm>
            <a:off x="8988552" y="1645920"/>
            <a:ext cx="2606040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>
            <a:spLocks noGrp="1"/>
          </p:cNvSpPr>
          <p:nvPr/>
        </p:nvSpPr>
        <p:spPr>
          <a:xfrm>
            <a:off x="410783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D316705-A2D9-2CCF-4E75-00770B642DCE}"/>
              </a:ext>
            </a:extLst>
          </p:cNvPr>
          <p:cNvSpPr>
            <a:spLocks noGrp="1"/>
          </p:cNvSpPr>
          <p:nvPr/>
        </p:nvSpPr>
        <p:spPr>
          <a:xfrm>
            <a:off x="6893989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>
            <a:spLocks noGrp="1"/>
          </p:cNvSpPr>
          <p:nvPr/>
        </p:nvSpPr>
        <p:spPr>
          <a:xfrm>
            <a:off x="9695203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688CFA-E6C6-42E3-AC59-7624A5B4B260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spc="14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TEAM・チームの実行力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0843E-1B98-4DE5-AAB7-1FCF992D2A9B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6702156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役割の明確な4名が</a:t>
            </a:r>
            <a:r>
              <a:rPr sz="315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全工程</a:t>
            </a:r>
            <a:r>
              <a:rPr sz="315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を担います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AEF2E-914D-41F4-9631-8B515B0FB5F4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AI研究・医学・機械設計・中国・日本での現地経験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54A7D2-DF22-4C9E-8D93-76EFC9B7BBC8}"/>
              </a:ext>
            </a:extLst>
          </p:cNvPr>
          <p:cNvSpPr>
            <a:spLocks noGrp="1"/>
          </p:cNvSpPr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リーダ</a:t>
            </a:r>
            <a:r>
              <a:rPr sz="1100" b="0" dirty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3A0BE-AD27-4679-9E5C-9F87AFF22216}"/>
              </a:ext>
            </a:extLst>
          </p:cNvPr>
          <p:cNvSpPr>
            <a:spLocks noGrp="1"/>
          </p:cNvSpPr>
          <p:nvPr/>
        </p:nvSpPr>
        <p:spPr>
          <a:xfrm>
            <a:off x="837795" y="3054096"/>
            <a:ext cx="2119170" cy="2846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85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キム・ヒョンジュン</a:t>
            </a:r>
            <a:endParaRPr sz="1850" b="1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A428F4-2BF4-40C3-833D-6BEEEFED982E}"/>
              </a:ext>
            </a:extLst>
          </p:cNvPr>
          <p:cNvSpPr>
            <a:spLocks noGrp="1"/>
          </p:cNvSpPr>
          <p:nvPr/>
        </p:nvSpPr>
        <p:spPr>
          <a:xfrm>
            <a:off x="685800" y="3383280"/>
            <a:ext cx="2423160" cy="468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KAIST School of Computing</a:t>
            </a:r>
          </a:p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KAIST AI研究員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B05A61-B9BC-4401-93CD-E416A938DF72}"/>
              </a:ext>
            </a:extLst>
          </p:cNvPr>
          <p:cNvSpPr>
            <a:spLocks noGrp="1"/>
          </p:cNvSpPr>
          <p:nvPr/>
        </p:nvSpPr>
        <p:spPr>
          <a:xfrm>
            <a:off x="1006422" y="3913632"/>
            <a:ext cx="1760467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AI統括・開発担当</a:t>
            </a:r>
            <a:endParaRPr sz="1200" b="0">
              <a:solidFill>
                <a:srgbClr val="F57265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E4AA2F-BF6F-44BD-9DED-9906475095F7}"/>
              </a:ext>
            </a:extLst>
          </p:cNvPr>
          <p:cNvSpPr>
            <a:spLocks noGrp="1"/>
          </p:cNvSpPr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3E7EA-38F5-4EB3-A4BF-D73434400197}"/>
              </a:ext>
            </a:extLst>
          </p:cNvPr>
          <p:cNvSpPr>
            <a:spLocks noGrp="1"/>
          </p:cNvSpPr>
          <p:nvPr/>
        </p:nvSpPr>
        <p:spPr>
          <a:xfrm>
            <a:off x="685800" y="4368664"/>
            <a:ext cx="2423160" cy="965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AI論文17本・被引用734回</a:t>
            </a:r>
            <a:endParaRPr sz="12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国防技術創業大会 金賞</a:t>
            </a: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Nature等、SCI級論文を多数掲載</a:t>
            </a: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AIコンテスト受賞多数</a:t>
            </a:r>
            <a:endParaRPr sz="1200" b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F1C6FC7-5136-428A-B87A-512B379A00E6}"/>
              </a:ext>
            </a:extLst>
          </p:cNvPr>
          <p:cNvSpPr>
            <a:spLocks noGrp="1"/>
          </p:cNvSpPr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メンバー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645F8-0E81-4D7D-BFC3-8F1023229B22}"/>
              </a:ext>
            </a:extLst>
          </p:cNvPr>
          <p:cNvSpPr>
            <a:spLocks noGrp="1"/>
          </p:cNvSpPr>
          <p:nvPr/>
        </p:nvSpPr>
        <p:spPr>
          <a:xfrm>
            <a:off x="4102333" y="3054096"/>
            <a:ext cx="1186222" cy="2846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8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イ・ジェウ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FEBF50-3AEB-4213-8C7A-38970BA5AE52}"/>
              </a:ext>
            </a:extLst>
          </p:cNvPr>
          <p:cNvSpPr>
            <a:spLocks noGrp="1"/>
          </p:cNvSpPr>
          <p:nvPr/>
        </p:nvSpPr>
        <p:spPr>
          <a:xfrm>
            <a:off x="3483864" y="3383280"/>
            <a:ext cx="2423160" cy="468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ソウル大学</a:t>
            </a:r>
            <a:r>
              <a:rPr sz="1200" b="0" dirty="0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200" b="0" dirty="0" err="1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機械工学専攻</a:t>
            </a:r>
            <a:endParaRPr sz="1200" b="0" dirty="0">
              <a:solidFill>
                <a:schemeClr val="accent6">
                  <a:lumMod val="75000"/>
                </a:schemeClr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CHA医科大学</a:t>
            </a:r>
            <a:r>
              <a:rPr sz="1200" b="0" dirty="0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 医学専門大学院4年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3BE18AC-5B93-442D-A01D-0CE54E3C18F7}"/>
              </a:ext>
            </a:extLst>
          </p:cNvPr>
          <p:cNvSpPr>
            <a:spLocks noGrp="1"/>
          </p:cNvSpPr>
          <p:nvPr/>
        </p:nvSpPr>
        <p:spPr>
          <a:xfrm>
            <a:off x="4035742" y="3913632"/>
            <a:ext cx="1319402" cy="27432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chemeClr val="accent6">
                    <a:lumMod val="75000"/>
                  </a:schemeClr>
                </a:solidFill>
                <a:latin typeface="Noto Sans JP"/>
                <a:ea typeface="Noto Sans JP"/>
                <a:cs typeface="Noto Sans JP"/>
              </a:rPr>
              <a:t>医工学専門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76CEAD-93E4-4F3B-A7B6-1FB5EEAF3719}"/>
              </a:ext>
            </a:extLst>
          </p:cNvPr>
          <p:cNvSpPr>
            <a:spLocks noGrp="1"/>
          </p:cNvSpPr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BF766-9E66-4212-8219-DCB975E69947}"/>
              </a:ext>
            </a:extLst>
          </p:cNvPr>
          <p:cNvSpPr>
            <a:spLocks noGrp="1"/>
          </p:cNvSpPr>
          <p:nvPr/>
        </p:nvSpPr>
        <p:spPr>
          <a:xfrm>
            <a:off x="3483864" y="4368664"/>
            <a:ext cx="2423160" cy="965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医学研究参加・IRB審査経験</a:t>
            </a:r>
            <a:endParaRPr sz="12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K-Startup 2025 予備創業者</a:t>
            </a:r>
            <a:endParaRPr sz="12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国防AI競技大会1位・国防部長官賞</a:t>
            </a:r>
            <a:endParaRPr sz="12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PIUDAプロジェクト 最優秀賞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1796C78-3A7C-4A84-8C67-D5764AF07C9B}"/>
              </a:ext>
            </a:extLst>
          </p:cNvPr>
          <p:cNvSpPr>
            <a:spLocks noGrp="1"/>
          </p:cNvSpPr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メンバー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F2BA85-A2C5-46C3-8AFA-44F10A967462}"/>
              </a:ext>
            </a:extLst>
          </p:cNvPr>
          <p:cNvSpPr>
            <a:spLocks noGrp="1"/>
          </p:cNvSpPr>
          <p:nvPr/>
        </p:nvSpPr>
        <p:spPr>
          <a:xfrm>
            <a:off x="6779370" y="3054096"/>
            <a:ext cx="1428275" cy="2846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8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リュ・ダフン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3988AE-EE27-472D-B226-853378721056}"/>
              </a:ext>
            </a:extLst>
          </p:cNvPr>
          <p:cNvSpPr>
            <a:spLocks noGrp="1"/>
          </p:cNvSpPr>
          <p:nvPr/>
        </p:nvSpPr>
        <p:spPr>
          <a:xfrm>
            <a:off x="6281928" y="3383280"/>
            <a:ext cx="2423160" cy="468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延世大学 化学科</a:t>
            </a:r>
            <a:endParaRPr sz="1200" b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ソウル大学 化学 修士課程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5B7B416-E1A4-4AD1-9055-46AE113CB4CB}"/>
              </a:ext>
            </a:extLst>
          </p:cNvPr>
          <p:cNvSpPr>
            <a:spLocks noGrp="1"/>
          </p:cNvSpPr>
          <p:nvPr/>
        </p:nvSpPr>
        <p:spPr>
          <a:xfrm>
            <a:off x="6407128" y="3913632"/>
            <a:ext cx="2220557" cy="274320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中国語ネイティブ・創業経験</a:t>
            </a:r>
            <a:endParaRPr sz="1200" b="0" dirty="0">
              <a:solidFill>
                <a:srgbClr val="5E9A6A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9D813E-E910-4ECC-B7F1-540B4C5E63E5}"/>
              </a:ext>
            </a:extLst>
          </p:cNvPr>
          <p:cNvSpPr>
            <a:spLocks noGrp="1"/>
          </p:cNvSpPr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08D527-D3CA-463A-B1F2-7DAB3F905088}"/>
              </a:ext>
            </a:extLst>
          </p:cNvPr>
          <p:cNvSpPr>
            <a:spLocks noGrp="1"/>
          </p:cNvSpPr>
          <p:nvPr/>
        </p:nvSpPr>
        <p:spPr>
          <a:xfrm>
            <a:off x="6281928" y="4368664"/>
            <a:ext cx="2423160" cy="95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中国の現地校で小中高校を卒業</a:t>
            </a:r>
            <a:endParaRPr sz="12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K</a:t>
            </a:r>
            <a:r>
              <a:rPr lang="en-US"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Moonshot</a:t>
            </a: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研究者部門</a:t>
            </a:r>
            <a:r>
              <a:rPr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最優秀賞</a:t>
            </a:r>
            <a:endParaRPr sz="12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創業大会受賞多数</a:t>
            </a:r>
            <a:endParaRPr sz="12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防衛事業庁長賞</a:t>
            </a:r>
            <a:endParaRPr sz="12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5433DA3-2F57-46BB-A994-76C744875B44}"/>
              </a:ext>
            </a:extLst>
          </p:cNvPr>
          <p:cNvSpPr>
            <a:spLocks noGrp="1"/>
          </p:cNvSpPr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1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メンバー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D2DA74-44FA-4CC2-9CC2-0333FE7A201E}"/>
              </a:ext>
            </a:extLst>
          </p:cNvPr>
          <p:cNvSpPr>
            <a:spLocks noGrp="1"/>
          </p:cNvSpPr>
          <p:nvPr/>
        </p:nvSpPr>
        <p:spPr>
          <a:xfrm>
            <a:off x="9698461" y="3054096"/>
            <a:ext cx="1186222" cy="2846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85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ナ・ヒョヌ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1DD95A-0F71-48EF-AFCA-AAAD4559B1ED}"/>
              </a:ext>
            </a:extLst>
          </p:cNvPr>
          <p:cNvSpPr>
            <a:spLocks noGrp="1"/>
          </p:cNvSpPr>
          <p:nvPr/>
        </p:nvSpPr>
        <p:spPr>
          <a:xfrm>
            <a:off x="9079992" y="3383280"/>
            <a:ext cx="2423160" cy="4681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北海道大学 機械工学</a:t>
            </a:r>
          </a:p>
          <a:p>
            <a:pPr algn="ctr">
              <a:lnSpc>
                <a:spcPct val="128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同大学院 修士・博士課程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73D6B66-7EB9-42EA-BCF4-90D619FB4B97}"/>
              </a:ext>
            </a:extLst>
          </p:cNvPr>
          <p:cNvSpPr>
            <a:spLocks noGrp="1"/>
          </p:cNvSpPr>
          <p:nvPr/>
        </p:nvSpPr>
        <p:spPr>
          <a:xfrm>
            <a:off x="9381653" y="3913632"/>
            <a:ext cx="1819836" cy="274320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日本専門・製品設計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15979E-7BF7-4842-B5F5-B973D215F495}"/>
              </a:ext>
            </a:extLst>
          </p:cNvPr>
          <p:cNvSpPr>
            <a:spLocks noGrp="1"/>
          </p:cNvSpPr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DC8BCD-A497-4AE2-8C0C-AE43E480AF5E}"/>
              </a:ext>
            </a:extLst>
          </p:cNvPr>
          <p:cNvSpPr>
            <a:spLocks noGrp="1"/>
          </p:cNvSpPr>
          <p:nvPr/>
        </p:nvSpPr>
        <p:spPr>
          <a:xfrm>
            <a:off x="9079992" y="4368664"/>
            <a:ext cx="2423160" cy="95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日本在住</a:t>
            </a:r>
            <a:r>
              <a:rPr lang="ja-JP" altLang="en-US"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歴約</a:t>
            </a:r>
            <a:r>
              <a:rPr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10年</a:t>
            </a:r>
            <a:endParaRPr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lang="ja-JP" altLang="en-US"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北海道</a:t>
            </a: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大学で学・修・博士課程</a:t>
            </a:r>
            <a:endParaRPr sz="12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韓国機械学会設計大会</a:t>
            </a:r>
            <a:r>
              <a:rPr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銀賞</a:t>
            </a:r>
            <a:endParaRPr sz="12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 algn="ctr">
              <a:lnSpc>
                <a:spcPct val="132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国防技術創業大会</a:t>
            </a:r>
            <a:r>
              <a:rPr sz="12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2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銀賞</a:t>
            </a:r>
            <a:endParaRPr sz="12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DD6D826-12A6-422A-8C69-16AB1CA7FA9A}"/>
              </a:ext>
            </a:extLst>
          </p:cNvPr>
          <p:cNvSpPr>
            <a:spLocks noGrp="1"/>
          </p:cNvSpPr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8C1F03-F7DE-42C1-BEC7-66820F646415}"/>
              </a:ext>
            </a:extLst>
          </p:cNvPr>
          <p:cNvSpPr>
            <a:spLocks noGrp="1"/>
          </p:cNvSpPr>
          <p:nvPr/>
        </p:nvSpPr>
        <p:spPr>
          <a:xfrm>
            <a:off x="7000833" y="5718981"/>
            <a:ext cx="433772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24時間共に過ごし、全員が開発・企画・実証に参加します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45AABF-40C0-43CD-B8E6-D040511CCAD2}"/>
              </a:ext>
            </a:extLst>
          </p:cNvPr>
          <p:cNvSpPr>
            <a:spLocks noGrp="1"/>
          </p:cNvSpPr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4つのボタンで、高齢者の日々を記録します。</a:t>
            </a:r>
            <a:endParaRPr sz="1400" b="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231330-8CBC-4A16-98B0-4ECE57AC8A7D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52F9A5-C9A1-468F-B5EE-4C539F16DAB2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Labs・チームの実行力</a:t>
            </a:r>
          </a:p>
        </p:txBody>
      </p:sp>
      <p:pic>
        <p:nvPicPr>
          <p:cNvPr id="121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pic>
        <p:nvPicPr>
          <p:cNvPr id="122" name="Picture 2"/>
          <p:cNvPicPr>
            <a:picLocks noChangeAspect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>
          <a:xfrm>
            <a:off x="4114064" y="1768884"/>
            <a:ext cx="1181101" cy="1194912"/>
          </a:xfrm>
          <a:prstGeom prst="ellipse">
            <a:avLst/>
          </a:prstGeom>
          <a:ln w="28575">
            <a:noFill/>
            <a:prstDash val="dash"/>
          </a:ln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>
            <a:spLocks noGrp="1"/>
          </p:cNvSpPr>
          <p:nvPr/>
        </p:nvSpPr>
        <p:spPr>
          <a:xfrm>
            <a:off x="1289811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4" name="Picture 4"/>
          <p:cNvPicPr>
            <a:picLocks noChangeAspect="1"/>
          </p:cNvPicPr>
          <p:nvPr/>
        </p:nvPicPr>
        <p:blipFill rotWithShape="1">
          <a:blip r:embed="rId5"/>
          <a:srcRect l="16667" r="16667"/>
          <a:stretch/>
        </p:blipFill>
        <p:spPr>
          <a:xfrm>
            <a:off x="6902147" y="1788131"/>
            <a:ext cx="1181100" cy="1181101"/>
          </a:xfrm>
          <a:prstGeom prst="ellipse">
            <a:avLst/>
          </a:prstGeom>
          <a:ln w="28575">
            <a:noFill/>
            <a:prstDash val="dash"/>
          </a:ln>
        </p:spPr>
      </p:pic>
      <p:pic>
        <p:nvPicPr>
          <p:cNvPr id="125" name="Picture 2"/>
          <p:cNvPicPr>
            <a:picLocks noChangeAspect="1"/>
          </p:cNvPicPr>
          <p:nvPr/>
        </p:nvPicPr>
        <p:blipFill rotWithShape="1">
          <a:blip r:embed="rId6"/>
          <a:srcRect l="16667" r="16667"/>
          <a:stretch>
            <a:fillRect/>
          </a:stretch>
        </p:blipFill>
        <p:spPr>
          <a:xfrm>
            <a:off x="9700965" y="1788131"/>
            <a:ext cx="1185806" cy="1181100"/>
          </a:xfrm>
          <a:prstGeom prst="ellipse">
            <a:avLst/>
          </a:prstGeom>
          <a:ln w="28575">
            <a:noFill/>
            <a:prstDash val="dash"/>
          </a:ln>
        </p:spPr>
      </p:pic>
      <p:pic>
        <p:nvPicPr>
          <p:cNvPr id="126" name="그림 53"/>
          <p:cNvPicPr>
            <a:picLocks noChangeAspect="1"/>
          </p:cNvPicPr>
          <p:nvPr/>
        </p:nvPicPr>
        <p:blipFill rotWithShape="1">
          <a:blip r:embed="rId7"/>
          <a:srcRect l="24125" t="9663" r="27188" b="25422"/>
          <a:stretch>
            <a:fillRect/>
          </a:stretch>
        </p:blipFill>
        <p:spPr>
          <a:xfrm>
            <a:off x="1289179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  <p:sp>
        <p:nvSpPr>
          <p:cNvPr id="15" name="TextBox 61">
            <a:extLst>
              <a:ext uri="{FF2B5EF4-FFF2-40B4-BE49-F238E27FC236}">
                <a16:creationId xmlns:a16="http://schemas.microsoft.com/office/drawing/2014/main" id="{31144026-EDE7-B5C5-6FC1-1302A3066856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1031704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12D40-CDD9-409D-AC44-0C6E5570EB22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B9198-13D2-4270-BB73-EECFCA2FD6AA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5241820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273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日韓の高齢者音声認識技術を実装</a:t>
            </a:r>
            <a:endParaRPr sz="2730" b="1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6A336-68DA-40B6-81D0-CCF6EDD80DDB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540532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58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高齢者音声認識の難しさ → 技術で解決</a:t>
            </a:r>
            <a:endParaRPr sz="1580" b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1BD926-DBE0-4532-93C2-456549E91970}"/>
              </a:ext>
            </a:extLst>
          </p:cNvPr>
          <p:cNvSpPr>
            <a:spLocks noGrp="1"/>
          </p:cNvSpPr>
          <p:nvPr/>
        </p:nvSpPr>
        <p:spPr>
          <a:xfrm>
            <a:off x="594360" y="1605825"/>
            <a:ext cx="5541264" cy="4547705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1A6480-9952-475F-A1FA-AC2267EF73E2}"/>
              </a:ext>
            </a:extLst>
          </p:cNvPr>
          <p:cNvSpPr>
            <a:spLocks noGrp="1"/>
          </p:cNvSpPr>
          <p:nvPr/>
        </p:nvSpPr>
        <p:spPr>
          <a:xfrm>
            <a:off x="6309360" y="88010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74E616-0189-480E-813D-D47FA0CC4330}"/>
              </a:ext>
            </a:extLst>
          </p:cNvPr>
          <p:cNvSpPr>
            <a:spLocks noGrp="1"/>
          </p:cNvSpPr>
          <p:nvPr/>
        </p:nvSpPr>
        <p:spPr>
          <a:xfrm>
            <a:off x="6309360" y="3920264"/>
            <a:ext cx="5288249" cy="222885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4EE6A-6D5B-4EB1-A622-2017B6ECE189}"/>
              </a:ext>
            </a:extLst>
          </p:cNvPr>
          <p:cNvSpPr>
            <a:spLocks noGrp="1"/>
          </p:cNvSpPr>
          <p:nvPr/>
        </p:nvSpPr>
        <p:spPr>
          <a:xfrm>
            <a:off x="822960" y="1685925"/>
            <a:ext cx="2500685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82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① </a:t>
            </a:r>
            <a:r>
              <a:rPr sz="182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高齢者音声認識の難しさ</a:t>
            </a:r>
            <a:endParaRPr sz="182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978D6-4CD1-4BF1-9955-2DAD5C520652}"/>
              </a:ext>
            </a:extLst>
          </p:cNvPr>
          <p:cNvSpPr>
            <a:spLocks noGrp="1"/>
          </p:cNvSpPr>
          <p:nvPr/>
        </p:nvSpPr>
        <p:spPr>
          <a:xfrm>
            <a:off x="822959" y="1998345"/>
            <a:ext cx="407435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latin typeface="Noto Sans JP"/>
                <a:ea typeface="Noto Sans JP"/>
                <a:cs typeface="Noto Sans JP"/>
              </a:rPr>
              <a:t>家庭内雑音・発話の重なり</a:t>
            </a:r>
            <a:r>
              <a:rPr sz="1400" b="0" dirty="0">
                <a:latin typeface="Noto Sans JP"/>
                <a:ea typeface="Noto Sans JP"/>
                <a:cs typeface="Noto Sans JP"/>
              </a:rPr>
              <a:t>・</a:t>
            </a:r>
            <a:endParaRPr lang="en-US" sz="1400" b="0" dirty="0">
              <a:latin typeface="Noto Sans JP"/>
              <a:ea typeface="Noto Sans JP"/>
              <a:cs typeface="Noto Sans JP"/>
            </a:endParaRPr>
          </a:p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latin typeface="Noto Sans JP"/>
                <a:ea typeface="Noto Sans JP"/>
                <a:cs typeface="Noto Sans JP"/>
              </a:rPr>
              <a:t>離れた位置からの発話・遅い話速と</a:t>
            </a:r>
            <a:r>
              <a:rPr lang="ko-KR" altLang="en-US" sz="1400" dirty="0">
                <a:latin typeface="Noto Sans JP"/>
                <a:ea typeface="Noto Sans JP"/>
                <a:cs typeface="Noto Sans JP"/>
              </a:rPr>
              <a:t>長</a:t>
            </a:r>
            <a:r>
              <a:rPr lang="ja-JP" altLang="en-US" sz="1400" dirty="0">
                <a:latin typeface="Noto Sans JP"/>
                <a:ea typeface="Noto Sans JP"/>
                <a:cs typeface="Noto Sans JP"/>
              </a:rPr>
              <a:t>い</a:t>
            </a:r>
            <a:r>
              <a:rPr lang="ko-KR" altLang="en-US" sz="1400" dirty="0">
                <a:latin typeface="Noto Sans JP"/>
                <a:ea typeface="Noto Sans JP"/>
                <a:cs typeface="Noto Sans JP"/>
              </a:rPr>
              <a:t>沈黙</a:t>
            </a:r>
            <a:endParaRPr sz="1400" b="0" dirty="0">
              <a:latin typeface="Noto Sans JP"/>
              <a:ea typeface="Noto Sans JP"/>
              <a:cs typeface="Noto Sans JP"/>
            </a:endParaRPr>
          </a:p>
        </p:txBody>
      </p:sp>
      <p:pic>
        <p:nvPicPr>
          <p:cNvPr id="116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E99862-0094-4DD2-ACC3-3840655140AB}"/>
              </a:ext>
            </a:extLst>
          </p:cNvPr>
          <p:cNvSpPr>
            <a:spLocks noGrp="1"/>
          </p:cNvSpPr>
          <p:nvPr/>
        </p:nvSpPr>
        <p:spPr>
          <a:xfrm>
            <a:off x="6537960" y="971550"/>
            <a:ext cx="2518062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82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② Audio to Text </a:t>
            </a:r>
            <a:r>
              <a:rPr sz="182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AIモデル</a:t>
            </a:r>
            <a:endParaRPr sz="1820" b="0" dirty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2D084C-F020-442B-B8C8-24A373B78596}"/>
              </a:ext>
            </a:extLst>
          </p:cNvPr>
          <p:cNvSpPr>
            <a:spLocks noGrp="1"/>
          </p:cNvSpPr>
          <p:nvPr/>
        </p:nvSpPr>
        <p:spPr>
          <a:xfrm>
            <a:off x="6546914" y="4020291"/>
            <a:ext cx="3422412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③ ディクテーション100文字中</a:t>
            </a:r>
            <a:r>
              <a:rPr lang="ja-JP" altLang="en-US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の</a:t>
            </a:r>
            <a:endParaRPr lang="en-US" altLang="ja-JP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lang="en-US" altLang="ja-JP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       </a:t>
            </a:r>
            <a:r>
              <a:rPr lang="ja-JP" altLang="en-US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誤字数でエンジンを選定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282C29-4B62-412C-9E89-1DAEDB1243B8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FA731C-F5DD-4BC2-8008-43740AB90CAA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Labs・Appendix・高齢者音声認識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174CD7-8876-47DD-85AE-CD2B7B79A69A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</a:t>
            </a: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5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123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F58331F-2433-644F-6FFA-F2E886A9E95A}"/>
              </a:ext>
            </a:extLst>
          </p:cNvPr>
          <p:cNvSpPr>
            <a:spLocks noGrp="1"/>
          </p:cNvSpPr>
          <p:nvPr/>
        </p:nvSpPr>
        <p:spPr>
          <a:xfrm>
            <a:off x="7481146" y="4683219"/>
            <a:ext cx="71333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2F2A24"/>
                </a:solidFill>
                <a:latin typeface="Aptos"/>
                <a:ea typeface="Aptos"/>
                <a:cs typeface="Aptos"/>
              </a:rPr>
              <a:t>Qwen3-ASR </a:t>
            </a:r>
          </a:p>
          <a:p>
            <a:pPr algn="l">
              <a:buNone/>
            </a:pPr>
            <a:r>
              <a:rPr sz="1000" b="1">
                <a:solidFill>
                  <a:srgbClr val="2F2A24"/>
                </a:solidFill>
                <a:latin typeface="Aptos"/>
                <a:ea typeface="Aptos"/>
                <a:cs typeface="Aptos"/>
              </a:rPr>
              <a:t>(Our model)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73C3E3-729A-488B-BA97-E2AA6CA34B22}"/>
              </a:ext>
            </a:extLst>
          </p:cNvPr>
          <p:cNvSpPr>
            <a:spLocks noGrp="1"/>
          </p:cNvSpPr>
          <p:nvPr/>
        </p:nvSpPr>
        <p:spPr>
          <a:xfrm>
            <a:off x="9622366" y="4687755"/>
            <a:ext cx="640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150" b="1">
                <a:solidFill>
                  <a:srgbClr val="F96653"/>
                </a:solidFill>
                <a:latin typeface="Aptos"/>
                <a:ea typeface="Aptos"/>
                <a:cs typeface="Aptos"/>
              </a:rPr>
              <a:t>2.96%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FBB6B0-0CD3-DB11-F554-A2A3F57F3BFC}"/>
              </a:ext>
            </a:extLst>
          </p:cNvPr>
          <p:cNvSpPr>
            <a:spLocks noGrp="1"/>
          </p:cNvSpPr>
          <p:nvPr/>
        </p:nvSpPr>
        <p:spPr>
          <a:xfrm>
            <a:off x="7481146" y="5025340"/>
            <a:ext cx="93134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75604C"/>
                </a:solidFill>
                <a:latin typeface="Aptos"/>
                <a:ea typeface="Aptos"/>
                <a:cs typeface="Aptos"/>
              </a:rPr>
              <a:t>Whisper large-v3</a:t>
            </a:r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BD48A56B-4CF6-23D8-1921-FB6CA1D37E67}"/>
              </a:ext>
            </a:extLst>
          </p:cNvPr>
          <p:cNvSpPr>
            <a:spLocks noGrp="1"/>
          </p:cNvSpPr>
          <p:nvPr/>
        </p:nvSpPr>
        <p:spPr>
          <a:xfrm>
            <a:off x="8590618" y="4742619"/>
            <a:ext cx="1117262" cy="128016"/>
          </a:xfrm>
          <a:prstGeom prst="roundRect">
            <a:avLst/>
          </a:prstGeom>
          <a:solidFill>
            <a:srgbClr val="E5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Rounded Rectangle 19">
            <a:extLst>
              <a:ext uri="{FF2B5EF4-FFF2-40B4-BE49-F238E27FC236}">
                <a16:creationId xmlns:a16="http://schemas.microsoft.com/office/drawing/2014/main" id="{4AC98143-1509-C171-AEB8-1E33C93CBCB8}"/>
              </a:ext>
            </a:extLst>
          </p:cNvPr>
          <p:cNvSpPr>
            <a:spLocks noGrp="1"/>
          </p:cNvSpPr>
          <p:nvPr/>
        </p:nvSpPr>
        <p:spPr>
          <a:xfrm>
            <a:off x="8590618" y="5038276"/>
            <a:ext cx="1117262" cy="128016"/>
          </a:xfrm>
          <a:prstGeom prst="roundRect">
            <a:avLst/>
          </a:prstGeom>
          <a:solidFill>
            <a:srgbClr val="E5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Rounded Rectangle 20">
            <a:extLst>
              <a:ext uri="{FF2B5EF4-FFF2-40B4-BE49-F238E27FC236}">
                <a16:creationId xmlns:a16="http://schemas.microsoft.com/office/drawing/2014/main" id="{C590A8AC-7D60-C462-EA23-5AB3EA164EC2}"/>
              </a:ext>
            </a:extLst>
          </p:cNvPr>
          <p:cNvSpPr>
            <a:spLocks noGrp="1"/>
          </p:cNvSpPr>
          <p:nvPr/>
        </p:nvSpPr>
        <p:spPr>
          <a:xfrm>
            <a:off x="8590618" y="5038276"/>
            <a:ext cx="794365" cy="128016"/>
          </a:xfrm>
          <a:prstGeom prst="roundRect">
            <a:avLst/>
          </a:prstGeom>
          <a:solidFill>
            <a:srgbClr val="A8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FDA9E9-8139-72E6-17F3-B49122275D40}"/>
              </a:ext>
            </a:extLst>
          </p:cNvPr>
          <p:cNvSpPr>
            <a:spLocks noGrp="1"/>
          </p:cNvSpPr>
          <p:nvPr/>
        </p:nvSpPr>
        <p:spPr>
          <a:xfrm>
            <a:off x="9622366" y="4990814"/>
            <a:ext cx="64008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150" b="0">
                <a:solidFill>
                  <a:srgbClr val="75604C"/>
                </a:solidFill>
                <a:latin typeface="Aptos"/>
                <a:ea typeface="Aptos"/>
                <a:cs typeface="Aptos"/>
              </a:rPr>
              <a:t>3.01%</a:t>
            </a:r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30DA6F42-5EBC-1999-A86C-469FEC28CC3C}"/>
              </a:ext>
            </a:extLst>
          </p:cNvPr>
          <p:cNvSpPr>
            <a:spLocks noGrp="1"/>
          </p:cNvSpPr>
          <p:nvPr/>
        </p:nvSpPr>
        <p:spPr>
          <a:xfrm>
            <a:off x="8590618" y="4742619"/>
            <a:ext cx="737215" cy="128016"/>
          </a:xfrm>
          <a:prstGeom prst="roundRect">
            <a:avLst/>
          </a:prstGeom>
          <a:solidFill>
            <a:srgbClr val="F9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D01A44-5697-2253-B20A-5A572C4E479C}"/>
              </a:ext>
            </a:extLst>
          </p:cNvPr>
          <p:cNvSpPr>
            <a:spLocks noGrp="1"/>
          </p:cNvSpPr>
          <p:nvPr/>
        </p:nvSpPr>
        <p:spPr>
          <a:xfrm>
            <a:off x="7481146" y="5447264"/>
            <a:ext cx="71333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2F2A24"/>
                </a:solidFill>
                <a:latin typeface="Aptos"/>
                <a:ea typeface="Aptos"/>
                <a:cs typeface="Aptos"/>
              </a:rPr>
              <a:t>Qwen3-ASR </a:t>
            </a:r>
          </a:p>
          <a:p>
            <a:pPr algn="l">
              <a:buNone/>
            </a:pPr>
            <a:r>
              <a:rPr sz="1000" b="1">
                <a:solidFill>
                  <a:srgbClr val="2F2A24"/>
                </a:solidFill>
                <a:latin typeface="Aptos"/>
                <a:ea typeface="Aptos"/>
                <a:cs typeface="Aptos"/>
              </a:rPr>
              <a:t>(Our model)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16BC24-1A2B-973C-013F-518996E15E75}"/>
              </a:ext>
            </a:extLst>
          </p:cNvPr>
          <p:cNvSpPr>
            <a:spLocks noGrp="1"/>
          </p:cNvSpPr>
          <p:nvPr/>
        </p:nvSpPr>
        <p:spPr>
          <a:xfrm>
            <a:off x="9858489" y="5482186"/>
            <a:ext cx="40395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150" b="1">
                <a:solidFill>
                  <a:srgbClr val="F96653"/>
                </a:solidFill>
                <a:latin typeface="Aptos"/>
                <a:ea typeface="Aptos"/>
                <a:cs typeface="Aptos"/>
              </a:rPr>
              <a:t>5.28%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0DB74A-3F7A-BB38-7231-D7079A88909E}"/>
              </a:ext>
            </a:extLst>
          </p:cNvPr>
          <p:cNvSpPr>
            <a:spLocks noGrp="1"/>
          </p:cNvSpPr>
          <p:nvPr/>
        </p:nvSpPr>
        <p:spPr>
          <a:xfrm>
            <a:off x="7481146" y="5789385"/>
            <a:ext cx="93134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75604C"/>
                </a:solidFill>
                <a:latin typeface="Aptos"/>
                <a:ea typeface="Aptos"/>
                <a:cs typeface="Aptos"/>
              </a:rPr>
              <a:t>Whisper large-v3</a:t>
            </a:r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DC4B9890-FF11-57C1-F832-06A7A1AF5ED4}"/>
              </a:ext>
            </a:extLst>
          </p:cNvPr>
          <p:cNvSpPr>
            <a:spLocks noGrp="1"/>
          </p:cNvSpPr>
          <p:nvPr/>
        </p:nvSpPr>
        <p:spPr>
          <a:xfrm>
            <a:off x="8590618" y="5506664"/>
            <a:ext cx="1117262" cy="128016"/>
          </a:xfrm>
          <a:prstGeom prst="roundRect">
            <a:avLst/>
          </a:prstGeom>
          <a:solidFill>
            <a:srgbClr val="E5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Rounded Rectangle 12">
            <a:extLst>
              <a:ext uri="{FF2B5EF4-FFF2-40B4-BE49-F238E27FC236}">
                <a16:creationId xmlns:a16="http://schemas.microsoft.com/office/drawing/2014/main" id="{16719FBE-B60A-D221-DA3E-CB09053B9012}"/>
              </a:ext>
            </a:extLst>
          </p:cNvPr>
          <p:cNvSpPr>
            <a:spLocks noGrp="1"/>
          </p:cNvSpPr>
          <p:nvPr/>
        </p:nvSpPr>
        <p:spPr>
          <a:xfrm>
            <a:off x="8590618" y="5506664"/>
            <a:ext cx="935048" cy="128016"/>
          </a:xfrm>
          <a:prstGeom prst="roundRect">
            <a:avLst/>
          </a:prstGeom>
          <a:solidFill>
            <a:srgbClr val="F96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Rounded Rectangle 19">
            <a:extLst>
              <a:ext uri="{FF2B5EF4-FFF2-40B4-BE49-F238E27FC236}">
                <a16:creationId xmlns:a16="http://schemas.microsoft.com/office/drawing/2014/main" id="{EA962459-5EE7-26B4-C50B-14E538CCB3E8}"/>
              </a:ext>
            </a:extLst>
          </p:cNvPr>
          <p:cNvSpPr>
            <a:spLocks noGrp="1"/>
          </p:cNvSpPr>
          <p:nvPr/>
        </p:nvSpPr>
        <p:spPr>
          <a:xfrm>
            <a:off x="8590618" y="5802321"/>
            <a:ext cx="1117262" cy="128016"/>
          </a:xfrm>
          <a:prstGeom prst="roundRect">
            <a:avLst/>
          </a:prstGeom>
          <a:solidFill>
            <a:srgbClr val="E5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Rounded Rectangle 20">
            <a:extLst>
              <a:ext uri="{FF2B5EF4-FFF2-40B4-BE49-F238E27FC236}">
                <a16:creationId xmlns:a16="http://schemas.microsoft.com/office/drawing/2014/main" id="{B6F5935F-D76E-4405-A213-4CBAF4EFFEBE}"/>
              </a:ext>
            </a:extLst>
          </p:cNvPr>
          <p:cNvSpPr>
            <a:spLocks noGrp="1"/>
          </p:cNvSpPr>
          <p:nvPr/>
        </p:nvSpPr>
        <p:spPr>
          <a:xfrm>
            <a:off x="8590618" y="5802321"/>
            <a:ext cx="1011057" cy="128016"/>
          </a:xfrm>
          <a:prstGeom prst="roundRect">
            <a:avLst/>
          </a:prstGeom>
          <a:solidFill>
            <a:srgbClr val="A8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2C103E-9056-B8E0-AAAF-152C0BE8E530}"/>
              </a:ext>
            </a:extLst>
          </p:cNvPr>
          <p:cNvSpPr>
            <a:spLocks noGrp="1"/>
          </p:cNvSpPr>
          <p:nvPr/>
        </p:nvSpPr>
        <p:spPr>
          <a:xfrm>
            <a:off x="9863298" y="5781024"/>
            <a:ext cx="399148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150">
                <a:solidFill>
                  <a:srgbClr val="75604C"/>
                </a:solidFill>
                <a:latin typeface="Aptos"/>
                <a:ea typeface="Aptos"/>
                <a:cs typeface="Aptos"/>
              </a:rPr>
              <a:t>5.56%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22401F-2594-7DC6-4881-7047D6F79118}"/>
              </a:ext>
            </a:extLst>
          </p:cNvPr>
          <p:cNvSpPr>
            <a:spLocks noGrp="1"/>
          </p:cNvSpPr>
          <p:nvPr/>
        </p:nvSpPr>
        <p:spPr>
          <a:xfrm>
            <a:off x="6479284" y="4751290"/>
            <a:ext cx="71499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F2A24"/>
                </a:solidFill>
                <a:latin typeface="Noto Sans JP"/>
                <a:ea typeface="Noto Sans JP"/>
                <a:cs typeface="Noto Sans JP"/>
              </a:rPr>
              <a:t>韓国語</a:t>
            </a:r>
            <a:endParaRPr sz="1600" b="1">
              <a:solidFill>
                <a:srgbClr val="2F2A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008FB7-83F0-5F80-2F7B-C91233A6D35E}"/>
              </a:ext>
            </a:extLst>
          </p:cNvPr>
          <p:cNvSpPr>
            <a:spLocks noGrp="1"/>
          </p:cNvSpPr>
          <p:nvPr/>
        </p:nvSpPr>
        <p:spPr>
          <a:xfrm>
            <a:off x="6467288" y="5021987"/>
            <a:ext cx="738984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A3917C"/>
                </a:solidFill>
                <a:latin typeface="Aptos"/>
                <a:ea typeface="Aptos"/>
                <a:cs typeface="Aptos"/>
              </a:rPr>
              <a:t>FLEURS  |  CER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CF03F4-83E5-28A2-82E9-A826C7D4AD23}"/>
              </a:ext>
            </a:extLst>
          </p:cNvPr>
          <p:cNvSpPr>
            <a:spLocks noGrp="1"/>
          </p:cNvSpPr>
          <p:nvPr/>
        </p:nvSpPr>
        <p:spPr>
          <a:xfrm>
            <a:off x="6479284" y="5498032"/>
            <a:ext cx="71499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1">
                <a:solidFill>
                  <a:srgbClr val="2F2A24"/>
                </a:solidFill>
                <a:latin typeface="Noto Sans JP"/>
                <a:ea typeface="Noto Sans JP"/>
                <a:cs typeface="Noto Sans JP"/>
              </a:rPr>
              <a:t>日本語</a:t>
            </a:r>
            <a:endParaRPr sz="1600" b="1">
              <a:solidFill>
                <a:srgbClr val="2F2A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C9B8B7-D1D1-C4A9-6A7C-70E061B53B6D}"/>
              </a:ext>
            </a:extLst>
          </p:cNvPr>
          <p:cNvSpPr>
            <a:spLocks noGrp="1"/>
          </p:cNvSpPr>
          <p:nvPr/>
        </p:nvSpPr>
        <p:spPr>
          <a:xfrm>
            <a:off x="6467288" y="5768729"/>
            <a:ext cx="738984" cy="1384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sz="900" b="0">
                <a:solidFill>
                  <a:srgbClr val="A3917C"/>
                </a:solidFill>
                <a:latin typeface="Aptos"/>
                <a:ea typeface="Aptos"/>
                <a:cs typeface="Aptos"/>
              </a:rPr>
              <a:t>FLEURS  |  CER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DABE57-DAAF-5ED9-8C49-BD550A788736}"/>
              </a:ext>
            </a:extLst>
          </p:cNvPr>
          <p:cNvSpPr>
            <a:spLocks noGrp="1"/>
          </p:cNvSpPr>
          <p:nvPr/>
        </p:nvSpPr>
        <p:spPr>
          <a:xfrm>
            <a:off x="10545265" y="5418519"/>
            <a:ext cx="86241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D2491B"/>
                </a:solidFill>
                <a:latin typeface="Noto Sans JP"/>
                <a:ea typeface="Noto Sans JP"/>
                <a:cs typeface="Noto Sans JP"/>
              </a:rPr>
              <a:t>約5文字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840A5E9-18DF-5EF7-53AC-AF60A603B0C5}"/>
              </a:ext>
            </a:extLst>
          </p:cNvPr>
          <p:cNvSpPr>
            <a:spLocks noGrp="1"/>
          </p:cNvSpPr>
          <p:nvPr/>
        </p:nvSpPr>
        <p:spPr>
          <a:xfrm>
            <a:off x="10466718" y="5725280"/>
            <a:ext cx="10195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1">
                <a:solidFill>
                  <a:srgbClr val="75604C"/>
                </a:solidFill>
                <a:latin typeface="Noto Sans JP"/>
                <a:ea typeface="Noto Sans JP"/>
                <a:cs typeface="Noto Sans JP"/>
              </a:rPr>
              <a:t>100文字を書き取ると、
5文字で誤りが発生</a:t>
            </a:r>
            <a:endParaRPr sz="800" b="1">
              <a:solidFill>
                <a:srgbClr val="7560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EC7ED9-4340-2D77-59D1-B9DEBDC896F2}"/>
              </a:ext>
            </a:extLst>
          </p:cNvPr>
          <p:cNvSpPr>
            <a:spLocks noGrp="1"/>
          </p:cNvSpPr>
          <p:nvPr/>
        </p:nvSpPr>
        <p:spPr>
          <a:xfrm>
            <a:off x="10545265" y="4679716"/>
            <a:ext cx="862416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b="1">
                <a:solidFill>
                  <a:srgbClr val="D2491B"/>
                </a:solidFill>
                <a:latin typeface="Noto Sans JP"/>
                <a:ea typeface="Noto Sans JP"/>
                <a:cs typeface="Noto Sans JP"/>
              </a:rPr>
              <a:t>約3文字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0529B2-C31B-0F1C-999C-274891A37317}"/>
              </a:ext>
            </a:extLst>
          </p:cNvPr>
          <p:cNvSpPr>
            <a:spLocks noGrp="1"/>
          </p:cNvSpPr>
          <p:nvPr/>
        </p:nvSpPr>
        <p:spPr>
          <a:xfrm>
            <a:off x="10466718" y="4970600"/>
            <a:ext cx="10195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800" b="1">
                <a:solidFill>
                  <a:srgbClr val="75604C"/>
                </a:solidFill>
                <a:latin typeface="Noto Sans JP"/>
                <a:ea typeface="Noto Sans JP"/>
                <a:cs typeface="Noto Sans JP"/>
              </a:rPr>
              <a:t>100文字を書き取ると、
3文字で誤りが発生</a:t>
            </a:r>
            <a:endParaRPr sz="800" b="1">
              <a:solidFill>
                <a:srgbClr val="75604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1" name="직선 연결선 100">
            <a:extLst>
              <a:ext uri="{FF2B5EF4-FFF2-40B4-BE49-F238E27FC236}">
                <a16:creationId xmlns:a16="http://schemas.microsoft.com/office/drawing/2014/main" id="{B3A25D19-24EE-4DEE-983D-512C620B919B}"/>
              </a:ext>
            </a:extLst>
          </p:cNvPr>
          <p:cNvSpPr>
            <a:spLocks noGrp="1"/>
          </p:cNvSpPr>
          <p:nvPr/>
        </p:nvSpPr>
        <p:spPr>
          <a:xfrm>
            <a:off x="6479284" y="5292968"/>
            <a:ext cx="4928397" cy="0"/>
          </a:xfrm>
          <a:prstGeom prst="line">
            <a:avLst/>
          </a:prstGeom>
          <a:ln>
            <a:solidFill>
              <a:srgbClr val="E0D4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2" name="이등변 삼각형 101">
            <a:extLst>
              <a:ext uri="{FF2B5EF4-FFF2-40B4-BE49-F238E27FC236}">
                <a16:creationId xmlns:a16="http://schemas.microsoft.com/office/drawing/2014/main" id="{EBA63E21-E1AE-AC0D-F435-D509E2100F5D}"/>
              </a:ext>
            </a:extLst>
          </p:cNvPr>
          <p:cNvSpPr>
            <a:spLocks noGrp="1"/>
          </p:cNvSpPr>
          <p:nvPr/>
        </p:nvSpPr>
        <p:spPr>
          <a:xfrm rot="5400000">
            <a:off x="7247886" y="5650550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" name="이등변 삼각형 103">
            <a:extLst>
              <a:ext uri="{FF2B5EF4-FFF2-40B4-BE49-F238E27FC236}">
                <a16:creationId xmlns:a16="http://schemas.microsoft.com/office/drawing/2014/main" id="{64FD8427-57BE-6CAC-F890-E9A86F3D7B0A}"/>
              </a:ext>
            </a:extLst>
          </p:cNvPr>
          <p:cNvSpPr>
            <a:spLocks noGrp="1"/>
          </p:cNvSpPr>
          <p:nvPr/>
        </p:nvSpPr>
        <p:spPr>
          <a:xfrm rot="5400000">
            <a:off x="7247886" y="4882328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B2BB2E-8382-3CE5-EC2E-AE8DFFFB0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709" y="1279513"/>
            <a:ext cx="4403015" cy="247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03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87018-79A2-465F-94DA-D510CB536E60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08873-71D7-4D13-8287-A60FC71E3437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5222584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3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AIパーソナライズが生まれる流れ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7AA04-F7E3-4B5F-BEA4-45FF5CFD787A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過去に話した個人のエピソードを保存し、新しい設問の作成時に関連記憶を検索して根拠に活用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FD356F-550B-46C8-A6CA-A1BB14B716D3}"/>
              </a:ext>
            </a:extLst>
          </p:cNvPr>
          <p:cNvSpPr>
            <a:spLocks noGrp="1"/>
          </p:cNvSpPr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4F84D-E7F0-48A2-A4EE-8CF949F822D8}"/>
              </a:ext>
            </a:extLst>
          </p:cNvPr>
          <p:cNvSpPr>
            <a:spLocks noGrp="1"/>
          </p:cNvSpPr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① エピソードを記録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6E0D0-749C-4025-9702-89D940945945}"/>
              </a:ext>
            </a:extLst>
          </p:cNvPr>
          <p:cNvSpPr>
            <a:spLocks noGrp="1"/>
          </p:cNvSpPr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設問から得た個人のエピソード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8A79D5-55C4-43FF-9B3A-760D6EF4EAF7}"/>
              </a:ext>
            </a:extLst>
          </p:cNvPr>
          <p:cNvSpPr>
            <a:spLocks noGrp="1"/>
          </p:cNvSpPr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46B64D-A285-4B1E-A699-DE84FEC61B3E}"/>
              </a:ext>
            </a:extLst>
          </p:cNvPr>
          <p:cNvSpPr>
            <a:spLocks noGrp="1"/>
          </p:cNvSpPr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② 個人の記憶を保存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050CD-F930-4F12-99B7-37E0A793DE33}"/>
              </a:ext>
            </a:extLst>
          </p:cNvPr>
          <p:cNvSpPr>
            <a:spLocks noGrp="1"/>
          </p:cNvSpPr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日付とともに蓄積する記憶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9040C5-2C5B-41DE-AA09-3147CC3ECD84}"/>
              </a:ext>
            </a:extLst>
          </p:cNvPr>
          <p:cNvSpPr>
            <a:spLocks noGrp="1"/>
          </p:cNvSpPr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2032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BD7E50-CD93-4313-B4A7-78E6882CB5D0}"/>
              </a:ext>
            </a:extLst>
          </p:cNvPr>
          <p:cNvSpPr>
            <a:spLocks noGrp="1"/>
          </p:cNvSpPr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③ 関連記憶を検索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B6D30-1331-40F5-8B42-E37690A98D3C}"/>
              </a:ext>
            </a:extLst>
          </p:cNvPr>
          <p:cNvSpPr>
            <a:spLocks noGrp="1"/>
          </p:cNvSpPr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9175186-7533-4D67-9D64-FD1F682BACDA}"/>
              </a:ext>
            </a:extLst>
          </p:cNvPr>
          <p:cNvSpPr>
            <a:spLocks noGrp="1"/>
          </p:cNvSpPr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B7414C-6C20-4FDB-AE91-E7FC55521308}"/>
              </a:ext>
            </a:extLst>
          </p:cNvPr>
          <p:cNvSpPr>
            <a:spLocks noGrp="1"/>
          </p:cNvSpPr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④ 新しい設問を生成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C285CE-0537-4DFF-B264-B6306C0D1E2D}"/>
              </a:ext>
            </a:extLst>
          </p:cNvPr>
          <p:cNvSpPr>
            <a:spLocks noGrp="1"/>
          </p:cNvSpPr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検索した記憶を根拠に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6C9854A0-9704-44B6-9A48-6F975405848E}"/>
              </a:ext>
            </a:extLst>
          </p:cNvPr>
          <p:cNvSpPr>
            <a:spLocks noGrp="1"/>
          </p:cNvSpPr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ABDFDA05-220C-4128-BE97-BC4EA94E6DC6}"/>
              </a:ext>
            </a:extLst>
          </p:cNvPr>
          <p:cNvSpPr>
            <a:spLocks noGrp="1"/>
          </p:cNvSpPr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8D4BD4CB-CADB-41D4-BF7A-F7D5B052677C}"/>
              </a:ext>
            </a:extLst>
          </p:cNvPr>
          <p:cNvSpPr>
            <a:spLocks noGrp="1"/>
          </p:cNvSpPr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9DC4A2D-F69F-4274-A609-6FC4A0B33862}"/>
              </a:ext>
            </a:extLst>
          </p:cNvPr>
          <p:cNvSpPr>
            <a:spLocks noGrp="1"/>
          </p:cNvSpPr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63454D-4C0F-4905-A78D-B70ACC8488EB}"/>
              </a:ext>
            </a:extLst>
          </p:cNvPr>
          <p:cNvSpPr>
            <a:spLocks noGrp="1"/>
          </p:cNvSpPr>
          <p:nvPr/>
        </p:nvSpPr>
        <p:spPr>
          <a:xfrm>
            <a:off x="905256" y="258669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</a:t>
            </a:r>
            <a:r>
              <a:rPr sz="124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昨日、娘と</a:t>
            </a:r>
            <a:endParaRPr sz="124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402C80-7B1B-429E-B8C5-3A05B726184D}"/>
              </a:ext>
            </a:extLst>
          </p:cNvPr>
          <p:cNvSpPr>
            <a:spLocks noGrp="1"/>
          </p:cNvSpPr>
          <p:nvPr/>
        </p:nvSpPr>
        <p:spPr>
          <a:xfrm>
            <a:off x="905256" y="282444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外食しました」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B11244-D572-4A17-B61B-9E42B700659A}"/>
              </a:ext>
            </a:extLst>
          </p:cNvPr>
          <p:cNvSpPr>
            <a:spLocks noGrp="1"/>
          </p:cNvSpPr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B5429A-412D-4CE1-818A-3390FD609EA4}"/>
              </a:ext>
            </a:extLst>
          </p:cNvPr>
          <p:cNvSpPr>
            <a:spLocks noGrp="1"/>
          </p:cNvSpPr>
          <p:nvPr/>
        </p:nvSpPr>
        <p:spPr>
          <a:xfrm>
            <a:off x="905256" y="3354792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「孫が今週末に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8E5AF9-EE3F-44F5-A241-99A93FD7F842}"/>
              </a:ext>
            </a:extLst>
          </p:cNvPr>
          <p:cNvSpPr>
            <a:spLocks noGrp="1"/>
          </p:cNvSpPr>
          <p:nvPr/>
        </p:nvSpPr>
        <p:spPr>
          <a:xfrm>
            <a:off x="905256" y="359253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来るそうです」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CAC7B75-952B-46C0-85FB-4AC0B79A20B6}"/>
              </a:ext>
            </a:extLst>
          </p:cNvPr>
          <p:cNvSpPr>
            <a:spLocks noGrp="1"/>
          </p:cNvSpPr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4DB28E-F26A-4534-A75B-79913364DBBC}"/>
              </a:ext>
            </a:extLst>
          </p:cNvPr>
          <p:cNvSpPr>
            <a:spLocks noGrp="1"/>
          </p:cNvSpPr>
          <p:nvPr/>
        </p:nvSpPr>
        <p:spPr>
          <a:xfrm>
            <a:off x="905256" y="4122887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「最近は公園を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90EE19-E507-439A-BE0D-A7312878E48D}"/>
              </a:ext>
            </a:extLst>
          </p:cNvPr>
          <p:cNvSpPr>
            <a:spLocks noGrp="1"/>
          </p:cNvSpPr>
          <p:nvPr/>
        </p:nvSpPr>
        <p:spPr>
          <a:xfrm>
            <a:off x="905256" y="4360631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よく散歩します」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850C2F-5440-43FE-846D-76A5AE483AFA}"/>
              </a:ext>
            </a:extLst>
          </p:cNvPr>
          <p:cNvSpPr>
            <a:spLocks noGrp="1"/>
          </p:cNvSpPr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発話内容をそのまま残し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BB6B95-9EF5-4BE4-8278-1B4B17E633A2}"/>
              </a:ext>
            </a:extLst>
          </p:cNvPr>
          <p:cNvSpPr>
            <a:spLocks noGrp="1"/>
          </p:cNvSpPr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個人記憶の材料として使用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96CE4A1-7FD2-49C6-89CB-1374D2468AFF}"/>
              </a:ext>
            </a:extLst>
          </p:cNvPr>
          <p:cNvSpPr>
            <a:spLocks noGrp="1"/>
          </p:cNvSpPr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77F49F9-2ABA-4A54-8879-C8DBA50B68C9}"/>
              </a:ext>
            </a:extLst>
          </p:cNvPr>
          <p:cNvSpPr>
            <a:spLocks noGrp="1"/>
          </p:cNvSpPr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AF56EA-8794-418D-9BF4-7B3907DBD068}"/>
              </a:ext>
            </a:extLst>
          </p:cNvPr>
          <p:cNvSpPr>
            <a:spLocks noGrp="1"/>
          </p:cNvSpPr>
          <p:nvPr/>
        </p:nvSpPr>
        <p:spPr>
          <a:xfrm>
            <a:off x="3675887" y="2796408"/>
            <a:ext cx="34785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76492F-85A6-41B9-8099-B16328C86D52}"/>
              </a:ext>
            </a:extLst>
          </p:cNvPr>
          <p:cNvSpPr>
            <a:spLocks noGrp="1"/>
          </p:cNvSpPr>
          <p:nvPr/>
        </p:nvSpPr>
        <p:spPr>
          <a:xfrm>
            <a:off x="4142232" y="2787127"/>
            <a:ext cx="492122" cy="1862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1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娘・外食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4770DC-DDC0-40ED-92B8-FF25EF20C733}"/>
              </a:ext>
            </a:extLst>
          </p:cNvPr>
          <p:cNvSpPr>
            <a:spLocks noGrp="1"/>
          </p:cNvSpPr>
          <p:nvPr/>
        </p:nvSpPr>
        <p:spPr>
          <a:xfrm>
            <a:off x="4142232" y="3015512"/>
            <a:ext cx="12311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本人が話した記録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449A579-50E1-4E0E-BEA8-E23E4EA03D98}"/>
              </a:ext>
            </a:extLst>
          </p:cNvPr>
          <p:cNvSpPr>
            <a:spLocks noGrp="1"/>
          </p:cNvSpPr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EB365E-9D7C-446E-8DC6-97B523306DD5}"/>
              </a:ext>
            </a:extLst>
          </p:cNvPr>
          <p:cNvSpPr>
            <a:spLocks noGrp="1"/>
          </p:cNvSpPr>
          <p:nvPr/>
        </p:nvSpPr>
        <p:spPr>
          <a:xfrm>
            <a:off x="3675887" y="3454776"/>
            <a:ext cx="34785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F9B267-3B73-4C1E-A790-6C8D75BEF604}"/>
              </a:ext>
            </a:extLst>
          </p:cNvPr>
          <p:cNvSpPr>
            <a:spLocks noGrp="1"/>
          </p:cNvSpPr>
          <p:nvPr/>
        </p:nvSpPr>
        <p:spPr>
          <a:xfrm>
            <a:off x="4142232" y="3445495"/>
            <a:ext cx="492122" cy="1862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1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孫・訪問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86E3CB-0749-409B-AB0A-426B03269561}"/>
              </a:ext>
            </a:extLst>
          </p:cNvPr>
          <p:cNvSpPr>
            <a:spLocks noGrp="1"/>
          </p:cNvSpPr>
          <p:nvPr/>
        </p:nvSpPr>
        <p:spPr>
          <a:xfrm>
            <a:off x="4142232" y="3673880"/>
            <a:ext cx="12311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本人が話した記録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FBB50AE-5774-43BC-B068-BD7C88FD6E3C}"/>
              </a:ext>
            </a:extLst>
          </p:cNvPr>
          <p:cNvSpPr>
            <a:spLocks noGrp="1"/>
          </p:cNvSpPr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35F06A-D1EA-4D9C-9247-F8BDA7DDE18B}"/>
              </a:ext>
            </a:extLst>
          </p:cNvPr>
          <p:cNvSpPr>
            <a:spLocks noGrp="1"/>
          </p:cNvSpPr>
          <p:nvPr/>
        </p:nvSpPr>
        <p:spPr>
          <a:xfrm>
            <a:off x="3675887" y="4113144"/>
            <a:ext cx="34785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0C40BE-3CAC-4485-B137-3D8A1EE116FA}"/>
              </a:ext>
            </a:extLst>
          </p:cNvPr>
          <p:cNvSpPr>
            <a:spLocks noGrp="1"/>
          </p:cNvSpPr>
          <p:nvPr/>
        </p:nvSpPr>
        <p:spPr>
          <a:xfrm>
            <a:off x="4142232" y="4103863"/>
            <a:ext cx="657231" cy="1862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1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公園・散歩</a:t>
            </a:r>
            <a:endParaRPr sz="121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35DACE-10C7-419C-9CE6-D1A7E77C01A1}"/>
              </a:ext>
            </a:extLst>
          </p:cNvPr>
          <p:cNvSpPr>
            <a:spLocks noGrp="1"/>
          </p:cNvSpPr>
          <p:nvPr/>
        </p:nvSpPr>
        <p:spPr>
          <a:xfrm>
            <a:off x="4142232" y="4332248"/>
            <a:ext cx="123110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本人が話した記録</a:t>
            </a:r>
            <a:endParaRPr sz="12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901930-8695-4631-A9CA-CDB0A6B1D7BE}"/>
              </a:ext>
            </a:extLst>
          </p:cNvPr>
          <p:cNvSpPr>
            <a:spLocks noGrp="1"/>
          </p:cNvSpPr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意味の近い記録を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08C9F4-F7B5-4F3F-8ABA-7E22499B7DFF}"/>
              </a:ext>
            </a:extLst>
          </p:cNvPr>
          <p:cNvSpPr>
            <a:spLocks noGrp="1"/>
          </p:cNvSpPr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検索できるよう整理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F0BAB3A-6CCC-41F5-A432-21943B97E8A0}"/>
              </a:ext>
            </a:extLst>
          </p:cNvPr>
          <p:cNvSpPr>
            <a:spLocks noGrp="1"/>
          </p:cNvSpPr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397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0D587E-5163-400F-B12D-67234D8995AA}"/>
              </a:ext>
            </a:extLst>
          </p:cNvPr>
          <p:cNvSpPr>
            <a:spLocks noGrp="1"/>
          </p:cNvSpPr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新しい設問のテーマ</a:t>
            </a:r>
            <a:endParaRPr sz="1200" b="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38A4E0-25D2-4506-AB7E-19136C5BC4F5}"/>
              </a:ext>
            </a:extLst>
          </p:cNvPr>
          <p:cNvSpPr>
            <a:spLocks noGrp="1"/>
          </p:cNvSpPr>
          <p:nvPr/>
        </p:nvSpPr>
        <p:spPr>
          <a:xfrm>
            <a:off x="6435090" y="274179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</a:t>
            </a:r>
            <a:r>
              <a:rPr sz="12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最近、家族とあったこと</a:t>
            </a:r>
            <a:r>
              <a:rPr sz="12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」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4D6B348-408C-49D2-9DDC-019EEA5C0D35}"/>
              </a:ext>
            </a:extLst>
          </p:cNvPr>
          <p:cNvSpPr>
            <a:spLocks noGrp="1"/>
          </p:cNvSpPr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CEABFD-F7BD-4671-876A-276A41DBBFBA}"/>
              </a:ext>
            </a:extLst>
          </p:cNvPr>
          <p:cNvSpPr>
            <a:spLocks noGrp="1"/>
          </p:cNvSpPr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87CD31-9B58-4907-A892-BAE7510F765D}"/>
              </a:ext>
            </a:extLst>
          </p:cNvPr>
          <p:cNvSpPr>
            <a:spLocks noGrp="1"/>
          </p:cNvSpPr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娘との外食</a:t>
            </a:r>
            <a:endParaRPr sz="12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F15E66D-6A68-4C3D-B4BD-626002DCBC9D}"/>
              </a:ext>
            </a:extLst>
          </p:cNvPr>
          <p:cNvSpPr>
            <a:spLocks noGrp="1"/>
          </p:cNvSpPr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517A83-23FD-4D3F-8F2B-1FBCFC13A752}"/>
              </a:ext>
            </a:extLst>
          </p:cNvPr>
          <p:cNvSpPr>
            <a:spLocks noGrp="1"/>
          </p:cNvSpPr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FE389E-1C13-4B24-B00F-C55A40DFB8FC}"/>
              </a:ext>
            </a:extLst>
          </p:cNvPr>
          <p:cNvSpPr>
            <a:spLocks noGrp="1"/>
          </p:cNvSpPr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孫の訪問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9673450-2FD3-4DAA-AB9B-4A1E8B3392DC}"/>
              </a:ext>
            </a:extLst>
          </p:cNvPr>
          <p:cNvSpPr>
            <a:spLocks noGrp="1"/>
          </p:cNvSpPr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A3F8C3-12B2-4351-9BB9-EC4E01C1E80C}"/>
              </a:ext>
            </a:extLst>
          </p:cNvPr>
          <p:cNvSpPr>
            <a:spLocks noGrp="1"/>
          </p:cNvSpPr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252A5C-E1D6-45E7-84B5-8E7C30DB3BB0}"/>
              </a:ext>
            </a:extLst>
          </p:cNvPr>
          <p:cNvSpPr>
            <a:spLocks noGrp="1"/>
          </p:cNvSpPr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公園の散歩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96944B7-64FD-4258-89F9-F581557428F7}"/>
              </a:ext>
            </a:extLst>
          </p:cNvPr>
          <p:cNvSpPr>
            <a:spLocks noGrp="1"/>
          </p:cNvSpPr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2147C9-DA53-47C0-A1AB-8391DEEE1BD5}"/>
              </a:ext>
            </a:extLst>
          </p:cNvPr>
          <p:cNvSpPr>
            <a:spLocks noGrp="1"/>
          </p:cNvSpPr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C71E3D-CE17-4AC6-9A27-4BEE6C51C057}"/>
              </a:ext>
            </a:extLst>
          </p:cNvPr>
          <p:cNvSpPr>
            <a:spLocks noGrp="1"/>
          </p:cNvSpPr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病院受診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9E36E5-C919-4026-801E-0B6C683EE3BA}"/>
              </a:ext>
            </a:extLst>
          </p:cNvPr>
          <p:cNvSpPr>
            <a:spLocks noGrp="1"/>
          </p:cNvSpPr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今作る設問と意味の近い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48DB14-07FF-47BF-871B-44EC9ECB5C4F}"/>
              </a:ext>
            </a:extLst>
          </p:cNvPr>
          <p:cNvSpPr>
            <a:spLocks noGrp="1"/>
          </p:cNvSpPr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記録だけを抽出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56C39B4-38A1-4162-9360-AB0882A0FAC7}"/>
              </a:ext>
            </a:extLst>
          </p:cNvPr>
          <p:cNvSpPr>
            <a:spLocks noGrp="1"/>
          </p:cNvSpPr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 w="1778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97025E-5A9C-4050-AE84-9558BF4A30DD}"/>
              </a:ext>
            </a:extLst>
          </p:cNvPr>
          <p:cNvSpPr>
            <a:spLocks noGrp="1"/>
          </p:cNvSpPr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Haruパーソナライズ設問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08A86D-C642-4D15-996F-C08F0D557EEF}"/>
              </a:ext>
            </a:extLst>
          </p:cNvPr>
          <p:cNvSpPr>
            <a:spLocks noGrp="1"/>
          </p:cNvSpPr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「前回、娘さんと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09F9BC-5409-40B4-B264-2011F12ECC65}"/>
              </a:ext>
            </a:extLst>
          </p:cNvPr>
          <p:cNvSpPr>
            <a:spLocks noGrp="1"/>
          </p:cNvSpPr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外食したと伺いましたが</a:t>
            </a:r>
            <a:r>
              <a:rPr sz="124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、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EA77A6-E33C-42FD-A1B2-FFFD4F15CD71}"/>
              </a:ext>
            </a:extLst>
          </p:cNvPr>
          <p:cNvSpPr>
            <a:spLocks noGrp="1"/>
          </p:cNvSpPr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何を召し上がったか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33EC25-531E-43E3-B136-741EF324BF75}"/>
              </a:ext>
            </a:extLst>
          </p:cNvPr>
          <p:cNvSpPr>
            <a:spLocks noGrp="1"/>
          </p:cNvSpPr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4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覚えていますか？」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99FE90-81EB-4CC8-9A41-3E1834FAD42F}"/>
              </a:ext>
            </a:extLst>
          </p:cNvPr>
          <p:cNvSpPr>
            <a:spLocks noGrp="1"/>
          </p:cNvSpPr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選んだ過去記録を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59163E-C687-4D32-A2BF-BA208B94867F}"/>
              </a:ext>
            </a:extLst>
          </p:cNvPr>
          <p:cNvSpPr>
            <a:spLocks noGrp="1"/>
          </p:cNvSpPr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設問作成の根拠として使用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46CB2902-B47F-4DE3-893D-CDD921FBA971}"/>
              </a:ext>
            </a:extLst>
          </p:cNvPr>
          <p:cNvSpPr>
            <a:spLocks noGrp="1"/>
          </p:cNvSpPr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10C661-CA91-447B-8ECC-DDDC936B34E4}"/>
              </a:ext>
            </a:extLst>
          </p:cNvPr>
          <p:cNvSpPr>
            <a:spLocks noGrp="1"/>
          </p:cNvSpPr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36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過去の話 → 関連記憶を検索 → 根拠に基づく次の質問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1D2FF2-ED3A-4B14-BC1E-790481E21F1E}"/>
              </a:ext>
            </a:extLst>
          </p:cNvPr>
          <p:cNvSpPr>
            <a:spLocks noGrp="1"/>
          </p:cNvSpPr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42活動のうち18活動がパーソナライズ設問・端末への統合作業は進行中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21654AD-B1E3-4682-8C52-B7C3A76E4C16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37D68C-B5E6-4454-964C-AB4E529F77AA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補足・AIパーソナライズ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D6D9F8D-8870-493F-AA63-46E07D4D1485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</a:t>
            </a: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6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159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>
            <a:spLocks noGrp="1"/>
          </p:cNvSpPr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>
            <a:spLocks noGrp="1"/>
          </p:cNvSpPr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過去の話 → 関連記憶を検索 → 根拠に基づく次の質問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>
            <a:spLocks noGrp="1"/>
          </p:cNvSpPr>
          <p:nvPr/>
        </p:nvSpPr>
        <p:spPr>
          <a:xfrm>
            <a:off x="6476901" y="5943600"/>
            <a:ext cx="498053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42活動のうち18活動がパーソナライズ設問・端末への統合作業は完了</a:t>
            </a:r>
          </a:p>
        </p:txBody>
      </p:sp>
    </p:spTree>
    <p:extLst>
      <p:ext uri="{BB962C8B-B14F-4D97-AF65-F5344CB8AC3E}">
        <p14:creationId xmlns:p14="http://schemas.microsoft.com/office/powerpoint/2010/main" val="1557715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4531F7-38BF-462B-B64C-48E0BB22C401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CA4BD-D575-42FD-91B4-23E2AC85BE2C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419345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2730" b="1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従来の認知症検査との</a:t>
            </a:r>
            <a:r>
              <a:rPr sz="2730" b="1" dirty="0" err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違い</a:t>
            </a:r>
            <a:endParaRPr sz="2730" b="1" dirty="0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E2225-37A9-434D-99E6-6A8D5D45AED8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MMSE・CISTが扱う認知領域を日常の設問に変換・判定は専門機関が担う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4682B-ACF5-4EA8-AA32-1119AE49EE98}"/>
              </a:ext>
            </a:extLst>
          </p:cNvPr>
          <p:cNvSpPr>
            <a:spLocks noGrp="1"/>
          </p:cNvSpPr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既存の認知症検査設問を応用</a:t>
            </a:r>
            <a:endParaRPr sz="16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09D33-E071-4F7F-9AD9-A9E26509DEC2}"/>
              </a:ext>
            </a:extLst>
          </p:cNvPr>
          <p:cNvSpPr>
            <a:spLocks noGrp="1"/>
          </p:cNvSpPr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1D0BC-57BD-4F10-868C-87B347428687}"/>
              </a:ext>
            </a:extLst>
          </p:cNvPr>
          <p:cNvSpPr>
            <a:spLocks noGrp="1"/>
          </p:cNvSpPr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6C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B344F-C239-4688-9A17-E7BA20FEB053}"/>
              </a:ext>
            </a:extLst>
          </p:cNvPr>
          <p:cNvSpPr>
            <a:spLocks noGrp="1"/>
          </p:cNvSpPr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認知領域・設問数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680EF-E16F-4A69-99CF-32543AD503B7}"/>
              </a:ext>
            </a:extLst>
          </p:cNvPr>
          <p:cNvSpPr>
            <a:spLocks noGrp="1"/>
          </p:cNvSpPr>
          <p:nvPr/>
        </p:nvSpPr>
        <p:spPr>
          <a:xfrm>
            <a:off x="2000715" y="235458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元の検査方法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A19BC-5B17-48F3-A994-91DEE93A9157}"/>
              </a:ext>
            </a:extLst>
          </p:cNvPr>
          <p:cNvSpPr>
            <a:spLocks noGrp="1"/>
          </p:cNvSpPr>
          <p:nvPr/>
        </p:nvSpPr>
        <p:spPr>
          <a:xfrm>
            <a:off x="3647048" y="235458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Haruの活動設問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DF57D-C1DF-4D84-BC27-0539DD4E33BB}"/>
              </a:ext>
            </a:extLst>
          </p:cNvPr>
          <p:cNvSpPr>
            <a:spLocks noGrp="1"/>
          </p:cNvSpPr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E88F11-42C6-4CA4-BE0D-7872D85D0E77}"/>
              </a:ext>
            </a:extLst>
          </p:cNvPr>
          <p:cNvSpPr>
            <a:spLocks noGrp="1"/>
          </p:cNvSpPr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時間の見当識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90F7E-AE52-4CA2-9CE6-6D64F455C979}"/>
              </a:ext>
            </a:extLst>
          </p:cNvPr>
          <p:cNvSpPr>
            <a:spLocks noGrp="1"/>
          </p:cNvSpPr>
          <p:nvPr/>
        </p:nvSpPr>
        <p:spPr>
          <a:xfrm>
            <a:off x="2000715" y="270205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日付を尋ねる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E97F9F-A22E-4BB4-A7FF-E4B96F03DE13}"/>
              </a:ext>
            </a:extLst>
          </p:cNvPr>
          <p:cNvSpPr>
            <a:spLocks noGrp="1"/>
          </p:cNvSpPr>
          <p:nvPr/>
        </p:nvSpPr>
        <p:spPr>
          <a:xfrm>
            <a:off x="3647048" y="270205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曜日を選ぶ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35F-1E00-4532-BD1D-C39319A1DF73}"/>
              </a:ext>
            </a:extLst>
          </p:cNvPr>
          <p:cNvSpPr>
            <a:spLocks noGrp="1"/>
          </p:cNvSpPr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A45B4-857A-4CB7-B3A6-19A8CD4A3A00}"/>
              </a:ext>
            </a:extLst>
          </p:cNvPr>
          <p:cNvSpPr>
            <a:spLocks noGrp="1"/>
          </p:cNvSpPr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回想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C7F461-8CBF-4EC0-957F-ECC19C078994}"/>
              </a:ext>
            </a:extLst>
          </p:cNvPr>
          <p:cNvSpPr>
            <a:spLocks noGrp="1"/>
          </p:cNvSpPr>
          <p:nvPr/>
        </p:nvSpPr>
        <p:spPr>
          <a:xfrm>
            <a:off x="2000715" y="308610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単語の遅延再生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D4734B-9EB5-48AF-AB0B-85A9B0A19DCB}"/>
              </a:ext>
            </a:extLst>
          </p:cNvPr>
          <p:cNvSpPr>
            <a:spLocks noGrp="1"/>
          </p:cNvSpPr>
          <p:nvPr/>
        </p:nvSpPr>
        <p:spPr>
          <a:xfrm>
            <a:off x="3647048" y="308610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昨日の外食メニューを話す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AB1C4F-99E1-4010-97AC-3F4BAC378265}"/>
              </a:ext>
            </a:extLst>
          </p:cNvPr>
          <p:cNvSpPr>
            <a:spLocks noGrp="1"/>
          </p:cNvSpPr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注意・計算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C0D6B-4A68-45E8-A907-450F2AD12D2D}"/>
              </a:ext>
            </a:extLst>
          </p:cNvPr>
          <p:cNvSpPr>
            <a:spLocks noGrp="1"/>
          </p:cNvSpPr>
          <p:nvPr/>
        </p:nvSpPr>
        <p:spPr>
          <a:xfrm>
            <a:off x="2000715" y="3470152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連続引き算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27A7D-9CCF-4B07-8967-423F2E07140F}"/>
              </a:ext>
            </a:extLst>
          </p:cNvPr>
          <p:cNvSpPr>
            <a:spLocks noGrp="1"/>
          </p:cNvSpPr>
          <p:nvPr/>
        </p:nvSpPr>
        <p:spPr>
          <a:xfrm>
            <a:off x="3647048" y="3470152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残りのリンゴの数を選ぶ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103E4F-53A4-47D7-A211-58777964E671}"/>
              </a:ext>
            </a:extLst>
          </p:cNvPr>
          <p:cNvSpPr>
            <a:spLocks noGrp="1"/>
          </p:cNvSpPr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C87A49-637D-49D6-B688-E54ECB060973}"/>
              </a:ext>
            </a:extLst>
          </p:cNvPr>
          <p:cNvSpPr>
            <a:spLocks noGrp="1"/>
          </p:cNvSpPr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視空間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324632-517F-48A8-85E9-6DF30842648D}"/>
              </a:ext>
            </a:extLst>
          </p:cNvPr>
          <p:cNvSpPr>
            <a:spLocks noGrp="1"/>
          </p:cNvSpPr>
          <p:nvPr/>
        </p:nvSpPr>
        <p:spPr>
          <a:xfrm>
            <a:off x="2000715" y="3854200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図形を描く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F5A4F7-68B5-43D0-B84F-BB26A0D0F6CF}"/>
              </a:ext>
            </a:extLst>
          </p:cNvPr>
          <p:cNvSpPr>
            <a:spLocks noGrp="1"/>
          </p:cNvSpPr>
          <p:nvPr/>
        </p:nvSpPr>
        <p:spPr>
          <a:xfrm>
            <a:off x="3647048" y="3854200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見本どおりに描く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CC8970-40E5-4850-AB95-2BDE35099C9A}"/>
              </a:ext>
            </a:extLst>
          </p:cNvPr>
          <p:cNvSpPr>
            <a:spLocks noGrp="1"/>
          </p:cNvSpPr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言語理解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BCD730-9361-4A84-ADF3-EF3357F5314F}"/>
              </a:ext>
            </a:extLst>
          </p:cNvPr>
          <p:cNvSpPr>
            <a:spLocks noGrp="1"/>
          </p:cNvSpPr>
          <p:nvPr/>
        </p:nvSpPr>
        <p:spPr>
          <a:xfrm>
            <a:off x="2000715" y="4238248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意味を説明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1E2927-7DF0-4A2B-B5E1-53B2C0E22024}"/>
              </a:ext>
            </a:extLst>
          </p:cNvPr>
          <p:cNvSpPr>
            <a:spLocks noGrp="1"/>
          </p:cNvSpPr>
          <p:nvPr/>
        </p:nvSpPr>
        <p:spPr>
          <a:xfrm>
            <a:off x="3647048" y="4238248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ことわざの意味を選ぶ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3B6603-918A-4FD9-B93E-EF8D13E5FB3E}"/>
              </a:ext>
            </a:extLst>
          </p:cNvPr>
          <p:cNvSpPr>
            <a:spLocks noGrp="1"/>
          </p:cNvSpPr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40285-0ADD-4D26-A0FB-C1A63A81781C}"/>
              </a:ext>
            </a:extLst>
          </p:cNvPr>
          <p:cNvSpPr>
            <a:spLocks noGrp="1"/>
          </p:cNvSpPr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順序記憶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F5C1DC-9A4D-4B06-8862-677F4DC5FEEB}"/>
              </a:ext>
            </a:extLst>
          </p:cNvPr>
          <p:cNvSpPr>
            <a:spLocks noGrp="1"/>
          </p:cNvSpPr>
          <p:nvPr/>
        </p:nvSpPr>
        <p:spPr>
          <a:xfrm>
            <a:off x="2000715" y="462229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数字を復唱して覚える</a:t>
            </a:r>
            <a:endParaRPr sz="12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EFD0BB-11E0-4F8E-AE3A-BC854D91BB11}"/>
              </a:ext>
            </a:extLst>
          </p:cNvPr>
          <p:cNvSpPr>
            <a:spLocks noGrp="1"/>
          </p:cNvSpPr>
          <p:nvPr/>
        </p:nvSpPr>
        <p:spPr>
          <a:xfrm>
            <a:off x="3647048" y="462229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5E9A6A"/>
                </a:solidFill>
                <a:latin typeface="Noto Sans JP"/>
                <a:ea typeface="Noto Sans JP"/>
                <a:cs typeface="Noto Sans JP"/>
              </a:rPr>
              <a:t>順番どおりに押し直す</a:t>
            </a:r>
            <a:endParaRPr sz="1200" b="0" dirty="0">
              <a:solidFill>
                <a:srgbClr val="5E9A6A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42FE41-A742-47BD-995B-CA33992ECB53}"/>
              </a:ext>
            </a:extLst>
          </p:cNvPr>
          <p:cNvSpPr>
            <a:spLocks noGrp="1"/>
          </p:cNvSpPr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EFE9AE-D3C6-4C5B-A0BE-719617716273}"/>
              </a:ext>
            </a:extLst>
          </p:cNvPr>
          <p:cNvSpPr>
            <a:spLocks noGrp="1"/>
          </p:cNvSpPr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latin typeface="Noto Sans JP"/>
                <a:ea typeface="Noto Sans JP"/>
                <a:cs typeface="Noto Sans JP"/>
              </a:rPr>
              <a:t>その他18活動は感情・個人記憶を尋ねる対話型設問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76FE42-C7CB-4FB6-893D-BA7940AE35CE}"/>
              </a:ext>
            </a:extLst>
          </p:cNvPr>
          <p:cNvSpPr>
            <a:spLocks noGrp="1"/>
          </p:cNvSpPr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42活動のうち28活動を採点するが、高齢者の画面には点数を表示しない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10A1D8-959E-490E-AF6D-14572B1D92DF}"/>
              </a:ext>
            </a:extLst>
          </p:cNvPr>
          <p:cNvSpPr>
            <a:spLocks noGrp="1"/>
          </p:cNvSpPr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提供しないもの</a:t>
            </a:r>
            <a:endParaRPr sz="16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763994-ACF7-4846-B286-DAC13C405C37}"/>
              </a:ext>
            </a:extLst>
          </p:cNvPr>
          <p:cNvSpPr>
            <a:spLocks noGrp="1"/>
          </p:cNvSpPr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FC1522-8A98-4AC0-A14B-0DDEB0DCBD8E}"/>
              </a:ext>
            </a:extLst>
          </p:cNvPr>
          <p:cNvSpPr>
            <a:spLocks noGrp="1"/>
          </p:cNvSpPr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865633-5F7A-41D9-965F-22E72EE9C842}"/>
              </a:ext>
            </a:extLst>
          </p:cNvPr>
          <p:cNvSpPr>
            <a:spLocks noGrp="1"/>
          </p:cNvSpPr>
          <p:nvPr/>
        </p:nvSpPr>
        <p:spPr>
          <a:xfrm>
            <a:off x="5899288" y="2118563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認知症の診断</a:t>
            </a:r>
            <a:endParaRPr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91B4D9E-DA78-433E-8552-5832073AF581}"/>
              </a:ext>
            </a:extLst>
          </p:cNvPr>
          <p:cNvSpPr>
            <a:spLocks noGrp="1"/>
          </p:cNvSpPr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C1D2EF-4E0D-4D01-B7EE-A808C125C38A}"/>
              </a:ext>
            </a:extLst>
          </p:cNvPr>
          <p:cNvSpPr>
            <a:spLocks noGrp="1"/>
          </p:cNvSpPr>
          <p:nvPr/>
        </p:nvSpPr>
        <p:spPr>
          <a:xfrm>
            <a:off x="5899288" y="237459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リスク判定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A27B2C3-6369-49CC-8709-4824882205CC}"/>
              </a:ext>
            </a:extLst>
          </p:cNvPr>
          <p:cNvSpPr>
            <a:spLocks noGrp="1"/>
          </p:cNvSpPr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EF5165-67F7-4A4D-B827-7301FA811830}"/>
              </a:ext>
            </a:extLst>
          </p:cNvPr>
          <p:cNvSpPr>
            <a:spLocks noGrp="1"/>
          </p:cNvSpPr>
          <p:nvPr/>
        </p:nvSpPr>
        <p:spPr>
          <a:xfrm>
            <a:off x="5899288" y="2630627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点数の通知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79BB8D-1E3F-480D-8AF9-99399633C5FE}"/>
              </a:ext>
            </a:extLst>
          </p:cNvPr>
          <p:cNvSpPr>
            <a:spLocks noGrp="1"/>
          </p:cNvSpPr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判定は専門機関が担う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4CD702-3E5D-4317-ACDA-B581C69F6FB0}"/>
              </a:ext>
            </a:extLst>
          </p:cNvPr>
          <p:cNvSpPr>
            <a:spLocks noGrp="1"/>
          </p:cNvSpPr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提供するもの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6B980EE-00D9-4E97-9A3F-44D04CFE546C}"/>
              </a:ext>
            </a:extLst>
          </p:cNvPr>
          <p:cNvSpPr>
            <a:spLocks noGrp="1"/>
          </p:cNvSpPr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20DCD5-6EE5-43AD-8EB2-97D3359C7A9D}"/>
              </a:ext>
            </a:extLst>
          </p:cNvPr>
          <p:cNvSpPr>
            <a:spLocks noGrp="1"/>
          </p:cNvSpPr>
          <p:nvPr/>
        </p:nvSpPr>
        <p:spPr>
          <a:xfrm>
            <a:off x="5899288" y="4089135"/>
            <a:ext cx="20967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日々の変化を観察記録として残す</a:t>
            </a:r>
            <a:endParaRPr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0293E06-FD67-4F1C-8DA2-F58FF529A6E7}"/>
              </a:ext>
            </a:extLst>
          </p:cNvPr>
          <p:cNvSpPr>
            <a:spLocks noGrp="1"/>
          </p:cNvSpPr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7B77B7-BBAB-46EA-A2CC-258F0FDA6D22}"/>
              </a:ext>
            </a:extLst>
          </p:cNvPr>
          <p:cNvSpPr>
            <a:spLocks noGrp="1"/>
          </p:cNvSpPr>
          <p:nvPr/>
        </p:nvSpPr>
        <p:spPr>
          <a:xfrm>
            <a:off x="5899288" y="4345167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専門家・相談員が参照</a:t>
            </a:r>
            <a:endParaRPr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320FAC1-AD2C-4EEE-AE60-B918F525A57E}"/>
              </a:ext>
            </a:extLst>
          </p:cNvPr>
          <p:cNvSpPr>
            <a:spLocks noGrp="1"/>
          </p:cNvSpPr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C2666F-4490-4B0B-8E89-821C0FDC5C20}"/>
              </a:ext>
            </a:extLst>
          </p:cNvPr>
          <p:cNvSpPr>
            <a:spLocks noGrp="1"/>
          </p:cNvSpPr>
          <p:nvPr/>
        </p:nvSpPr>
        <p:spPr>
          <a:xfrm>
            <a:off x="5899288" y="4601199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家族が安否確認に活用</a:t>
            </a:r>
            <a:endParaRPr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A522F0-45E4-4386-B5E8-20CCF9224F18}"/>
              </a:ext>
            </a:extLst>
          </p:cNvPr>
          <p:cNvSpPr>
            <a:spLocks noGrp="1"/>
          </p:cNvSpPr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6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家族に提供する情報</a:t>
            </a:r>
            <a:endParaRPr sz="16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BEBA2E-964B-492F-B5E9-DAFADC3AB32C}"/>
              </a:ext>
            </a:extLst>
          </p:cNvPr>
          <p:cNvSpPr>
            <a:spLocks noGrp="1"/>
          </p:cNvSpPr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5A3CFAE-C45A-4B8A-B25B-D25FB56E3B6D}"/>
              </a:ext>
            </a:extLst>
          </p:cNvPr>
          <p:cNvSpPr>
            <a:spLocks noGrp="1"/>
          </p:cNvSpPr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3E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79B5EB-0728-49C6-BC9A-61B231C63CBF}"/>
              </a:ext>
            </a:extLst>
          </p:cNvPr>
          <p:cNvSpPr>
            <a:spLocks noGrp="1"/>
          </p:cNvSpPr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「最近、『復唱』で</a:t>
            </a:r>
            <a:endParaRPr sz="1200" b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9E4FFA-3215-4E7A-A80C-F37D2184A0EE}"/>
              </a:ext>
            </a:extLst>
          </p:cNvPr>
          <p:cNvSpPr>
            <a:spLocks noGrp="1"/>
          </p:cNvSpPr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少しためらう場面が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C512F7-BC63-4A99-92C6-429898DB6F37}"/>
              </a:ext>
            </a:extLst>
          </p:cNvPr>
          <p:cNvSpPr>
            <a:spLocks noGrp="1"/>
          </p:cNvSpPr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増えています」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93B414-A075-4545-AA85-254EB3CE665C}"/>
              </a:ext>
            </a:extLst>
          </p:cNvPr>
          <p:cNvSpPr>
            <a:spLocks noGrp="1"/>
          </p:cNvSpPr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点数ではなく、変化を文章で提示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A9176E-222C-4AF9-8432-D992F39C3E47}"/>
              </a:ext>
            </a:extLst>
          </p:cNvPr>
          <p:cNvSpPr>
            <a:spLocks noGrp="1"/>
          </p:cNvSpPr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家族画面下部（例）</a:t>
            </a:r>
            <a:endParaRPr sz="12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pic>
        <p:nvPicPr>
          <p:cNvPr id="136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FDD3ED52-8EBA-4B1F-90DE-E92B44B469ED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5C3EFF-D512-41E3-A1B4-1F3923A83BA3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Labs・Appendix・認知症検査との違い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887A010-EEF7-4B99-87AD-A49D23EDF038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</a:t>
            </a: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7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140" name="Picture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>
            <a:spLocks noGrp="1"/>
          </p:cNvSpPr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148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61CF5-12CA-47ED-8782-5D8E3CE8DE1C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D3310-7A48-4F44-BB27-5C4A9D78058D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4690387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3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Haruキオスクの</a:t>
            </a:r>
            <a:r>
              <a:rPr sz="2730" b="1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構造的な違い</a:t>
            </a:r>
            <a:endParaRPr sz="2730" b="1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EDCFF-F4A9-490F-9BCF-8793EEABCAC4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画面とボタンの位置を対応・キオスク本体も自社で設計・製作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596ED-C98F-4D75-8257-0822ED9CDD04}"/>
              </a:ext>
            </a:extLst>
          </p:cNvPr>
          <p:cNvSpPr>
            <a:spLocks noGrp="1"/>
          </p:cNvSpPr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実機モックアップ</a:t>
            </a:r>
            <a:endParaRPr sz="16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0C3CA-EC97-4D8F-A2F3-9F5C2C7F34F3}"/>
              </a:ext>
            </a:extLst>
          </p:cNvPr>
          <p:cNvSpPr>
            <a:spLocks noGrp="1"/>
          </p:cNvSpPr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画面位置＝ボタン位置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D51AC-9589-4027-A3B2-F2F19B049045}"/>
              </a:ext>
            </a:extLst>
          </p:cNvPr>
          <p:cNvSpPr>
            <a:spLocks noGrp="1"/>
          </p:cNvSpPr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4つのボタンを画面上の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EE98B-C7C8-4032-A99B-5007D1DA5BE5}"/>
              </a:ext>
            </a:extLst>
          </p:cNvPr>
          <p:cNvSpPr>
            <a:spLocks noGrp="1"/>
          </p:cNvSpPr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4つの選択肢と同じ配置にする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5B694-71A3-4408-B4C6-D58A36BEDE69}"/>
              </a:ext>
            </a:extLst>
          </p:cNvPr>
          <p:cNvSpPr>
            <a:spLocks noGrp="1"/>
          </p:cNvSpPr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3つの違い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0CE36-DBED-4176-81C3-FC8F9E39994F}"/>
              </a:ext>
            </a:extLst>
          </p:cNvPr>
          <p:cNvSpPr>
            <a:spLocks noGrp="1"/>
          </p:cNvSpPr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4533912-214B-46E8-98A3-E34AF7B3C4A7}"/>
              </a:ext>
            </a:extLst>
          </p:cNvPr>
          <p:cNvSpPr>
            <a:spLocks noGrp="1"/>
          </p:cNvSpPr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1BA2CE-22BE-4C31-B18D-E7F8655D9979}"/>
              </a:ext>
            </a:extLst>
          </p:cNvPr>
          <p:cNvSpPr>
            <a:spLocks noGrp="1"/>
          </p:cNvSpPr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C34205-BC8A-4EEC-B87D-F984A1B123BD}"/>
              </a:ext>
            </a:extLst>
          </p:cNvPr>
          <p:cNvSpPr>
            <a:spLocks noGrp="1"/>
          </p:cNvSpPr>
          <p:nvPr/>
        </p:nvSpPr>
        <p:spPr>
          <a:xfrm>
            <a:off x="3465576" y="2228291"/>
            <a:ext cx="307776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ボタンに固定の意味を持たせない</a:t>
            </a:r>
            <a:endParaRPr sz="16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34E727-B01A-453B-BE5E-4BA0518BBC2C}"/>
              </a:ext>
            </a:extLst>
          </p:cNvPr>
          <p:cNvSpPr>
            <a:spLocks noGrp="1"/>
          </p:cNvSpPr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銀行端末では「確認」「取消」などボタンごとに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70A25-8B3C-4913-A9C0-D073266D4A72}"/>
              </a:ext>
            </a:extLst>
          </p:cNvPr>
          <p:cNvSpPr>
            <a:spLocks noGrp="1"/>
          </p:cNvSpPr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意味が決まり、覚える必要がある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99CC47-B7D0-4CD4-AA1E-A5C5FD8067AE}"/>
              </a:ext>
            </a:extLst>
          </p:cNvPr>
          <p:cNvSpPr>
            <a:spLocks noGrp="1"/>
          </p:cNvSpPr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Haruは画面の位置に対応するボタンを押す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657968-77F9-4EA3-A7F7-E34D878AA7DB}"/>
              </a:ext>
            </a:extLst>
          </p:cNvPr>
          <p:cNvSpPr>
            <a:spLocks noGrp="1"/>
          </p:cNvSpPr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195AC2-5E5C-4184-9849-66062CCF4749}"/>
              </a:ext>
            </a:extLst>
          </p:cNvPr>
          <p:cNvSpPr>
            <a:spLocks noGrp="1"/>
          </p:cNvSpPr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4A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14430C-4BCF-4DBC-A8C5-BC4DC33A8A7E}"/>
              </a:ext>
            </a:extLst>
          </p:cNvPr>
          <p:cNvSpPr>
            <a:spLocks noGrp="1"/>
          </p:cNvSpPr>
          <p:nvPr/>
        </p:nvSpPr>
        <p:spPr>
          <a:xfrm>
            <a:off x="3465576" y="3508451"/>
            <a:ext cx="307776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同じボタンをもう一度押して確定</a:t>
            </a:r>
            <a:endParaRPr sz="16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D7071-CA86-4855-9A76-22E6242EB408}"/>
              </a:ext>
            </a:extLst>
          </p:cNvPr>
          <p:cNvSpPr>
            <a:spLocks noGrp="1"/>
          </p:cNvSpPr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誤って押しても、別の位置を押せば選択が移る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E4629F-9011-45EE-A782-470AB2F84A63}"/>
              </a:ext>
            </a:extLst>
          </p:cNvPr>
          <p:cNvSpPr>
            <a:spLocks noGrp="1"/>
          </p:cNvSpPr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「取消」「戻る」を覚える必要がない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B7766-F317-4DD3-B38C-971AFD220F7B}"/>
              </a:ext>
            </a:extLst>
          </p:cNvPr>
          <p:cNvSpPr>
            <a:spLocks noGrp="1"/>
          </p:cNvSpPr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確定前ならいつでもやり直せる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FEB2621-1644-4607-ABED-F7B828E00C27}"/>
              </a:ext>
            </a:extLst>
          </p:cNvPr>
          <p:cNvSpPr>
            <a:spLocks noGrp="1"/>
          </p:cNvSpPr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2F68CE-102C-461B-B1E2-3604F5DD2985}"/>
              </a:ext>
            </a:extLst>
          </p:cNvPr>
          <p:cNvSpPr>
            <a:spLocks noGrp="1"/>
          </p:cNvSpPr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2CC485-DCB2-4030-AE8F-E7084A2804AB}"/>
              </a:ext>
            </a:extLst>
          </p:cNvPr>
          <p:cNvSpPr>
            <a:spLocks noGrp="1"/>
          </p:cNvSpPr>
          <p:nvPr/>
        </p:nvSpPr>
        <p:spPr>
          <a:xfrm>
            <a:off x="3465576" y="4788611"/>
            <a:ext cx="277159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発話操作も同じ4ボタンで行う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5AF11C-956B-4E55-869E-DD3F4A183628}"/>
              </a:ext>
            </a:extLst>
          </p:cNvPr>
          <p:cNvSpPr>
            <a:spLocks noGrp="1"/>
          </p:cNvSpPr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発話活動ではAが「もう一度聞く」、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D02A4A-E298-4983-A6DE-72AC8AD89AA4}"/>
              </a:ext>
            </a:extLst>
          </p:cNvPr>
          <p:cNvSpPr>
            <a:spLocks noGrp="1"/>
          </p:cNvSpPr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Bが「発話開始」になる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0DC79-EA4D-480A-9D16-DFD248816BF8}"/>
              </a:ext>
            </a:extLst>
          </p:cNvPr>
          <p:cNvSpPr>
            <a:spLocks noGrp="1"/>
          </p:cNvSpPr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覚える操作は増えない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EC632C-B5A9-4DD3-BCE0-FA84869628B6}"/>
              </a:ext>
            </a:extLst>
          </p:cNvPr>
          <p:cNvSpPr>
            <a:spLocks noGrp="1"/>
          </p:cNvSpPr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独自作成の筐体設計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AD0961-A971-4F6C-BEFD-03C3B61A6F04}"/>
              </a:ext>
            </a:extLst>
          </p:cNvPr>
          <p:cNvSpPr>
            <a:spLocks noGrp="1"/>
          </p:cNvSpPr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AA7FEE-6D09-446D-A85C-235B2D476208}"/>
              </a:ext>
            </a:extLst>
          </p:cNvPr>
          <p:cNvSpPr>
            <a:spLocks noGrp="1"/>
          </p:cNvSpPr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幅300×奥行398×高さ610 mm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2996F4-3049-4B05-BF29-7F1F30055D34}"/>
              </a:ext>
            </a:extLst>
          </p:cNvPr>
          <p:cNvSpPr>
            <a:spLocks noGrp="1"/>
          </p:cNvSpPr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ボタンはUSBキーボードと同じ方式で接続し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7B5182-8625-46B7-B687-503564F50D27}"/>
              </a:ext>
            </a:extLst>
          </p:cNvPr>
          <p:cNvSpPr>
            <a:spLocks noGrp="1"/>
          </p:cNvSpPr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市販部品だけで組立可能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21AEF6-FDE0-45FD-9807-E38D4F937F25}"/>
              </a:ext>
            </a:extLst>
          </p:cNvPr>
          <p:cNvSpPr>
            <a:spLocks noGrp="1"/>
          </p:cNvSpPr>
          <p:nvPr/>
        </p:nvSpPr>
        <p:spPr>
          <a:xfrm>
            <a:off x="7799831" y="2889504"/>
            <a:ext cx="215443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自作の組立図・試作品基準</a:t>
            </a:r>
            <a:endParaRPr sz="1400" b="0" dirty="0">
              <a:solidFill>
                <a:srgbClr val="2A2018"/>
              </a:solidFill>
              <a:latin typeface="Noto Sans JP"/>
              <a:ea typeface="Noto Sans JP"/>
              <a:cs typeface="Noto Sans JP"/>
            </a:endParaRPr>
          </a:p>
        </p:txBody>
      </p:sp>
      <p:pic>
        <p:nvPicPr>
          <p:cNvPr id="77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A7974E5-F19E-40C8-80C9-A7505E938BED}"/>
              </a:ext>
            </a:extLst>
          </p:cNvPr>
          <p:cNvSpPr>
            <a:spLocks noGrp="1"/>
          </p:cNvSpPr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量産図面ではなく試作品製作用の図面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80B0A4-4722-4AC2-9900-487227DB55D5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8A1A08-1547-4A38-ADB7-05BD8D30540B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補足・ボタン構造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1CFEAD-75EC-4C2F-A33D-DAC23707F8C5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</a:t>
            </a: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82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pic>
        <p:nvPicPr>
          <p:cNvPr id="83" name="그림 42"/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01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EA124-C3B7-4CCA-95CF-9CDEEB87920C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CA25B-389F-486A-A7DD-DDBC9917CA74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4956485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30" b="1" dirty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ベータテスト結果―</a:t>
            </a:r>
            <a:r>
              <a:rPr sz="2730" b="1" dirty="0">
                <a:solidFill>
                  <a:srgbClr val="F57265"/>
                </a:solidFill>
                <a:latin typeface="Noto Sans JP"/>
                <a:ea typeface="Noto Sans JP"/>
                <a:cs typeface="Noto Sans JP"/>
              </a:rPr>
              <a:t>高齢者20名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6B4F6-161C-4C52-A413-B56E3374F2CF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デモ版で実施したベータテスト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3F0EF-CF04-4B6D-B7E2-1699C71CDF1A}"/>
              </a:ext>
            </a:extLst>
          </p:cNvPr>
          <p:cNvSpPr>
            <a:spLocks noGrp="1"/>
          </p:cNvSpPr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実際に行ったこと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47785-741E-437A-AF18-56A3A5A2CE6D}"/>
              </a:ext>
            </a:extLst>
          </p:cNvPr>
          <p:cNvSpPr>
            <a:spLocks noGrp="1"/>
          </p:cNvSpPr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BEE075-2D02-40F2-963F-EA5EC1FA7D9D}"/>
              </a:ext>
            </a:extLst>
          </p:cNvPr>
          <p:cNvSpPr>
            <a:spLocks noGrp="1"/>
          </p:cNvSpPr>
          <p:nvPr/>
        </p:nvSpPr>
        <p:spPr>
          <a:xfrm>
            <a:off x="603503" y="232685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04961F-A292-4BEC-8DD6-7C6BDD5AD5F2}"/>
              </a:ext>
            </a:extLst>
          </p:cNvPr>
          <p:cNvSpPr>
            <a:spLocks noGrp="1"/>
          </p:cNvSpPr>
          <p:nvPr/>
        </p:nvSpPr>
        <p:spPr>
          <a:xfrm>
            <a:off x="787440" y="2278089"/>
            <a:ext cx="191719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65歳以上の高齢者20名を募集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D589FB-6177-420B-ADED-091D1E7407CE}"/>
              </a:ext>
            </a:extLst>
          </p:cNvPr>
          <p:cNvSpPr>
            <a:spLocks noGrp="1"/>
          </p:cNvSpPr>
          <p:nvPr/>
        </p:nvSpPr>
        <p:spPr>
          <a:xfrm>
            <a:off x="603503" y="2696936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5981A5-30BB-492E-A82C-2F79F06C71F0}"/>
              </a:ext>
            </a:extLst>
          </p:cNvPr>
          <p:cNvSpPr>
            <a:spLocks noGrp="1"/>
          </p:cNvSpPr>
          <p:nvPr/>
        </p:nvSpPr>
        <p:spPr>
          <a:xfrm>
            <a:off x="787440" y="2648168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各自のスマートフォンからURLにアクセス</a:t>
            </a:r>
            <a:endParaRPr sz="1400" b="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07D4FA-BC8F-4BF1-AFF3-D3079C44FCF3}"/>
              </a:ext>
            </a:extLst>
          </p:cNvPr>
          <p:cNvSpPr>
            <a:spLocks noGrp="1"/>
          </p:cNvSpPr>
          <p:nvPr/>
        </p:nvSpPr>
        <p:spPr>
          <a:xfrm>
            <a:off x="603503" y="3118568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2BFA4-B21A-495C-B990-90DB6626C4DD}"/>
              </a:ext>
            </a:extLst>
          </p:cNvPr>
          <p:cNvSpPr>
            <a:spLocks noGrp="1"/>
          </p:cNvSpPr>
          <p:nvPr/>
        </p:nvSpPr>
        <p:spPr>
          <a:xfrm>
            <a:off x="787440" y="3069800"/>
            <a:ext cx="181459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6つの活動を実施</a:t>
            </a:r>
            <a:endParaRPr sz="1400" b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FEDB88-4622-41E4-BC93-A52D90622844}"/>
              </a:ext>
            </a:extLst>
          </p:cNvPr>
          <p:cNvSpPr>
            <a:spLocks noGrp="1"/>
          </p:cNvSpPr>
          <p:nvPr/>
        </p:nvSpPr>
        <p:spPr>
          <a:xfrm>
            <a:off x="603503" y="3540200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F9DEB-3FE6-4657-8258-AEC0B15D9DC0}"/>
              </a:ext>
            </a:extLst>
          </p:cNvPr>
          <p:cNvSpPr>
            <a:spLocks noGrp="1"/>
          </p:cNvSpPr>
          <p:nvPr/>
        </p:nvSpPr>
        <p:spPr>
          <a:xfrm>
            <a:off x="787440" y="3491432"/>
            <a:ext cx="155331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ユーザーデータをすべて記録</a:t>
            </a:r>
            <a:endParaRPr sz="1400" b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F6758F-CE97-490B-964B-40CAF14F568C}"/>
              </a:ext>
            </a:extLst>
          </p:cNvPr>
          <p:cNvSpPr>
            <a:spLocks noGrp="1"/>
          </p:cNvSpPr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観察を反映した設計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6F279D-E449-42FD-A366-869C592A8F90}"/>
              </a:ext>
            </a:extLst>
          </p:cNvPr>
          <p:cNvSpPr>
            <a:spLocks noGrp="1"/>
          </p:cNvSpPr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01162E-037B-425A-9A6A-0A35AA243481}"/>
              </a:ext>
            </a:extLst>
          </p:cNvPr>
          <p:cNvSpPr>
            <a:spLocks noGrp="1"/>
          </p:cNvSpPr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274C55-CE86-4713-83F6-4FDF1CDD3A76}"/>
              </a:ext>
            </a:extLst>
          </p:cNvPr>
          <p:cNvSpPr>
            <a:spLocks noGrp="1"/>
          </p:cNvSpPr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制約</a:t>
            </a:r>
            <a:endParaRPr sz="1200" b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3C7F2B-9257-40D2-AAE5-DF767034A839}"/>
              </a:ext>
            </a:extLst>
          </p:cNvPr>
          <p:cNvSpPr>
            <a:spLocks noGrp="1"/>
          </p:cNvSpPr>
          <p:nvPr/>
        </p:nvSpPr>
        <p:spPr>
          <a:xfrm>
            <a:off x="6263460" y="2251563"/>
            <a:ext cx="217855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変更点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B93634-5AFA-41A0-BBA5-D17D722695D1}"/>
              </a:ext>
            </a:extLst>
          </p:cNvPr>
          <p:cNvSpPr>
            <a:spLocks noGrp="1"/>
          </p:cNvSpPr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354A8F-400A-4B4A-A83C-86878A949D34}"/>
              </a:ext>
            </a:extLst>
          </p:cNvPr>
          <p:cNvSpPr>
            <a:spLocks noGrp="1"/>
          </p:cNvSpPr>
          <p:nvPr/>
        </p:nvSpPr>
        <p:spPr>
          <a:xfrm>
            <a:off x="4215384" y="2617279"/>
            <a:ext cx="1714500" cy="184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スマートフォン画面が小さい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D4E98A-53E7-42B7-B595-0F185EEC047C}"/>
              </a:ext>
            </a:extLst>
          </p:cNvPr>
          <p:cNvSpPr>
            <a:spLocks noGrp="1"/>
          </p:cNvSpPr>
          <p:nvPr/>
        </p:nvSpPr>
        <p:spPr>
          <a:xfrm>
            <a:off x="6263460" y="2617323"/>
            <a:ext cx="17889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大画面のキオスク製品へ</a:t>
            </a:r>
            <a:endParaRPr sz="1200" b="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0BDFD6-60FA-4D9F-9F0B-40FDB7617049}"/>
              </a:ext>
            </a:extLst>
          </p:cNvPr>
          <p:cNvSpPr>
            <a:spLocks noGrp="1"/>
          </p:cNvSpPr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1AE861-917C-4012-831A-EE5B94FF056C}"/>
              </a:ext>
            </a:extLst>
          </p:cNvPr>
          <p:cNvSpPr>
            <a:spLocks noGrp="1"/>
          </p:cNvSpPr>
          <p:nvPr/>
        </p:nvSpPr>
        <p:spPr>
          <a:xfrm>
            <a:off x="4215384" y="3037904"/>
            <a:ext cx="1714500" cy="184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操作が難しいと感じる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62F2B0-5DB8-46B2-A68C-5AC12EA618BF}"/>
              </a:ext>
            </a:extLst>
          </p:cNvPr>
          <p:cNvSpPr>
            <a:spLocks noGrp="1"/>
          </p:cNvSpPr>
          <p:nvPr/>
        </p:nvSpPr>
        <p:spPr>
          <a:xfrm>
            <a:off x="6263460" y="3037947"/>
            <a:ext cx="17264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メニューなし・4ボタンで操作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449518-B052-4049-8671-2491C7369D2A}"/>
              </a:ext>
            </a:extLst>
          </p:cNvPr>
          <p:cNvSpPr>
            <a:spLocks noGrp="1"/>
          </p:cNvSpPr>
          <p:nvPr/>
        </p:nvSpPr>
        <p:spPr>
          <a:xfrm>
            <a:off x="4215384" y="3458528"/>
            <a:ext cx="1714500" cy="184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触覚フィードバックがない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0206DC-5714-409D-B1AB-1BE8705EA6C9}"/>
              </a:ext>
            </a:extLst>
          </p:cNvPr>
          <p:cNvSpPr>
            <a:spLocks noGrp="1"/>
          </p:cNvSpPr>
          <p:nvPr/>
        </p:nvSpPr>
        <p:spPr>
          <a:xfrm>
            <a:off x="6263460" y="3458571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聴取表示と波形を可視化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C47367-0DE5-41F9-BF56-37B48ADAC6E8}"/>
              </a:ext>
            </a:extLst>
          </p:cNvPr>
          <p:cNvSpPr>
            <a:spLocks noGrp="1"/>
          </p:cNvSpPr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A06799-5E95-474E-89C1-5BDDD9FE2B24}"/>
              </a:ext>
            </a:extLst>
          </p:cNvPr>
          <p:cNvSpPr>
            <a:spLocks noGrp="1"/>
          </p:cNvSpPr>
          <p:nvPr/>
        </p:nvSpPr>
        <p:spPr>
          <a:xfrm>
            <a:off x="4215384" y="3879152"/>
            <a:ext cx="1714500" cy="184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動作案内が不十分</a:t>
            </a:r>
            <a:endParaRPr sz="1200" b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597931-F903-4789-9C36-6CD7F95E9F70}"/>
              </a:ext>
            </a:extLst>
          </p:cNvPr>
          <p:cNvSpPr>
            <a:spLocks noGrp="1"/>
          </p:cNvSpPr>
          <p:nvPr/>
        </p:nvSpPr>
        <p:spPr>
          <a:xfrm>
            <a:off x="6263460" y="3879195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設問の説明を十分に提示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74514C-56F2-40C5-AC45-0B1B40DBE227}"/>
              </a:ext>
            </a:extLst>
          </p:cNvPr>
          <p:cNvSpPr>
            <a:spLocks noGrp="1"/>
          </p:cNvSpPr>
          <p:nvPr/>
        </p:nvSpPr>
        <p:spPr>
          <a:xfrm>
            <a:off x="4215384" y="4299776"/>
            <a:ext cx="1762125" cy="184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9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折りたたみ携帯を使用する場合</a:t>
            </a:r>
            <a:endParaRPr sz="1200" b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B009FD-0AD9-4AA4-8D59-00B6583BC0B7}"/>
              </a:ext>
            </a:extLst>
          </p:cNvPr>
          <p:cNvSpPr>
            <a:spLocks noGrp="1"/>
          </p:cNvSpPr>
          <p:nvPr/>
        </p:nvSpPr>
        <p:spPr>
          <a:xfrm>
            <a:off x="6263460" y="4299819"/>
            <a:ext cx="1928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spc="-150" dirty="0" err="1">
                <a:solidFill>
                  <a:srgbClr val="C8410E"/>
                </a:solidFill>
                <a:latin typeface="Noto Sans JP"/>
                <a:ea typeface="Noto Sans JP"/>
                <a:cs typeface="Noto Sans JP"/>
              </a:rPr>
              <a:t>福祉施設設置のキオスクで利用</a:t>
            </a:r>
            <a:endParaRPr sz="1200" b="0" spc="-150" dirty="0">
              <a:solidFill>
                <a:srgbClr val="C8410E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D7CB1E-CE58-426F-AF65-DCE61F871A5F}"/>
              </a:ext>
            </a:extLst>
          </p:cNvPr>
          <p:cNvSpPr>
            <a:spLocks noGrp="1"/>
          </p:cNvSpPr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266AC8-2A4C-4AA1-9795-D60DA178FC62}"/>
              </a:ext>
            </a:extLst>
          </p:cNvPr>
          <p:cNvSpPr>
            <a:spLocks noGrp="1"/>
          </p:cNvSpPr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5つの制約を確認し、再設計しました。</a:t>
            </a:r>
            <a:endParaRPr sz="1400" b="0">
              <a:solidFill>
                <a:srgbClr val="2A2018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57B5D3-EA2F-407E-86E6-A65CF28E2C30}"/>
              </a:ext>
            </a:extLst>
          </p:cNvPr>
          <p:cNvSpPr>
            <a:spLocks noGrp="1"/>
          </p:cNvSpPr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6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10月実証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1D21CD-2021-45AB-B55E-EB4693AD96AB}"/>
              </a:ext>
            </a:extLst>
          </p:cNvPr>
          <p:cNvSpPr>
            <a:spLocks noGrp="1"/>
          </p:cNvSpPr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FD9E7E-77E9-498A-8C9D-74E54C41052A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E92ABD-AB2B-41B9-B219-8EF7907913AA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Labs・Appendix・20名ベータテストの位置づけ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943268-7E50-44C9-B61F-264225C4B410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</a:t>
            </a: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9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113" name="Picture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>
            <a:spLocks noGrp="1"/>
          </p:cNvSpPr>
          <p:nvPr/>
        </p:nvSpPr>
        <p:spPr>
          <a:xfrm>
            <a:off x="9046834" y="2118255"/>
            <a:ext cx="3012382" cy="2560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dirty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2×2ボタン式キオスクの</a:t>
            </a:r>
            <a:endParaRPr lang="en-US" sz="14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>
              <a:lnSpc>
                <a:spcPct val="2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ユーザビリティ検証</a:t>
            </a:r>
            <a:endParaRPr sz="14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>
              <a:lnSpc>
                <a:spcPct val="2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ユーザー別設問の高度化</a:t>
            </a:r>
            <a:endParaRPr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音声認識の追加検証</a:t>
            </a:r>
            <a:endParaRPr sz="140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>
              <a:lnSpc>
                <a:spcPct val="2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バックエンド構築完了</a:t>
            </a:r>
            <a:endParaRPr sz="1400" dirty="0">
              <a:solidFill>
                <a:srgbClr val="6C5D4C"/>
              </a:solidFill>
              <a:latin typeface="Noto Sans JP"/>
              <a:ea typeface="Noto Sans JP"/>
              <a:cs typeface="Noto Sans JP"/>
            </a:endParaRPr>
          </a:p>
          <a:p>
            <a:pPr>
              <a:lnSpc>
                <a:spcPct val="2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dirty="0" err="1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韓国内施設との連携網構築</a:t>
            </a:r>
            <a:endParaRPr sz="1400" b="0" dirty="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75130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3E2C3F-9A47-41C7-B861-A9E9419B2896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7F192-01B5-4EEB-A873-7D0B1970BCDD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2795637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3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個人情報の取扱い</a:t>
            </a:r>
            <a:endParaRPr sz="2730" b="1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9AA70-E144-4E9E-B43E-C1FDDC95E3DC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氏名ではなく番号で保存・役割ごとに閲覧範囲を制限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C544F-0268-4B4D-9FBE-237D53CADA0B}"/>
              </a:ext>
            </a:extLst>
          </p:cNvPr>
          <p:cNvSpPr>
            <a:spLocks noGrp="1"/>
          </p:cNvSpPr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個人情報の処理フロー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AFACA9-B144-4715-98D6-ADF21281230A}"/>
              </a:ext>
            </a:extLst>
          </p:cNvPr>
          <p:cNvSpPr>
            <a:spLocks noGrp="1"/>
          </p:cNvSpPr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7F9A75-7766-4B0D-B5A8-71432BF4F91E}"/>
              </a:ext>
            </a:extLst>
          </p:cNvPr>
          <p:cNvSpPr>
            <a:spLocks noGrp="1"/>
          </p:cNvSpPr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BA6B4-85EC-4ACD-884F-1039634292C9}"/>
              </a:ext>
            </a:extLst>
          </p:cNvPr>
          <p:cNvSpPr>
            <a:spLocks noGrp="1"/>
          </p:cNvSpPr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① 福祉施設で職員が登録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7CCADF-34BF-43AD-814E-4196A7CBA24F}"/>
              </a:ext>
            </a:extLst>
          </p:cNvPr>
          <p:cNvSpPr>
            <a:spLocks noGrp="1"/>
          </p:cNvSpPr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1C217-4543-4FD6-A6C5-BAB91DAC033A}"/>
              </a:ext>
            </a:extLst>
          </p:cNvPr>
          <p:cNvSpPr>
            <a:spLocks noGrp="1"/>
          </p:cNvSpPr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② 同意書は福祉施設が保管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2B063FD-F767-4622-A06D-2523D4581D15}"/>
              </a:ext>
            </a:extLst>
          </p:cNvPr>
          <p:cNvSpPr>
            <a:spLocks noGrp="1"/>
          </p:cNvSpPr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870BD-C7A8-438F-8F00-892811C7056F}"/>
              </a:ext>
            </a:extLst>
          </p:cNvPr>
          <p:cNvSpPr>
            <a:spLocks noGrp="1"/>
          </p:cNvSpPr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③ カードから読み取るのはカード番号のみ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D646BC6-922B-4E5E-8375-67F2A5C0A7A8}"/>
              </a:ext>
            </a:extLst>
          </p:cNvPr>
          <p:cNvSpPr>
            <a:spLocks noGrp="1"/>
          </p:cNvSpPr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B0C6DE-54CD-45BC-B102-397FDDC34712}"/>
              </a:ext>
            </a:extLst>
          </p:cNvPr>
          <p:cNvSpPr>
            <a:spLocks noGrp="1"/>
          </p:cNvSpPr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④ その番号を高齢者IDに紐付け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3B0E0A1-DADB-4E13-ABEC-B1E5C13F1470}"/>
              </a:ext>
            </a:extLst>
          </p:cNvPr>
          <p:cNvSpPr>
            <a:spLocks noGrp="1"/>
          </p:cNvSpPr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38020D-3967-4D99-B7A7-0149D14BB40D}"/>
              </a:ext>
            </a:extLst>
          </p:cNvPr>
          <p:cNvSpPr>
            <a:spLocks noGrp="1"/>
          </p:cNvSpPr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⑤ カードをかざすと開始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7F88F1-E20C-4D7F-9DD4-2F852E1C5878}"/>
              </a:ext>
            </a:extLst>
          </p:cNvPr>
          <p:cNvSpPr>
            <a:spLocks noGrp="1"/>
          </p:cNvSpPr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8AD63-F06B-483E-8B21-FA7D2641E1A2}"/>
              </a:ext>
            </a:extLst>
          </p:cNvPr>
          <p:cNvSpPr>
            <a:spLocks noGrp="1"/>
          </p:cNvSpPr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個人情報の保管方法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7E257E-706F-43A8-9245-57A1526C91BC}"/>
              </a:ext>
            </a:extLst>
          </p:cNvPr>
          <p:cNvSpPr>
            <a:spLocks noGrp="1"/>
          </p:cNvSpPr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DDF275-9BDC-4CD1-A536-B2C035174D46}"/>
              </a:ext>
            </a:extLst>
          </p:cNvPr>
          <p:cNvSpPr>
            <a:spLocks noGrp="1"/>
          </p:cNvSpPr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氏名・連絡先は福祉施設のみで保管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21337-0240-44A4-9AE8-430F0B21416F}"/>
              </a:ext>
            </a:extLst>
          </p:cNvPr>
          <p:cNvSpPr>
            <a:spLocks noGrp="1"/>
          </p:cNvSpPr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端末には番号だけを保存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3C8C1E-5919-407D-9EE7-1F2CF1A34811}"/>
              </a:ext>
            </a:extLst>
          </p:cNvPr>
          <p:cNvSpPr>
            <a:spLocks noGrp="1"/>
          </p:cNvSpPr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端末は氏名を保持しない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2DF48C-F2AC-40AF-8468-019B913152A5}"/>
              </a:ext>
            </a:extLst>
          </p:cNvPr>
          <p:cNvSpPr>
            <a:spLocks noGrp="1"/>
          </p:cNvSpPr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役割別の閲覧範囲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8EFEDA-99E4-4BD3-B4F3-2AD43225D21B}"/>
              </a:ext>
            </a:extLst>
          </p:cNvPr>
          <p:cNvSpPr>
            <a:spLocks noGrp="1"/>
          </p:cNvSpPr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23473A-4CEA-4127-BC49-416C5883CA35}"/>
              </a:ext>
            </a:extLst>
          </p:cNvPr>
          <p:cNvSpPr>
            <a:spLocks noGrp="1"/>
          </p:cNvSpPr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6C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A002BF-6980-41EE-8F49-278B5B6CEDA1}"/>
              </a:ext>
            </a:extLst>
          </p:cNvPr>
          <p:cNvSpPr>
            <a:spLocks noGrp="1"/>
          </p:cNvSpPr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役割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650E71-E005-4A9B-95B8-69D3AA28F97C}"/>
              </a:ext>
            </a:extLst>
          </p:cNvPr>
          <p:cNvSpPr>
            <a:spLocks noGrp="1"/>
          </p:cNvSpPr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閲覧できる情報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CF3BD6-8B02-4C97-B61A-580FE905488F}"/>
              </a:ext>
            </a:extLst>
          </p:cNvPr>
          <p:cNvSpPr>
            <a:spLocks noGrp="1"/>
          </p:cNvSpPr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12653C-2C37-4E49-B79A-CBA2A13F1E35}"/>
              </a:ext>
            </a:extLst>
          </p:cNvPr>
          <p:cNvSpPr>
            <a:spLocks noGrp="1"/>
          </p:cNvSpPr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高齢者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9FA581-002C-431B-836D-F1F849DF8246}"/>
              </a:ext>
            </a:extLst>
          </p:cNvPr>
          <p:cNvSpPr>
            <a:spLocks noGrp="1"/>
          </p:cNvSpPr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本人の当日の活動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046DA8-EFD0-4C69-97E1-EA6D0A7F90A9}"/>
              </a:ext>
            </a:extLst>
          </p:cNvPr>
          <p:cNvSpPr>
            <a:spLocks noGrp="1"/>
          </p:cNvSpPr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BF292-9415-4482-A6DA-E6D6D1F32DE0}"/>
              </a:ext>
            </a:extLst>
          </p:cNvPr>
          <p:cNvSpPr>
            <a:spLocks noGrp="1"/>
          </p:cNvSpPr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家族・介護者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AD3C27-F904-4FB4-864C-0C0FD5340B20}"/>
              </a:ext>
            </a:extLst>
          </p:cNvPr>
          <p:cNvSpPr>
            <a:spLocks noGrp="1"/>
          </p:cNvSpPr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同意範囲内の安否情報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4AA15D-3383-4837-A0EA-6B05640ACD5C}"/>
              </a:ext>
            </a:extLst>
          </p:cNvPr>
          <p:cNvSpPr>
            <a:spLocks noGrp="1"/>
          </p:cNvSpPr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専門家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6F658C-B42D-4B7E-8B17-568BFE2C1C78}"/>
              </a:ext>
            </a:extLst>
          </p:cNvPr>
          <p:cNvSpPr>
            <a:spLocks noGrp="1"/>
          </p:cNvSpPr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同意済み観察記録の要約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46D1C4-6C59-4185-90B1-AC3EC28BB764}"/>
              </a:ext>
            </a:extLst>
          </p:cNvPr>
          <p:cNvSpPr>
            <a:spLocks noGrp="1"/>
          </p:cNvSpPr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51B222-EBA1-4068-AB90-6D6D302C57CB}"/>
              </a:ext>
            </a:extLst>
          </p:cNvPr>
          <p:cNvSpPr>
            <a:spLocks noGrp="1"/>
          </p:cNvSpPr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福祉施設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E458F6-BA68-4D85-954C-9D84DF27BA16}"/>
              </a:ext>
            </a:extLst>
          </p:cNvPr>
          <p:cNvSpPr>
            <a:spLocks noGrp="1"/>
          </p:cNvSpPr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登録・同意・参加状況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C2DEB6-17AB-4EDF-9D1F-8BEDE55FA208}"/>
              </a:ext>
            </a:extLst>
          </p:cNvPr>
          <p:cNvSpPr>
            <a:spLocks noGrp="1"/>
          </p:cNvSpPr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3F10C2-354B-4745-B2FA-50A6D9BD16D2}"/>
              </a:ext>
            </a:extLst>
          </p:cNvPr>
          <p:cNvSpPr>
            <a:spLocks noGrp="1"/>
          </p:cNvSpPr>
          <p:nvPr/>
        </p:nvSpPr>
        <p:spPr>
          <a:xfrm>
            <a:off x="4343400" y="3710808"/>
            <a:ext cx="200054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専門家＝相談員・医療専門家</a:t>
            </a:r>
            <a:endParaRPr sz="1200" b="0" dirty="0">
              <a:solidFill>
                <a:srgbClr val="9C8B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F32341-E438-44B8-86FD-880438DBFAB2}"/>
              </a:ext>
            </a:extLst>
          </p:cNvPr>
          <p:cNvSpPr>
            <a:spLocks noGrp="1"/>
          </p:cNvSpPr>
          <p:nvPr/>
        </p:nvSpPr>
        <p:spPr>
          <a:xfrm>
            <a:off x="4343400" y="3911976"/>
            <a:ext cx="230832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 dirty="0" err="1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福祉施設＝登録と利用案内を担当</a:t>
            </a:r>
            <a:endParaRPr sz="1200" b="0" dirty="0">
              <a:solidFill>
                <a:srgbClr val="9C8B77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50C281-477B-49FA-A079-742E1C26A49E}"/>
              </a:ext>
            </a:extLst>
          </p:cNvPr>
          <p:cNvSpPr>
            <a:spLocks noGrp="1"/>
          </p:cNvSpPr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D81FBE-3E33-48D1-A821-602C769EF165}"/>
              </a:ext>
            </a:extLst>
          </p:cNvPr>
          <p:cNvSpPr>
            <a:spLocks noGrp="1"/>
          </p:cNvSpPr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サーバーに残す情報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61AD14-92E2-4EAF-A60E-C16C56A007CF}"/>
              </a:ext>
            </a:extLst>
          </p:cNvPr>
          <p:cNvSpPr>
            <a:spLocks noGrp="1"/>
          </p:cNvSpPr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863638-A843-4023-B33E-09AE24A333C7}"/>
              </a:ext>
            </a:extLst>
          </p:cNvPr>
          <p:cNvSpPr>
            <a:spLocks noGrp="1"/>
          </p:cNvSpPr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保存：番号・活動記録・文字起こし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2D4CDB-A831-4290-89B3-2D33CF290FBB}"/>
              </a:ext>
            </a:extLst>
          </p:cNvPr>
          <p:cNvSpPr>
            <a:spLocks noGrp="1"/>
          </p:cNvSpPr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保存：高齢者の音声原本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FDC693-D2AA-4660-B007-894FF83A51D0}"/>
              </a:ext>
            </a:extLst>
          </p:cNvPr>
          <p:cNvSpPr>
            <a:spLocks noGrp="1"/>
          </p:cNvSpPr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実験段階では資料をすべて保存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47CD17-9231-4204-B3CC-C660BE8DB1B4}"/>
              </a:ext>
            </a:extLst>
          </p:cNvPr>
          <p:cNvSpPr>
            <a:spLocks noGrp="1"/>
          </p:cNvSpPr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匿名化：氏名・連絡先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200ACB-D867-4A81-9DD3-8B0A852CD60A}"/>
              </a:ext>
            </a:extLst>
          </p:cNvPr>
          <p:cNvSpPr>
            <a:spLocks noGrp="1"/>
          </p:cNvSpPr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利用停止時の対応</a:t>
            </a:r>
            <a:endParaRPr sz="14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143CFB-3D33-4417-8916-395ACA033155}"/>
              </a:ext>
            </a:extLst>
          </p:cNvPr>
          <p:cNvSpPr>
            <a:spLocks noGrp="1"/>
          </p:cNvSpPr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1356627-BDC8-49DF-9885-8F4C15F588B0}"/>
              </a:ext>
            </a:extLst>
          </p:cNvPr>
          <p:cNvSpPr>
            <a:spLocks noGrp="1"/>
          </p:cNvSpPr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1518D0-D457-455D-A198-3BDD552E1ED2}"/>
              </a:ext>
            </a:extLst>
          </p:cNvPr>
          <p:cNvSpPr>
            <a:spLocks noGrp="1"/>
          </p:cNvSpPr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保管期間を事前に通知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5A3CC5F-17F7-4914-BA75-B535904E2B97}"/>
              </a:ext>
            </a:extLst>
          </p:cNvPr>
          <p:cNvSpPr>
            <a:spLocks noGrp="1"/>
          </p:cNvSpPr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8ED142-208F-45AC-9C57-2E943B2937D1}"/>
              </a:ext>
            </a:extLst>
          </p:cNvPr>
          <p:cNvSpPr>
            <a:spLocks noGrp="1"/>
          </p:cNvSpPr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同意を撤回した時点で収集を停止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4529F47-905C-4F91-B7D5-6DCAE6D8360A}"/>
              </a:ext>
            </a:extLst>
          </p:cNvPr>
          <p:cNvSpPr>
            <a:spLocks noGrp="1"/>
          </p:cNvSpPr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13793A-F7AA-48D7-93E7-248E3DA95E29}"/>
              </a:ext>
            </a:extLst>
          </p:cNvPr>
          <p:cNvSpPr>
            <a:spLocks noGrp="1"/>
          </p:cNvSpPr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それまでの記録は廃棄が原則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ADA26DB-CF37-4FD4-BB88-AE6EC50CCAA3}"/>
              </a:ext>
            </a:extLst>
          </p:cNvPr>
          <p:cNvSpPr>
            <a:spLocks noGrp="1"/>
          </p:cNvSpPr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1EE734-C3D1-4FAF-83BF-BA658F04E4DA}"/>
              </a:ext>
            </a:extLst>
          </p:cNvPr>
          <p:cNvSpPr>
            <a:spLocks noGrp="1"/>
          </p:cNvSpPr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削除を確認して通知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2B3D8536-0D7A-48D6-9D0D-7DDDF7D33619}"/>
              </a:ext>
            </a:extLst>
          </p:cNvPr>
          <p:cNvSpPr>
            <a:spLocks noGrp="1"/>
          </p:cNvSpPr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541AAD-FC54-4D6B-BE8C-DB5E4CA41154}"/>
              </a:ext>
            </a:extLst>
          </p:cNvPr>
          <p:cNvSpPr>
            <a:spLocks noGrp="1"/>
          </p:cNvSpPr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例外条項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ED639A-34CF-4D76-9E6F-0938239F491F}"/>
              </a:ext>
            </a:extLst>
          </p:cNvPr>
          <p:cNvSpPr>
            <a:spLocks noGrp="1"/>
          </p:cNvSpPr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氏名を削除したうえで分析に用いた資料は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EB5E4E-AE32-4B2F-95CC-159A30981654}"/>
              </a:ext>
            </a:extLst>
          </p:cNvPr>
          <p:cNvSpPr>
            <a:spLocks noGrp="1"/>
          </p:cNvSpPr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元に戻せないため、同意書に事前明記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84B6892-42FF-4085-8660-6408D03F2FEC}"/>
              </a:ext>
            </a:extLst>
          </p:cNvPr>
          <p:cNvSpPr>
            <a:spLocks noGrp="1"/>
          </p:cNvSpPr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FC300B-3BEF-478A-A2AF-AFF66D9FABC7}"/>
              </a:ext>
            </a:extLst>
          </p:cNvPr>
          <p:cNvSpPr>
            <a:spLocks noGrp="1"/>
          </p:cNvSpPr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カードタッチ機能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AF9977D-55C9-457C-9919-8CDC461A46E0}"/>
              </a:ext>
            </a:extLst>
          </p:cNvPr>
          <p:cNvSpPr>
            <a:spLocks noGrp="1"/>
          </p:cNvSpPr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9B4AEC-1049-40D1-8364-FCBB54638521}"/>
              </a:ext>
            </a:extLst>
          </p:cNvPr>
          <p:cNvSpPr>
            <a:spLocks noGrp="1"/>
          </p:cNvSpPr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>
                <a:latin typeface="Noto Sans JP"/>
                <a:ea typeface="Noto Sans JP"/>
                <a:cs typeface="Noto Sans JP"/>
              </a:rPr>
              <a:t>実装完了：NFCカードリーダーでカードを認識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6E8FA3-32E9-4E94-BE5C-55C9FDCAF24F}"/>
              </a:ext>
            </a:extLst>
          </p:cNvPr>
          <p:cNvSpPr>
            <a:spLocks noGrp="1"/>
          </p:cNvSpPr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実装完了：番号のみで保存・削除する機能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0B47D5-1FBC-492F-A102-D6A3D58498A8}"/>
              </a:ext>
            </a:extLst>
          </p:cNvPr>
          <p:cNvSpPr>
            <a:spLocks noGrp="1"/>
          </p:cNvSpPr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latin typeface="Noto Sans JP"/>
                <a:ea typeface="Noto Sans JP"/>
                <a:cs typeface="Noto Sans JP"/>
              </a:rPr>
              <a:t>実装予定：福祉施設の福祉カードによるログイン連携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4170C0A-7A56-4FB6-AD87-8FF57F5A2E12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892B60-9EC8-423A-90C0-5056D8461522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補足・個人情報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AF3A0D-464D-4255-822E-C7DF16B3DEFE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20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147" name="Picture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41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244618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273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個人情報同意書</a:t>
            </a:r>
            <a:endParaRPr sz="2730" b="1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580" b="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日韓両国で使用する個人情報同意書の作成完了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>
            <a:spLocks noGrp="1"/>
          </p:cNvSpPr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韓国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>
            <a:spLocks noGrp="1"/>
          </p:cNvSpPr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>
            <a:spLocks noGrp="1"/>
          </p:cNvSpPr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400" b="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日本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>
            <a:spLocks noGrp="1"/>
          </p:cNvSpPr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>
            <a:spLocks noGrp="1"/>
          </p:cNvSpPr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  <a:defRPr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9C8B77"/>
                </a:solidFill>
                <a:latin typeface="Noto Sans JP"/>
                <a:ea typeface="Noto Sans JP"/>
                <a:cs typeface="Noto Sans JP"/>
              </a:rPr>
              <a:t>Haru by OGASA Labs・Appendix・個人情報の取扱い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21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89" name="Picture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pic>
        <p:nvPicPr>
          <p:cNvPr id="90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</p:spPr>
      </p:pic>
      <p:pic>
        <p:nvPicPr>
          <p:cNvPr id="91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>
            <a:spLocks noGrp="1"/>
          </p:cNvSpPr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</a:t>
            </a:r>
            <a:r>
              <a:rPr sz="124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  <a:endParaRPr sz="1240" b="0" spc="14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>
            <a:spLocks noGrp="1"/>
          </p:cNvSpPr>
          <p:nvPr/>
        </p:nvSpPr>
        <p:spPr>
          <a:xfrm>
            <a:off x="594360" y="694944"/>
            <a:ext cx="2795637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2730" b="1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韓国での実証計画</a:t>
            </a:r>
            <a:endParaRPr sz="2730" b="1">
              <a:solidFill>
                <a:srgbClr val="F57265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>
            <a:spLocks noGrp="1"/>
          </p:cNvSpPr>
          <p:nvPr/>
        </p:nvSpPr>
        <p:spPr>
          <a:xfrm>
            <a:off x="594360" y="1220724"/>
            <a:ext cx="1578958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580">
                <a:solidFill>
                  <a:srgbClr val="6C5D4C"/>
                </a:solidFill>
                <a:latin typeface="Noto Sans JP"/>
                <a:ea typeface="Noto Sans JP"/>
                <a:cs typeface="Noto Sans JP"/>
              </a:rPr>
              <a:t>IRB審査申請完了</a:t>
            </a:r>
            <a:endParaRPr sz="1580" b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>
            <a:spLocks noGrp="1"/>
          </p:cNvSpPr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IRB審査申請書</a:t>
            </a:r>
            <a:endParaRPr sz="14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>
            <a:spLocks noGrp="1"/>
          </p:cNvSpPr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>
            <a:spLocks noGrp="1"/>
          </p:cNvSpPr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>
                <a:latin typeface="Noto Sans JP"/>
                <a:ea typeface="Noto Sans JP"/>
                <a:cs typeface="Noto Sans JP"/>
              </a:defRPr>
            </a:pPr>
            <a:r>
              <a:rPr sz="1400">
                <a:solidFill>
                  <a:srgbClr val="2A2018"/>
                </a:solidFill>
                <a:latin typeface="Noto Sans JP"/>
                <a:ea typeface="Noto Sans JP"/>
                <a:cs typeface="Noto Sans JP"/>
              </a:rPr>
              <a:t>IRB研究計画書</a:t>
            </a:r>
            <a:endParaRPr sz="140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>
            <a:spLocks noGrp="1"/>
          </p:cNvSpPr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>
            <a:spLocks noGrp="1"/>
          </p:cNvSpPr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>
            <a:spLocks noGrp="1"/>
          </p:cNvSpPr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22</a:t>
            </a:r>
            <a:endParaRPr sz="1200" b="0" dirty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88" name="Picture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</p:spPr>
      </p:pic>
      <p:pic>
        <p:nvPicPr>
          <p:cNvPr id="89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57" y="2116000"/>
            <a:ext cx="5484452" cy="3824683"/>
          </a:xfrm>
          <a:prstGeom prst="rect">
            <a:avLst/>
          </a:prstGeom>
        </p:spPr>
      </p:pic>
      <p:pic>
        <p:nvPicPr>
          <p:cNvPr id="9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1900</Words>
  <Application>Microsoft Office PowerPoint</Application>
  <DocSecurity>0</DocSecurity>
  <PresentationFormat>와이드스크린</PresentationFormat>
  <Paragraphs>794</Paragraphs>
  <Slides>22</Slides>
  <Notes>22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나눔스퀘어라운드 Bold</vt:lpstr>
      <vt:lpstr>Arial</vt:lpstr>
      <vt:lpstr>나눔스퀘어라운드 ExtraBold</vt:lpstr>
      <vt:lpstr>나눔스퀘어라운드OTF Bold</vt:lpstr>
      <vt:lpstr>Aptos</vt:lpstr>
      <vt:lpstr>Calibri</vt:lpstr>
      <vt:lpstr>나눔스퀘어라운드 Regular</vt:lpstr>
      <vt:lpstr>Noto Sans JP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羅　炫禹</cp:lastModifiedBy>
  <cp:revision>10</cp:revision>
  <dcterms:created xsi:type="dcterms:W3CDTF">2026-08-26T05:07:35Z</dcterms:created>
  <dcterms:modified xsi:type="dcterms:W3CDTF">2026-08-26T07:42:42Z</dcterms:modified>
</cp:coreProperties>
</file>