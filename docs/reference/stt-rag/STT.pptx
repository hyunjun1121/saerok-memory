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CD5FF"/>
                </a:solidFill>
                <a:latin typeface="NanumSquare Bol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75C"/>
                </a:solidFill>
                <a:latin typeface="NanumSquare Bold"/>
              </a:rPr>
              <a:t>한국 노인 STT 핵심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976"/>
                </a:solidFill>
                <a:latin typeface="NanumSquare"/>
              </a:rPr>
              <a:t>질문 응답형 서비스에 최적화된 실환경 한국어 Speech-to-Text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14400"/>
            <a:ext cx="10515600" cy="18288"/>
          </a:xfrm>
          <a:prstGeom prst="rect">
            <a:avLst/>
          </a:prstGeom>
          <a:solidFill>
            <a:srgbClr val="20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275C"/>
                </a:solidFill>
                <a:latin typeface="NanumSquare Bold"/>
              </a:rPr>
              <a:t>실환경 한국어 성능이 검증된
오픈소스 STT를 노인 음성에 맞게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3977639" cy="566928"/>
          </a:xfrm>
          <a:prstGeom prst="roundRect">
            <a:avLst/>
          </a:prstGeom>
          <a:solidFill>
            <a:srgbClr val="F0F6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66D2"/>
                </a:solidFill>
                <a:latin typeface="NanumSquare Bold"/>
              </a:rPr>
              <a:t>Qwen3-ASR + 고령자 특화 전처리 + 검증형 후처리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847088" cy="1097280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52928"/>
            <a:ext cx="15727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1. Foundation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45536"/>
            <a:ext cx="15270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128"/>
                </a:solidFill>
                <a:latin typeface="NanumSquare"/>
              </a:rPr>
              <a:t>• Qwen3-ASR-1.7B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한국어 실환경 벤치마크 기반 선정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오픈소스 / Fine-tuning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2743200"/>
            <a:ext cx="1874519" cy="1097280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852928"/>
            <a:ext cx="16001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2. Speech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145536"/>
            <a:ext cx="15544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128"/>
                </a:solidFill>
                <a:latin typeface="NanumSquare"/>
              </a:rPr>
              <a:t>• AEC / VAD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고령자 맞춤 음향 안정화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조건부 소음 제거 및 재인식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68496"/>
            <a:ext cx="3858768" cy="1115568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078224"/>
            <a:ext cx="3584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3. Product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370832"/>
            <a:ext cx="35387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128"/>
                </a:solidFill>
                <a:latin typeface="NanumSquare"/>
              </a:rPr>
              <a:t>• 노인 발화를 문항 응답 텍스트로 안정적으로 변환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건강 설문·상담형 인터페이스에 즉시 적용</a:t>
            </a:r>
          </a:p>
          <a:p>
            <a:r>
              <a:rPr sz="1050">
                <a:solidFill>
                  <a:srgbClr val="1E2128"/>
                </a:solidFill>
                <a:latin typeface="NanumSquare"/>
              </a:rPr>
              <a:t>• 타임스탬프·정규화·검증 계층까지 포함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3858768" cy="603504"/>
          </a:xfrm>
          <a:prstGeom prst="roundRect">
            <a:avLst/>
          </a:prstGeom>
          <a:solidFill>
            <a:srgbClr val="FCFD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50468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0E275C"/>
                </a:solidFill>
                <a:latin typeface="NanumSquare Bold"/>
              </a:rPr>
              <a:t>실환경 강건성  |  Real-time 추론  |  정확한 문항 응답 변환</a:t>
            </a:r>
          </a:p>
        </p:txBody>
      </p:sp>
      <p:pic>
        <p:nvPicPr>
          <p:cNvPr id="20" name="Picture 19" descr="a_clean_corporate_infographic_slide_style_image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15568"/>
            <a:ext cx="6812280" cy="38339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8912" y="645566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616976"/>
                </a:solidFill>
                <a:latin typeface="NanumSquare"/>
              </a:rPr>
              <a:t>출처: Qwen3-ASR 관련 공개 자료를 바탕으로 본 발표 목적에 맞게 재구성한 시각자료.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CD5FF"/>
                </a:solidFill>
                <a:latin typeface="NanumSquare Bol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75C"/>
                </a:solidFill>
                <a:latin typeface="NanumSquare Bold"/>
              </a:rPr>
              <a:t>왜 Qwen3-ASR를 선택했는가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976"/>
                </a:solidFill>
                <a:latin typeface="NanumSquare"/>
              </a:rPr>
              <a:t>한국어 실환경 벤치마크 성능과 제품화 적합성을 함께 고려한 모델 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14400"/>
            <a:ext cx="10515600" cy="18288"/>
          </a:xfrm>
          <a:prstGeom prst="rect">
            <a:avLst/>
          </a:prstGeom>
          <a:solidFill>
            <a:srgbClr val="20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korea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88720"/>
            <a:ext cx="5650992" cy="32775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" y="4882896"/>
            <a:ext cx="5166360" cy="640080"/>
          </a:xfrm>
          <a:prstGeom prst="roundRect">
            <a:avLst/>
          </a:prstGeom>
          <a:solidFill>
            <a:srgbClr val="F0F6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07492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80" b="1">
                <a:solidFill>
                  <a:srgbClr val="0E275C"/>
                </a:solidFill>
                <a:latin typeface="NanumSquare Bold"/>
              </a:rPr>
              <a:t>Qwen3-ASR-1.7B: 한국어 CER 12.90 → 비교된 오픈소스 모델 중 최저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96128"/>
            <a:ext cx="5349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16976"/>
                </a:solidFill>
                <a:latin typeface="NanumSquare"/>
              </a:rPr>
              <a:t>※ GigaSpeechBench 한국어 실환경 결과 기준. CER이 낮을수록 우수.</a:t>
            </a:r>
          </a:p>
        </p:txBody>
      </p:sp>
      <p:pic>
        <p:nvPicPr>
          <p:cNvPr id="10" name="Picture 9" descr="a_clean_infographic_diagram_style_image_with_a_whi_2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234440"/>
            <a:ext cx="5010912" cy="37581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4718304"/>
            <a:ext cx="1700784" cy="1188720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4828032"/>
            <a:ext cx="1426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선정 기준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5120640"/>
            <a:ext cx="1380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>
                <a:solidFill>
                  <a:srgbClr val="1E2128"/>
                </a:solidFill>
                <a:latin typeface="NanumSquare"/>
              </a:rPr>
              <a:t>실환경 한국어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벤치마크 우선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(read speech보다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실사용 조건 중시)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4718304"/>
            <a:ext cx="1700784" cy="1188720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828032"/>
            <a:ext cx="1426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선정 기준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5120640"/>
            <a:ext cx="1380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>
                <a:solidFill>
                  <a:srgbClr val="1E2128"/>
                </a:solidFill>
                <a:latin typeface="NanumSquare"/>
              </a:rPr>
              <a:t>Streaming /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Fine-tuning /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Forced alignment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84664" y="4718304"/>
            <a:ext cx="1700784" cy="1188720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0968" y="4828032"/>
            <a:ext cx="1426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선정 기준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256" y="5120640"/>
            <a:ext cx="1380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>
                <a:solidFill>
                  <a:srgbClr val="1E2128"/>
                </a:solidFill>
                <a:latin typeface="NanumSquare"/>
              </a:rPr>
              <a:t>Apache 2.0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오픈소스 기반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제품화 및 내부</a:t>
            </a:r>
          </a:p>
          <a:p>
            <a:r>
              <a:rPr sz="960">
                <a:solidFill>
                  <a:srgbClr val="1E2128"/>
                </a:solidFill>
                <a:latin typeface="NanumSquare"/>
              </a:rPr>
              <a:t>튜닝 용이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645566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616976"/>
                </a:solidFill>
                <a:latin typeface="NanumSquare"/>
              </a:rPr>
              <a:t>출처: GigaSpeechBench 공개 결과 및 실환경 음성 조건 도해를 바탕으로 한국 노인 STT 맥락에 맞춰 재구성.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CD5FF"/>
                </a:solidFill>
                <a:latin typeface="NanumSquare 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75C"/>
                </a:solidFill>
                <a:latin typeface="NanumSquare Bold"/>
              </a:rPr>
              <a:t>정확도 향상을 위한 구현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621792"/>
            <a:ext cx="10058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976"/>
                </a:solidFill>
                <a:latin typeface="NanumSquare"/>
              </a:rPr>
              <a:t>고령자 적응학습, 전처리, 검증형 후처리를 하나의 서비스 파이프라인으로 통합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14400"/>
            <a:ext cx="10515600" cy="18288"/>
          </a:xfrm>
          <a:prstGeom prst="rect">
            <a:avLst/>
          </a:prstGeom>
          <a:solidFill>
            <a:srgbClr val="20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clean_corporate_infographic_slide_pipeline_dia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6656832" cy="37464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280160"/>
            <a:ext cx="4023360" cy="987552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2944" y="138988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A. Elderly-context adaptation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2" y="1682496"/>
            <a:ext cx="3703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>
                <a:solidFill>
                  <a:srgbClr val="1E2128"/>
                </a:solidFill>
                <a:latin typeface="NanumSquare"/>
              </a:rPr>
              <a:t>• 실제 노인 발화 데이터를 기반으로 추가 적응학습</a:t>
            </a:r>
          </a:p>
          <a:p>
            <a:r>
              <a:rPr sz="1040">
                <a:solidFill>
                  <a:srgbClr val="1E2128"/>
                </a:solidFill>
                <a:latin typeface="NanumSquare"/>
              </a:rPr>
              <a:t>• LLM 패러프레이징 + TTS 증강으로 고령자 표현 다양성 보강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32304"/>
            <a:ext cx="4023360" cy="987552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2542032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B. Elderly-aware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2834640"/>
            <a:ext cx="3703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>
                <a:solidFill>
                  <a:srgbClr val="1E2128"/>
                </a:solidFill>
                <a:latin typeface="NanumSquare"/>
              </a:rPr>
              <a:t>• DC removal / 80Hz high-pass / RMS normalization / VAD padding</a:t>
            </a:r>
          </a:p>
          <a:p>
            <a:r>
              <a:rPr sz="1030">
                <a:solidFill>
                  <a:srgbClr val="1E2128"/>
                </a:solidFill>
                <a:latin typeface="NanumSquare"/>
              </a:rPr>
              <a:t>• 느린 말속도·긴 휴지 구간을 보존하도록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584448"/>
            <a:ext cx="4023360" cy="1060704"/>
          </a:xfrm>
          <a:prstGeom prst="roundRect">
            <a:avLst/>
          </a:prstGeom>
          <a:solidFill>
            <a:srgbClr val="F8FAFF"/>
          </a:solidFill>
          <a:ln>
            <a:solidFill>
              <a:srgbClr val="CD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3694176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275C"/>
                </a:solidFill>
                <a:latin typeface="NanumSquare Bold"/>
              </a:rPr>
              <a:t>C. Verification-oriented 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2" y="3986784"/>
            <a:ext cx="37033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>
                <a:solidFill>
                  <a:srgbClr val="1E2128"/>
                </a:solidFill>
                <a:latin typeface="NanumSquare"/>
              </a:rPr>
              <a:t>• 조건부 소음 제거 후 재인식</a:t>
            </a:r>
          </a:p>
          <a:p>
            <a:r>
              <a:rPr sz="1010">
                <a:solidFill>
                  <a:srgbClr val="1E2128"/>
                </a:solidFill>
                <a:latin typeface="NanumSquare"/>
              </a:rPr>
              <a:t>• 타임스탬프 정렬·정규화·중요 표현 검증으로 오인식 리스크 관리</a:t>
            </a:r>
          </a:p>
        </p:txBody>
      </p:sp>
      <p:pic>
        <p:nvPicPr>
          <p:cNvPr id="16" name="Picture 15" descr="chart_korean_prep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90288"/>
            <a:ext cx="3611880" cy="23795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6309360"/>
            <a:ext cx="3108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616976"/>
                </a:solidFill>
                <a:latin typeface="NanumSquare"/>
              </a:rPr>
              <a:t>※ ESAPM 연구 보고값 재시각화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4773168"/>
            <a:ext cx="5449824" cy="914400"/>
          </a:xfrm>
          <a:prstGeom prst="roundRect">
            <a:avLst/>
          </a:prstGeom>
          <a:solidFill>
            <a:srgbClr val="FFF7F0"/>
          </a:solidFill>
          <a:ln>
            <a:solidFill>
              <a:srgbClr val="FF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01184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F27E33"/>
                </a:solidFill>
                <a:latin typeface="NanumSquare Bold"/>
              </a:rPr>
              <a:t>선행연구에서 고령자 특화 전처리는 CER 0.1390 → 0.0987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184648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2128"/>
                </a:solidFill>
                <a:latin typeface="NanumSquare"/>
              </a:rPr>
              <a:t>상대 개선 28.97% (Whisper-medium 기준 보고값)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45566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616976"/>
                </a:solidFill>
                <a:latin typeface="NanumSquare"/>
              </a:rPr>
              <a:t>출처: Elderly-Contextual Data Augmentation via Speech Synthesis for Elderly ASR, ESAPM Korean elderly preprocessing study. 시각자료는 발표용으로 재구성.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